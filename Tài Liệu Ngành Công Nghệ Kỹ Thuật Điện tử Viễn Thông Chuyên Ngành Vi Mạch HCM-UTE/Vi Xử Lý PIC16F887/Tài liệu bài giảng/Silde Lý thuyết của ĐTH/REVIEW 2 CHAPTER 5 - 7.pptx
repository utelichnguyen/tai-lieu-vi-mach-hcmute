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306" r:id="rId2"/>
    <p:sldId id="310" r:id="rId3"/>
    <p:sldId id="311" r:id="rId4"/>
    <p:sldId id="312" r:id="rId5"/>
    <p:sldId id="307" r:id="rId6"/>
    <p:sldId id="313" r:id="rId7"/>
    <p:sldId id="308" r:id="rId8"/>
    <p:sldId id="309" r:id="rId9"/>
    <p:sldId id="305" r:id="rId10"/>
    <p:sldId id="314" r:id="rId11"/>
    <p:sldId id="315" r:id="rId12"/>
    <p:sldId id="316" r:id="rId13"/>
    <p:sldId id="317" r:id="rId14"/>
    <p:sldId id="318" r:id="rId15"/>
    <p:sldId id="319" r:id="rId16"/>
    <p:sldId id="320" r:id="rId17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03A7"/>
    <a:srgbClr val="347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6" autoAdjust="0"/>
  </p:normalViewPr>
  <p:slideViewPr>
    <p:cSldViewPr>
      <p:cViewPr varScale="1">
        <p:scale>
          <a:sx n="53" d="100"/>
          <a:sy n="53" d="100"/>
        </p:scale>
        <p:origin x="13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95C921-875A-4154-845D-B0B382A073F9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5AFEA-0F06-4765-A1D2-202098EEA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8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8.pn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5.wmf"/><Relationship Id="rId10" Type="http://schemas.openxmlformats.org/officeDocument/2006/relationships/image" Target="../media/image19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723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47900"/>
            <a:ext cx="17250941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28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551618"/>
            <a:ext cx="16872857" cy="727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138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33500"/>
            <a:ext cx="15988796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43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166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5647"/>
            <a:ext cx="16528143" cy="1021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84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195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64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25346" y="3079492"/>
            <a:ext cx="2261444" cy="2420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20"/>
              </a:lnSpc>
            </a:pPr>
            <a:endParaRPr/>
          </a:p>
        </p:txBody>
      </p:sp>
      <p:grpSp>
        <p:nvGrpSpPr>
          <p:cNvPr id="33" name="Group 33"/>
          <p:cNvGrpSpPr/>
          <p:nvPr/>
        </p:nvGrpSpPr>
        <p:grpSpPr>
          <a:xfrm>
            <a:off x="0" y="9983250"/>
            <a:ext cx="1028700" cy="303750"/>
            <a:chOff x="0" y="0"/>
            <a:chExt cx="270933" cy="8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70933" cy="80000"/>
            </a:xfrm>
            <a:custGeom>
              <a:avLst/>
              <a:gdLst/>
              <a:ahLst/>
              <a:cxn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259300" y="0"/>
            <a:ext cx="1028700" cy="303750"/>
            <a:chOff x="0" y="0"/>
            <a:chExt cx="270933" cy="80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0933" cy="80000"/>
            </a:xfrm>
            <a:custGeom>
              <a:avLst/>
              <a:gdLst/>
              <a:ahLst/>
              <a:cxn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0"/>
            <a:ext cx="1028700" cy="303750"/>
            <a:chOff x="0" y="0"/>
            <a:chExt cx="270933" cy="80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70933" cy="80000"/>
            </a:xfrm>
            <a:custGeom>
              <a:avLst/>
              <a:gdLst/>
              <a:ahLst/>
              <a:cxn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7259300" y="9983250"/>
            <a:ext cx="1028700" cy="303750"/>
            <a:chOff x="0" y="0"/>
            <a:chExt cx="270933" cy="80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70933" cy="80000"/>
            </a:xfrm>
            <a:custGeom>
              <a:avLst/>
              <a:gdLst/>
              <a:ahLst/>
              <a:cxn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940"/>
                </a:lnSpc>
              </a:pPr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525346" y="750131"/>
            <a:ext cx="4884854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smtClean="0">
                <a:solidFill>
                  <a:srgbClr val="002060"/>
                </a:solidFill>
                <a:latin typeface="+mj-lt"/>
              </a:rPr>
              <a:t>C</a:t>
            </a:r>
            <a:r>
              <a:rPr lang="vi-VN" sz="2800" b="1" smtClean="0">
                <a:solidFill>
                  <a:srgbClr val="002060"/>
                </a:solidFill>
                <a:latin typeface="+mj-lt"/>
              </a:rPr>
              <a:t>ÁC GIAO TIẾP NGOẠI VI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1602283"/>
            <a:ext cx="176784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 LED  7 đoạn: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CONST UNSIGNED CHAR MA7DOAN[10]={0XC0, 0XF9, 0XA4, 0XB0, 0X99, 0X92,0X82,0XF8, 0X80,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0X90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vi-VN" sz="280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Port B và port C  </a:t>
            </a:r>
            <a:r>
              <a:rPr lang="vi-VN" sz="2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SET_TRIS_B/C(0X00);</a:t>
            </a:r>
            <a:endParaRPr lang="vi-VN" sz="2800" b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LED đơn: </a:t>
            </a:r>
          </a:p>
          <a:p>
            <a:pPr>
              <a:lnSpc>
                <a:spcPct val="150000"/>
              </a:lnSpc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- 2 LED báo hiệu kênh:      </a:t>
            </a: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LED_1  PIN_E0,       </a:t>
            </a:r>
            <a:r>
              <a:rPr lang="vi-V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vi-V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LED_2  PIN_E1</a:t>
            </a:r>
          </a:p>
          <a:p>
            <a:pPr>
              <a:lnSpc>
                <a:spcPct val="150000"/>
              </a:lnSpc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- 2 LED báo quá nhiệt:       </a:t>
            </a:r>
            <a:r>
              <a:rPr lang="vi-V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vi-V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LED_1  </a:t>
            </a: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PIN_A4,       </a:t>
            </a:r>
            <a:r>
              <a:rPr lang="vi-V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vi-VN" sz="2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LED_2  </a:t>
            </a: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PIN_A5</a:t>
            </a:r>
          </a:p>
          <a:p>
            <a:pPr>
              <a:lnSpc>
                <a:spcPct val="150000"/>
              </a:lnSpc>
            </a:pPr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Nút nhấn CHANNEL:               </a:t>
            </a: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  CHANNEL   PIN_E2</a:t>
            </a:r>
          </a:p>
          <a:p>
            <a:pPr>
              <a:lnSpc>
                <a:spcPct val="150000"/>
              </a:lnSpc>
            </a:pPr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LCD port D:			      </a:t>
            </a:r>
            <a:r>
              <a:rPr lang="vi-VN" sz="2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SET_TRIS_D(0X00); </a:t>
            </a:r>
          </a:p>
          <a:p>
            <a:pPr>
              <a:lnSpc>
                <a:spcPct val="150000"/>
              </a:lnSpc>
            </a:pP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Cảm biến LM35:</a:t>
            </a:r>
            <a:r>
              <a:rPr lang="vi-VN" sz="2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</a:t>
            </a: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 A1, PIN A2</a:t>
            </a:r>
          </a:p>
          <a:p>
            <a:pPr>
              <a:lnSpc>
                <a:spcPct val="150000"/>
              </a:lnSpc>
            </a:pP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Chiết áp:		</a:t>
            </a:r>
            <a:r>
              <a:rPr lang="vi-VN" sz="2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</a:t>
            </a: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 A0, PIN A3</a:t>
            </a:r>
          </a:p>
          <a:p>
            <a:pPr>
              <a:lnSpc>
                <a:spcPct val="150000"/>
              </a:lnSpc>
            </a:pPr>
            <a:endParaRPr lang="vi-VN" sz="28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SET_TRIS_E(0X04);                                                        SET_TRIS_A(0X0F);                   </a:t>
            </a:r>
            <a:endParaRPr lang="en-US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142933"/>
              </p:ext>
            </p:extLst>
          </p:nvPr>
        </p:nvGraphicFramePr>
        <p:xfrm>
          <a:off x="2808561" y="7323034"/>
          <a:ext cx="2522892" cy="1405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3" imgW="888840" imgH="495000" progId="Equation.DSMT4">
                  <p:embed/>
                </p:oleObj>
              </mc:Choice>
              <mc:Fallback>
                <p:oleObj name="Equation" r:id="rId3" imgW="8888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8561" y="7323034"/>
                        <a:ext cx="2522892" cy="14056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913889"/>
              </p:ext>
            </p:extLst>
          </p:nvPr>
        </p:nvGraphicFramePr>
        <p:xfrm>
          <a:off x="9220200" y="7358061"/>
          <a:ext cx="5410200" cy="1370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5" imgW="1904760" imgH="482400" progId="Equation.DSMT4">
                  <p:embed/>
                </p:oleObj>
              </mc:Choice>
              <mc:Fallback>
                <p:oleObj name="Equation" r:id="rId5" imgW="1904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20200" y="7358061"/>
                        <a:ext cx="5410200" cy="1370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Brace 8"/>
          <p:cNvSpPr/>
          <p:nvPr/>
        </p:nvSpPr>
        <p:spPr>
          <a:xfrm>
            <a:off x="8458200" y="6286500"/>
            <a:ext cx="457200" cy="1071561"/>
          </a:xfrm>
          <a:prstGeom prst="rightBrac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951688" y="6560670"/>
            <a:ext cx="1106714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vi-VN" sz="2800" b="1" smtClean="0">
                <a:solidFill>
                  <a:srgbClr val="002060"/>
                </a:solidFill>
                <a:latin typeface="+mj-lt"/>
              </a:rPr>
              <a:t>ADC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3952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3"/>
          <p:cNvGrpSpPr/>
          <p:nvPr/>
        </p:nvGrpSpPr>
        <p:grpSpPr>
          <a:xfrm>
            <a:off x="0" y="9983250"/>
            <a:ext cx="1028700" cy="303750"/>
            <a:chOff x="0" y="0"/>
            <a:chExt cx="270933" cy="8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70933" cy="80000"/>
            </a:xfrm>
            <a:custGeom>
              <a:avLst/>
              <a:gdLst/>
              <a:ahLst/>
              <a:cxn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259300" y="0"/>
            <a:ext cx="1028700" cy="303750"/>
            <a:chOff x="0" y="0"/>
            <a:chExt cx="270933" cy="80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0933" cy="80000"/>
            </a:xfrm>
            <a:custGeom>
              <a:avLst/>
              <a:gdLst/>
              <a:ahLst/>
              <a:cxn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0"/>
            <a:ext cx="1028700" cy="303750"/>
            <a:chOff x="0" y="0"/>
            <a:chExt cx="270933" cy="80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70933" cy="80000"/>
            </a:xfrm>
            <a:custGeom>
              <a:avLst/>
              <a:gdLst/>
              <a:ahLst/>
              <a:cxn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7259300" y="9983250"/>
            <a:ext cx="1028700" cy="303750"/>
            <a:chOff x="0" y="0"/>
            <a:chExt cx="270933" cy="80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70933" cy="80000"/>
            </a:xfrm>
            <a:custGeom>
              <a:avLst/>
              <a:gdLst/>
              <a:ahLst/>
              <a:cxn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940"/>
                </a:lnSpc>
              </a:pPr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162800" y="151875"/>
            <a:ext cx="3647511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SƠ ĐỒ TỔNG QUÁT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5925" y="1262043"/>
            <a:ext cx="3158675" cy="12498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10571" y="1345332"/>
            <a:ext cx="320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KHỞI TẠO                                      BAN ĐẦU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27569" y="1238098"/>
            <a:ext cx="3158675" cy="12498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385844" y="1345332"/>
            <a:ext cx="320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ĐỌC GIÁ TRỊ CB VÀ 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99213" y="1238098"/>
            <a:ext cx="3158675" cy="12498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1757488" y="1345332"/>
            <a:ext cx="320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XỬ LÝ NÚT NHẤN CHANNEL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029875" y="3403203"/>
            <a:ext cx="2289629" cy="6647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614400" y="3441005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 = 1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034000" y="3423798"/>
            <a:ext cx="2289629" cy="6647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618525" y="34616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 = 2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453600" y="3462047"/>
            <a:ext cx="2289629" cy="66479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038125" y="3499849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 = 0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14400" y="4632340"/>
            <a:ext cx="3158675" cy="12498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2404855" y="4628524"/>
            <a:ext cx="3539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ĐO KÊNH 1</a:t>
            </a:r>
          </a:p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LED_1</a:t>
            </a:r>
          </a:p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TẮT LED_2</a:t>
            </a:r>
          </a:p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LCD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682021" y="4658723"/>
            <a:ext cx="3158675" cy="12498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625782" y="4649119"/>
            <a:ext cx="3200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ĐO KÊNH 2</a:t>
            </a:r>
          </a:p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LED_2</a:t>
            </a:r>
          </a:p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TẮT LED_1</a:t>
            </a:r>
          </a:p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LCD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079850" y="4658723"/>
            <a:ext cx="3158675" cy="12498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1047193" y="4762500"/>
            <a:ext cx="320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ĐO 2 KÊNH </a:t>
            </a:r>
          </a:p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 2 LED</a:t>
            </a:r>
          </a:p>
          <a:p>
            <a:pPr algn="ctr"/>
            <a:r>
              <a:rPr lang="vi-VN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LCD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32493" y="6402661"/>
            <a:ext cx="6093289" cy="222547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724818" y="6436407"/>
            <a:ext cx="610324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ND1 &gt; QN?</a:t>
            </a:r>
            <a:endParaRPr lang="vi-VN" sz="2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Có </a:t>
            </a:r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Xuất chữ “WAR”, chớp tắt WN1, chớp tắt giá trị nhiệt độ trên LCD.</a:t>
            </a:r>
          </a:p>
          <a:p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Không  Xuất chữ NOR, tắt LED WN_1</a:t>
            </a:r>
            <a:endParaRPr lang="vi-VN" sz="2600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772280" y="6374204"/>
            <a:ext cx="3046645" cy="222547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7020392" y="6423590"/>
            <a:ext cx="610324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ND2 &gt; QN?</a:t>
            </a:r>
            <a:endParaRPr lang="vi-VN" sz="2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Có </a:t>
            </a:r>
          </a:p>
          <a:p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LCD, WN_2</a:t>
            </a:r>
          </a:p>
          <a:p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Không</a:t>
            </a:r>
          </a:p>
          <a:p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LCD, WN_2</a:t>
            </a:r>
            <a:endParaRPr lang="vi-VN" sz="2600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216045" y="6515007"/>
            <a:ext cx="3440788" cy="107252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10227143" y="6515007"/>
            <a:ext cx="61032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ND1&gt; QN </a:t>
            </a:r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......</a:t>
            </a:r>
            <a:endParaRPr lang="vi-VN" sz="2600" b="1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ctr"/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ND2&gt; QN ......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7189" y="8986264"/>
            <a:ext cx="61032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Xuất LED 7 đoạn</a:t>
            </a:r>
          </a:p>
          <a:p>
            <a:pPr algn="ctr"/>
            <a:r>
              <a:rPr lang="vi-VN" sz="2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giá trị QN</a:t>
            </a:r>
            <a:endParaRPr lang="vi-VN" sz="2600" b="1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113256" y="8861356"/>
            <a:ext cx="4097543" cy="111236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72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2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45" grpId="0"/>
      <p:bldP spid="47" grpId="0" animBg="1"/>
      <p:bldP spid="48" grpId="0"/>
      <p:bldP spid="49" grpId="0" animBg="1"/>
      <p:bldP spid="50" grpId="0"/>
      <p:bldP spid="51" grpId="0" animBg="1"/>
      <p:bldP spid="52" grpId="0"/>
      <p:bldP spid="54" grpId="0" animBg="1"/>
      <p:bldP spid="55" grpId="0"/>
      <p:bldP spid="56" grpId="0" animBg="1"/>
      <p:bldP spid="5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1" r="63894"/>
          <a:stretch/>
        </p:blipFill>
        <p:spPr>
          <a:xfrm>
            <a:off x="152400" y="83643"/>
            <a:ext cx="6553200" cy="102064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423343"/>
            <a:ext cx="4735286" cy="36297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9332"/>
          <a:stretch/>
        </p:blipFill>
        <p:spPr>
          <a:xfrm>
            <a:off x="8945409" y="4076700"/>
            <a:ext cx="9342591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65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9600" y="0"/>
            <a:ext cx="3647511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Đọc nhiệt độ 2 kênh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413" y="5186690"/>
            <a:ext cx="3647511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Đọc nhiệt độ cài trước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6248400" y="0"/>
            <a:ext cx="0" cy="1028700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r="18446" b="55398"/>
          <a:stretch/>
        </p:blipFill>
        <p:spPr>
          <a:xfrm>
            <a:off x="0" y="800100"/>
            <a:ext cx="6096000" cy="3352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45493" r="23797" b="29718"/>
          <a:stretch/>
        </p:blipFill>
        <p:spPr>
          <a:xfrm>
            <a:off x="56642" y="6134100"/>
            <a:ext cx="5478346" cy="17922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t="70282"/>
          <a:stretch/>
        </p:blipFill>
        <p:spPr>
          <a:xfrm>
            <a:off x="6400801" y="800100"/>
            <a:ext cx="6374079" cy="190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61813" y="0"/>
            <a:ext cx="3647511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Đọc giá trị level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136585"/>
              </p:ext>
            </p:extLst>
          </p:nvPr>
        </p:nvGraphicFramePr>
        <p:xfrm>
          <a:off x="6809412" y="3314700"/>
          <a:ext cx="10076329" cy="1297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4" imgW="3352680" imgH="431640" progId="Equation.DSMT4">
                  <p:embed/>
                </p:oleObj>
              </mc:Choice>
              <mc:Fallback>
                <p:oleObj name="Equation" r:id="rId4" imgW="3352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09412" y="3314700"/>
                        <a:ext cx="10076329" cy="1297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8425468"/>
              </p:ext>
            </p:extLst>
          </p:nvPr>
        </p:nvGraphicFramePr>
        <p:xfrm>
          <a:off x="6809412" y="5532909"/>
          <a:ext cx="7250579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6" imgW="2387520" imgH="431640" progId="Equation.DSMT4">
                  <p:embed/>
                </p:oleObj>
              </mc:Choice>
              <mc:Fallback>
                <p:oleObj name="Equation" r:id="rId6" imgW="2387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09412" y="5532909"/>
                        <a:ext cx="7250579" cy="1311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925527" y="2943880"/>
            <a:ext cx="3647511" cy="5232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Cài trước nhiệt độ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25526" y="4881890"/>
            <a:ext cx="3647511" cy="5232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Đọc giá trị nhiệt độ về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61813" y="7333856"/>
            <a:ext cx="3647511" cy="5232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Phân chia cấp độ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999223"/>
              </p:ext>
            </p:extLst>
          </p:nvPr>
        </p:nvGraphicFramePr>
        <p:xfrm>
          <a:off x="6979956" y="8323162"/>
          <a:ext cx="5974044" cy="1285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8" imgW="2006280" imgH="431640" progId="Equation.DSMT4">
                  <p:embed/>
                </p:oleObj>
              </mc:Choice>
              <mc:Fallback>
                <p:oleObj name="Equation" r:id="rId8" imgW="2006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79956" y="8323162"/>
                        <a:ext cx="5974044" cy="1285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10"/>
          <a:srcRect r="11675"/>
          <a:stretch/>
        </p:blipFill>
        <p:spPr>
          <a:xfrm>
            <a:off x="12573000" y="957590"/>
            <a:ext cx="57150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12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" y="723900"/>
            <a:ext cx="6160983" cy="3352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287" y="5090"/>
            <a:ext cx="3011714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Xử lý nút nhấn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51847"/>
          <a:stretch/>
        </p:blipFill>
        <p:spPr>
          <a:xfrm>
            <a:off x="10720" y="4953001"/>
            <a:ext cx="6103723" cy="1714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" y="4272290"/>
            <a:ext cx="1905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Đo kênh 1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353300"/>
            <a:ext cx="7816868" cy="1706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5200" y="289496"/>
            <a:ext cx="5309651" cy="211080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6"/>
          <a:srcRect t="3011"/>
          <a:stretch/>
        </p:blipFill>
        <p:spPr>
          <a:xfrm>
            <a:off x="9296400" y="3086100"/>
            <a:ext cx="8171732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63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685800" y="77661"/>
            <a:ext cx="1905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Đo kênh 2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28700"/>
            <a:ext cx="6523819" cy="1676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0133"/>
            <a:ext cx="9474482" cy="1676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419100"/>
            <a:ext cx="8289662" cy="84288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6057901"/>
            <a:ext cx="6324600" cy="1295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386290" y="6057901"/>
            <a:ext cx="5380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smtClean="0">
                <a:latin typeface="+mj-lt"/>
              </a:rPr>
              <a:t>Nhấp nháy LCD </a:t>
            </a:r>
            <a:r>
              <a:rPr lang="vi-VN" sz="2400" b="1" smtClean="0">
                <a:latin typeface="+mj-lt"/>
                <a:sym typeface="Wingdings" panose="05000000000000000000" pitchFamily="2" charset="2"/>
              </a:rPr>
              <a:t> Lần lượt xuất khoảng trắng  Delay  Xuất dữ liệu chèn lại  Delay</a:t>
            </a:r>
            <a:endParaRPr lang="en-US" sz="2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7622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685800" y="77661"/>
            <a:ext cx="1905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Đo 2 kênh 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" y="771247"/>
            <a:ext cx="7239000" cy="2895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30824"/>
          <a:stretch/>
        </p:blipFill>
        <p:spPr>
          <a:xfrm>
            <a:off x="127000" y="3666847"/>
            <a:ext cx="6959599" cy="66311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108504"/>
            <a:ext cx="7970940" cy="73518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400" y="7962900"/>
            <a:ext cx="4680862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8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286000" y="177397"/>
            <a:ext cx="28194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DELAY_MSX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20600" y="247751"/>
            <a:ext cx="2286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rgbClr val="002060"/>
                </a:solidFill>
                <a:latin typeface="+mj-lt"/>
              </a:rPr>
              <a:t>XÓA LCD</a:t>
            </a:r>
            <a:endParaRPr lang="en-US" sz="2800" b="1">
              <a:solidFill>
                <a:srgbClr val="002060"/>
              </a:solidFill>
              <a:latin typeface="+mj-lt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458200" y="0"/>
            <a:ext cx="0" cy="1017270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790700"/>
            <a:ext cx="9361304" cy="3467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5" y="1573893"/>
            <a:ext cx="8256425" cy="350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94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241</Words>
  <Application>Microsoft Office PowerPoint</Application>
  <PresentationFormat>Custom</PresentationFormat>
  <Paragraphs>56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Wingdings</vt:lpstr>
      <vt:lpstr>Calibri</vt:lpstr>
      <vt:lpstr>Times New Roman</vt:lpstr>
      <vt:lpstr>Office Theme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Business infographic</dc:title>
  <dc:creator>Korisnik</dc:creator>
  <cp:lastModifiedBy>PC MY</cp:lastModifiedBy>
  <cp:revision>76</cp:revision>
  <dcterms:created xsi:type="dcterms:W3CDTF">2006-08-16T00:00:00Z</dcterms:created>
  <dcterms:modified xsi:type="dcterms:W3CDTF">2023-04-03T14:09:46Z</dcterms:modified>
  <dc:identifier>DAFHJBCCLSI</dc:identifier>
</cp:coreProperties>
</file>