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 id="2147483659" r:id="rId2"/>
  </p:sldMasterIdLst>
  <p:notesMasterIdLst>
    <p:notesMasterId r:id="rId19"/>
  </p:notesMasterIdLst>
  <p:sldIdLst>
    <p:sldId id="256" r:id="rId3"/>
    <p:sldId id="368" r:id="rId4"/>
    <p:sldId id="369" r:id="rId5"/>
    <p:sldId id="370" r:id="rId6"/>
    <p:sldId id="371" r:id="rId7"/>
    <p:sldId id="295" r:id="rId8"/>
    <p:sldId id="298" r:id="rId9"/>
    <p:sldId id="367" r:id="rId10"/>
    <p:sldId id="372" r:id="rId11"/>
    <p:sldId id="373" r:id="rId12"/>
    <p:sldId id="364" r:id="rId13"/>
    <p:sldId id="365" r:id="rId14"/>
    <p:sldId id="338" r:id="rId15"/>
    <p:sldId id="363" r:id="rId16"/>
    <p:sldId id="374" r:id="rId17"/>
    <p:sldId id="294" r:id="rId18"/>
  </p:sldIdLst>
  <p:sldSz cx="9144000" cy="5143500" type="screen16x9"/>
  <p:notesSz cx="6858000" cy="9144000"/>
  <p:embeddedFontLst>
    <p:embeddedFont>
      <p:font typeface="Abril Fatface" panose="02000503000000020003" pitchFamily="2" charset="0"/>
      <p:regular r:id="rId20"/>
    </p:embeddedFont>
    <p:embeddedFont>
      <p:font typeface="Bahnschrift Light Condensed" panose="020B0502040204020203" pitchFamily="34" charset="0"/>
      <p:regular r:id="rId21"/>
    </p:embeddedFont>
    <p:embeddedFont>
      <p:font typeface="Euclid Fraktur" panose="020B0604020202020204" charset="2"/>
      <p:regular r:id="rId22"/>
      <p:bold r:id="rId23"/>
    </p:embeddedFont>
    <p:embeddedFont>
      <p:font typeface="Montserrat" panose="020F0502020204030204" pitchFamily="2" charset="0"/>
      <p:regular r:id="rId24"/>
      <p:bold r:id="rId25"/>
      <p:italic r:id="rId26"/>
      <p:boldItalic r:id="rId27"/>
    </p:embeddedFont>
    <p:embeddedFont>
      <p:font typeface="PT Serif" panose="020F0502020204030204" pitchFamily="18"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44D327-C8C6-4163-A623-057FE4961991}">
  <a:tblStyle styleId="{A644D327-C8C6-4163-A623-057FE4961991}"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F84729-DA0B-49D1-B9D5-606E54AD438B}"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 Type="http://schemas.openxmlformats.org/officeDocument/2006/relationships/slide" Target="slides/slide1.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41a88a598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41a88a598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20"/>
        <p:cNvGrpSpPr/>
        <p:nvPr/>
      </p:nvGrpSpPr>
      <p:grpSpPr>
        <a:xfrm>
          <a:off x="0" y="0"/>
          <a:ext cx="0" cy="0"/>
          <a:chOff x="0" y="0"/>
          <a:chExt cx="0" cy="0"/>
        </a:xfrm>
      </p:grpSpPr>
      <p:sp>
        <p:nvSpPr>
          <p:cNvPr id="21" name="Google Shape;21;p2"/>
          <p:cNvSpPr/>
          <p:nvPr/>
        </p:nvSpPr>
        <p:spPr>
          <a:xfrm>
            <a:off x="8142711" y="3918330"/>
            <a:ext cx="943913" cy="1337393"/>
          </a:xfrm>
          <a:prstGeom prst="rect">
            <a:avLst/>
          </a:prstGeom>
        </p:spPr>
        <p:txBody>
          <a:bodyPr>
            <a:prstTxWarp prst="textPlain">
              <a:avLst/>
            </a:prstTxWarp>
          </a:bodyPr>
          <a:lstStyle/>
          <a:p>
            <a:pPr lvl="0" algn="ctr"/>
            <a:r>
              <a:rPr b="1" i="0">
                <a:ln>
                  <a:noFill/>
                </a:ln>
                <a:solidFill>
                  <a:srgbClr val="00BFC9">
                    <a:alpha val="45000"/>
                  </a:srgbClr>
                </a:solidFill>
                <a:latin typeface="Montserrat"/>
              </a:rPr>
              <a:t>5</a:t>
            </a:r>
          </a:p>
        </p:txBody>
      </p:sp>
      <p:sp>
        <p:nvSpPr>
          <p:cNvPr id="22" name="Google Shape;22;p2"/>
          <p:cNvSpPr/>
          <p:nvPr/>
        </p:nvSpPr>
        <p:spPr>
          <a:xfrm>
            <a:off x="8246778" y="1061814"/>
            <a:ext cx="565397" cy="794636"/>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3</a:t>
            </a:r>
          </a:p>
        </p:txBody>
      </p:sp>
      <p:sp>
        <p:nvSpPr>
          <p:cNvPr id="23" name="Google Shape;23;p2"/>
          <p:cNvSpPr/>
          <p:nvPr/>
        </p:nvSpPr>
        <p:spPr>
          <a:xfrm>
            <a:off x="7302238" y="4554392"/>
            <a:ext cx="623239" cy="668562"/>
          </a:xfrm>
          <a:prstGeom prst="rect">
            <a:avLst/>
          </a:prstGeom>
        </p:spPr>
        <p:txBody>
          <a:bodyPr>
            <a:prstTxWarp prst="textPlain">
              <a:avLst/>
            </a:prstTxWarp>
          </a:bodyPr>
          <a:lstStyle/>
          <a:p>
            <a:pPr lvl="0" algn="ctr"/>
            <a:r>
              <a:rPr b="1" i="0">
                <a:ln>
                  <a:noFill/>
                </a:ln>
                <a:solidFill>
                  <a:srgbClr val="00FFFF">
                    <a:alpha val="13460"/>
                  </a:srgbClr>
                </a:solidFill>
                <a:latin typeface="Montserrat"/>
              </a:rPr>
              <a:t>€</a:t>
            </a:r>
          </a:p>
        </p:txBody>
      </p:sp>
      <p:sp>
        <p:nvSpPr>
          <p:cNvPr id="24" name="Google Shape;24;p2"/>
          <p:cNvSpPr/>
          <p:nvPr/>
        </p:nvSpPr>
        <p:spPr>
          <a:xfrm>
            <a:off x="8812176" y="313545"/>
            <a:ext cx="505297" cy="649408"/>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9</a:t>
            </a:r>
          </a:p>
        </p:txBody>
      </p:sp>
      <p:sp>
        <p:nvSpPr>
          <p:cNvPr id="25" name="Google Shape;25;p2"/>
          <p:cNvSpPr/>
          <p:nvPr/>
        </p:nvSpPr>
        <p:spPr>
          <a:xfrm>
            <a:off x="7486177" y="4101249"/>
            <a:ext cx="218857" cy="338539"/>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7</a:t>
            </a:r>
          </a:p>
        </p:txBody>
      </p:sp>
      <p:sp>
        <p:nvSpPr>
          <p:cNvPr id="26" name="Google Shape;26;p2"/>
          <p:cNvSpPr/>
          <p:nvPr/>
        </p:nvSpPr>
        <p:spPr>
          <a:xfrm>
            <a:off x="6980299" y="-88163"/>
            <a:ext cx="707299" cy="1056471"/>
          </a:xfrm>
          <a:prstGeom prst="rect">
            <a:avLst/>
          </a:prstGeom>
        </p:spPr>
        <p:txBody>
          <a:bodyPr>
            <a:prstTxWarp prst="textPlain">
              <a:avLst/>
            </a:prstTxWarp>
          </a:bodyPr>
          <a:lstStyle/>
          <a:p>
            <a:pPr lvl="0" algn="ctr"/>
            <a:r>
              <a:rPr b="1" i="0">
                <a:ln>
                  <a:noFill/>
                </a:ln>
                <a:solidFill>
                  <a:srgbClr val="00BFC9">
                    <a:alpha val="45000"/>
                  </a:srgbClr>
                </a:solidFill>
                <a:latin typeface="Montserrat"/>
              </a:rPr>
              <a:t>$</a:t>
            </a:r>
          </a:p>
        </p:txBody>
      </p:sp>
      <p:sp>
        <p:nvSpPr>
          <p:cNvPr id="27" name="Google Shape;27;p2"/>
          <p:cNvSpPr/>
          <p:nvPr/>
        </p:nvSpPr>
        <p:spPr>
          <a:xfrm>
            <a:off x="8353588" y="325842"/>
            <a:ext cx="315620" cy="436345"/>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a:t>
            </a:r>
          </a:p>
        </p:txBody>
      </p:sp>
      <p:sp>
        <p:nvSpPr>
          <p:cNvPr id="28" name="Google Shape;28;p2"/>
          <p:cNvSpPr/>
          <p:nvPr/>
        </p:nvSpPr>
        <p:spPr>
          <a:xfrm>
            <a:off x="7687616" y="916471"/>
            <a:ext cx="245359" cy="453113"/>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1</a:t>
            </a:r>
          </a:p>
        </p:txBody>
      </p:sp>
      <p:sp>
        <p:nvSpPr>
          <p:cNvPr id="29" name="Google Shape;29;p2"/>
          <p:cNvSpPr/>
          <p:nvPr/>
        </p:nvSpPr>
        <p:spPr>
          <a:xfrm>
            <a:off x="8637153" y="2924174"/>
            <a:ext cx="816948" cy="1106134"/>
          </a:xfrm>
          <a:prstGeom prst="rect">
            <a:avLst/>
          </a:prstGeom>
        </p:spPr>
        <p:txBody>
          <a:bodyPr>
            <a:prstTxWarp prst="textPlain">
              <a:avLst/>
            </a:prstTxWarp>
          </a:bodyPr>
          <a:lstStyle/>
          <a:p>
            <a:pPr lvl="0" algn="ctr"/>
            <a:r>
              <a:rPr b="1" i="0">
                <a:ln>
                  <a:noFill/>
                </a:ln>
                <a:solidFill>
                  <a:srgbClr val="00FFFF">
                    <a:alpha val="13460"/>
                  </a:srgbClr>
                </a:solidFill>
                <a:latin typeface="Montserrat"/>
              </a:rPr>
              <a:t>8</a:t>
            </a:r>
          </a:p>
        </p:txBody>
      </p:sp>
      <p:sp>
        <p:nvSpPr>
          <p:cNvPr id="30" name="Google Shape;30;p2"/>
          <p:cNvSpPr/>
          <p:nvPr/>
        </p:nvSpPr>
        <p:spPr>
          <a:xfrm rot="-5400000">
            <a:off x="6840000" y="4568068"/>
            <a:ext cx="417000" cy="3285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5400000">
            <a:off x="6496124" y="-12475"/>
            <a:ext cx="589800" cy="4071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208235" y="3375182"/>
            <a:ext cx="218854" cy="309865"/>
          </a:xfrm>
          <a:prstGeom prst="rect">
            <a:avLst/>
          </a:prstGeom>
        </p:spPr>
        <p:txBody>
          <a:bodyPr>
            <a:prstTxWarp prst="textPlain">
              <a:avLst/>
            </a:prstTxWarp>
          </a:bodyPr>
          <a:lstStyle/>
          <a:p>
            <a:pPr lvl="0" algn="ctr"/>
            <a:r>
              <a:rPr b="1" i="0">
                <a:ln>
                  <a:noFill/>
                </a:ln>
                <a:solidFill>
                  <a:srgbClr val="6AA84F"/>
                </a:solidFill>
                <a:latin typeface="Montserrat"/>
              </a:rPr>
              <a:t>2</a:t>
            </a:r>
          </a:p>
        </p:txBody>
      </p:sp>
      <p:sp>
        <p:nvSpPr>
          <p:cNvPr id="33" name="Google Shape;33;p2"/>
          <p:cNvSpPr/>
          <p:nvPr/>
        </p:nvSpPr>
        <p:spPr>
          <a:xfrm>
            <a:off x="8013853" y="659316"/>
            <a:ext cx="258850" cy="308994"/>
          </a:xfrm>
          <a:prstGeom prst="rect">
            <a:avLst/>
          </a:prstGeom>
        </p:spPr>
        <p:txBody>
          <a:bodyPr>
            <a:prstTxWarp prst="textPlain">
              <a:avLst/>
            </a:prstTxWarp>
          </a:bodyPr>
          <a:lstStyle/>
          <a:p>
            <a:pPr lvl="0" algn="ctr"/>
            <a:r>
              <a:rPr b="0" i="0">
                <a:ln>
                  <a:noFill/>
                </a:ln>
                <a:solidFill>
                  <a:srgbClr val="6AA84F"/>
                </a:solidFill>
                <a:latin typeface="Abril Fatface"/>
              </a:rPr>
              <a:t>0</a:t>
            </a:r>
          </a:p>
        </p:txBody>
      </p:sp>
      <p:sp>
        <p:nvSpPr>
          <p:cNvPr id="34" name="Google Shape;34;p2"/>
          <p:cNvSpPr/>
          <p:nvPr/>
        </p:nvSpPr>
        <p:spPr>
          <a:xfrm>
            <a:off x="7828438" y="4163755"/>
            <a:ext cx="206506" cy="213544"/>
          </a:xfrm>
          <a:prstGeom prst="rect">
            <a:avLst/>
          </a:prstGeom>
        </p:spPr>
        <p:txBody>
          <a:bodyPr>
            <a:prstTxWarp prst="textPlain">
              <a:avLst/>
            </a:prstTxWarp>
          </a:bodyPr>
          <a:lstStyle/>
          <a:p>
            <a:pPr lvl="0" algn="ctr"/>
            <a:r>
              <a:rPr b="1" i="0">
                <a:ln>
                  <a:noFill/>
                </a:ln>
                <a:solidFill>
                  <a:srgbClr val="6AA84F"/>
                </a:solidFill>
                <a:latin typeface="Montserrat"/>
              </a:rPr>
              <a:t>¥</a:t>
            </a:r>
          </a:p>
        </p:txBody>
      </p:sp>
      <p:sp>
        <p:nvSpPr>
          <p:cNvPr id="35" name="Google Shape;35;p2"/>
          <p:cNvSpPr/>
          <p:nvPr/>
        </p:nvSpPr>
        <p:spPr>
          <a:xfrm>
            <a:off x="8003439" y="1292797"/>
            <a:ext cx="172864" cy="211167"/>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4</a:t>
            </a:r>
          </a:p>
        </p:txBody>
      </p:sp>
      <p:sp>
        <p:nvSpPr>
          <p:cNvPr id="36" name="Google Shape;36;p2"/>
          <p:cNvSpPr/>
          <p:nvPr/>
        </p:nvSpPr>
        <p:spPr>
          <a:xfrm>
            <a:off x="7939495" y="-95340"/>
            <a:ext cx="476421" cy="661142"/>
          </a:xfrm>
          <a:prstGeom prst="rect">
            <a:avLst/>
          </a:prstGeom>
        </p:spPr>
        <p:txBody>
          <a:bodyPr>
            <a:prstTxWarp prst="textPlain">
              <a:avLst/>
            </a:prstTxWarp>
          </a:bodyPr>
          <a:lstStyle/>
          <a:p>
            <a:pPr lvl="0" algn="ctr"/>
            <a:r>
              <a:rPr b="1" i="0">
                <a:ln>
                  <a:noFill/>
                </a:ln>
                <a:solidFill>
                  <a:srgbClr val="00FFFF">
                    <a:alpha val="13460"/>
                  </a:srgbClr>
                </a:solidFill>
                <a:latin typeface="Montserrat"/>
              </a:rPr>
              <a:t>6</a:t>
            </a:r>
          </a:p>
        </p:txBody>
      </p:sp>
      <p:sp>
        <p:nvSpPr>
          <p:cNvPr id="37" name="Google Shape;37;p2"/>
          <p:cNvSpPr/>
          <p:nvPr/>
        </p:nvSpPr>
        <p:spPr>
          <a:xfrm>
            <a:off x="7709340" y="156126"/>
            <a:ext cx="64053" cy="158205"/>
          </a:xfrm>
          <a:prstGeom prst="rect">
            <a:avLst/>
          </a:prstGeom>
        </p:spPr>
        <p:txBody>
          <a:bodyPr>
            <a:prstTxWarp prst="textPlain">
              <a:avLst/>
            </a:prstTxWarp>
          </a:bodyPr>
          <a:lstStyle/>
          <a:p>
            <a:pPr lvl="0" algn="ctr"/>
            <a:r>
              <a:rPr b="1" i="0">
                <a:ln>
                  <a:noFill/>
                </a:ln>
                <a:solidFill>
                  <a:srgbClr val="6AA84F"/>
                </a:solidFill>
                <a:latin typeface="Montserrat"/>
              </a:rPr>
              <a:t>1</a:t>
            </a:r>
          </a:p>
        </p:txBody>
      </p:sp>
      <p:sp>
        <p:nvSpPr>
          <p:cNvPr id="38" name="Google Shape;38;p2"/>
          <p:cNvSpPr/>
          <p:nvPr/>
        </p:nvSpPr>
        <p:spPr>
          <a:xfrm>
            <a:off x="9017902" y="4284544"/>
            <a:ext cx="121390" cy="166376"/>
          </a:xfrm>
          <a:prstGeom prst="rect">
            <a:avLst/>
          </a:prstGeom>
        </p:spPr>
        <p:txBody>
          <a:bodyPr>
            <a:prstTxWarp prst="textPlain">
              <a:avLst/>
            </a:prstTxWarp>
          </a:bodyPr>
          <a:lstStyle/>
          <a:p>
            <a:pPr lvl="0" algn="ctr"/>
            <a:r>
              <a:rPr b="1" i="0">
                <a:ln>
                  <a:noFill/>
                </a:ln>
                <a:solidFill>
                  <a:srgbClr val="6AA84F"/>
                </a:solidFill>
                <a:latin typeface="Montserrat"/>
              </a:rPr>
              <a:t>4</a:t>
            </a:r>
          </a:p>
        </p:txBody>
      </p:sp>
      <p:sp>
        <p:nvSpPr>
          <p:cNvPr id="39" name="Google Shape;39;p2"/>
          <p:cNvSpPr/>
          <p:nvPr/>
        </p:nvSpPr>
        <p:spPr>
          <a:xfrm>
            <a:off x="8736528" y="68644"/>
            <a:ext cx="172852" cy="251573"/>
          </a:xfrm>
          <a:prstGeom prst="rect">
            <a:avLst/>
          </a:prstGeom>
        </p:spPr>
        <p:txBody>
          <a:bodyPr>
            <a:prstTxWarp prst="textPlain">
              <a:avLst/>
            </a:prstTxWarp>
          </a:bodyPr>
          <a:lstStyle/>
          <a:p>
            <a:pPr lvl="0" algn="ctr"/>
            <a:r>
              <a:rPr b="0" i="0">
                <a:ln>
                  <a:noFill/>
                </a:ln>
                <a:solidFill>
                  <a:srgbClr val="6AA84F"/>
                </a:solidFill>
                <a:latin typeface="Abril Fatface"/>
              </a:rPr>
              <a:t>5</a:t>
            </a:r>
          </a:p>
        </p:txBody>
      </p:sp>
      <p:sp>
        <p:nvSpPr>
          <p:cNvPr id="40" name="Google Shape;40;p2"/>
          <p:cNvSpPr/>
          <p:nvPr/>
        </p:nvSpPr>
        <p:spPr>
          <a:xfrm>
            <a:off x="9053841" y="1122374"/>
            <a:ext cx="172853" cy="222146"/>
          </a:xfrm>
          <a:prstGeom prst="rect">
            <a:avLst/>
          </a:prstGeom>
        </p:spPr>
        <p:txBody>
          <a:bodyPr>
            <a:prstTxWarp prst="textPlain">
              <a:avLst/>
            </a:prstTxWarp>
          </a:bodyPr>
          <a:lstStyle/>
          <a:p>
            <a:pPr lvl="0" algn="ctr"/>
            <a:r>
              <a:rPr b="0" i="0">
                <a:ln>
                  <a:noFill/>
                </a:ln>
                <a:solidFill>
                  <a:srgbClr val="6AA84F"/>
                </a:solidFill>
                <a:latin typeface="Abril Fatface"/>
              </a:rPr>
              <a:t>8</a:t>
            </a:r>
          </a:p>
        </p:txBody>
      </p:sp>
      <p:sp>
        <p:nvSpPr>
          <p:cNvPr id="41" name="Google Shape;41;p2"/>
          <p:cNvSpPr txBox="1">
            <a:spLocks noGrp="1"/>
          </p:cNvSpPr>
          <p:nvPr>
            <p:ph type="ctrTitle"/>
          </p:nvPr>
        </p:nvSpPr>
        <p:spPr>
          <a:xfrm>
            <a:off x="1661700" y="1991825"/>
            <a:ext cx="5820600" cy="1159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4800"/>
              <a:buNone/>
              <a:defRPr sz="4800">
                <a:solidFill>
                  <a:schemeClr val="dk1"/>
                </a:solidFill>
              </a:defRPr>
            </a:lvl1pPr>
            <a:lvl2pPr lvl="1" algn="ctr">
              <a:spcBef>
                <a:spcPts val="0"/>
              </a:spcBef>
              <a:spcAft>
                <a:spcPts val="0"/>
              </a:spcAft>
              <a:buClr>
                <a:schemeClr val="dk1"/>
              </a:buClr>
              <a:buSzPts val="4800"/>
              <a:buNone/>
              <a:defRPr sz="4800">
                <a:solidFill>
                  <a:schemeClr val="dk1"/>
                </a:solidFill>
              </a:defRPr>
            </a:lvl2pPr>
            <a:lvl3pPr lvl="2" algn="ctr">
              <a:spcBef>
                <a:spcPts val="0"/>
              </a:spcBef>
              <a:spcAft>
                <a:spcPts val="0"/>
              </a:spcAft>
              <a:buClr>
                <a:schemeClr val="dk1"/>
              </a:buClr>
              <a:buSzPts val="4800"/>
              <a:buNone/>
              <a:defRPr sz="4800">
                <a:solidFill>
                  <a:schemeClr val="dk1"/>
                </a:solidFill>
              </a:defRPr>
            </a:lvl3pPr>
            <a:lvl4pPr lvl="3" algn="ctr">
              <a:spcBef>
                <a:spcPts val="0"/>
              </a:spcBef>
              <a:spcAft>
                <a:spcPts val="0"/>
              </a:spcAft>
              <a:buClr>
                <a:schemeClr val="dk1"/>
              </a:buClr>
              <a:buSzPts val="4800"/>
              <a:buNone/>
              <a:defRPr sz="4800">
                <a:solidFill>
                  <a:schemeClr val="dk1"/>
                </a:solidFill>
              </a:defRPr>
            </a:lvl4pPr>
            <a:lvl5pPr lvl="4" algn="ctr">
              <a:spcBef>
                <a:spcPts val="0"/>
              </a:spcBef>
              <a:spcAft>
                <a:spcPts val="0"/>
              </a:spcAft>
              <a:buClr>
                <a:schemeClr val="dk1"/>
              </a:buClr>
              <a:buSzPts val="4800"/>
              <a:buNone/>
              <a:defRPr sz="4800">
                <a:solidFill>
                  <a:schemeClr val="dk1"/>
                </a:solidFill>
              </a:defRPr>
            </a:lvl5pPr>
            <a:lvl6pPr lvl="5" algn="ctr">
              <a:spcBef>
                <a:spcPts val="0"/>
              </a:spcBef>
              <a:spcAft>
                <a:spcPts val="0"/>
              </a:spcAft>
              <a:buClr>
                <a:schemeClr val="dk1"/>
              </a:buClr>
              <a:buSzPts val="4800"/>
              <a:buNone/>
              <a:defRPr sz="4800">
                <a:solidFill>
                  <a:schemeClr val="dk1"/>
                </a:solidFill>
              </a:defRPr>
            </a:lvl6pPr>
            <a:lvl7pPr lvl="6" algn="ctr">
              <a:spcBef>
                <a:spcPts val="0"/>
              </a:spcBef>
              <a:spcAft>
                <a:spcPts val="0"/>
              </a:spcAft>
              <a:buClr>
                <a:schemeClr val="dk1"/>
              </a:buClr>
              <a:buSzPts val="4800"/>
              <a:buNone/>
              <a:defRPr sz="4800">
                <a:solidFill>
                  <a:schemeClr val="dk1"/>
                </a:solidFill>
              </a:defRPr>
            </a:lvl7pPr>
            <a:lvl8pPr lvl="7" algn="ctr">
              <a:spcBef>
                <a:spcPts val="0"/>
              </a:spcBef>
              <a:spcAft>
                <a:spcPts val="0"/>
              </a:spcAft>
              <a:buClr>
                <a:schemeClr val="dk1"/>
              </a:buClr>
              <a:buSzPts val="4800"/>
              <a:buNone/>
              <a:defRPr sz="4800">
                <a:solidFill>
                  <a:schemeClr val="dk1"/>
                </a:solidFill>
              </a:defRPr>
            </a:lvl8pPr>
            <a:lvl9pPr lvl="8" algn="ctr">
              <a:spcBef>
                <a:spcPts val="0"/>
              </a:spcBef>
              <a:spcAft>
                <a:spcPts val="0"/>
              </a:spcAft>
              <a:buClr>
                <a:schemeClr val="dk1"/>
              </a:buClr>
              <a:buSzPts val="4800"/>
              <a:buNone/>
              <a:defRPr sz="4800">
                <a:solidFill>
                  <a:schemeClr val="dk1"/>
                </a:solidFill>
              </a:defRPr>
            </a:lvl9pPr>
          </a:lstStyle>
          <a:p>
            <a:endParaRPr/>
          </a:p>
        </p:txBody>
      </p:sp>
      <p:sp>
        <p:nvSpPr>
          <p:cNvPr id="42" name="Google Shape;42;p2"/>
          <p:cNvSpPr/>
          <p:nvPr/>
        </p:nvSpPr>
        <p:spPr>
          <a:xfrm>
            <a:off x="240789" y="-249878"/>
            <a:ext cx="1325150" cy="1838954"/>
          </a:xfrm>
          <a:prstGeom prst="rect">
            <a:avLst/>
          </a:prstGeom>
        </p:spPr>
        <p:txBody>
          <a:bodyPr>
            <a:prstTxWarp prst="textPlain">
              <a:avLst/>
            </a:prstTxWarp>
          </a:bodyPr>
          <a:lstStyle/>
          <a:p>
            <a:pPr lvl="0" algn="ctr"/>
            <a:r>
              <a:rPr b="1" i="0">
                <a:ln>
                  <a:noFill/>
                </a:ln>
                <a:solidFill>
                  <a:srgbClr val="00BFC9">
                    <a:alpha val="45000"/>
                  </a:srgbClr>
                </a:solidFill>
                <a:latin typeface="Montserrat"/>
              </a:rPr>
              <a:t>6</a:t>
            </a:r>
          </a:p>
        </p:txBody>
      </p:sp>
      <p:sp>
        <p:nvSpPr>
          <p:cNvPr id="43" name="Google Shape;43;p2"/>
          <p:cNvSpPr/>
          <p:nvPr/>
        </p:nvSpPr>
        <p:spPr>
          <a:xfrm>
            <a:off x="1462669" y="359548"/>
            <a:ext cx="684178" cy="835807"/>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4</a:t>
            </a:r>
          </a:p>
        </p:txBody>
      </p:sp>
      <p:sp>
        <p:nvSpPr>
          <p:cNvPr id="44" name="Google Shape;44;p2"/>
          <p:cNvSpPr/>
          <p:nvPr/>
        </p:nvSpPr>
        <p:spPr>
          <a:xfrm>
            <a:off x="-145673" y="1499255"/>
            <a:ext cx="545851" cy="815317"/>
          </a:xfrm>
          <a:prstGeom prst="rect">
            <a:avLst/>
          </a:prstGeom>
        </p:spPr>
        <p:txBody>
          <a:bodyPr>
            <a:prstTxWarp prst="textPlain">
              <a:avLst/>
            </a:prstTxWarp>
          </a:bodyPr>
          <a:lstStyle/>
          <a:p>
            <a:pPr lvl="0" algn="ctr"/>
            <a:r>
              <a:rPr b="1" i="0">
                <a:ln>
                  <a:noFill/>
                </a:ln>
                <a:solidFill>
                  <a:srgbClr val="00FFFF">
                    <a:alpha val="13460"/>
                  </a:srgbClr>
                </a:solidFill>
                <a:latin typeface="Montserrat"/>
              </a:rPr>
              <a:t>$</a:t>
            </a:r>
          </a:p>
        </p:txBody>
      </p:sp>
      <p:sp>
        <p:nvSpPr>
          <p:cNvPr id="45" name="Google Shape;45;p2"/>
          <p:cNvSpPr/>
          <p:nvPr/>
        </p:nvSpPr>
        <p:spPr>
          <a:xfrm>
            <a:off x="468639" y="3330899"/>
            <a:ext cx="596301" cy="711807"/>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0</a:t>
            </a:r>
          </a:p>
        </p:txBody>
      </p:sp>
      <p:sp>
        <p:nvSpPr>
          <p:cNvPr id="46" name="Google Shape;46;p2"/>
          <p:cNvSpPr/>
          <p:nvPr/>
        </p:nvSpPr>
        <p:spPr>
          <a:xfrm>
            <a:off x="2715924" y="4728432"/>
            <a:ext cx="422823" cy="543418"/>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8</a:t>
            </a:r>
          </a:p>
        </p:txBody>
      </p:sp>
      <p:sp>
        <p:nvSpPr>
          <p:cNvPr id="47" name="Google Shape;47;p2"/>
          <p:cNvSpPr/>
          <p:nvPr/>
        </p:nvSpPr>
        <p:spPr>
          <a:xfrm>
            <a:off x="857004" y="4218046"/>
            <a:ext cx="948321" cy="1017281"/>
          </a:xfrm>
          <a:prstGeom prst="rect">
            <a:avLst/>
          </a:prstGeom>
        </p:spPr>
        <p:txBody>
          <a:bodyPr>
            <a:prstTxWarp prst="textPlain">
              <a:avLst/>
            </a:prstTxWarp>
          </a:bodyPr>
          <a:lstStyle/>
          <a:p>
            <a:pPr lvl="0" algn="ctr"/>
            <a:r>
              <a:rPr b="1" i="0">
                <a:ln>
                  <a:noFill/>
                </a:ln>
                <a:solidFill>
                  <a:srgbClr val="00BFC9">
                    <a:alpha val="45000"/>
                  </a:srgbClr>
                </a:solidFill>
                <a:latin typeface="Montserrat"/>
              </a:rPr>
              <a:t>€</a:t>
            </a:r>
          </a:p>
        </p:txBody>
      </p:sp>
      <p:sp>
        <p:nvSpPr>
          <p:cNvPr id="48" name="Google Shape;48;p2"/>
          <p:cNvSpPr/>
          <p:nvPr/>
        </p:nvSpPr>
        <p:spPr>
          <a:xfrm>
            <a:off x="6477124" y="659323"/>
            <a:ext cx="375994" cy="418413"/>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a:t>
            </a:r>
          </a:p>
        </p:txBody>
      </p:sp>
      <p:sp>
        <p:nvSpPr>
          <p:cNvPr id="49" name="Google Shape;49;p2"/>
          <p:cNvSpPr/>
          <p:nvPr/>
        </p:nvSpPr>
        <p:spPr>
          <a:xfrm>
            <a:off x="2001208" y="4048123"/>
            <a:ext cx="340184" cy="496651"/>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2</a:t>
            </a:r>
          </a:p>
        </p:txBody>
      </p:sp>
      <p:sp>
        <p:nvSpPr>
          <p:cNvPr id="50" name="Google Shape;50;p2"/>
          <p:cNvSpPr/>
          <p:nvPr/>
        </p:nvSpPr>
        <p:spPr>
          <a:xfrm>
            <a:off x="-202825" y="3641301"/>
            <a:ext cx="863938" cy="1198949"/>
          </a:xfrm>
          <a:prstGeom prst="rect">
            <a:avLst/>
          </a:prstGeom>
        </p:spPr>
        <p:txBody>
          <a:bodyPr>
            <a:prstTxWarp prst="textPlain">
              <a:avLst/>
            </a:prstTxWarp>
          </a:bodyPr>
          <a:lstStyle/>
          <a:p>
            <a:pPr lvl="0" algn="ctr"/>
            <a:r>
              <a:rPr b="1" i="0">
                <a:ln>
                  <a:noFill/>
                </a:ln>
                <a:solidFill>
                  <a:srgbClr val="00FFFF">
                    <a:alpha val="13460"/>
                  </a:srgbClr>
                </a:solidFill>
                <a:latin typeface="Montserrat"/>
              </a:rPr>
              <a:t>9</a:t>
            </a:r>
          </a:p>
        </p:txBody>
      </p:sp>
      <p:sp>
        <p:nvSpPr>
          <p:cNvPr id="51" name="Google Shape;51;p2"/>
          <p:cNvSpPr/>
          <p:nvPr/>
        </p:nvSpPr>
        <p:spPr>
          <a:xfrm rot="-5400000">
            <a:off x="1953573" y="-64893"/>
            <a:ext cx="756300" cy="5958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rot="5400000">
            <a:off x="2309286" y="4286696"/>
            <a:ext cx="746700" cy="5151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09496" y="3809336"/>
            <a:ext cx="234870" cy="332106"/>
          </a:xfrm>
          <a:prstGeom prst="rect">
            <a:avLst/>
          </a:prstGeom>
        </p:spPr>
        <p:txBody>
          <a:bodyPr>
            <a:prstTxWarp prst="textPlain">
              <a:avLst/>
            </a:prstTxWarp>
          </a:bodyPr>
          <a:lstStyle/>
          <a:p>
            <a:pPr lvl="0" algn="ctr"/>
            <a:r>
              <a:rPr b="1" i="0">
                <a:ln>
                  <a:noFill/>
                </a:ln>
                <a:solidFill>
                  <a:srgbClr val="6AA84F"/>
                </a:solidFill>
                <a:latin typeface="Montserrat"/>
              </a:rPr>
              <a:t>3</a:t>
            </a:r>
          </a:p>
        </p:txBody>
      </p:sp>
      <p:sp>
        <p:nvSpPr>
          <p:cNvPr id="54" name="Google Shape;54;p2"/>
          <p:cNvSpPr/>
          <p:nvPr/>
        </p:nvSpPr>
        <p:spPr>
          <a:xfrm>
            <a:off x="180514" y="977226"/>
            <a:ext cx="178753" cy="330110"/>
          </a:xfrm>
          <a:prstGeom prst="rect">
            <a:avLst/>
          </a:prstGeom>
        </p:spPr>
        <p:txBody>
          <a:bodyPr>
            <a:prstTxWarp prst="textPlain">
              <a:avLst/>
            </a:prstTxWarp>
          </a:bodyPr>
          <a:lstStyle/>
          <a:p>
            <a:pPr lvl="0" algn="ctr"/>
            <a:r>
              <a:rPr b="0" i="0">
                <a:ln>
                  <a:noFill/>
                </a:ln>
                <a:solidFill>
                  <a:srgbClr val="6AA84F"/>
                </a:solidFill>
                <a:latin typeface="Abril Fatface"/>
              </a:rPr>
              <a:t>1</a:t>
            </a:r>
          </a:p>
        </p:txBody>
      </p:sp>
      <p:sp>
        <p:nvSpPr>
          <p:cNvPr id="55" name="Google Shape;55;p2"/>
          <p:cNvSpPr/>
          <p:nvPr/>
        </p:nvSpPr>
        <p:spPr>
          <a:xfrm>
            <a:off x="2001208" y="4738570"/>
            <a:ext cx="172436" cy="245058"/>
          </a:xfrm>
          <a:prstGeom prst="rect">
            <a:avLst/>
          </a:prstGeom>
        </p:spPr>
        <p:txBody>
          <a:bodyPr>
            <a:prstTxWarp prst="textPlain">
              <a:avLst/>
            </a:prstTxWarp>
          </a:bodyPr>
          <a:lstStyle/>
          <a:p>
            <a:pPr lvl="0" algn="ctr"/>
            <a:r>
              <a:rPr b="1" i="0">
                <a:ln>
                  <a:noFill/>
                </a:ln>
                <a:solidFill>
                  <a:srgbClr val="6AA84F"/>
                </a:solidFill>
                <a:latin typeface="Montserrat"/>
              </a:rPr>
              <a:t>£</a:t>
            </a:r>
          </a:p>
        </p:txBody>
      </p:sp>
      <p:sp>
        <p:nvSpPr>
          <p:cNvPr id="56" name="Google Shape;56;p2"/>
          <p:cNvSpPr/>
          <p:nvPr/>
        </p:nvSpPr>
        <p:spPr>
          <a:xfrm>
            <a:off x="3322800" y="4742227"/>
            <a:ext cx="163350" cy="237741"/>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5</a:t>
            </a:r>
          </a:p>
        </p:txBody>
      </p:sp>
      <p:sp>
        <p:nvSpPr>
          <p:cNvPr id="57" name="Google Shape;57;p2"/>
          <p:cNvSpPr/>
          <p:nvPr/>
        </p:nvSpPr>
        <p:spPr>
          <a:xfrm>
            <a:off x="2629623" y="359546"/>
            <a:ext cx="461790" cy="639195"/>
          </a:xfrm>
          <a:prstGeom prst="rect">
            <a:avLst/>
          </a:prstGeom>
        </p:spPr>
        <p:txBody>
          <a:bodyPr>
            <a:prstTxWarp prst="textPlain">
              <a:avLst/>
            </a:prstTxWarp>
          </a:bodyPr>
          <a:lstStyle/>
          <a:p>
            <a:pPr lvl="0" algn="ctr"/>
            <a:r>
              <a:rPr b="1" i="0">
                <a:ln>
                  <a:noFill/>
                </a:ln>
                <a:solidFill>
                  <a:srgbClr val="00FFFF">
                    <a:alpha val="13460"/>
                  </a:srgbClr>
                </a:solidFill>
                <a:latin typeface="Montserrat"/>
              </a:rPr>
              <a:t>7</a:t>
            </a:r>
          </a:p>
        </p:txBody>
      </p:sp>
      <p:sp>
        <p:nvSpPr>
          <p:cNvPr id="58" name="Google Shape;58;p2"/>
          <p:cNvSpPr/>
          <p:nvPr/>
        </p:nvSpPr>
        <p:spPr>
          <a:xfrm>
            <a:off x="65335" y="101130"/>
            <a:ext cx="123829" cy="175316"/>
          </a:xfrm>
          <a:prstGeom prst="rect">
            <a:avLst/>
          </a:prstGeom>
        </p:spPr>
        <p:txBody>
          <a:bodyPr>
            <a:prstTxWarp prst="textPlain">
              <a:avLst/>
            </a:prstTxWarp>
          </a:bodyPr>
          <a:lstStyle/>
          <a:p>
            <a:pPr lvl="0" algn="ctr"/>
            <a:r>
              <a:rPr b="1" i="0">
                <a:ln>
                  <a:noFill/>
                </a:ln>
                <a:solidFill>
                  <a:srgbClr val="6AA84F"/>
                </a:solidFill>
                <a:latin typeface="Montserrat"/>
              </a:rPr>
              <a:t>2</a:t>
            </a:r>
          </a:p>
        </p:txBody>
      </p:sp>
      <p:sp>
        <p:nvSpPr>
          <p:cNvPr id="59" name="Google Shape;59;p2"/>
          <p:cNvSpPr/>
          <p:nvPr/>
        </p:nvSpPr>
        <p:spPr>
          <a:xfrm>
            <a:off x="575656" y="4769892"/>
            <a:ext cx="128737" cy="182401"/>
          </a:xfrm>
          <a:prstGeom prst="rect">
            <a:avLst/>
          </a:prstGeom>
        </p:spPr>
        <p:txBody>
          <a:bodyPr>
            <a:prstTxWarp prst="textPlain">
              <a:avLst/>
            </a:prstTxWarp>
          </a:bodyPr>
          <a:lstStyle/>
          <a:p>
            <a:pPr lvl="0" algn="ctr"/>
            <a:r>
              <a:rPr b="1" i="0">
                <a:ln>
                  <a:noFill/>
                </a:ln>
                <a:solidFill>
                  <a:srgbClr val="6AA84F"/>
                </a:solidFill>
                <a:latin typeface="Montserrat"/>
              </a:rPr>
              <a:t>5</a:t>
            </a:r>
          </a:p>
        </p:txBody>
      </p:sp>
      <p:sp>
        <p:nvSpPr>
          <p:cNvPr id="60" name="Google Shape;60;p2"/>
          <p:cNvSpPr/>
          <p:nvPr/>
        </p:nvSpPr>
        <p:spPr>
          <a:xfrm>
            <a:off x="735785" y="1757713"/>
            <a:ext cx="212661" cy="273304"/>
          </a:xfrm>
          <a:prstGeom prst="rect">
            <a:avLst/>
          </a:prstGeom>
        </p:spPr>
        <p:txBody>
          <a:bodyPr>
            <a:prstTxWarp prst="textPlain">
              <a:avLst/>
            </a:prstTxWarp>
          </a:bodyPr>
          <a:lstStyle/>
          <a:p>
            <a:pPr lvl="0" algn="ctr"/>
            <a:r>
              <a:rPr b="0" i="0">
                <a:ln>
                  <a:noFill/>
                </a:ln>
                <a:solidFill>
                  <a:srgbClr val="6AA84F"/>
                </a:solidFill>
                <a:latin typeface="Abril Fatface"/>
              </a:rPr>
              <a:t>6</a:t>
            </a:r>
          </a:p>
        </p:txBody>
      </p:sp>
      <p:sp>
        <p:nvSpPr>
          <p:cNvPr id="61" name="Google Shape;61;p2"/>
          <p:cNvSpPr/>
          <p:nvPr/>
        </p:nvSpPr>
        <p:spPr>
          <a:xfrm>
            <a:off x="1617563" y="68452"/>
            <a:ext cx="187263" cy="240664"/>
          </a:xfrm>
          <a:prstGeom prst="rect">
            <a:avLst/>
          </a:prstGeom>
        </p:spPr>
        <p:txBody>
          <a:bodyPr>
            <a:prstTxWarp prst="textPlain">
              <a:avLst/>
            </a:prstTxWarp>
          </a:bodyPr>
          <a:lstStyle/>
          <a:p>
            <a:pPr lvl="0" algn="ctr"/>
            <a:r>
              <a:rPr b="0" i="0">
                <a:ln>
                  <a:noFill/>
                </a:ln>
                <a:solidFill>
                  <a:srgbClr val="6AA84F"/>
                </a:solidFill>
                <a:latin typeface="Abril Fatface"/>
              </a:rPr>
              <a:t>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letely blank">
  <p:cSld name="BLANK_1">
    <p:spTree>
      <p:nvGrpSpPr>
        <p:cNvPr id="1" name="Shape 251"/>
        <p:cNvGrpSpPr/>
        <p:nvPr/>
      </p:nvGrpSpPr>
      <p:grpSpPr>
        <a:xfrm>
          <a:off x="0" y="0"/>
          <a:ext cx="0" cy="0"/>
          <a:chOff x="0" y="0"/>
          <a:chExt cx="0" cy="0"/>
        </a:xfrm>
      </p:grpSpPr>
      <p:sp>
        <p:nvSpPr>
          <p:cNvPr id="252" name="Google Shape;252;p11"/>
          <p:cNvSpPr txBox="1">
            <a:spLocks noGrp="1"/>
          </p:cNvSpPr>
          <p:nvPr>
            <p:ph type="sldNum" idx="12"/>
          </p:nvPr>
        </p:nvSpPr>
        <p:spPr>
          <a:xfrm>
            <a:off x="76200" y="39925"/>
            <a:ext cx="548700" cy="360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65212"/>
            <a:ext cx="3886200" cy="735013"/>
          </a:xfrm>
        </p:spPr>
        <p:txBody>
          <a:bodyPr/>
          <a:lstStyle/>
          <a:p>
            <a:r>
              <a:rPr lang="en-US"/>
              <a:t>Click to edit Master title style</a:t>
            </a:r>
          </a:p>
        </p:txBody>
      </p:sp>
      <p:sp>
        <p:nvSpPr>
          <p:cNvPr id="3" name="Subtitle 2"/>
          <p:cNvSpPr>
            <a:spLocks noGrp="1"/>
          </p:cNvSpPr>
          <p:nvPr>
            <p:ph type="subTitle" idx="1"/>
          </p:nvPr>
        </p:nvSpPr>
        <p:spPr>
          <a:xfrm>
            <a:off x="685800" y="1943100"/>
            <a:ext cx="3200400" cy="8763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49800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247589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203450"/>
            <a:ext cx="3886200" cy="681038"/>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361157" y="1453357"/>
            <a:ext cx="3886200" cy="750094"/>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316929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3241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6" name="Footer Placeholder 5"/>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7" name="Slide Number Placeholder 6"/>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780552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28600" y="767556"/>
            <a:ext cx="2020094"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p:cNvSpPr>
            <a:spLocks noGrp="1"/>
          </p:cNvSpPr>
          <p:nvPr>
            <p:ph sz="half" idx="2"/>
          </p:nvPr>
        </p:nvSpPr>
        <p:spPr>
          <a:xfrm>
            <a:off x="228600" y="1087438"/>
            <a:ext cx="2020094"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322513" y="767556"/>
            <a:ext cx="2020888"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p:cNvSpPr>
            <a:spLocks noGrp="1"/>
          </p:cNvSpPr>
          <p:nvPr>
            <p:ph sz="quarter" idx="4"/>
          </p:nvPr>
        </p:nvSpPr>
        <p:spPr>
          <a:xfrm>
            <a:off x="2322513" y="1087438"/>
            <a:ext cx="2020888"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8" name="Footer Placeholder 7"/>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9" name="Slide Number Placeholder 8"/>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751911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4" name="Footer Placeholder 3"/>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5" name="Slide Number Placeholder 4"/>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1327245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3" name="Footer Placeholder 2"/>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4" name="Slide Number Placeholder 3"/>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5079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36525"/>
            <a:ext cx="1504157" cy="581025"/>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1787525" y="136525"/>
            <a:ext cx="2555875" cy="2926557"/>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8600" y="717550"/>
            <a:ext cx="1504157" cy="2345532"/>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6" name="Footer Placeholder 5"/>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7" name="Slide Number Placeholder 6"/>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202251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2400300"/>
            <a:ext cx="2743200" cy="283369"/>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896144" y="306388"/>
            <a:ext cx="2743200" cy="20574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2683669"/>
            <a:ext cx="2743200" cy="402431"/>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6" name="Footer Placeholder 5"/>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7" name="Slide Number Placeholder 6"/>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1006541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627223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37319"/>
            <a:ext cx="1028700" cy="2925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37319"/>
            <a:ext cx="3009900" cy="292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5672132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825798" y="-750"/>
            <a:ext cx="7486405" cy="5145000"/>
            <a:chOff x="825798" y="-750"/>
            <a:chExt cx="7486405" cy="5145000"/>
          </a:xfrm>
        </p:grpSpPr>
        <p:cxnSp>
          <p:nvCxnSpPr>
            <p:cNvPr id="7" name="Google Shape;7;p1"/>
            <p:cNvCxnSpPr/>
            <p:nvPr/>
          </p:nvCxnSpPr>
          <p:spPr>
            <a:xfrm>
              <a:off x="825798"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8" name="Google Shape;8;p1"/>
            <p:cNvCxnSpPr/>
            <p:nvPr/>
          </p:nvCxnSpPr>
          <p:spPr>
            <a:xfrm>
              <a:off x="1657621"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9" name="Google Shape;9;p1"/>
            <p:cNvCxnSpPr/>
            <p:nvPr/>
          </p:nvCxnSpPr>
          <p:spPr>
            <a:xfrm>
              <a:off x="2489443"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0" name="Google Shape;10;p1"/>
            <p:cNvCxnSpPr/>
            <p:nvPr/>
          </p:nvCxnSpPr>
          <p:spPr>
            <a:xfrm>
              <a:off x="8312202"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1" name="Google Shape;11;p1"/>
            <p:cNvCxnSpPr/>
            <p:nvPr/>
          </p:nvCxnSpPr>
          <p:spPr>
            <a:xfrm>
              <a:off x="7480380"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2" name="Google Shape;12;p1"/>
            <p:cNvCxnSpPr/>
            <p:nvPr/>
          </p:nvCxnSpPr>
          <p:spPr>
            <a:xfrm>
              <a:off x="6648557"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3" name="Google Shape;13;p1"/>
            <p:cNvCxnSpPr/>
            <p:nvPr/>
          </p:nvCxnSpPr>
          <p:spPr>
            <a:xfrm>
              <a:off x="5816734"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4" name="Google Shape;14;p1"/>
            <p:cNvCxnSpPr/>
            <p:nvPr/>
          </p:nvCxnSpPr>
          <p:spPr>
            <a:xfrm>
              <a:off x="4984911"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5" name="Google Shape;15;p1"/>
            <p:cNvCxnSpPr/>
            <p:nvPr/>
          </p:nvCxnSpPr>
          <p:spPr>
            <a:xfrm>
              <a:off x="4153089"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6" name="Google Shape;16;p1"/>
            <p:cNvCxnSpPr/>
            <p:nvPr/>
          </p:nvCxnSpPr>
          <p:spPr>
            <a:xfrm>
              <a:off x="3321266" y="-750"/>
              <a:ext cx="0" cy="5145000"/>
            </a:xfrm>
            <a:prstGeom prst="straightConnector1">
              <a:avLst/>
            </a:prstGeom>
            <a:noFill/>
            <a:ln w="9525" cap="flat" cmpd="sng">
              <a:solidFill>
                <a:srgbClr val="005C65"/>
              </a:solidFill>
              <a:prstDash val="dot"/>
              <a:round/>
              <a:headEnd type="none" w="med" len="med"/>
              <a:tailEnd type="none" w="med" len="med"/>
            </a:ln>
          </p:spPr>
        </p:cxnSp>
      </p:grpSp>
      <p:sp>
        <p:nvSpPr>
          <p:cNvPr id="17" name="Google Shape;17;p1"/>
          <p:cNvSpPr txBox="1">
            <a:spLocks noGrp="1"/>
          </p:cNvSpPr>
          <p:nvPr>
            <p:ph type="title"/>
          </p:nvPr>
        </p:nvSpPr>
        <p:spPr>
          <a:xfrm>
            <a:off x="735875" y="780900"/>
            <a:ext cx="5917200" cy="697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1pPr>
            <a:lvl2pPr lvl="1">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2pPr>
            <a:lvl3pPr lvl="2">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3pPr>
            <a:lvl4pPr lvl="3">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4pPr>
            <a:lvl5pPr lvl="4">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5pPr>
            <a:lvl6pPr lvl="5">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6pPr>
            <a:lvl7pPr lvl="6">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7pPr>
            <a:lvl8pPr lvl="7">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8pPr>
            <a:lvl9pPr lvl="8">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9pPr>
          </a:lstStyle>
          <a:p>
            <a:endParaRPr/>
          </a:p>
        </p:txBody>
      </p:sp>
      <p:sp>
        <p:nvSpPr>
          <p:cNvPr id="18" name="Google Shape;18;p1"/>
          <p:cNvSpPr txBox="1">
            <a:spLocks noGrp="1"/>
          </p:cNvSpPr>
          <p:nvPr>
            <p:ph type="body" idx="1"/>
          </p:nvPr>
        </p:nvSpPr>
        <p:spPr>
          <a:xfrm>
            <a:off x="735875" y="1513574"/>
            <a:ext cx="5917200" cy="30312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dk2"/>
              </a:buClr>
              <a:buSzPts val="2400"/>
              <a:buFont typeface="PT Serif"/>
              <a:buChar char="⊸"/>
              <a:defRPr sz="2400">
                <a:solidFill>
                  <a:schemeClr val="dk1"/>
                </a:solidFill>
                <a:latin typeface="PT Serif"/>
                <a:ea typeface="PT Serif"/>
                <a:cs typeface="PT Serif"/>
                <a:sym typeface="PT Serif"/>
              </a:defRPr>
            </a:lvl1pPr>
            <a:lvl2pPr marL="914400" lvl="1"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2pPr>
            <a:lvl3pPr marL="1371600" lvl="2"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3pPr>
            <a:lvl4pPr marL="1828800" lvl="3"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4pPr>
            <a:lvl5pPr marL="2286000" lvl="4"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5pPr>
            <a:lvl6pPr marL="2743200" lvl="5"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6pPr>
            <a:lvl7pPr marL="3200400" lvl="6"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7pPr>
            <a:lvl8pPr marL="3657600" lvl="7"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8pPr>
            <a:lvl9pPr marL="4114800" lvl="8"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9pPr>
          </a:lstStyle>
          <a:p>
            <a:endParaRPr/>
          </a:p>
        </p:txBody>
      </p:sp>
      <p:sp>
        <p:nvSpPr>
          <p:cNvPr id="19" name="Google Shape;19;p1"/>
          <p:cNvSpPr txBox="1">
            <a:spLocks noGrp="1"/>
          </p:cNvSpPr>
          <p:nvPr>
            <p:ph type="sldNum" idx="12"/>
          </p:nvPr>
        </p:nvSpPr>
        <p:spPr>
          <a:xfrm>
            <a:off x="76200" y="39925"/>
            <a:ext cx="548700" cy="360000"/>
          </a:xfrm>
          <a:prstGeom prst="rect">
            <a:avLst/>
          </a:prstGeom>
          <a:noFill/>
          <a:ln>
            <a:noFill/>
          </a:ln>
        </p:spPr>
        <p:txBody>
          <a:bodyPr spcFirstLastPara="1" wrap="square" lIns="91425" tIns="91425" rIns="91425" bIns="91425" anchor="t" anchorCtr="0">
            <a:noAutofit/>
          </a:bodyPr>
          <a:lstStyle>
            <a:lvl1pPr lvl="0">
              <a:buNone/>
              <a:defRPr sz="1100" b="1">
                <a:solidFill>
                  <a:schemeClr val="lt2"/>
                </a:solidFill>
                <a:latin typeface="Montserrat"/>
                <a:ea typeface="Montserrat"/>
                <a:cs typeface="Montserrat"/>
                <a:sym typeface="Montserrat"/>
              </a:defRPr>
            </a:lvl1pPr>
            <a:lvl2pPr lvl="1">
              <a:buNone/>
              <a:defRPr sz="1100" b="1">
                <a:solidFill>
                  <a:schemeClr val="lt2"/>
                </a:solidFill>
                <a:latin typeface="Montserrat"/>
                <a:ea typeface="Montserrat"/>
                <a:cs typeface="Montserrat"/>
                <a:sym typeface="Montserrat"/>
              </a:defRPr>
            </a:lvl2pPr>
            <a:lvl3pPr lvl="2">
              <a:buNone/>
              <a:defRPr sz="1100" b="1">
                <a:solidFill>
                  <a:schemeClr val="lt2"/>
                </a:solidFill>
                <a:latin typeface="Montserrat"/>
                <a:ea typeface="Montserrat"/>
                <a:cs typeface="Montserrat"/>
                <a:sym typeface="Montserrat"/>
              </a:defRPr>
            </a:lvl3pPr>
            <a:lvl4pPr lvl="3">
              <a:buNone/>
              <a:defRPr sz="1100" b="1">
                <a:solidFill>
                  <a:schemeClr val="lt2"/>
                </a:solidFill>
                <a:latin typeface="Montserrat"/>
                <a:ea typeface="Montserrat"/>
                <a:cs typeface="Montserrat"/>
                <a:sym typeface="Montserrat"/>
              </a:defRPr>
            </a:lvl4pPr>
            <a:lvl5pPr lvl="4">
              <a:buNone/>
              <a:defRPr sz="1100" b="1">
                <a:solidFill>
                  <a:schemeClr val="lt2"/>
                </a:solidFill>
                <a:latin typeface="Montserrat"/>
                <a:ea typeface="Montserrat"/>
                <a:cs typeface="Montserrat"/>
                <a:sym typeface="Montserrat"/>
              </a:defRPr>
            </a:lvl5pPr>
            <a:lvl6pPr lvl="5">
              <a:buNone/>
              <a:defRPr sz="1100" b="1">
                <a:solidFill>
                  <a:schemeClr val="lt2"/>
                </a:solidFill>
                <a:latin typeface="Montserrat"/>
                <a:ea typeface="Montserrat"/>
                <a:cs typeface="Montserrat"/>
                <a:sym typeface="Montserrat"/>
              </a:defRPr>
            </a:lvl6pPr>
            <a:lvl7pPr lvl="6">
              <a:buNone/>
              <a:defRPr sz="1100" b="1">
                <a:solidFill>
                  <a:schemeClr val="lt2"/>
                </a:solidFill>
                <a:latin typeface="Montserrat"/>
                <a:ea typeface="Montserrat"/>
                <a:cs typeface="Montserrat"/>
                <a:sym typeface="Montserrat"/>
              </a:defRPr>
            </a:lvl7pPr>
            <a:lvl8pPr lvl="7">
              <a:buNone/>
              <a:defRPr sz="1100" b="1">
                <a:solidFill>
                  <a:schemeClr val="lt2"/>
                </a:solidFill>
                <a:latin typeface="Montserrat"/>
                <a:ea typeface="Montserrat"/>
                <a:cs typeface="Montserrat"/>
                <a:sym typeface="Montserrat"/>
              </a:defRPr>
            </a:lvl8pPr>
            <a:lvl9pPr lvl="8">
              <a:buNone/>
              <a:defRPr sz="1100" b="1">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37319"/>
            <a:ext cx="4114800" cy="571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8600" y="800100"/>
            <a:ext cx="4114800" cy="22629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8600" y="3178175"/>
            <a:ext cx="1066800" cy="182563"/>
          </a:xfrm>
          <a:prstGeom prst="rect">
            <a:avLst/>
          </a:prstGeom>
        </p:spPr>
        <p:txBody>
          <a:bodyPr vert="horz" lIns="91440" tIns="45720" rIns="91440" bIns="45720" rtlCol="0" anchor="ctr"/>
          <a:lstStyle>
            <a:lvl1pPr algn="l">
              <a:defRPr sz="600">
                <a:solidFill>
                  <a:schemeClr val="tx1">
                    <a:tint val="75000"/>
                  </a:schemeClr>
                </a:solidFill>
              </a:defRPr>
            </a:lvl1p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4/27/2026</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1562100" y="3178175"/>
            <a:ext cx="1447800" cy="182563"/>
          </a:xfrm>
          <a:prstGeom prst="rect">
            <a:avLst/>
          </a:prstGeom>
        </p:spPr>
        <p:txBody>
          <a:bodyPr vert="horz" lIns="91440" tIns="45720" rIns="91440" bIns="45720" rtlCol="0" anchor="ctr"/>
          <a:lstStyle>
            <a:lvl1pPr algn="ctr">
              <a:defRPr sz="600">
                <a:solidFill>
                  <a:schemeClr val="tx1">
                    <a:tint val="75000"/>
                  </a:schemeClr>
                </a:solidFill>
              </a:defRPr>
            </a:lvl1p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3276600" y="3178175"/>
            <a:ext cx="1066800" cy="182563"/>
          </a:xfrm>
          <a:prstGeom prst="rect">
            <a:avLst/>
          </a:prstGeom>
        </p:spPr>
        <p:txBody>
          <a:bodyPr vert="horz" lIns="91440" tIns="45720" rIns="91440" bIns="45720" rtlCol="0" anchor="ctr"/>
          <a:lstStyle>
            <a:lvl1pPr algn="r">
              <a:defRPr sz="600">
                <a:solidFill>
                  <a:schemeClr val="tx1">
                    <a:tint val="75000"/>
                  </a:schemeClr>
                </a:solidFill>
              </a:defRPr>
            </a:lvl1p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641395129"/>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eg"/><Relationship Id="rId7"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slideLayout" Target="../slideLayouts/slideLayout9.xml"/><Relationship Id="rId6" Type="http://schemas.openxmlformats.org/officeDocument/2006/relationships/image" Target="../media/image7.w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www.slidescarnival.com/?utm_source=templa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2"/>
          <p:cNvSpPr txBox="1">
            <a:spLocks noGrp="1"/>
          </p:cNvSpPr>
          <p:nvPr>
            <p:ph type="ctrTitle"/>
          </p:nvPr>
        </p:nvSpPr>
        <p:spPr>
          <a:xfrm>
            <a:off x="99237" y="815162"/>
            <a:ext cx="9044763" cy="3806456"/>
          </a:xfrm>
          <a:prstGeom prst="rect">
            <a:avLst/>
          </a:prstGeom>
        </p:spPr>
        <p:txBody>
          <a:bodyPr spcFirstLastPara="1" wrap="square" lIns="91425" tIns="91425" rIns="91425" bIns="91425" anchor="ctr" anchorCtr="0">
            <a:noAutofit/>
            <a:scene3d>
              <a:camera prst="orthographicFront"/>
              <a:lightRig rig="threePt" dir="t"/>
            </a:scene3d>
            <a:sp3d extrusionH="57150">
              <a:bevelT w="69850" h="69850" prst="divot"/>
              <a:bevelB w="69850" h="69850" prst="divot"/>
            </a:sp3d>
          </a:bodyPr>
          <a:lstStyle/>
          <a:p>
            <a:pPr marL="0" lvl="0" indent="0" algn="ctr" rtl="0">
              <a:spcBef>
                <a:spcPts val="0"/>
              </a:spcBef>
              <a:spcAft>
                <a:spcPts val="0"/>
              </a:spcAft>
              <a:buNone/>
            </a:pPr>
            <a:r>
              <a:rPr lang="vi-VN">
                <a:latin typeface="+mj-lt"/>
              </a:rPr>
              <a:t>CHƯƠNG 5: (TT)</a:t>
            </a:r>
            <a:br>
              <a:rPr lang="vi-VN">
                <a:latin typeface="+mj-lt"/>
              </a:rPr>
            </a:br>
            <a:r>
              <a:rPr lang="vi-VN">
                <a:latin typeface="+mj-lt"/>
              </a:rPr>
              <a:t>HÀM DELAY_MSX VÀ GIAO TIẾP SWITCH</a:t>
            </a:r>
            <a:br>
              <a:rPr lang="vi-VN">
                <a:latin typeface="+mj-lt"/>
              </a:rPr>
            </a:br>
            <a:endParaRPr>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txBody>
          <a:bodyPr/>
          <a:lstStyle/>
          <a:p>
            <a:endParaRPr lang="vi-VN"/>
          </a:p>
        </p:txBody>
      </p:sp>
      <p:sp>
        <p:nvSpPr>
          <p:cNvPr id="13" name="AutoShape 13"/>
          <p:cNvSpPr/>
          <p:nvPr/>
        </p:nvSpPr>
        <p:spPr>
          <a:xfrm>
            <a:off x="1408682" y="545703"/>
            <a:ext cx="7883480" cy="62707"/>
          </a:xfrm>
          <a:prstGeom prst="rect">
            <a:avLst/>
          </a:prstGeom>
          <a:solidFill>
            <a:srgbClr val="318F9A"/>
          </a:solidFill>
        </p:spPr>
        <p:txBody>
          <a:bodyPr/>
          <a:lstStyle/>
          <a:p>
            <a:endParaRPr lang="vi-VN"/>
          </a:p>
        </p:txBody>
      </p:sp>
      <p:sp>
        <p:nvSpPr>
          <p:cNvPr id="14" name="AutoShape 14"/>
          <p:cNvSpPr/>
          <p:nvPr/>
        </p:nvSpPr>
        <p:spPr>
          <a:xfrm>
            <a:off x="-105689" y="4274185"/>
            <a:ext cx="642023" cy="992619"/>
          </a:xfrm>
          <a:prstGeom prst="rect">
            <a:avLst/>
          </a:prstGeom>
          <a:solidFill>
            <a:srgbClr val="04383F"/>
          </a:solidFill>
        </p:spPr>
        <p:txBody>
          <a:bodyPr/>
          <a:lstStyle/>
          <a:p>
            <a:endParaRPr lang="vi-VN"/>
          </a:p>
        </p:txBody>
      </p:sp>
      <p:sp>
        <p:nvSpPr>
          <p:cNvPr id="15" name="AutoShape 15"/>
          <p:cNvSpPr/>
          <p:nvPr/>
        </p:nvSpPr>
        <p:spPr>
          <a:xfrm>
            <a:off x="238396" y="1220943"/>
            <a:ext cx="59543" cy="4114800"/>
          </a:xfrm>
          <a:prstGeom prst="rect">
            <a:avLst/>
          </a:prstGeom>
          <a:solidFill>
            <a:srgbClr val="318F9A"/>
          </a:solidFill>
        </p:spPr>
        <p:txBody>
          <a:bodyPr/>
          <a:lstStyle/>
          <a:p>
            <a:endParaRPr lang="vi-VN"/>
          </a:p>
        </p:txBody>
      </p:sp>
      <p:grpSp>
        <p:nvGrpSpPr>
          <p:cNvPr id="16" name="Group 16"/>
          <p:cNvGrpSpPr/>
          <p:nvPr/>
        </p:nvGrpSpPr>
        <p:grpSpPr>
          <a:xfrm rot="3994440">
            <a:off x="293404" y="45406"/>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txBody>
            <a:bodyPr/>
            <a:lstStyle/>
            <a:p>
              <a:endParaRPr lang="vi-VN"/>
            </a:p>
          </p:txBody>
        </p:sp>
      </p:grpSp>
      <p:grpSp>
        <p:nvGrpSpPr>
          <p:cNvPr id="18" name="Group 18"/>
          <p:cNvGrpSpPr>
            <a:grpSpLocks noChangeAspect="1"/>
          </p:cNvGrpSpPr>
          <p:nvPr/>
        </p:nvGrpSpPr>
        <p:grpSpPr>
          <a:xfrm rot="3994440">
            <a:off x="549965" y="283507"/>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txBody>
            <a:bodyPr/>
            <a:lstStyle/>
            <a:p>
              <a:endParaRPr lang="vi-VN"/>
            </a:p>
          </p:txBody>
        </p:sp>
      </p:grpSp>
      <p:sp>
        <p:nvSpPr>
          <p:cNvPr id="20" name="TextBox 19"/>
          <p:cNvSpPr txBox="1"/>
          <p:nvPr/>
        </p:nvSpPr>
        <p:spPr>
          <a:xfrm>
            <a:off x="3317141" y="146169"/>
            <a:ext cx="2146399"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a:solidFill>
                  <a:srgbClr val="C00000"/>
                </a:solidFill>
                <a:latin typeface="Times New Roman" panose="02020603050405020304" pitchFamily="18" charset="0"/>
                <a:ea typeface="+mn-ea"/>
                <a:cs typeface="+mn-cs"/>
              </a:rPr>
              <a:t>KHỞI ĐỘNG</a:t>
            </a:r>
            <a:endParaRPr lang="en-US" sz="2200" b="1" kern="1200" dirty="0">
              <a:solidFill>
                <a:srgbClr val="C00000"/>
              </a:solidFill>
              <a:latin typeface="Calibri"/>
              <a:ea typeface="+mn-ea"/>
              <a:cs typeface="+mn-cs"/>
            </a:endParaRPr>
          </a:p>
        </p:txBody>
      </p:sp>
      <p:sp>
        <p:nvSpPr>
          <p:cNvPr id="22" name="TextBox 21"/>
          <p:cNvSpPr txBox="1"/>
          <p:nvPr/>
        </p:nvSpPr>
        <p:spPr>
          <a:xfrm>
            <a:off x="496576" y="720286"/>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chemeClr val="tx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Bài tập</a:t>
            </a:r>
            <a:r>
              <a:rPr lang="vi-VN" sz="2000" b="1" i="1" kern="1200">
                <a:solidFill>
                  <a:schemeClr val="tx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vi-VN" sz="2000" i="1" kern="1200">
                <a:solidFill>
                  <a:schemeClr val="tx1"/>
                </a:solidFill>
                <a:latin typeface="Times New Roman" panose="02020603050405020304" pitchFamily="18" charset="0"/>
                <a:ea typeface="+mn-ea"/>
                <a:cs typeface="Times New Roman" panose="02020603050405020304" pitchFamily="18" charset="0"/>
              </a:rPr>
              <a:t>Đếm sử dụng while và đếm sử dụng for.</a:t>
            </a:r>
            <a:endParaRPr lang="en-US" sz="2000" b="1" i="1" kern="1200" dirty="0">
              <a:solidFill>
                <a:schemeClr val="tx1"/>
              </a:solidFill>
              <a:latin typeface="Times New Roman" panose="02020603050405020304" pitchFamily="18" charset="0"/>
              <a:ea typeface="+mn-ea"/>
              <a:cs typeface="Times New Roman" panose="02020603050405020304" pitchFamily="18" charset="0"/>
            </a:endParaRPr>
          </a:p>
        </p:txBody>
      </p:sp>
      <p:sp>
        <p:nvSpPr>
          <p:cNvPr id="23" name="TextBox 22"/>
          <p:cNvSpPr txBox="1"/>
          <p:nvPr/>
        </p:nvSpPr>
        <p:spPr>
          <a:xfrm>
            <a:off x="431436" y="1652454"/>
            <a:ext cx="8567783" cy="1477328"/>
          </a:xfrm>
          <a:prstGeom prst="rect">
            <a:avLst/>
          </a:prstGeom>
          <a:noFill/>
          <a:ln w="19050">
            <a:solidFill>
              <a:srgbClr val="FF000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b="1" kern="1200">
                <a:solidFill>
                  <a:srgbClr val="002060"/>
                </a:solidFill>
                <a:latin typeface="Times New Roman" panose="02020603050405020304" pitchFamily="18" charset="0"/>
                <a:ea typeface="+mn-ea"/>
                <a:cs typeface="+mn-cs"/>
              </a:rPr>
              <a:t>Xét yêu cầu:</a:t>
            </a:r>
            <a:r>
              <a:rPr lang="vi-VN" sz="1800" kern="1200">
                <a:solidFill>
                  <a:srgbClr val="002060"/>
                </a:solidFill>
                <a:latin typeface="Times New Roman" panose="02020603050405020304" pitchFamily="18" charset="0"/>
                <a:ea typeface="+mn-ea"/>
                <a:cs typeface="+mn-cs"/>
              </a:rPr>
              <a:t> Viết chương trình đếm từ 0 đến 9, thời gian trễ là </a:t>
            </a:r>
            <a:r>
              <a:rPr lang="en-US" sz="1800" kern="1200">
                <a:solidFill>
                  <a:srgbClr val="002060"/>
                </a:solidFill>
                <a:latin typeface="Times New Roman" panose="02020603050405020304" pitchFamily="18" charset="0"/>
                <a:ea typeface="+mn-ea"/>
                <a:cs typeface="+mn-cs"/>
              </a:rPr>
              <a:t>3</a:t>
            </a:r>
            <a:r>
              <a:rPr lang="vi-VN" sz="1800" kern="1200">
                <a:solidFill>
                  <a:srgbClr val="002060"/>
                </a:solidFill>
                <a:latin typeface="Times New Roman" panose="02020603050405020304" pitchFamily="18" charset="0"/>
                <a:ea typeface="+mn-ea"/>
                <a:cs typeface="+mn-cs"/>
              </a:rPr>
              <a:t>00ms. Khi nhấn START mạch bắt đầu đếm và hiển thị lên LED 7 đoạn, khi nhấn STOP mạch dừng đếm tại giá trị hiện tại</a:t>
            </a:r>
            <a:r>
              <a:rPr lang="en-US" sz="1800" kern="1200">
                <a:solidFill>
                  <a:srgbClr val="002060"/>
                </a:solidFill>
                <a:latin typeface="Times New Roman" panose="02020603050405020304" pitchFamily="18" charset="0"/>
                <a:ea typeface="+mn-ea"/>
                <a:cs typeface="+mn-cs"/>
              </a:rPr>
              <a:t>.</a:t>
            </a:r>
          </a:p>
          <a:p>
            <a:pPr defTabSz="457200">
              <a:buClrTx/>
            </a:pPr>
            <a:r>
              <a:rPr lang="vi-VN" sz="1800" kern="1200">
                <a:solidFill>
                  <a:srgbClr val="002060"/>
                </a:solidFill>
                <a:latin typeface="Times New Roman" panose="02020603050405020304" pitchFamily="18" charset="0"/>
                <a:ea typeface="+mn-ea"/>
                <a:cs typeface="+mn-cs"/>
              </a:rPr>
              <a:t>a)   Tận dụng while(true) và phép </a:t>
            </a:r>
            <a:r>
              <a:rPr lang="vi-VN" sz="1800" b="1" kern="1200">
                <a:solidFill>
                  <a:srgbClr val="002060"/>
                </a:solidFill>
                <a:latin typeface="Times New Roman" panose="02020603050405020304" pitchFamily="18" charset="0"/>
                <a:ea typeface="+mn-ea"/>
                <a:cs typeface="+mn-cs"/>
              </a:rPr>
              <a:t>++;</a:t>
            </a:r>
          </a:p>
          <a:p>
            <a:pPr defTabSz="457200">
              <a:buClrTx/>
            </a:pPr>
            <a:r>
              <a:rPr lang="vi-VN" sz="1800" kern="1200">
                <a:solidFill>
                  <a:srgbClr val="002060"/>
                </a:solidFill>
                <a:latin typeface="Times New Roman" panose="02020603050405020304" pitchFamily="18" charset="0"/>
                <a:ea typeface="+mn-ea"/>
                <a:cs typeface="+mn-cs"/>
              </a:rPr>
              <a:t>b)   Sử dụng vòng lặp for.</a:t>
            </a:r>
          </a:p>
        </p:txBody>
      </p:sp>
    </p:spTree>
    <p:extLst>
      <p:ext uri="{BB962C8B-B14F-4D97-AF65-F5344CB8AC3E}">
        <p14:creationId xmlns:p14="http://schemas.microsoft.com/office/powerpoint/2010/main" val="211802280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2" name="TextBox 21"/>
          <p:cNvSpPr txBox="1"/>
          <p:nvPr/>
        </p:nvSpPr>
        <p:spPr>
          <a:xfrm>
            <a:off x="2247900" y="121838"/>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i="1" kern="1200">
                <a:solidFill>
                  <a:srgbClr val="002060"/>
                </a:solidFill>
                <a:latin typeface="Times New Roman" panose="02020603050405020304" pitchFamily="18" charset="0"/>
                <a:ea typeface="+mn-ea"/>
                <a:cs typeface="Times New Roman" panose="02020603050405020304" pitchFamily="18" charset="0"/>
              </a:rPr>
              <a:t>a) Sử dụng while(true) và phép ++;</a:t>
            </a:r>
            <a:endParaRPr lang="en-US" sz="2000" b="1" i="1" kern="1200" dirty="0">
              <a:solidFill>
                <a:srgbClr val="002060"/>
              </a:solidFill>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0" y="658101"/>
            <a:ext cx="5822185" cy="2796782"/>
          </a:xfrm>
          <a:prstGeom prst="rect">
            <a:avLst/>
          </a:prstGeom>
        </p:spPr>
      </p:pic>
      <p:pic>
        <p:nvPicPr>
          <p:cNvPr id="3" name="Picture 2"/>
          <p:cNvPicPr>
            <a:picLocks noChangeAspect="1"/>
          </p:cNvPicPr>
          <p:nvPr/>
        </p:nvPicPr>
        <p:blipFill>
          <a:blip r:embed="rId3"/>
          <a:stretch>
            <a:fillRect/>
          </a:stretch>
        </p:blipFill>
        <p:spPr>
          <a:xfrm>
            <a:off x="5386284" y="1577188"/>
            <a:ext cx="3436918" cy="3513124"/>
          </a:xfrm>
          <a:prstGeom prst="rect">
            <a:avLst/>
          </a:prstGeom>
        </p:spPr>
      </p:pic>
    </p:spTree>
    <p:extLst>
      <p:ext uri="{BB962C8B-B14F-4D97-AF65-F5344CB8AC3E}">
        <p14:creationId xmlns:p14="http://schemas.microsoft.com/office/powerpoint/2010/main" val="19000101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2" name="TextBox 21"/>
          <p:cNvSpPr txBox="1"/>
          <p:nvPr/>
        </p:nvSpPr>
        <p:spPr>
          <a:xfrm>
            <a:off x="3081138" y="84093"/>
            <a:ext cx="302514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i="1" kern="1200">
                <a:solidFill>
                  <a:srgbClr val="002060"/>
                </a:solidFill>
                <a:latin typeface="Times New Roman" panose="02020603050405020304" pitchFamily="18" charset="0"/>
                <a:ea typeface="+mn-ea"/>
                <a:cs typeface="Times New Roman" panose="02020603050405020304" pitchFamily="18" charset="0"/>
              </a:rPr>
              <a:t>b) Sử dụng vòng lặp for</a:t>
            </a:r>
            <a:endParaRPr lang="en-US" sz="2000" b="1" i="1" kern="1200" dirty="0">
              <a:solidFill>
                <a:srgbClr val="002060"/>
              </a:solidFill>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48781" y="484203"/>
            <a:ext cx="5076362" cy="4557967"/>
          </a:xfrm>
          <a:prstGeom prst="rect">
            <a:avLst/>
          </a:prstGeom>
        </p:spPr>
      </p:pic>
    </p:spTree>
    <p:extLst>
      <p:ext uri="{BB962C8B-B14F-4D97-AF65-F5344CB8AC3E}">
        <p14:creationId xmlns:p14="http://schemas.microsoft.com/office/powerpoint/2010/main" val="28999856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Right Arrow 1"/>
          <p:cNvSpPr/>
          <p:nvPr/>
        </p:nvSpPr>
        <p:spPr>
          <a:xfrm>
            <a:off x="289999" y="3687785"/>
            <a:ext cx="7780020" cy="1280160"/>
          </a:xfrm>
          <a:prstGeom prst="rightArrow">
            <a:avLst/>
          </a:prstGeom>
          <a:solidFill>
            <a:schemeClr val="accent5">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070610" y="4020941"/>
            <a:ext cx="7132320" cy="646331"/>
          </a:xfrm>
          <a:prstGeom prst="rect">
            <a:avLst/>
          </a:prstGeom>
          <a:noFill/>
        </p:spPr>
        <p:txBody>
          <a:bodyPr wrap="square" rtlCol="0">
            <a:spAutoFit/>
          </a:bodyPr>
          <a:lstStyle/>
          <a:p>
            <a:r>
              <a:rPr lang="vi-VN" sz="1800">
                <a:latin typeface="Bahnschrift Light Condensed" panose="020B0502040204020203" pitchFamily="34" charset="0"/>
              </a:rPr>
              <a:t>ĐIỀU  GÌ  XẢY  RA  NẾU  THỜI  GIAN  TRỄ  ĐƯỢC  TĂNG  LÊN  ĐÁNG  KỂ?</a:t>
            </a:r>
          </a:p>
          <a:p>
            <a:r>
              <a:rPr lang="vi-VN" sz="1800">
                <a:latin typeface="Bahnschrift Light Condensed" panose="020B0502040204020203" pitchFamily="34" charset="0"/>
              </a:rPr>
              <a:t>CHƯƠNG  TRÌNH  ĐÃ  CHO  CÒN  ĐÚNG  VỚI  YÊU  CẦU  ĐỀ  BÀI  KHÔNG?</a:t>
            </a:r>
            <a:endParaRPr lang="en-US" sz="1800">
              <a:latin typeface="Bahnschrift Light Condensed" panose="020B0502040204020203" pitchFamily="34" charset="0"/>
            </a:endParaRPr>
          </a:p>
        </p:txBody>
      </p:sp>
      <p:pic>
        <p:nvPicPr>
          <p:cNvPr id="5122" name="Picture 2" descr="Pin on Q版场景"/>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271" y="1978380"/>
            <a:ext cx="1832245" cy="1373891"/>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remium Vector | Cute thermometer mascot is shooting fire pow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30947"/>
            <a:ext cx="1551023" cy="1434573"/>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Loudspeaker - Free marketing ic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673" y="1071103"/>
            <a:ext cx="1242673" cy="124267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1042217" y="2323084"/>
            <a:ext cx="658052" cy="44057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083215" y="2313777"/>
            <a:ext cx="566765" cy="49353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9"/>
          <p:cNvGraphicFramePr>
            <a:graphicFrameLocks noChangeAspect="1"/>
          </p:cNvGraphicFramePr>
          <p:nvPr>
            <p:extLst>
              <p:ext uri="{D42A27DB-BD31-4B8C-83A1-F6EECF244321}">
                <p14:modId xmlns:p14="http://schemas.microsoft.com/office/powerpoint/2010/main" val="1099464779"/>
              </p:ext>
            </p:extLst>
          </p:nvPr>
        </p:nvGraphicFramePr>
        <p:xfrm>
          <a:off x="356137" y="894248"/>
          <a:ext cx="1465807" cy="393799"/>
        </p:xfrm>
        <a:graphic>
          <a:graphicData uri="http://schemas.openxmlformats.org/presentationml/2006/ole">
            <mc:AlternateContent xmlns:mc="http://schemas.openxmlformats.org/markup-compatibility/2006">
              <mc:Choice xmlns:v="urn:schemas-microsoft-com:vml" Requires="v">
                <p:oleObj name="Equation" r:id="rId5" imgW="850680" imgH="228600" progId="Equation.DSMT4">
                  <p:embed/>
                </p:oleObj>
              </mc:Choice>
              <mc:Fallback>
                <p:oleObj name="Equation" r:id="rId5" imgW="850680" imgH="228600" progId="Equation.DSMT4">
                  <p:embed/>
                  <p:pic>
                    <p:nvPicPr>
                      <p:cNvPr id="0" name=""/>
                      <p:cNvPicPr/>
                      <p:nvPr/>
                    </p:nvPicPr>
                    <p:blipFill>
                      <a:blip r:embed="rId6"/>
                      <a:stretch>
                        <a:fillRect/>
                      </a:stretch>
                    </p:blipFill>
                    <p:spPr>
                      <a:xfrm>
                        <a:off x="356137" y="894248"/>
                        <a:ext cx="1465807" cy="393799"/>
                      </a:xfrm>
                      <a:prstGeom prst="rect">
                        <a:avLst/>
                      </a:prstGeom>
                    </p:spPr>
                  </p:pic>
                </p:oleObj>
              </mc:Fallback>
            </mc:AlternateContent>
          </a:graphicData>
        </a:graphic>
      </p:graphicFrame>
      <p:cxnSp>
        <p:nvCxnSpPr>
          <p:cNvPr id="18" name="Straight Arrow Connector 17"/>
          <p:cNvCxnSpPr/>
          <p:nvPr/>
        </p:nvCxnSpPr>
        <p:spPr>
          <a:xfrm>
            <a:off x="1177643" y="1408475"/>
            <a:ext cx="2533297" cy="465524"/>
          </a:xfrm>
          <a:prstGeom prst="straightConnector1">
            <a:avLst/>
          </a:prstGeom>
          <a:ln w="19050">
            <a:solidFill>
              <a:srgbClr val="00B05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3" name="Oval Callout 12"/>
          <p:cNvSpPr/>
          <p:nvPr/>
        </p:nvSpPr>
        <p:spPr>
          <a:xfrm>
            <a:off x="1821944" y="182880"/>
            <a:ext cx="2071876" cy="1105167"/>
          </a:xfrm>
          <a:prstGeom prst="wedgeEllipseCallou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a:stCxn id="13" idx="8"/>
          </p:cNvCxnSpPr>
          <p:nvPr/>
        </p:nvCxnSpPr>
        <p:spPr>
          <a:xfrm>
            <a:off x="2426248" y="1426193"/>
            <a:ext cx="12145" cy="760747"/>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60524" y="337787"/>
            <a:ext cx="2018554" cy="707886"/>
          </a:xfrm>
          <a:prstGeom prst="rect">
            <a:avLst/>
          </a:prstGeom>
          <a:noFill/>
        </p:spPr>
        <p:txBody>
          <a:bodyPr wrap="square" rtlCol="0">
            <a:spAutoFit/>
          </a:bodyPr>
          <a:lstStyle/>
          <a:p>
            <a:r>
              <a:rPr lang="vi-VN" sz="1300">
                <a:latin typeface="+mj-lt"/>
              </a:rPr>
              <a:t>IF(T &gt;= 200)  </a:t>
            </a:r>
          </a:p>
          <a:p>
            <a:r>
              <a:rPr lang="vi-VN" sz="1300">
                <a:latin typeface="+mj-lt"/>
              </a:rPr>
              <a:t>DELAY_MS(5000);</a:t>
            </a:r>
          </a:p>
          <a:p>
            <a:r>
              <a:rPr lang="vi-VN" sz="1300">
                <a:latin typeface="+mj-lt"/>
              </a:rPr>
              <a:t>LOUD! LOUD! LOUD</a:t>
            </a:r>
            <a:r>
              <a:rPr lang="vi-VN"/>
              <a:t>!</a:t>
            </a:r>
            <a:endParaRPr lang="en-US"/>
          </a:p>
        </p:txBody>
      </p:sp>
      <p:sp>
        <p:nvSpPr>
          <p:cNvPr id="19" name="Chevron 18"/>
          <p:cNvSpPr/>
          <p:nvPr/>
        </p:nvSpPr>
        <p:spPr>
          <a:xfrm>
            <a:off x="4948728" y="1351403"/>
            <a:ext cx="1401106" cy="1477673"/>
          </a:xfrm>
          <a:prstGeom prst="chevron">
            <a:avLst/>
          </a:prstGeom>
          <a:solidFill>
            <a:srgbClr val="C0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132" name="Picture 12" descr="Burning House Images – Browse 126,834 Stock Photos, Vectors, and Video |  Adobe Stock"/>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5558" y="273320"/>
            <a:ext cx="2557588" cy="170506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134" name="Picture 14" descr="Blaze, burn, burnt, explosion, fire, flame, man icon - Download on  Iconfinde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53452" y="2054653"/>
            <a:ext cx="1726542" cy="172654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8054182" y="2054653"/>
            <a:ext cx="1096534" cy="584775"/>
          </a:xfrm>
          <a:prstGeom prst="rect">
            <a:avLst/>
          </a:prstGeom>
          <a:noFill/>
        </p:spPr>
        <p:txBody>
          <a:bodyPr wrap="square" rtlCol="0">
            <a:spAutoFit/>
          </a:bodyPr>
          <a:lstStyle/>
          <a:p>
            <a:r>
              <a:rPr lang="vi-VN" sz="1600" b="1">
                <a:solidFill>
                  <a:srgbClr val="002060"/>
                </a:solidFill>
                <a:latin typeface="Euclid Fraktur" panose="03010601010101010101" pitchFamily="66" charset="2"/>
                <a:ea typeface="Cascadia Code" panose="020B0609020000020004" pitchFamily="49" charset="0"/>
                <a:cs typeface="Cascadia Code" panose="020B0609020000020004" pitchFamily="49" charset="0"/>
              </a:rPr>
              <a:t>MOI MOI</a:t>
            </a:r>
            <a:endParaRPr lang="en-US" sz="1600" b="1">
              <a:solidFill>
                <a:srgbClr val="002060"/>
              </a:solidFill>
              <a:latin typeface="Euclid Fraktur" panose="03010601010101010101" pitchFamily="66" charset="2"/>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0480195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randombar(horizont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anim calcmode="lin" valueType="num">
                                      <p:cBhvr additive="base">
                                        <p:cTn id="19" dur="500" fill="hold"/>
                                        <p:tgtEl>
                                          <p:spTgt spid="5122"/>
                                        </p:tgtEl>
                                        <p:attrNameLst>
                                          <p:attrName>ppt_x</p:attrName>
                                        </p:attrNameLst>
                                      </p:cBhvr>
                                      <p:tavLst>
                                        <p:tav tm="0">
                                          <p:val>
                                            <p:strVal val="#ppt_x"/>
                                          </p:val>
                                        </p:tav>
                                        <p:tav tm="100000">
                                          <p:val>
                                            <p:strVal val="#ppt_x"/>
                                          </p:val>
                                        </p:tav>
                                      </p:tavLst>
                                    </p:anim>
                                    <p:anim calcmode="lin" valueType="num">
                                      <p:cBhvr additive="base">
                                        <p:cTn id="20"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128"/>
                                        </p:tgtEl>
                                        <p:attrNameLst>
                                          <p:attrName>style.visibility</p:attrName>
                                        </p:attrNameLst>
                                      </p:cBhvr>
                                      <p:to>
                                        <p:strVal val="visible"/>
                                      </p:to>
                                    </p:set>
                                    <p:anim calcmode="lin" valueType="num">
                                      <p:cBhvr additive="base">
                                        <p:cTn id="25" dur="500" fill="hold"/>
                                        <p:tgtEl>
                                          <p:spTgt spid="5128"/>
                                        </p:tgtEl>
                                        <p:attrNameLst>
                                          <p:attrName>ppt_x</p:attrName>
                                        </p:attrNameLst>
                                      </p:cBhvr>
                                      <p:tavLst>
                                        <p:tav tm="0">
                                          <p:val>
                                            <p:strVal val="#ppt_x"/>
                                          </p:val>
                                        </p:tav>
                                        <p:tav tm="100000">
                                          <p:val>
                                            <p:strVal val="#ppt_x"/>
                                          </p:val>
                                        </p:tav>
                                      </p:tavLst>
                                    </p:anim>
                                    <p:anim calcmode="lin" valueType="num">
                                      <p:cBhvr additive="base">
                                        <p:cTn id="26" dur="500" fill="hold"/>
                                        <p:tgtEl>
                                          <p:spTgt spid="51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5130"/>
                                        </p:tgtEl>
                                        <p:attrNameLst>
                                          <p:attrName>style.visibility</p:attrName>
                                        </p:attrNameLst>
                                      </p:cBhvr>
                                      <p:to>
                                        <p:strVal val="visible"/>
                                      </p:to>
                                    </p:set>
                                    <p:animEffect transition="in" filter="fade">
                                      <p:cBhvr>
                                        <p:cTn id="31" dur="1000"/>
                                        <p:tgtEl>
                                          <p:spTgt spid="5130"/>
                                        </p:tgtEl>
                                      </p:cBhvr>
                                    </p:animEffect>
                                    <p:anim calcmode="lin" valueType="num">
                                      <p:cBhvr>
                                        <p:cTn id="32" dur="1000" fill="hold"/>
                                        <p:tgtEl>
                                          <p:spTgt spid="5130"/>
                                        </p:tgtEl>
                                        <p:attrNameLst>
                                          <p:attrName>ppt_x</p:attrName>
                                        </p:attrNameLst>
                                      </p:cBhvr>
                                      <p:tavLst>
                                        <p:tav tm="0">
                                          <p:val>
                                            <p:strVal val="#ppt_x"/>
                                          </p:val>
                                        </p:tav>
                                        <p:tav tm="100000">
                                          <p:val>
                                            <p:strVal val="#ppt_x"/>
                                          </p:val>
                                        </p:tav>
                                      </p:tavLst>
                                    </p:anim>
                                    <p:anim calcmode="lin" valueType="num">
                                      <p:cBhvr>
                                        <p:cTn id="33" dur="1000" fill="hold"/>
                                        <p:tgtEl>
                                          <p:spTgt spid="513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anim calcmode="lin" valueType="num">
                                      <p:cBhvr>
                                        <p:cTn id="45" dur="1000" fill="hold"/>
                                        <p:tgtEl>
                                          <p:spTgt spid="14"/>
                                        </p:tgtEl>
                                        <p:attrNameLst>
                                          <p:attrName>ppt_x</p:attrName>
                                        </p:attrNameLst>
                                      </p:cBhvr>
                                      <p:tavLst>
                                        <p:tav tm="0">
                                          <p:val>
                                            <p:strVal val="#ppt_x"/>
                                          </p:val>
                                        </p:tav>
                                        <p:tav tm="100000">
                                          <p:val>
                                            <p:strVal val="#ppt_x"/>
                                          </p:val>
                                        </p:tav>
                                      </p:tavLst>
                                    </p:anim>
                                    <p:anim calcmode="lin" valueType="num">
                                      <p:cBhvr>
                                        <p:cTn id="4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randombar(horizontal)">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 calcmode="lin" valueType="num">
                                      <p:cBhvr>
                                        <p:cTn id="56" dur="1000" fill="hold"/>
                                        <p:tgtEl>
                                          <p:spTgt spid="18"/>
                                        </p:tgtEl>
                                        <p:attrNameLst>
                                          <p:attrName>ppt_w</p:attrName>
                                        </p:attrNameLst>
                                      </p:cBhvr>
                                      <p:tavLst>
                                        <p:tav tm="0">
                                          <p:val>
                                            <p:fltVal val="0"/>
                                          </p:val>
                                        </p:tav>
                                        <p:tav tm="100000">
                                          <p:val>
                                            <p:strVal val="#ppt_w"/>
                                          </p:val>
                                        </p:tav>
                                      </p:tavLst>
                                    </p:anim>
                                    <p:anim calcmode="lin" valueType="num">
                                      <p:cBhvr>
                                        <p:cTn id="57" dur="1000" fill="hold"/>
                                        <p:tgtEl>
                                          <p:spTgt spid="18"/>
                                        </p:tgtEl>
                                        <p:attrNameLst>
                                          <p:attrName>ppt_h</p:attrName>
                                        </p:attrNameLst>
                                      </p:cBhvr>
                                      <p:tavLst>
                                        <p:tav tm="0">
                                          <p:val>
                                            <p:fltVal val="0"/>
                                          </p:val>
                                        </p:tav>
                                        <p:tav tm="100000">
                                          <p:val>
                                            <p:strVal val="#ppt_h"/>
                                          </p:val>
                                        </p:tav>
                                      </p:tavLst>
                                    </p:anim>
                                    <p:anim calcmode="lin" valueType="num">
                                      <p:cBhvr>
                                        <p:cTn id="58" dur="1000" fill="hold"/>
                                        <p:tgtEl>
                                          <p:spTgt spid="18"/>
                                        </p:tgtEl>
                                        <p:attrNameLst>
                                          <p:attrName>style.rotation</p:attrName>
                                        </p:attrNameLst>
                                      </p:cBhvr>
                                      <p:tavLst>
                                        <p:tav tm="0">
                                          <p:val>
                                            <p:fltVal val="90"/>
                                          </p:val>
                                        </p:tav>
                                        <p:tav tm="100000">
                                          <p:val>
                                            <p:fltVal val="0"/>
                                          </p:val>
                                        </p:tav>
                                      </p:tavLst>
                                    </p:anim>
                                    <p:animEffect transition="in" filter="fade">
                                      <p:cBhvr>
                                        <p:cTn id="59" dur="10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6" presetClass="entr" presetSubtype="16"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circle(in)">
                                      <p:cBhvr>
                                        <p:cTn id="64" dur="20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fill="hold"/>
                                        <p:tgtEl>
                                          <p:spTgt spid="13"/>
                                        </p:tgtEl>
                                        <p:attrNameLst>
                                          <p:attrName>ppt_x</p:attrName>
                                        </p:attrNameLst>
                                      </p:cBhvr>
                                      <p:tavLst>
                                        <p:tav tm="0">
                                          <p:val>
                                            <p:strVal val="#ppt_x"/>
                                          </p:val>
                                        </p:tav>
                                        <p:tav tm="100000">
                                          <p:val>
                                            <p:strVal val="#ppt_x"/>
                                          </p:val>
                                        </p:tav>
                                      </p:tavLst>
                                    </p:anim>
                                    <p:anim calcmode="lin" valueType="num">
                                      <p:cBhvr additive="base">
                                        <p:cTn id="7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1000"/>
                                        <p:tgtEl>
                                          <p:spTgt spid="17"/>
                                        </p:tgtEl>
                                      </p:cBhvr>
                                    </p:animEffect>
                                    <p:anim calcmode="lin" valueType="num">
                                      <p:cBhvr>
                                        <p:cTn id="76" dur="1000" fill="hold"/>
                                        <p:tgtEl>
                                          <p:spTgt spid="17"/>
                                        </p:tgtEl>
                                        <p:attrNameLst>
                                          <p:attrName>ppt_x</p:attrName>
                                        </p:attrNameLst>
                                      </p:cBhvr>
                                      <p:tavLst>
                                        <p:tav tm="0">
                                          <p:val>
                                            <p:strVal val="#ppt_x"/>
                                          </p:val>
                                        </p:tav>
                                        <p:tav tm="100000">
                                          <p:val>
                                            <p:strVal val="#ppt_x"/>
                                          </p:val>
                                        </p:tav>
                                      </p:tavLst>
                                    </p:anim>
                                    <p:anim calcmode="lin" valueType="num">
                                      <p:cBhvr>
                                        <p:cTn id="7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randombar(horizontal)">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nodeType="clickEffect">
                                  <p:stCondLst>
                                    <p:cond delay="0"/>
                                  </p:stCondLst>
                                  <p:childTnLst>
                                    <p:set>
                                      <p:cBhvr>
                                        <p:cTn id="86" dur="1" fill="hold">
                                          <p:stCondLst>
                                            <p:cond delay="0"/>
                                          </p:stCondLst>
                                        </p:cTn>
                                        <p:tgtEl>
                                          <p:spTgt spid="5132"/>
                                        </p:tgtEl>
                                        <p:attrNameLst>
                                          <p:attrName>style.visibility</p:attrName>
                                        </p:attrNameLst>
                                      </p:cBhvr>
                                      <p:to>
                                        <p:strVal val="visible"/>
                                      </p:to>
                                    </p:set>
                                    <p:anim calcmode="lin" valueType="num">
                                      <p:cBhvr>
                                        <p:cTn id="87" dur="1000" fill="hold"/>
                                        <p:tgtEl>
                                          <p:spTgt spid="5132"/>
                                        </p:tgtEl>
                                        <p:attrNameLst>
                                          <p:attrName>ppt_w</p:attrName>
                                        </p:attrNameLst>
                                      </p:cBhvr>
                                      <p:tavLst>
                                        <p:tav tm="0">
                                          <p:val>
                                            <p:fltVal val="0"/>
                                          </p:val>
                                        </p:tav>
                                        <p:tav tm="100000">
                                          <p:val>
                                            <p:strVal val="#ppt_w"/>
                                          </p:val>
                                        </p:tav>
                                      </p:tavLst>
                                    </p:anim>
                                    <p:anim calcmode="lin" valueType="num">
                                      <p:cBhvr>
                                        <p:cTn id="88" dur="1000" fill="hold"/>
                                        <p:tgtEl>
                                          <p:spTgt spid="5132"/>
                                        </p:tgtEl>
                                        <p:attrNameLst>
                                          <p:attrName>ppt_h</p:attrName>
                                        </p:attrNameLst>
                                      </p:cBhvr>
                                      <p:tavLst>
                                        <p:tav tm="0">
                                          <p:val>
                                            <p:fltVal val="0"/>
                                          </p:val>
                                        </p:tav>
                                        <p:tav tm="100000">
                                          <p:val>
                                            <p:strVal val="#ppt_h"/>
                                          </p:val>
                                        </p:tav>
                                      </p:tavLst>
                                    </p:anim>
                                    <p:anim calcmode="lin" valueType="num">
                                      <p:cBhvr>
                                        <p:cTn id="89" dur="1000" fill="hold"/>
                                        <p:tgtEl>
                                          <p:spTgt spid="5132"/>
                                        </p:tgtEl>
                                        <p:attrNameLst>
                                          <p:attrName>style.rotation</p:attrName>
                                        </p:attrNameLst>
                                      </p:cBhvr>
                                      <p:tavLst>
                                        <p:tav tm="0">
                                          <p:val>
                                            <p:fltVal val="90"/>
                                          </p:val>
                                        </p:tav>
                                        <p:tav tm="100000">
                                          <p:val>
                                            <p:fltVal val="0"/>
                                          </p:val>
                                        </p:tav>
                                      </p:tavLst>
                                    </p:anim>
                                    <p:animEffect transition="in" filter="fade">
                                      <p:cBhvr>
                                        <p:cTn id="90" dur="1000"/>
                                        <p:tgtEl>
                                          <p:spTgt spid="5132"/>
                                        </p:tgtEl>
                                      </p:cBhvr>
                                    </p:animEffect>
                                  </p:childTnLst>
                                </p:cTn>
                              </p:par>
                            </p:childTnLst>
                          </p:cTn>
                        </p:par>
                      </p:childTnLst>
                    </p:cTn>
                  </p:par>
                  <p:par>
                    <p:cTn id="91" fill="hold">
                      <p:stCondLst>
                        <p:cond delay="indefinite"/>
                      </p:stCondLst>
                      <p:childTnLst>
                        <p:par>
                          <p:cTn id="92" fill="hold">
                            <p:stCondLst>
                              <p:cond delay="0"/>
                            </p:stCondLst>
                            <p:childTnLst>
                              <p:par>
                                <p:cTn id="93" presetID="21" presetClass="entr" presetSubtype="1" fill="hold" nodeType="clickEffect">
                                  <p:stCondLst>
                                    <p:cond delay="0"/>
                                  </p:stCondLst>
                                  <p:childTnLst>
                                    <p:set>
                                      <p:cBhvr>
                                        <p:cTn id="94" dur="1" fill="hold">
                                          <p:stCondLst>
                                            <p:cond delay="0"/>
                                          </p:stCondLst>
                                        </p:cTn>
                                        <p:tgtEl>
                                          <p:spTgt spid="5134"/>
                                        </p:tgtEl>
                                        <p:attrNameLst>
                                          <p:attrName>style.visibility</p:attrName>
                                        </p:attrNameLst>
                                      </p:cBhvr>
                                      <p:to>
                                        <p:strVal val="visible"/>
                                      </p:to>
                                    </p:set>
                                    <p:animEffect transition="in" filter="wheel(1)">
                                      <p:cBhvr>
                                        <p:cTn id="95" dur="2000"/>
                                        <p:tgtEl>
                                          <p:spTgt spid="5134"/>
                                        </p:tgtEl>
                                      </p:cBhvr>
                                    </p:animEffec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grpId="0" nodeType="click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randombar(horizontal)">
                                      <p:cBhvr>
                                        <p:cTn id="10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13" grpId="0" animBg="1"/>
      <p:bldP spid="17" grpId="0"/>
      <p:bldP spid="19" grpId="0" animBg="1"/>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txBody>
          <a:bodyPr/>
          <a:lstStyle/>
          <a:p>
            <a:endParaRPr lang="vi-VN"/>
          </a:p>
        </p:txBody>
      </p:sp>
      <p:sp>
        <p:nvSpPr>
          <p:cNvPr id="13" name="AutoShape 13"/>
          <p:cNvSpPr/>
          <p:nvPr/>
        </p:nvSpPr>
        <p:spPr>
          <a:xfrm>
            <a:off x="1408682" y="545703"/>
            <a:ext cx="7883480" cy="62707"/>
          </a:xfrm>
          <a:prstGeom prst="rect">
            <a:avLst/>
          </a:prstGeom>
          <a:solidFill>
            <a:srgbClr val="318F9A"/>
          </a:solidFill>
        </p:spPr>
        <p:txBody>
          <a:bodyPr/>
          <a:lstStyle/>
          <a:p>
            <a:endParaRPr lang="vi-VN"/>
          </a:p>
        </p:txBody>
      </p:sp>
      <p:sp>
        <p:nvSpPr>
          <p:cNvPr id="14" name="AutoShape 14"/>
          <p:cNvSpPr/>
          <p:nvPr/>
        </p:nvSpPr>
        <p:spPr>
          <a:xfrm>
            <a:off x="-105689" y="4274185"/>
            <a:ext cx="642023" cy="992619"/>
          </a:xfrm>
          <a:prstGeom prst="rect">
            <a:avLst/>
          </a:prstGeom>
          <a:solidFill>
            <a:srgbClr val="04383F"/>
          </a:solidFill>
        </p:spPr>
        <p:txBody>
          <a:bodyPr/>
          <a:lstStyle/>
          <a:p>
            <a:endParaRPr lang="vi-VN"/>
          </a:p>
        </p:txBody>
      </p:sp>
      <p:sp>
        <p:nvSpPr>
          <p:cNvPr id="15" name="AutoShape 15"/>
          <p:cNvSpPr/>
          <p:nvPr/>
        </p:nvSpPr>
        <p:spPr>
          <a:xfrm>
            <a:off x="238396" y="1220943"/>
            <a:ext cx="59543" cy="4114800"/>
          </a:xfrm>
          <a:prstGeom prst="rect">
            <a:avLst/>
          </a:prstGeom>
          <a:solidFill>
            <a:srgbClr val="318F9A"/>
          </a:solidFill>
        </p:spPr>
        <p:txBody>
          <a:bodyPr/>
          <a:lstStyle/>
          <a:p>
            <a:endParaRPr lang="vi-VN"/>
          </a:p>
        </p:txBody>
      </p:sp>
      <p:sp>
        <p:nvSpPr>
          <p:cNvPr id="20" name="TextBox 19"/>
          <p:cNvSpPr txBox="1"/>
          <p:nvPr/>
        </p:nvSpPr>
        <p:spPr>
          <a:xfrm>
            <a:off x="2088103" y="1520707"/>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dirty="0">
                <a:solidFill>
                  <a:srgbClr val="002060"/>
                </a:solidFill>
                <a:latin typeface="Times New Roman" panose="02020603050405020304" pitchFamily="18" charset="0"/>
                <a:ea typeface="+mn-ea"/>
                <a:cs typeface="+mn-cs"/>
              </a:rPr>
              <a:t> </a:t>
            </a:r>
            <a:r>
              <a:rPr lang="vi-VN" sz="2200" b="1" kern="1200" dirty="0">
                <a:solidFill>
                  <a:srgbClr val="FF0000"/>
                </a:solidFill>
                <a:latin typeface="Times New Roman" panose="02020603050405020304" pitchFamily="18" charset="0"/>
                <a:ea typeface="+mn-ea"/>
                <a:cs typeface="+mn-cs"/>
              </a:rPr>
              <a:t>I</a:t>
            </a:r>
            <a:r>
              <a:rPr lang="vi-VN" sz="2200" b="1" kern="1200">
                <a:solidFill>
                  <a:srgbClr val="FF0000"/>
                </a:solidFill>
                <a:latin typeface="Times New Roman" panose="02020603050405020304" pitchFamily="18" charset="0"/>
                <a:ea typeface="+mn-ea"/>
                <a:cs typeface="+mn-cs"/>
              </a:rPr>
              <a:t>: HÀM DELAY_MSX – BĂM THỜI GIAN</a:t>
            </a:r>
            <a:endParaRPr lang="en-US" sz="2200" b="1" kern="1200" dirty="0">
              <a:solidFill>
                <a:srgbClr val="FF0000"/>
              </a:solidFill>
              <a:latin typeface="Calibri"/>
              <a:ea typeface="+mn-ea"/>
              <a:cs typeface="+mn-cs"/>
            </a:endParaRPr>
          </a:p>
        </p:txBody>
      </p:sp>
      <p:sp>
        <p:nvSpPr>
          <p:cNvPr id="25" name="TextBox 24"/>
          <p:cNvSpPr txBox="1"/>
          <p:nvPr/>
        </p:nvSpPr>
        <p:spPr>
          <a:xfrm>
            <a:off x="2036981" y="2413638"/>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a:solidFill>
                  <a:srgbClr val="FF0000"/>
                </a:solidFill>
                <a:latin typeface="Times New Roman" panose="02020603050405020304" pitchFamily="18" charset="0"/>
                <a:ea typeface="+mn-ea"/>
                <a:cs typeface="+mn-cs"/>
              </a:rPr>
              <a:t>II: GIAO TIẾP NÚT GẠT -  SWITCH</a:t>
            </a:r>
            <a:endParaRPr lang="en-US" sz="2200" b="1" kern="1200" dirty="0">
              <a:solidFill>
                <a:srgbClr val="FF0000"/>
              </a:solidFill>
              <a:latin typeface="Calibri"/>
              <a:ea typeface="+mn-ea"/>
              <a:cs typeface="+mn-cs"/>
            </a:endParaRPr>
          </a:p>
        </p:txBody>
      </p:sp>
      <p:pic>
        <p:nvPicPr>
          <p:cNvPr id="4098" name="Picture 2" descr="Tập tin:Out of date clock icon.svg – Wikipedia tiếng Việ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1620" y="3428494"/>
            <a:ext cx="1508933" cy="150893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witch on Off Button Icon Flat Vector Template Design Trendy Stock  Illustration - Illustration of equipment, clear: 178584610"/>
          <p:cNvPicPr>
            <a:picLocks noChangeAspect="1" noChangeArrowheads="1"/>
          </p:cNvPicPr>
          <p:nvPr/>
        </p:nvPicPr>
        <p:blipFill rotWithShape="1">
          <a:blip r:embed="rId3">
            <a:extLst>
              <a:ext uri="{28A0092B-C50C-407E-A947-70E740481C1C}">
                <a14:useLocalDpi xmlns:a14="http://schemas.microsoft.com/office/drawing/2010/main" val="0"/>
              </a:ext>
            </a:extLst>
          </a:blip>
          <a:srcRect b="15103"/>
          <a:stretch/>
        </p:blipFill>
        <p:spPr bwMode="auto">
          <a:xfrm>
            <a:off x="412067" y="665117"/>
            <a:ext cx="1510786" cy="135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3188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txBody>
          <a:bodyPr/>
          <a:lstStyle/>
          <a:p>
            <a:endParaRPr lang="vi-VN"/>
          </a:p>
        </p:txBody>
      </p:sp>
      <p:sp>
        <p:nvSpPr>
          <p:cNvPr id="13" name="AutoShape 13"/>
          <p:cNvSpPr/>
          <p:nvPr/>
        </p:nvSpPr>
        <p:spPr>
          <a:xfrm>
            <a:off x="1408682" y="545703"/>
            <a:ext cx="7883480" cy="62707"/>
          </a:xfrm>
          <a:prstGeom prst="rect">
            <a:avLst/>
          </a:prstGeom>
          <a:solidFill>
            <a:srgbClr val="318F9A"/>
          </a:solidFill>
        </p:spPr>
        <p:txBody>
          <a:bodyPr/>
          <a:lstStyle/>
          <a:p>
            <a:endParaRPr lang="vi-VN"/>
          </a:p>
        </p:txBody>
      </p:sp>
      <p:sp>
        <p:nvSpPr>
          <p:cNvPr id="14" name="AutoShape 14"/>
          <p:cNvSpPr/>
          <p:nvPr/>
        </p:nvSpPr>
        <p:spPr>
          <a:xfrm>
            <a:off x="-105689" y="4274185"/>
            <a:ext cx="642023" cy="992619"/>
          </a:xfrm>
          <a:prstGeom prst="rect">
            <a:avLst/>
          </a:prstGeom>
          <a:solidFill>
            <a:srgbClr val="04383F"/>
          </a:solidFill>
        </p:spPr>
        <p:txBody>
          <a:bodyPr/>
          <a:lstStyle/>
          <a:p>
            <a:endParaRPr lang="vi-VN"/>
          </a:p>
        </p:txBody>
      </p:sp>
      <p:sp>
        <p:nvSpPr>
          <p:cNvPr id="15" name="AutoShape 15"/>
          <p:cNvSpPr/>
          <p:nvPr/>
        </p:nvSpPr>
        <p:spPr>
          <a:xfrm>
            <a:off x="238396" y="1220943"/>
            <a:ext cx="59543" cy="4114800"/>
          </a:xfrm>
          <a:prstGeom prst="rect">
            <a:avLst/>
          </a:prstGeom>
          <a:solidFill>
            <a:srgbClr val="318F9A"/>
          </a:solidFill>
        </p:spPr>
        <p:txBody>
          <a:bodyPr/>
          <a:lstStyle/>
          <a:p>
            <a:endParaRPr lang="vi-VN"/>
          </a:p>
        </p:txBody>
      </p:sp>
      <p:grpSp>
        <p:nvGrpSpPr>
          <p:cNvPr id="16" name="Group 16"/>
          <p:cNvGrpSpPr/>
          <p:nvPr/>
        </p:nvGrpSpPr>
        <p:grpSpPr>
          <a:xfrm rot="3994440">
            <a:off x="382669" y="308190"/>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txBody>
            <a:bodyPr/>
            <a:lstStyle/>
            <a:p>
              <a:endParaRPr lang="vi-VN"/>
            </a:p>
          </p:txBody>
        </p:sp>
      </p:grpSp>
      <p:grpSp>
        <p:nvGrpSpPr>
          <p:cNvPr id="18" name="Group 18"/>
          <p:cNvGrpSpPr>
            <a:grpSpLocks noChangeAspect="1"/>
          </p:cNvGrpSpPr>
          <p:nvPr/>
        </p:nvGrpSpPr>
        <p:grpSpPr>
          <a:xfrm rot="3994440">
            <a:off x="680506" y="526518"/>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txBody>
            <a:bodyPr/>
            <a:lstStyle/>
            <a:p>
              <a:endParaRPr lang="vi-VN"/>
            </a:p>
          </p:txBody>
        </p:sp>
      </p:grpSp>
      <p:sp>
        <p:nvSpPr>
          <p:cNvPr id="20" name="TextBox 19"/>
          <p:cNvSpPr txBox="1"/>
          <p:nvPr/>
        </p:nvSpPr>
        <p:spPr>
          <a:xfrm>
            <a:off x="1711566"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a:solidFill>
                  <a:srgbClr val="C00000"/>
                </a:solidFill>
                <a:latin typeface="Times New Roman" panose="02020603050405020304" pitchFamily="18" charset="0"/>
                <a:ea typeface="+mn-ea"/>
                <a:cs typeface="+mn-cs"/>
              </a:rPr>
              <a:t>I. HÀM DELAY_MSX  - BĂM THỜI GIAN</a:t>
            </a:r>
            <a:endParaRPr lang="en-US" sz="2200" b="1" kern="1200" dirty="0">
              <a:solidFill>
                <a:srgbClr val="C00000"/>
              </a:solidFill>
              <a:latin typeface="Calibri"/>
              <a:ea typeface="+mn-ea"/>
              <a:cs typeface="+mn-cs"/>
            </a:endParaRPr>
          </a:p>
        </p:txBody>
      </p:sp>
      <p:sp>
        <p:nvSpPr>
          <p:cNvPr id="11" name="TextBox 10"/>
          <p:cNvSpPr txBox="1"/>
          <p:nvPr/>
        </p:nvSpPr>
        <p:spPr>
          <a:xfrm>
            <a:off x="536334" y="1059747"/>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rgbClr val="002060"/>
                </a:solidFill>
                <a:latin typeface="Times New Roman" panose="02020603050405020304" pitchFamily="18" charset="0"/>
                <a:ea typeface="+mn-ea"/>
                <a:cs typeface="+mn-cs"/>
              </a:rPr>
              <a:t> 1. TỔNG QUAN</a:t>
            </a:r>
            <a:endParaRPr lang="en-US" sz="2000" b="1" kern="1200" dirty="0">
              <a:solidFill>
                <a:srgbClr val="002060"/>
              </a:solidFill>
              <a:latin typeface="Calibri"/>
              <a:ea typeface="+mn-ea"/>
              <a:cs typeface="+mn-cs"/>
            </a:endParaRPr>
          </a:p>
        </p:txBody>
      </p:sp>
      <p:sp>
        <p:nvSpPr>
          <p:cNvPr id="21" name="TextBox 20"/>
          <p:cNvSpPr txBox="1"/>
          <p:nvPr/>
        </p:nvSpPr>
        <p:spPr>
          <a:xfrm>
            <a:off x="469537" y="1814814"/>
            <a:ext cx="8463544" cy="923330"/>
          </a:xfrm>
          <a:prstGeom prst="rect">
            <a:avLst/>
          </a:prstGeom>
          <a:noFill/>
          <a:ln w="19050">
            <a:solidFill>
              <a:srgbClr val="00206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b="1" kern="1200">
                <a:solidFill>
                  <a:srgbClr val="002060"/>
                </a:solidFill>
                <a:latin typeface="Times New Roman" panose="02020603050405020304" pitchFamily="18" charset="0"/>
                <a:ea typeface="+mn-ea"/>
                <a:cs typeface="+mn-cs"/>
              </a:rPr>
              <a:t>Xét yêu cầu:</a:t>
            </a:r>
            <a:r>
              <a:rPr lang="vi-VN" sz="1800" kern="1200">
                <a:solidFill>
                  <a:srgbClr val="002060"/>
                </a:solidFill>
                <a:latin typeface="Times New Roman" panose="02020603050405020304" pitchFamily="18" charset="0"/>
                <a:ea typeface="+mn-ea"/>
                <a:cs typeface="+mn-cs"/>
              </a:rPr>
              <a:t> Viết chương trình đếm từ 0 đến 9, thời gian trễ là 3 giây. Khi nhấn START mạch bắt đầu đếm và hiển thị lên LED 7 đoạn, khi nhấn STOP mạch dừng và LED 7 đoạn tắt </a:t>
            </a:r>
            <a:r>
              <a:rPr lang="vi-VN" sz="1800" b="1" kern="1200">
                <a:solidFill>
                  <a:srgbClr val="002060"/>
                </a:solidFill>
                <a:effectLst>
                  <a:outerShdw blurRad="38100" dist="38100" dir="2700000" algn="tl">
                    <a:srgbClr val="000000">
                      <a:alpha val="43137"/>
                    </a:srgbClr>
                  </a:outerShdw>
                </a:effectLst>
                <a:latin typeface="Times New Roman" panose="02020603050405020304" pitchFamily="18" charset="0"/>
                <a:ea typeface="+mn-ea"/>
                <a:cs typeface="+mn-cs"/>
              </a:rPr>
              <a:t>ngay lập tức</a:t>
            </a:r>
            <a:r>
              <a:rPr lang="vi-VN" sz="1800" kern="1200">
                <a:solidFill>
                  <a:srgbClr val="002060"/>
                </a:solidFill>
                <a:latin typeface="Times New Roman" panose="02020603050405020304" pitchFamily="18" charset="0"/>
                <a:ea typeface="+mn-ea"/>
                <a:cs typeface="+mn-cs"/>
              </a:rPr>
              <a:t>. Quan sát chương trình sau:</a:t>
            </a:r>
          </a:p>
        </p:txBody>
      </p:sp>
    </p:spTree>
    <p:extLst>
      <p:ext uri="{BB962C8B-B14F-4D97-AF65-F5344CB8AC3E}">
        <p14:creationId xmlns:p14="http://schemas.microsoft.com/office/powerpoint/2010/main" val="35348453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7823"/>
            <a:ext cx="5928565" cy="4800226"/>
          </a:xfrm>
          <a:prstGeom prst="rect">
            <a:avLst/>
          </a:prstGeom>
        </p:spPr>
      </p:pic>
      <p:sp>
        <p:nvSpPr>
          <p:cNvPr id="3" name="Notched Right Arrow 2"/>
          <p:cNvSpPr/>
          <p:nvPr/>
        </p:nvSpPr>
        <p:spPr>
          <a:xfrm>
            <a:off x="3815062" y="1988457"/>
            <a:ext cx="1949302" cy="439479"/>
          </a:xfrm>
          <a:prstGeom prst="notchedRightArrow">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878286" y="1717761"/>
            <a:ext cx="2627085" cy="830997"/>
          </a:xfrm>
          <a:prstGeom prst="rect">
            <a:avLst/>
          </a:prstGeom>
          <a:noFill/>
          <a:ln w="19050">
            <a:solidFill>
              <a:srgbClr val="002060"/>
            </a:solidFill>
          </a:ln>
        </p:spPr>
        <p:txBody>
          <a:bodyPr wrap="square" rtlCol="0">
            <a:spAutoFit/>
          </a:bodyPr>
          <a:lstStyle/>
          <a:p>
            <a:pPr algn="just"/>
            <a:r>
              <a:rPr lang="vi-VN" sz="1600" b="1">
                <a:solidFill>
                  <a:srgbClr val="FF0000"/>
                </a:solidFill>
                <a:latin typeface="+mj-lt"/>
              </a:rPr>
              <a:t>Thời gian delay quá lớn nên không đảm bảo yêu cầu “ngay lập tức” của mạch.</a:t>
            </a:r>
            <a:endParaRPr lang="en-US" sz="1600" b="1">
              <a:solidFill>
                <a:srgbClr val="FF0000"/>
              </a:solidFill>
              <a:latin typeface="+mj-lt"/>
            </a:endParaRPr>
          </a:p>
        </p:txBody>
      </p:sp>
      <p:sp>
        <p:nvSpPr>
          <p:cNvPr id="5" name="Notched Right Arrow 4"/>
          <p:cNvSpPr/>
          <p:nvPr/>
        </p:nvSpPr>
        <p:spPr>
          <a:xfrm>
            <a:off x="1637919" y="4528140"/>
            <a:ext cx="1949302" cy="439479"/>
          </a:xfrm>
          <a:prstGeom prst="notchedRightArrow">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027715" y="4199704"/>
            <a:ext cx="2627085" cy="830997"/>
          </a:xfrm>
          <a:prstGeom prst="rect">
            <a:avLst/>
          </a:prstGeom>
          <a:noFill/>
          <a:ln w="19050">
            <a:solidFill>
              <a:srgbClr val="002060"/>
            </a:solidFill>
          </a:ln>
        </p:spPr>
        <p:txBody>
          <a:bodyPr wrap="square" rtlCol="0">
            <a:spAutoFit/>
          </a:bodyPr>
          <a:lstStyle/>
          <a:p>
            <a:pPr algn="just"/>
            <a:r>
              <a:rPr lang="vi-VN" sz="1600" b="1">
                <a:solidFill>
                  <a:srgbClr val="FF0000"/>
                </a:solidFill>
                <a:latin typeface="+mj-lt"/>
              </a:rPr>
              <a:t>Trong lúc delay, ta cần kiểm tra thêm sự tác động của nút nhấn.</a:t>
            </a:r>
            <a:endParaRPr lang="en-US" sz="1600" b="1">
              <a:solidFill>
                <a:srgbClr val="FF0000"/>
              </a:solidFill>
              <a:latin typeface="+mj-lt"/>
            </a:endParaRPr>
          </a:p>
        </p:txBody>
      </p:sp>
    </p:spTree>
    <p:extLst>
      <p:ext uri="{BB962C8B-B14F-4D97-AF65-F5344CB8AC3E}">
        <p14:creationId xmlns:p14="http://schemas.microsoft.com/office/powerpoint/2010/main" val="332990599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randombar(horizontal)">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txBody>
          <a:bodyPr/>
          <a:lstStyle/>
          <a:p>
            <a:endParaRPr lang="vi-VN"/>
          </a:p>
        </p:txBody>
      </p:sp>
      <p:sp>
        <p:nvSpPr>
          <p:cNvPr id="13" name="AutoShape 13"/>
          <p:cNvSpPr/>
          <p:nvPr/>
        </p:nvSpPr>
        <p:spPr>
          <a:xfrm>
            <a:off x="1408682" y="545703"/>
            <a:ext cx="7883480" cy="62707"/>
          </a:xfrm>
          <a:prstGeom prst="rect">
            <a:avLst/>
          </a:prstGeom>
          <a:solidFill>
            <a:srgbClr val="318F9A"/>
          </a:solidFill>
        </p:spPr>
        <p:txBody>
          <a:bodyPr/>
          <a:lstStyle/>
          <a:p>
            <a:endParaRPr lang="vi-VN"/>
          </a:p>
        </p:txBody>
      </p:sp>
      <p:sp>
        <p:nvSpPr>
          <p:cNvPr id="14" name="AutoShape 14"/>
          <p:cNvSpPr/>
          <p:nvPr/>
        </p:nvSpPr>
        <p:spPr>
          <a:xfrm>
            <a:off x="-105689" y="4274185"/>
            <a:ext cx="642023" cy="992619"/>
          </a:xfrm>
          <a:prstGeom prst="rect">
            <a:avLst/>
          </a:prstGeom>
          <a:solidFill>
            <a:srgbClr val="04383F"/>
          </a:solidFill>
        </p:spPr>
        <p:txBody>
          <a:bodyPr/>
          <a:lstStyle/>
          <a:p>
            <a:endParaRPr lang="vi-VN"/>
          </a:p>
        </p:txBody>
      </p:sp>
      <p:sp>
        <p:nvSpPr>
          <p:cNvPr id="15" name="AutoShape 15"/>
          <p:cNvSpPr/>
          <p:nvPr/>
        </p:nvSpPr>
        <p:spPr>
          <a:xfrm>
            <a:off x="238396" y="1220943"/>
            <a:ext cx="59543" cy="4114800"/>
          </a:xfrm>
          <a:prstGeom prst="rect">
            <a:avLst/>
          </a:prstGeom>
          <a:solidFill>
            <a:srgbClr val="318F9A"/>
          </a:solidFill>
        </p:spPr>
        <p:txBody>
          <a:bodyPr/>
          <a:lstStyle/>
          <a:p>
            <a:endParaRPr lang="vi-VN"/>
          </a:p>
        </p:txBody>
      </p:sp>
      <p:sp>
        <p:nvSpPr>
          <p:cNvPr id="20" name="TextBox 19"/>
          <p:cNvSpPr txBox="1"/>
          <p:nvPr/>
        </p:nvSpPr>
        <p:spPr>
          <a:xfrm>
            <a:off x="1711566"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a:solidFill>
                  <a:srgbClr val="C00000"/>
                </a:solidFill>
                <a:latin typeface="Times New Roman" panose="02020603050405020304" pitchFamily="18" charset="0"/>
                <a:ea typeface="+mn-ea"/>
                <a:cs typeface="+mn-cs"/>
              </a:rPr>
              <a:t>I. HÀM DELAY_MSX  - BĂM THỜI GIAN</a:t>
            </a:r>
            <a:endParaRPr lang="en-US" sz="2200" b="1" kern="1200" dirty="0">
              <a:solidFill>
                <a:srgbClr val="C00000"/>
              </a:solidFill>
              <a:latin typeface="Calibri"/>
              <a:ea typeface="+mn-ea"/>
              <a:cs typeface="+mn-cs"/>
            </a:endParaRPr>
          </a:p>
        </p:txBody>
      </p:sp>
      <p:sp>
        <p:nvSpPr>
          <p:cNvPr id="11" name="TextBox 10"/>
          <p:cNvSpPr txBox="1"/>
          <p:nvPr/>
        </p:nvSpPr>
        <p:spPr>
          <a:xfrm>
            <a:off x="268167" y="629363"/>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rgbClr val="002060"/>
                </a:solidFill>
                <a:latin typeface="Times New Roman" panose="02020603050405020304" pitchFamily="18" charset="0"/>
                <a:ea typeface="+mn-ea"/>
                <a:cs typeface="+mn-cs"/>
              </a:rPr>
              <a:t> 2. Chương trình con delay_msX();</a:t>
            </a:r>
            <a:endParaRPr lang="en-US" sz="2000" b="1" kern="1200" dirty="0">
              <a:solidFill>
                <a:srgbClr val="002060"/>
              </a:solidFill>
              <a:latin typeface="Calibri"/>
              <a:ea typeface="+mn-ea"/>
              <a:cs typeface="+mn-cs"/>
            </a:endParaRPr>
          </a:p>
        </p:txBody>
      </p:sp>
      <p:sp>
        <p:nvSpPr>
          <p:cNvPr id="21" name="TextBox 20"/>
          <p:cNvSpPr txBox="1"/>
          <p:nvPr/>
        </p:nvSpPr>
        <p:spPr>
          <a:xfrm>
            <a:off x="389708" y="1076989"/>
            <a:ext cx="8463544" cy="923330"/>
          </a:xfrm>
          <a:prstGeom prst="rect">
            <a:avLst/>
          </a:prstGeom>
          <a:noFill/>
          <a:ln w="19050">
            <a:solidFill>
              <a:srgbClr val="00206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kern="1200">
                <a:solidFill>
                  <a:srgbClr val="002060"/>
                </a:solidFill>
                <a:latin typeface="Times New Roman" panose="02020603050405020304" pitchFamily="18" charset="0"/>
                <a:ea typeface="+mn-ea"/>
                <a:cs typeface="+mn-cs"/>
              </a:rPr>
              <a:t>Như vậy, thay vì delay thời gian khá dài là t giây, ta có thể chia nhỏ thời gian ra, mỗi lần delay 1ms và lặp n lần để đủ thời gian. Đồng thời, trong quá trình lặp ta kiêm luôn kiểm tra trình trạng nút nhấn, nếu có sự kiện xảy ra bất chợt </a:t>
            </a:r>
            <a:r>
              <a:rPr lang="vi-VN" sz="1800" kern="1200">
                <a:solidFill>
                  <a:srgbClr val="002060"/>
                </a:solidFill>
                <a:latin typeface="Times New Roman" panose="02020603050405020304" pitchFamily="18" charset="0"/>
                <a:ea typeface="+mn-ea"/>
                <a:cs typeface="+mn-cs"/>
                <a:sym typeface="Wingdings" panose="05000000000000000000" pitchFamily="2" charset="2"/>
              </a:rPr>
              <a:t> </a:t>
            </a:r>
            <a:r>
              <a:rPr lang="vi-VN" sz="1800" b="1" kern="1200">
                <a:solidFill>
                  <a:srgbClr val="FF0000"/>
                </a:solidFill>
                <a:latin typeface="Times New Roman" panose="02020603050405020304" pitchFamily="18" charset="0"/>
                <a:ea typeface="+mn-ea"/>
                <a:cs typeface="+mn-cs"/>
                <a:sym typeface="Wingdings" panose="05000000000000000000" pitchFamily="2" charset="2"/>
              </a:rPr>
              <a:t>break</a:t>
            </a:r>
            <a:r>
              <a:rPr lang="vi-VN" sz="1800" kern="1200">
                <a:solidFill>
                  <a:srgbClr val="002060"/>
                </a:solidFill>
                <a:latin typeface="Times New Roman" panose="02020603050405020304" pitchFamily="18" charset="0"/>
                <a:ea typeface="+mn-ea"/>
                <a:cs typeface="+mn-cs"/>
                <a:sym typeface="Wingdings" panose="05000000000000000000" pitchFamily="2" charset="2"/>
              </a:rPr>
              <a:t> khỏi vòng lặp</a:t>
            </a:r>
            <a:r>
              <a:rPr lang="vi-VN" sz="1800" kern="1200">
                <a:solidFill>
                  <a:srgbClr val="002060"/>
                </a:solidFill>
                <a:latin typeface="Times New Roman" panose="02020603050405020304" pitchFamily="18" charset="0"/>
                <a:ea typeface="+mn-ea"/>
                <a:cs typeface="+mn-cs"/>
              </a:rPr>
              <a:t>. </a:t>
            </a:r>
          </a:p>
        </p:txBody>
      </p:sp>
      <p:sp>
        <p:nvSpPr>
          <p:cNvPr id="22" name="TextBox 21"/>
          <p:cNvSpPr txBox="1"/>
          <p:nvPr/>
        </p:nvSpPr>
        <p:spPr>
          <a:xfrm>
            <a:off x="1118650" y="2000319"/>
            <a:ext cx="8463544" cy="2308324"/>
          </a:xfrm>
          <a:prstGeom prst="rect">
            <a:avLst/>
          </a:prstGeom>
          <a:noFill/>
          <a:ln w="9525">
            <a:no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b="1" i="1" kern="1200">
                <a:solidFill>
                  <a:srgbClr val="0070C0"/>
                </a:solidFill>
                <a:latin typeface="Times New Roman" panose="02020603050405020304" pitchFamily="18" charset="0"/>
                <a:ea typeface="+mn-ea"/>
                <a:cs typeface="+mn-cs"/>
              </a:rPr>
              <a:t>void</a:t>
            </a:r>
            <a:r>
              <a:rPr lang="vi-VN" sz="1800" i="1" kern="1200">
                <a:solidFill>
                  <a:srgbClr val="002060"/>
                </a:solidFill>
                <a:latin typeface="Times New Roman" panose="02020603050405020304" pitchFamily="18" charset="0"/>
                <a:ea typeface="+mn-ea"/>
                <a:cs typeface="+mn-cs"/>
              </a:rPr>
              <a:t> delay_msX(</a:t>
            </a:r>
            <a:r>
              <a:rPr lang="vi-VN" sz="1800" b="1" i="1" kern="1200">
                <a:solidFill>
                  <a:srgbClr val="0070C0"/>
                </a:solidFill>
                <a:latin typeface="Times New Roman" panose="02020603050405020304" pitchFamily="18" charset="0"/>
                <a:ea typeface="+mn-ea"/>
                <a:cs typeface="+mn-cs"/>
              </a:rPr>
              <a:t>unsigned int16</a:t>
            </a:r>
            <a:r>
              <a:rPr lang="vi-VN" sz="1800" i="1" kern="1200">
                <a:solidFill>
                  <a:srgbClr val="002060"/>
                </a:solidFill>
                <a:latin typeface="Times New Roman" panose="02020603050405020304" pitchFamily="18" charset="0"/>
                <a:ea typeface="+mn-ea"/>
                <a:cs typeface="+mn-cs"/>
              </a:rPr>
              <a:t> t)</a:t>
            </a:r>
          </a:p>
          <a:p>
            <a:pPr defTabSz="457200">
              <a:buClrTx/>
            </a:pPr>
            <a:r>
              <a:rPr lang="vi-VN" sz="1800" i="1" kern="1200">
                <a:solidFill>
                  <a:srgbClr val="002060"/>
                </a:solidFill>
                <a:latin typeface="Times New Roman" panose="02020603050405020304" pitchFamily="18" charset="0"/>
                <a:ea typeface="+mn-ea"/>
                <a:cs typeface="+mn-cs"/>
              </a:rPr>
              <a:t>	{</a:t>
            </a:r>
          </a:p>
          <a:p>
            <a:pPr defTabSz="457200">
              <a:buClrTx/>
            </a:pPr>
            <a:r>
              <a:rPr lang="vi-VN" sz="1800" i="1" kern="1200">
                <a:solidFill>
                  <a:srgbClr val="002060"/>
                </a:solidFill>
                <a:latin typeface="Times New Roman" panose="02020603050405020304" pitchFamily="18" charset="0"/>
                <a:ea typeface="+mn-ea"/>
                <a:cs typeface="+mn-cs"/>
              </a:rPr>
              <a:t>	 </a:t>
            </a:r>
            <a:r>
              <a:rPr lang="vi-VN" sz="1800" b="1" i="1" kern="1200">
                <a:solidFill>
                  <a:srgbClr val="0070C0"/>
                </a:solidFill>
                <a:latin typeface="Times New Roman" panose="02020603050405020304" pitchFamily="18" charset="0"/>
                <a:ea typeface="+mn-ea"/>
                <a:cs typeface="+mn-cs"/>
              </a:rPr>
              <a:t> for(unsigned int16 i </a:t>
            </a:r>
            <a:r>
              <a:rPr lang="vi-VN" sz="1800" i="1" kern="1200">
                <a:solidFill>
                  <a:srgbClr val="002060"/>
                </a:solidFill>
                <a:latin typeface="Times New Roman" panose="02020603050405020304" pitchFamily="18" charset="0"/>
                <a:ea typeface="+mn-ea"/>
                <a:cs typeface="+mn-cs"/>
              </a:rPr>
              <a:t>= 0; i&lt;t, i++)</a:t>
            </a:r>
          </a:p>
          <a:p>
            <a:pPr defTabSz="457200">
              <a:buClrTx/>
            </a:pPr>
            <a:r>
              <a:rPr lang="vi-VN" sz="1800" i="1" kern="1200">
                <a:solidFill>
                  <a:srgbClr val="002060"/>
                </a:solidFill>
                <a:latin typeface="Times New Roman" panose="02020603050405020304" pitchFamily="18" charset="0"/>
                <a:ea typeface="+mn-ea"/>
                <a:cs typeface="+mn-cs"/>
              </a:rPr>
              <a:t> 		{</a:t>
            </a:r>
          </a:p>
          <a:p>
            <a:pPr defTabSz="457200">
              <a:buClrTx/>
            </a:pPr>
            <a:r>
              <a:rPr lang="vi-VN" sz="1800" i="1" kern="1200">
                <a:solidFill>
                  <a:srgbClr val="002060"/>
                </a:solidFill>
                <a:latin typeface="Times New Roman" panose="02020603050405020304" pitchFamily="18" charset="0"/>
                <a:ea typeface="+mn-ea"/>
                <a:cs typeface="+mn-cs"/>
              </a:rPr>
              <a:t>		</a:t>
            </a:r>
            <a:r>
              <a:rPr lang="vi-VN" sz="1800" b="1" i="1" kern="1200">
                <a:solidFill>
                  <a:srgbClr val="0070C0"/>
                </a:solidFill>
                <a:latin typeface="Times New Roman" panose="02020603050405020304" pitchFamily="18" charset="0"/>
                <a:ea typeface="+mn-ea"/>
                <a:cs typeface="+mn-cs"/>
              </a:rPr>
              <a:t>delay_ms</a:t>
            </a:r>
            <a:r>
              <a:rPr lang="vi-VN" sz="1800" i="1" kern="1200">
                <a:solidFill>
                  <a:srgbClr val="002060"/>
                </a:solidFill>
                <a:latin typeface="Times New Roman" panose="02020603050405020304" pitchFamily="18" charset="0"/>
                <a:ea typeface="+mn-ea"/>
                <a:cs typeface="+mn-cs"/>
              </a:rPr>
              <a:t>(1);</a:t>
            </a:r>
          </a:p>
          <a:p>
            <a:pPr defTabSz="457200">
              <a:buClrTx/>
            </a:pPr>
            <a:r>
              <a:rPr lang="vi-VN" sz="1800" i="1" kern="1200">
                <a:solidFill>
                  <a:srgbClr val="002060"/>
                </a:solidFill>
                <a:latin typeface="Times New Roman" panose="02020603050405020304" pitchFamily="18" charset="0"/>
                <a:ea typeface="+mn-ea"/>
                <a:cs typeface="+mn-cs"/>
              </a:rPr>
              <a:t>		Kiểm tra điều kiện nút nhấn.</a:t>
            </a:r>
          </a:p>
          <a:p>
            <a:pPr defTabSz="457200">
              <a:buClrTx/>
            </a:pPr>
            <a:r>
              <a:rPr lang="vi-VN" sz="1800" i="1" kern="1200">
                <a:solidFill>
                  <a:srgbClr val="002060"/>
                </a:solidFill>
                <a:latin typeface="Times New Roman" panose="02020603050405020304" pitchFamily="18" charset="0"/>
                <a:ea typeface="+mn-ea"/>
                <a:cs typeface="+mn-cs"/>
              </a:rPr>
              <a:t>		}</a:t>
            </a:r>
          </a:p>
          <a:p>
            <a:pPr defTabSz="457200">
              <a:buClrTx/>
            </a:pPr>
            <a:r>
              <a:rPr lang="vi-VN" sz="1800" i="1" kern="1200">
                <a:solidFill>
                  <a:srgbClr val="002060"/>
                </a:solidFill>
                <a:latin typeface="Times New Roman" panose="02020603050405020304" pitchFamily="18" charset="0"/>
                <a:ea typeface="+mn-ea"/>
                <a:cs typeface="+mn-cs"/>
              </a:rPr>
              <a:t>	}</a:t>
            </a:r>
          </a:p>
        </p:txBody>
      </p:sp>
      <p:sp>
        <p:nvSpPr>
          <p:cNvPr id="23" name="TextBox 22"/>
          <p:cNvSpPr txBox="1"/>
          <p:nvPr/>
        </p:nvSpPr>
        <p:spPr>
          <a:xfrm>
            <a:off x="627117" y="4340885"/>
            <a:ext cx="8463544" cy="646331"/>
          </a:xfrm>
          <a:prstGeom prst="rect">
            <a:avLst/>
          </a:prstGeom>
          <a:noFill/>
          <a:ln w="19050">
            <a:solidFill>
              <a:srgbClr val="FF000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i="1" kern="1200">
                <a:solidFill>
                  <a:srgbClr val="002060"/>
                </a:solidFill>
                <a:latin typeface="Times New Roman" panose="02020603050405020304" pitchFamily="18" charset="0"/>
                <a:ea typeface="+mn-ea"/>
                <a:cs typeface="+mn-cs"/>
                <a:sym typeface="Wingdings" panose="05000000000000000000" pitchFamily="2" charset="2"/>
              </a:rPr>
              <a:t> Sau khi viết chương trình con (trước void main ), khi sử dụng ta chỉ cần thay hàm delay_ms bởi delay_msX. </a:t>
            </a:r>
            <a:r>
              <a:rPr lang="vi-VN" sz="1800" b="1" i="1" kern="1200">
                <a:solidFill>
                  <a:srgbClr val="FF0000"/>
                </a:solidFill>
                <a:latin typeface="Times New Roman" panose="02020603050405020304" pitchFamily="18" charset="0"/>
                <a:ea typeface="+mn-ea"/>
                <a:cs typeface="+mn-cs"/>
                <a:sym typeface="Wingdings" panose="05000000000000000000" pitchFamily="2" charset="2"/>
              </a:rPr>
              <a:t>Lưu ý, biến i với t phải cùng là unsigned int16.</a:t>
            </a:r>
            <a:endParaRPr lang="vi-VN" sz="1800" b="1" i="1" kern="1200">
              <a:solidFill>
                <a:srgbClr val="FF0000"/>
              </a:solidFill>
              <a:latin typeface="Times New Roman" panose="02020603050405020304" pitchFamily="18" charset="0"/>
              <a:ea typeface="+mn-ea"/>
              <a:cs typeface="+mn-cs"/>
            </a:endParaRPr>
          </a:p>
        </p:txBody>
      </p:sp>
    </p:spTree>
    <p:extLst>
      <p:ext uri="{BB962C8B-B14F-4D97-AF65-F5344CB8AC3E}">
        <p14:creationId xmlns:p14="http://schemas.microsoft.com/office/powerpoint/2010/main" val="226105858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arn(inVertical)">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arn(inVertical)">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animBg="1"/>
      <p:bldP spid="22" grpId="0"/>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14323"/>
          <a:stretch/>
        </p:blipFill>
        <p:spPr>
          <a:xfrm>
            <a:off x="4896477" y="377371"/>
            <a:ext cx="4080610" cy="3882571"/>
          </a:xfrm>
          <a:prstGeom prst="rect">
            <a:avLst/>
          </a:prstGeom>
        </p:spPr>
      </p:pic>
      <p:pic>
        <p:nvPicPr>
          <p:cNvPr id="6" name="Picture 5"/>
          <p:cNvPicPr>
            <a:picLocks noChangeAspect="1"/>
          </p:cNvPicPr>
          <p:nvPr/>
        </p:nvPicPr>
        <p:blipFill>
          <a:blip r:embed="rId3"/>
          <a:stretch>
            <a:fillRect/>
          </a:stretch>
        </p:blipFill>
        <p:spPr>
          <a:xfrm>
            <a:off x="77152" y="0"/>
            <a:ext cx="4402504" cy="4753429"/>
          </a:xfrm>
          <a:prstGeom prst="rect">
            <a:avLst/>
          </a:prstGeom>
        </p:spPr>
      </p:pic>
    </p:spTree>
    <p:extLst>
      <p:ext uri="{BB962C8B-B14F-4D97-AF65-F5344CB8AC3E}">
        <p14:creationId xmlns:p14="http://schemas.microsoft.com/office/powerpoint/2010/main" val="35164453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txBody>
          <a:bodyPr/>
          <a:lstStyle/>
          <a:p>
            <a:endParaRPr lang="vi-VN"/>
          </a:p>
        </p:txBody>
      </p:sp>
      <p:sp>
        <p:nvSpPr>
          <p:cNvPr id="13" name="AutoShape 13"/>
          <p:cNvSpPr/>
          <p:nvPr/>
        </p:nvSpPr>
        <p:spPr>
          <a:xfrm>
            <a:off x="1408682" y="545703"/>
            <a:ext cx="7883480" cy="62707"/>
          </a:xfrm>
          <a:prstGeom prst="rect">
            <a:avLst/>
          </a:prstGeom>
          <a:solidFill>
            <a:srgbClr val="318F9A"/>
          </a:solidFill>
        </p:spPr>
        <p:txBody>
          <a:bodyPr/>
          <a:lstStyle/>
          <a:p>
            <a:endParaRPr lang="vi-VN"/>
          </a:p>
        </p:txBody>
      </p:sp>
      <p:sp>
        <p:nvSpPr>
          <p:cNvPr id="14" name="AutoShape 14"/>
          <p:cNvSpPr/>
          <p:nvPr/>
        </p:nvSpPr>
        <p:spPr>
          <a:xfrm>
            <a:off x="-105689" y="4274185"/>
            <a:ext cx="642023" cy="992619"/>
          </a:xfrm>
          <a:prstGeom prst="rect">
            <a:avLst/>
          </a:prstGeom>
          <a:solidFill>
            <a:srgbClr val="04383F"/>
          </a:solidFill>
        </p:spPr>
        <p:txBody>
          <a:bodyPr/>
          <a:lstStyle/>
          <a:p>
            <a:endParaRPr lang="vi-VN"/>
          </a:p>
        </p:txBody>
      </p:sp>
      <p:sp>
        <p:nvSpPr>
          <p:cNvPr id="15" name="AutoShape 15"/>
          <p:cNvSpPr/>
          <p:nvPr/>
        </p:nvSpPr>
        <p:spPr>
          <a:xfrm>
            <a:off x="238396" y="1220943"/>
            <a:ext cx="59543" cy="4114800"/>
          </a:xfrm>
          <a:prstGeom prst="rect">
            <a:avLst/>
          </a:prstGeom>
          <a:solidFill>
            <a:srgbClr val="318F9A"/>
          </a:solidFill>
        </p:spPr>
        <p:txBody>
          <a:bodyPr/>
          <a:lstStyle/>
          <a:p>
            <a:endParaRPr lang="vi-VN"/>
          </a:p>
        </p:txBody>
      </p:sp>
      <p:grpSp>
        <p:nvGrpSpPr>
          <p:cNvPr id="16" name="Group 16"/>
          <p:cNvGrpSpPr/>
          <p:nvPr/>
        </p:nvGrpSpPr>
        <p:grpSpPr>
          <a:xfrm rot="3994440">
            <a:off x="293404" y="45406"/>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txBody>
            <a:bodyPr/>
            <a:lstStyle/>
            <a:p>
              <a:endParaRPr lang="vi-VN"/>
            </a:p>
          </p:txBody>
        </p:sp>
      </p:grpSp>
      <p:grpSp>
        <p:nvGrpSpPr>
          <p:cNvPr id="18" name="Group 18"/>
          <p:cNvGrpSpPr>
            <a:grpSpLocks noChangeAspect="1"/>
          </p:cNvGrpSpPr>
          <p:nvPr/>
        </p:nvGrpSpPr>
        <p:grpSpPr>
          <a:xfrm rot="3994440">
            <a:off x="549965" y="283507"/>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txBody>
            <a:bodyPr/>
            <a:lstStyle/>
            <a:p>
              <a:endParaRPr lang="vi-VN"/>
            </a:p>
          </p:txBody>
        </p:sp>
      </p:grpSp>
      <p:sp>
        <p:nvSpPr>
          <p:cNvPr id="20" name="TextBox 19"/>
          <p:cNvSpPr txBox="1"/>
          <p:nvPr/>
        </p:nvSpPr>
        <p:spPr>
          <a:xfrm>
            <a:off x="2036981"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a:solidFill>
                  <a:srgbClr val="C00000"/>
                </a:solidFill>
                <a:latin typeface="Times New Roman" panose="02020603050405020304" pitchFamily="18" charset="0"/>
                <a:ea typeface="+mn-ea"/>
                <a:cs typeface="+mn-cs"/>
              </a:rPr>
              <a:t>II: GIAO TIẾP NÚT GẠT - SWITCH</a:t>
            </a:r>
            <a:endParaRPr lang="en-US" sz="2200" b="1" kern="1200" dirty="0">
              <a:solidFill>
                <a:srgbClr val="C00000"/>
              </a:solidFill>
              <a:latin typeface="Calibri"/>
              <a:ea typeface="+mn-ea"/>
              <a:cs typeface="+mn-cs"/>
            </a:endParaRPr>
          </a:p>
        </p:txBody>
      </p:sp>
      <p:pic>
        <p:nvPicPr>
          <p:cNvPr id="2" name="Picture 1"/>
          <p:cNvPicPr>
            <a:picLocks noChangeAspect="1"/>
          </p:cNvPicPr>
          <p:nvPr/>
        </p:nvPicPr>
        <p:blipFill>
          <a:blip r:embed="rId2"/>
          <a:stretch>
            <a:fillRect/>
          </a:stretch>
        </p:blipFill>
        <p:spPr>
          <a:xfrm rot="16200000">
            <a:off x="1803521" y="338696"/>
            <a:ext cx="1089754" cy="2537680"/>
          </a:xfrm>
          <a:prstGeom prst="rect">
            <a:avLst/>
          </a:prstGeom>
        </p:spPr>
      </p:pic>
      <p:pic>
        <p:nvPicPr>
          <p:cNvPr id="3" name="Picture 2"/>
          <p:cNvPicPr>
            <a:picLocks noChangeAspect="1"/>
          </p:cNvPicPr>
          <p:nvPr/>
        </p:nvPicPr>
        <p:blipFill>
          <a:blip r:embed="rId3"/>
          <a:stretch>
            <a:fillRect/>
          </a:stretch>
        </p:blipFill>
        <p:spPr>
          <a:xfrm rot="16200000">
            <a:off x="5975698" y="353358"/>
            <a:ext cx="845893" cy="2469094"/>
          </a:xfrm>
          <a:prstGeom prst="rect">
            <a:avLst/>
          </a:prstGeom>
        </p:spPr>
      </p:pic>
      <p:sp>
        <p:nvSpPr>
          <p:cNvPr id="4" name="TextBox 3"/>
          <p:cNvSpPr txBox="1"/>
          <p:nvPr/>
        </p:nvSpPr>
        <p:spPr>
          <a:xfrm>
            <a:off x="750434" y="2224288"/>
            <a:ext cx="3195928" cy="2308324"/>
          </a:xfrm>
          <a:prstGeom prst="rect">
            <a:avLst/>
          </a:prstGeom>
          <a:noFill/>
          <a:ln w="19050">
            <a:solidFill>
              <a:srgbClr val="FF0000"/>
            </a:solidFill>
          </a:ln>
        </p:spPr>
        <p:txBody>
          <a:bodyPr wrap="square" rtlCol="0">
            <a:spAutoFit/>
          </a:bodyPr>
          <a:lstStyle/>
          <a:p>
            <a:r>
              <a:rPr lang="vi-VN" sz="1600" b="1">
                <a:solidFill>
                  <a:srgbClr val="002060"/>
                </a:solidFill>
                <a:latin typeface="+mj-lt"/>
              </a:rPr>
              <a:t>+</a:t>
            </a:r>
            <a:r>
              <a:rPr lang="vi-VN" sz="1600">
                <a:solidFill>
                  <a:srgbClr val="002060"/>
                </a:solidFill>
                <a:latin typeface="+mj-lt"/>
              </a:rPr>
              <a:t> Luôn </a:t>
            </a:r>
            <a:r>
              <a:rPr lang="vi-VN" sz="1600" b="1">
                <a:solidFill>
                  <a:srgbClr val="002060"/>
                </a:solidFill>
                <a:latin typeface="+mj-lt"/>
              </a:rPr>
              <a:t>cố định</a:t>
            </a:r>
            <a:r>
              <a:rPr lang="vi-VN" sz="1600">
                <a:solidFill>
                  <a:srgbClr val="002060"/>
                </a:solidFill>
                <a:latin typeface="+mj-lt"/>
              </a:rPr>
              <a:t> trạng thái nút </a:t>
            </a:r>
          </a:p>
          <a:p>
            <a:r>
              <a:rPr lang="vi-VN" sz="1600" b="1">
                <a:solidFill>
                  <a:srgbClr val="002060"/>
                </a:solidFill>
                <a:latin typeface="+mj-lt"/>
                <a:sym typeface="Wingdings" panose="05000000000000000000" pitchFamily="2" charset="2"/>
              </a:rPr>
              <a:t> không cần biến trạng thái.</a:t>
            </a:r>
          </a:p>
          <a:p>
            <a:r>
              <a:rPr lang="vi-VN" sz="1600" b="1">
                <a:solidFill>
                  <a:srgbClr val="002060"/>
                </a:solidFill>
                <a:latin typeface="+mj-lt"/>
                <a:sym typeface="Wingdings" panose="05000000000000000000" pitchFamily="2" charset="2"/>
              </a:rPr>
              <a:t>+ </a:t>
            </a:r>
            <a:r>
              <a:rPr lang="vi-VN" sz="1600">
                <a:solidFill>
                  <a:srgbClr val="002060"/>
                </a:solidFill>
                <a:latin typeface="+mj-lt"/>
                <a:sym typeface="Wingdings" panose="05000000000000000000" pitchFamily="2" charset="2"/>
              </a:rPr>
              <a:t>Chủ yếu tồn tại hai chế độ: </a:t>
            </a:r>
            <a:r>
              <a:rPr lang="vi-VN" sz="1600" b="1">
                <a:solidFill>
                  <a:srgbClr val="002060"/>
                </a:solidFill>
                <a:latin typeface="+mj-lt"/>
                <a:sym typeface="Wingdings" panose="05000000000000000000" pitchFamily="2" charset="2"/>
              </a:rPr>
              <a:t>đóng và mở </a:t>
            </a:r>
          </a:p>
          <a:p>
            <a:pPr marL="285750" indent="-285750">
              <a:buFont typeface="Wingdings" panose="05000000000000000000" pitchFamily="2" charset="2"/>
              <a:buChar char="à"/>
            </a:pPr>
            <a:r>
              <a:rPr lang="vi-VN" sz="1600">
                <a:solidFill>
                  <a:srgbClr val="002060"/>
                </a:solidFill>
                <a:latin typeface="+mj-lt"/>
                <a:sym typeface="Wingdings" panose="05000000000000000000" pitchFamily="2" charset="2"/>
              </a:rPr>
              <a:t>Xử lý được hai công việc ứng</a:t>
            </a:r>
          </a:p>
          <a:p>
            <a:r>
              <a:rPr lang="vi-VN" sz="1600">
                <a:solidFill>
                  <a:srgbClr val="002060"/>
                </a:solidFill>
                <a:latin typeface="+mj-lt"/>
                <a:sym typeface="Wingdings" panose="05000000000000000000" pitchFamily="2" charset="2"/>
              </a:rPr>
              <a:t>với trạng thái đóng và trạng thái mở.</a:t>
            </a:r>
          </a:p>
          <a:p>
            <a:endParaRPr lang="vi-VN" sz="1600">
              <a:solidFill>
                <a:srgbClr val="002060"/>
              </a:solidFill>
              <a:latin typeface="+mj-lt"/>
              <a:sym typeface="Wingdings" panose="05000000000000000000" pitchFamily="2" charset="2"/>
            </a:endParaRPr>
          </a:p>
          <a:p>
            <a:r>
              <a:rPr lang="vi-VN" sz="1600" b="1">
                <a:solidFill>
                  <a:srgbClr val="002060"/>
                </a:solidFill>
                <a:latin typeface="+mj-lt"/>
                <a:sym typeface="Wingdings" panose="05000000000000000000" pitchFamily="2" charset="2"/>
              </a:rPr>
              <a:t>+</a:t>
            </a:r>
            <a:r>
              <a:rPr lang="vi-VN" sz="1600">
                <a:solidFill>
                  <a:srgbClr val="002060"/>
                </a:solidFill>
                <a:latin typeface="+mj-lt"/>
                <a:sym typeface="Wingdings" panose="05000000000000000000" pitchFamily="2" charset="2"/>
              </a:rPr>
              <a:t> Cách trạng thái thay đổi</a:t>
            </a:r>
            <a:r>
              <a:rPr lang="vi-VN" sz="1600" b="1">
                <a:solidFill>
                  <a:srgbClr val="002060"/>
                </a:solidFill>
                <a:latin typeface="+mj-lt"/>
                <a:sym typeface="Wingdings" panose="05000000000000000000" pitchFamily="2" charset="2"/>
              </a:rPr>
              <a:t> không tuần tự</a:t>
            </a:r>
            <a:r>
              <a:rPr lang="vi-VN" sz="1600">
                <a:solidFill>
                  <a:srgbClr val="002060"/>
                </a:solidFill>
                <a:latin typeface="+mj-lt"/>
                <a:sym typeface="Wingdings" panose="05000000000000000000" pitchFamily="2" charset="2"/>
              </a:rPr>
              <a:t> (đóng, mở).</a:t>
            </a:r>
            <a:endParaRPr lang="en-US" sz="1600">
              <a:solidFill>
                <a:srgbClr val="002060"/>
              </a:solidFill>
              <a:latin typeface="+mj-lt"/>
            </a:endParaRPr>
          </a:p>
        </p:txBody>
      </p:sp>
      <p:sp>
        <p:nvSpPr>
          <p:cNvPr id="21" name="TextBox 20"/>
          <p:cNvSpPr txBox="1"/>
          <p:nvPr/>
        </p:nvSpPr>
        <p:spPr>
          <a:xfrm>
            <a:off x="4625747" y="2224288"/>
            <a:ext cx="3545795" cy="2308324"/>
          </a:xfrm>
          <a:prstGeom prst="rect">
            <a:avLst/>
          </a:prstGeom>
          <a:noFill/>
          <a:ln w="19050">
            <a:solidFill>
              <a:srgbClr val="FF0000"/>
            </a:solidFill>
          </a:ln>
        </p:spPr>
        <p:txBody>
          <a:bodyPr wrap="square" rtlCol="0">
            <a:spAutoFit/>
          </a:bodyPr>
          <a:lstStyle/>
          <a:p>
            <a:r>
              <a:rPr lang="vi-VN" sz="1600" b="1">
                <a:solidFill>
                  <a:srgbClr val="002060"/>
                </a:solidFill>
                <a:latin typeface="+mj-lt"/>
              </a:rPr>
              <a:t>+ Chỉ cố định </a:t>
            </a:r>
            <a:r>
              <a:rPr lang="vi-VN" sz="1600">
                <a:solidFill>
                  <a:srgbClr val="002060"/>
                </a:solidFill>
                <a:latin typeface="+mj-lt"/>
              </a:rPr>
              <a:t>một trạng thái </a:t>
            </a:r>
            <a:r>
              <a:rPr lang="vi-VN" sz="1600" b="1">
                <a:solidFill>
                  <a:srgbClr val="002060"/>
                </a:solidFill>
                <a:latin typeface="+mj-lt"/>
              </a:rPr>
              <a:t>thường hở </a:t>
            </a:r>
            <a:r>
              <a:rPr lang="vi-VN" sz="1600">
                <a:solidFill>
                  <a:srgbClr val="002060"/>
                </a:solidFill>
                <a:latin typeface="+mj-lt"/>
                <a:sym typeface="Wingdings" panose="05000000000000000000" pitchFamily="2" charset="2"/>
              </a:rPr>
              <a:t> cần </a:t>
            </a:r>
            <a:r>
              <a:rPr lang="vi-VN" sz="1600" b="1">
                <a:solidFill>
                  <a:srgbClr val="002060"/>
                </a:solidFill>
                <a:latin typeface="+mj-lt"/>
                <a:sym typeface="Wingdings" panose="05000000000000000000" pitchFamily="2" charset="2"/>
              </a:rPr>
              <a:t>biến</a:t>
            </a:r>
            <a:r>
              <a:rPr lang="vi-VN" sz="1600">
                <a:solidFill>
                  <a:srgbClr val="002060"/>
                </a:solidFill>
                <a:latin typeface="+mj-lt"/>
                <a:sym typeface="Wingdings" panose="05000000000000000000" pitchFamily="2" charset="2"/>
              </a:rPr>
              <a:t> giữ lại trạng thái khi </a:t>
            </a:r>
            <a:r>
              <a:rPr lang="vi-VN" sz="1600" b="1">
                <a:solidFill>
                  <a:srgbClr val="002060"/>
                </a:solidFill>
                <a:latin typeface="+mj-lt"/>
                <a:sym typeface="Wingdings" panose="05000000000000000000" pitchFamily="2" charset="2"/>
              </a:rPr>
              <a:t>đóng.</a:t>
            </a:r>
          </a:p>
          <a:p>
            <a:endParaRPr lang="vi-VN" sz="1600">
              <a:solidFill>
                <a:srgbClr val="002060"/>
              </a:solidFill>
              <a:latin typeface="+mj-lt"/>
              <a:sym typeface="Wingdings" panose="05000000000000000000" pitchFamily="2" charset="2"/>
            </a:endParaRPr>
          </a:p>
          <a:p>
            <a:r>
              <a:rPr lang="vi-VN" sz="1600" b="1">
                <a:solidFill>
                  <a:srgbClr val="002060"/>
                </a:solidFill>
                <a:latin typeface="+mj-lt"/>
                <a:sym typeface="Wingdings" panose="05000000000000000000" pitchFamily="2" charset="2"/>
              </a:rPr>
              <a:t>+ </a:t>
            </a:r>
            <a:r>
              <a:rPr lang="vi-VN" sz="1600">
                <a:solidFill>
                  <a:srgbClr val="002060"/>
                </a:solidFill>
                <a:latin typeface="+mj-lt"/>
                <a:sym typeface="Wingdings" panose="05000000000000000000" pitchFamily="2" charset="2"/>
              </a:rPr>
              <a:t>Linh hoạt chế độ tùy vào sự tương quan giữa </a:t>
            </a:r>
            <a:r>
              <a:rPr lang="vi-VN" sz="1600" b="1">
                <a:solidFill>
                  <a:srgbClr val="002060"/>
                </a:solidFill>
                <a:latin typeface="+mj-lt"/>
                <a:sym typeface="Wingdings" panose="05000000000000000000" pitchFamily="2" charset="2"/>
              </a:rPr>
              <a:t>số lần đóng mở</a:t>
            </a:r>
            <a:r>
              <a:rPr lang="vi-VN" sz="1600">
                <a:solidFill>
                  <a:srgbClr val="002060"/>
                </a:solidFill>
                <a:latin typeface="+mj-lt"/>
                <a:sym typeface="Wingdings" panose="05000000000000000000" pitchFamily="2" charset="2"/>
              </a:rPr>
              <a:t>.</a:t>
            </a:r>
          </a:p>
          <a:p>
            <a:endParaRPr lang="vi-VN" sz="1600">
              <a:solidFill>
                <a:srgbClr val="002060"/>
              </a:solidFill>
              <a:latin typeface="+mj-lt"/>
              <a:sym typeface="Wingdings" panose="05000000000000000000" pitchFamily="2" charset="2"/>
            </a:endParaRPr>
          </a:p>
          <a:p>
            <a:r>
              <a:rPr lang="vi-VN" sz="1600" b="1">
                <a:solidFill>
                  <a:srgbClr val="002060"/>
                </a:solidFill>
                <a:latin typeface="+mj-lt"/>
                <a:sym typeface="Wingdings" panose="05000000000000000000" pitchFamily="2" charset="2"/>
              </a:rPr>
              <a:t>+ </a:t>
            </a:r>
            <a:r>
              <a:rPr lang="vi-VN" sz="1600">
                <a:solidFill>
                  <a:srgbClr val="002060"/>
                </a:solidFill>
                <a:latin typeface="+mj-lt"/>
                <a:sym typeface="Wingdings" panose="05000000000000000000" pitchFamily="2" charset="2"/>
              </a:rPr>
              <a:t>Trạng thái được thay đổi tuần tự chỉ với công việc “</a:t>
            </a:r>
            <a:r>
              <a:rPr lang="vi-VN" sz="1600" b="1">
                <a:solidFill>
                  <a:srgbClr val="002060"/>
                </a:solidFill>
                <a:latin typeface="+mj-lt"/>
                <a:sym typeface="Wingdings" panose="05000000000000000000" pitchFamily="2" charset="2"/>
              </a:rPr>
              <a:t>nhấn</a:t>
            </a:r>
            <a:r>
              <a:rPr lang="vi-VN" sz="1600">
                <a:solidFill>
                  <a:srgbClr val="002060"/>
                </a:solidFill>
                <a:latin typeface="+mj-lt"/>
                <a:sym typeface="Wingdings" panose="05000000000000000000" pitchFamily="2" charset="2"/>
              </a:rPr>
              <a:t>”  </a:t>
            </a:r>
            <a:r>
              <a:rPr lang="vi-VN" sz="1600" b="1">
                <a:solidFill>
                  <a:srgbClr val="002060"/>
                </a:solidFill>
                <a:latin typeface="+mj-lt"/>
                <a:sym typeface="Wingdings" panose="05000000000000000000" pitchFamily="2" charset="2"/>
              </a:rPr>
              <a:t>Chống đội</a:t>
            </a:r>
          </a:p>
          <a:p>
            <a:endParaRPr lang="en-US" sz="1600" b="1">
              <a:solidFill>
                <a:srgbClr val="002060"/>
              </a:solidFill>
              <a:latin typeface="+mj-lt"/>
            </a:endParaRPr>
          </a:p>
        </p:txBody>
      </p:sp>
      <p:sp>
        <p:nvSpPr>
          <p:cNvPr id="22" name="TextBox 21"/>
          <p:cNvSpPr txBox="1"/>
          <p:nvPr/>
        </p:nvSpPr>
        <p:spPr>
          <a:xfrm>
            <a:off x="496576" y="706110"/>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rgbClr val="002060"/>
                </a:solidFill>
                <a:latin typeface="Times New Roman" panose="02020603050405020304" pitchFamily="18" charset="0"/>
                <a:ea typeface="+mn-ea"/>
                <a:cs typeface="+mn-cs"/>
              </a:rPr>
              <a:t>1. Tổng quan về Switch</a:t>
            </a:r>
            <a:endParaRPr lang="en-US" sz="2000" b="1" kern="1200" dirty="0">
              <a:solidFill>
                <a:srgbClr val="002060"/>
              </a:solidFill>
              <a:latin typeface="Calibri"/>
              <a:ea typeface="+mn-ea"/>
              <a:cs typeface="+mn-cs"/>
            </a:endParaRPr>
          </a:p>
        </p:txBody>
      </p:sp>
    </p:spTree>
    <p:extLst>
      <p:ext uri="{BB962C8B-B14F-4D97-AF65-F5344CB8AC3E}">
        <p14:creationId xmlns:p14="http://schemas.microsoft.com/office/powerpoint/2010/main" val="36879108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heel(1)">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p:cTn id="30" dur="1000" fill="hold"/>
                                        <p:tgtEl>
                                          <p:spTgt spid="21"/>
                                        </p:tgtEl>
                                        <p:attrNameLst>
                                          <p:attrName>ppt_w</p:attrName>
                                        </p:attrNameLst>
                                      </p:cBhvr>
                                      <p:tavLst>
                                        <p:tav tm="0">
                                          <p:val>
                                            <p:fltVal val="0"/>
                                          </p:val>
                                        </p:tav>
                                        <p:tav tm="100000">
                                          <p:val>
                                            <p:strVal val="#ppt_w"/>
                                          </p:val>
                                        </p:tav>
                                      </p:tavLst>
                                    </p:anim>
                                    <p:anim calcmode="lin" valueType="num">
                                      <p:cBhvr>
                                        <p:cTn id="31" dur="1000" fill="hold"/>
                                        <p:tgtEl>
                                          <p:spTgt spid="21"/>
                                        </p:tgtEl>
                                        <p:attrNameLst>
                                          <p:attrName>ppt_h</p:attrName>
                                        </p:attrNameLst>
                                      </p:cBhvr>
                                      <p:tavLst>
                                        <p:tav tm="0">
                                          <p:val>
                                            <p:fltVal val="0"/>
                                          </p:val>
                                        </p:tav>
                                        <p:tav tm="100000">
                                          <p:val>
                                            <p:strVal val="#ppt_h"/>
                                          </p:val>
                                        </p:tav>
                                      </p:tavLst>
                                    </p:anim>
                                    <p:anim calcmode="lin" valueType="num">
                                      <p:cBhvr>
                                        <p:cTn id="32" dur="1000" fill="hold"/>
                                        <p:tgtEl>
                                          <p:spTgt spid="21"/>
                                        </p:tgtEl>
                                        <p:attrNameLst>
                                          <p:attrName>style.rotation</p:attrName>
                                        </p:attrNameLst>
                                      </p:cBhvr>
                                      <p:tavLst>
                                        <p:tav tm="0">
                                          <p:val>
                                            <p:fltVal val="90"/>
                                          </p:val>
                                        </p:tav>
                                        <p:tav tm="100000">
                                          <p:val>
                                            <p:fltVal val="0"/>
                                          </p:val>
                                        </p:tav>
                                      </p:tavLst>
                                    </p:anim>
                                    <p:animEffect transition="in" filter="fade">
                                      <p:cBhvr>
                                        <p:cTn id="33"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animBg="1"/>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txBody>
          <a:bodyPr/>
          <a:lstStyle/>
          <a:p>
            <a:endParaRPr lang="vi-VN"/>
          </a:p>
        </p:txBody>
      </p:sp>
      <p:sp>
        <p:nvSpPr>
          <p:cNvPr id="13" name="AutoShape 13"/>
          <p:cNvSpPr/>
          <p:nvPr/>
        </p:nvSpPr>
        <p:spPr>
          <a:xfrm>
            <a:off x="1408682" y="545703"/>
            <a:ext cx="7883480" cy="62707"/>
          </a:xfrm>
          <a:prstGeom prst="rect">
            <a:avLst/>
          </a:prstGeom>
          <a:solidFill>
            <a:srgbClr val="318F9A"/>
          </a:solidFill>
        </p:spPr>
        <p:txBody>
          <a:bodyPr/>
          <a:lstStyle/>
          <a:p>
            <a:endParaRPr lang="vi-VN"/>
          </a:p>
        </p:txBody>
      </p:sp>
      <p:sp>
        <p:nvSpPr>
          <p:cNvPr id="15" name="AutoShape 15"/>
          <p:cNvSpPr/>
          <p:nvPr/>
        </p:nvSpPr>
        <p:spPr>
          <a:xfrm>
            <a:off x="238396" y="1220943"/>
            <a:ext cx="59543" cy="4114800"/>
          </a:xfrm>
          <a:prstGeom prst="rect">
            <a:avLst/>
          </a:prstGeom>
          <a:solidFill>
            <a:srgbClr val="318F9A"/>
          </a:solidFill>
        </p:spPr>
        <p:txBody>
          <a:bodyPr/>
          <a:lstStyle/>
          <a:p>
            <a:endParaRPr lang="vi-VN"/>
          </a:p>
        </p:txBody>
      </p:sp>
      <p:grpSp>
        <p:nvGrpSpPr>
          <p:cNvPr id="16" name="Group 16"/>
          <p:cNvGrpSpPr/>
          <p:nvPr/>
        </p:nvGrpSpPr>
        <p:grpSpPr>
          <a:xfrm rot="3994440">
            <a:off x="293404" y="45406"/>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txBody>
            <a:bodyPr/>
            <a:lstStyle/>
            <a:p>
              <a:endParaRPr lang="vi-VN"/>
            </a:p>
          </p:txBody>
        </p:sp>
      </p:grpSp>
      <p:grpSp>
        <p:nvGrpSpPr>
          <p:cNvPr id="18" name="Group 18"/>
          <p:cNvGrpSpPr>
            <a:grpSpLocks noChangeAspect="1"/>
          </p:cNvGrpSpPr>
          <p:nvPr/>
        </p:nvGrpSpPr>
        <p:grpSpPr>
          <a:xfrm rot="3994440">
            <a:off x="549965" y="283507"/>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txBody>
            <a:bodyPr/>
            <a:lstStyle/>
            <a:p>
              <a:endParaRPr lang="vi-VN"/>
            </a:p>
          </p:txBody>
        </p:sp>
      </p:grpSp>
      <p:sp>
        <p:nvSpPr>
          <p:cNvPr id="20" name="TextBox 19"/>
          <p:cNvSpPr txBox="1"/>
          <p:nvPr/>
        </p:nvSpPr>
        <p:spPr>
          <a:xfrm>
            <a:off x="2036981"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a:solidFill>
                  <a:srgbClr val="C00000"/>
                </a:solidFill>
                <a:latin typeface="Times New Roman" panose="02020603050405020304" pitchFamily="18" charset="0"/>
                <a:ea typeface="+mn-ea"/>
                <a:cs typeface="+mn-cs"/>
              </a:rPr>
              <a:t>II: GIAO TIẾP NÚT GẠT - SWITCH</a:t>
            </a:r>
            <a:endParaRPr lang="en-US" sz="2200" b="1" kern="1200" dirty="0">
              <a:solidFill>
                <a:srgbClr val="C00000"/>
              </a:solidFill>
              <a:latin typeface="Calibri"/>
              <a:ea typeface="+mn-ea"/>
              <a:cs typeface="+mn-cs"/>
            </a:endParaRPr>
          </a:p>
        </p:txBody>
      </p:sp>
      <p:pic>
        <p:nvPicPr>
          <p:cNvPr id="2" name="Picture 1"/>
          <p:cNvPicPr>
            <a:picLocks noChangeAspect="1"/>
          </p:cNvPicPr>
          <p:nvPr/>
        </p:nvPicPr>
        <p:blipFill>
          <a:blip r:embed="rId2"/>
          <a:stretch>
            <a:fillRect/>
          </a:stretch>
        </p:blipFill>
        <p:spPr>
          <a:xfrm>
            <a:off x="7594127" y="1730395"/>
            <a:ext cx="1195453" cy="2783818"/>
          </a:xfrm>
          <a:prstGeom prst="rect">
            <a:avLst/>
          </a:prstGeom>
        </p:spPr>
      </p:pic>
      <p:sp>
        <p:nvSpPr>
          <p:cNvPr id="4" name="TextBox 3"/>
          <p:cNvSpPr txBox="1"/>
          <p:nvPr/>
        </p:nvSpPr>
        <p:spPr>
          <a:xfrm>
            <a:off x="543628" y="1121023"/>
            <a:ext cx="6885804" cy="1077218"/>
          </a:xfrm>
          <a:prstGeom prst="rect">
            <a:avLst/>
          </a:prstGeom>
          <a:noFill/>
          <a:ln w="19050">
            <a:solidFill>
              <a:srgbClr val="FF0000"/>
            </a:solidFill>
          </a:ln>
        </p:spPr>
        <p:txBody>
          <a:bodyPr wrap="square" rtlCol="0">
            <a:spAutoFit/>
          </a:bodyPr>
          <a:lstStyle/>
          <a:p>
            <a:pPr marL="285750" indent="-285750">
              <a:buFont typeface="Wingdings" panose="05000000000000000000" pitchFamily="2" charset="2"/>
              <a:buChar char="à"/>
            </a:pPr>
            <a:r>
              <a:rPr lang="vi-VN" sz="1600">
                <a:solidFill>
                  <a:srgbClr val="002060"/>
                </a:solidFill>
                <a:latin typeface="+mj-lt"/>
                <a:sym typeface="Wingdings" panose="05000000000000000000" pitchFamily="2" charset="2"/>
              </a:rPr>
              <a:t>Chính vì SW luôn cố định trạng thái nên ta chỉ cần đọc trạng thái của SW về và thực hiện ngay nhiệm vụ khi nó đóng (0) hoặc mở (1) với lệnh </a:t>
            </a:r>
            <a:r>
              <a:rPr lang="vi-VN" sz="1600" b="1">
                <a:solidFill>
                  <a:srgbClr val="002060"/>
                </a:solidFill>
                <a:latin typeface="+mj-lt"/>
                <a:sym typeface="Wingdings" panose="05000000000000000000" pitchFamily="2" charset="2"/>
              </a:rPr>
              <a:t>INPUT(PIN_XY); </a:t>
            </a:r>
          </a:p>
          <a:p>
            <a:r>
              <a:rPr lang="vi-VN" sz="1600" b="1">
                <a:solidFill>
                  <a:srgbClr val="002060"/>
                </a:solidFill>
                <a:latin typeface="+mj-lt"/>
                <a:sym typeface="Wingdings" panose="05000000000000000000" pitchFamily="2" charset="2"/>
              </a:rPr>
              <a:t>+ </a:t>
            </a:r>
            <a:r>
              <a:rPr lang="vi-VN" sz="1600">
                <a:solidFill>
                  <a:srgbClr val="002060"/>
                </a:solidFill>
                <a:latin typeface="+mj-lt"/>
                <a:sym typeface="Wingdings" panose="05000000000000000000" pitchFamily="2" charset="2"/>
              </a:rPr>
              <a:t>Nếu cần đọc mức logic của cả 8 PIN hay 1 port, ta có lệnh: </a:t>
            </a:r>
            <a:r>
              <a:rPr lang="vi-VN" sz="1600" b="1">
                <a:solidFill>
                  <a:srgbClr val="002060"/>
                </a:solidFill>
                <a:latin typeface="+mj-lt"/>
                <a:sym typeface="Wingdings" panose="05000000000000000000" pitchFamily="2" charset="2"/>
              </a:rPr>
              <a:t>INPUT_X();</a:t>
            </a:r>
            <a:endParaRPr lang="en-US" sz="1600" b="1">
              <a:solidFill>
                <a:srgbClr val="002060"/>
              </a:solidFill>
              <a:latin typeface="+mj-lt"/>
            </a:endParaRPr>
          </a:p>
        </p:txBody>
      </p:sp>
      <p:sp>
        <p:nvSpPr>
          <p:cNvPr id="22" name="TextBox 21"/>
          <p:cNvSpPr txBox="1"/>
          <p:nvPr/>
        </p:nvSpPr>
        <p:spPr>
          <a:xfrm>
            <a:off x="496576" y="648643"/>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rgbClr val="002060"/>
                </a:solidFill>
                <a:latin typeface="Times New Roman" panose="02020603050405020304" pitchFamily="18" charset="0"/>
                <a:ea typeface="+mn-ea"/>
                <a:cs typeface="+mn-cs"/>
              </a:rPr>
              <a:t>2. Câu lệnh giao tiếp</a:t>
            </a:r>
            <a:endParaRPr lang="en-US" sz="2000" b="1" kern="1200" dirty="0">
              <a:solidFill>
                <a:srgbClr val="002060"/>
              </a:solidFill>
              <a:latin typeface="Calibri"/>
              <a:ea typeface="+mn-ea"/>
              <a:cs typeface="+mn-cs"/>
            </a:endParaRPr>
          </a:p>
        </p:txBody>
      </p:sp>
      <p:sp>
        <p:nvSpPr>
          <p:cNvPr id="23" name="TextBox 22"/>
          <p:cNvSpPr txBox="1"/>
          <p:nvPr/>
        </p:nvSpPr>
        <p:spPr>
          <a:xfrm>
            <a:off x="436257" y="2226474"/>
            <a:ext cx="6896100" cy="2862322"/>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600" b="1" kern="1200">
                <a:solidFill>
                  <a:srgbClr val="FF0000"/>
                </a:solidFill>
                <a:latin typeface="Times New Roman" panose="02020603050405020304" pitchFamily="18" charset="0"/>
                <a:ea typeface="+mn-ea"/>
                <a:cs typeface="+mn-cs"/>
              </a:rPr>
              <a:t>Ví dụ:</a:t>
            </a:r>
          </a:p>
          <a:p>
            <a:pPr defTabSz="457200">
              <a:buClrTx/>
            </a:pPr>
            <a:r>
              <a:rPr lang="vi-VN" sz="1600" b="1" kern="1200">
                <a:solidFill>
                  <a:srgbClr val="002060"/>
                </a:solidFill>
                <a:latin typeface="Times New Roman" panose="02020603050405020304" pitchFamily="18" charset="0"/>
                <a:ea typeface="+mn-ea"/>
                <a:cs typeface="+mn-cs"/>
              </a:rPr>
              <a:t> </a:t>
            </a:r>
            <a:r>
              <a:rPr lang="en-US" sz="1600" kern="1200">
                <a:solidFill>
                  <a:srgbClr val="002060"/>
                </a:solidFill>
                <a:latin typeface="Times New Roman" panose="02020603050405020304" pitchFamily="18" charset="0"/>
                <a:ea typeface="+mn-ea"/>
                <a:cs typeface="+mn-cs"/>
              </a:rPr>
              <a:t>	</a:t>
            </a:r>
            <a:r>
              <a:rPr lang="en-US" sz="1600" i="1" kern="1200">
                <a:solidFill>
                  <a:srgbClr val="002060"/>
                </a:solidFill>
                <a:latin typeface="Times New Roman" panose="02020603050405020304" pitchFamily="18" charset="0"/>
                <a:ea typeface="+mn-ea"/>
                <a:cs typeface="+mn-cs"/>
              </a:rPr>
              <a:t>#DEFINE  SW  PIN_D0</a:t>
            </a:r>
          </a:p>
          <a:p>
            <a:pPr defTabSz="457200">
              <a:buClrTx/>
            </a:pPr>
            <a:r>
              <a:rPr lang="en-US" sz="1600" b="1" i="1" kern="1200">
                <a:solidFill>
                  <a:srgbClr val="002060"/>
                </a:solidFill>
                <a:latin typeface="Times New Roman" panose="02020603050405020304" pitchFamily="18" charset="0"/>
                <a:ea typeface="+mn-ea"/>
                <a:cs typeface="+mn-cs"/>
              </a:rPr>
              <a:t>	 ………………………</a:t>
            </a:r>
          </a:p>
          <a:p>
            <a:pPr defTabSz="457200">
              <a:buClrTx/>
            </a:pPr>
            <a:r>
              <a:rPr lang="en-US" sz="1600" b="1" i="1" kern="1200">
                <a:solidFill>
                  <a:srgbClr val="002060"/>
                </a:solidFill>
                <a:latin typeface="Times New Roman" panose="02020603050405020304" pitchFamily="18" charset="0"/>
                <a:ea typeface="+mn-ea"/>
                <a:cs typeface="+mn-cs"/>
              </a:rPr>
              <a:t>	</a:t>
            </a:r>
            <a:r>
              <a:rPr lang="en-US" sz="1600" i="1" kern="1200">
                <a:solidFill>
                  <a:srgbClr val="002060"/>
                </a:solidFill>
                <a:latin typeface="Times New Roman" panose="02020603050405020304" pitchFamily="18" charset="0"/>
                <a:ea typeface="+mn-ea"/>
                <a:cs typeface="+mn-cs"/>
              </a:rPr>
              <a:t>WHILE(TRUE)</a:t>
            </a:r>
          </a:p>
          <a:p>
            <a:pPr defTabSz="457200">
              <a:buClrTx/>
            </a:pPr>
            <a:r>
              <a:rPr lang="en-US" sz="1600" b="1" i="1" kern="1200">
                <a:solidFill>
                  <a:srgbClr val="002060"/>
                </a:solidFill>
                <a:latin typeface="Times New Roman" panose="02020603050405020304" pitchFamily="18" charset="0"/>
                <a:ea typeface="+mn-ea"/>
                <a:cs typeface="+mn-cs"/>
              </a:rPr>
              <a:t>{</a:t>
            </a:r>
          </a:p>
          <a:p>
            <a:pPr defTabSz="457200">
              <a:buClrTx/>
            </a:pPr>
            <a:r>
              <a:rPr lang="en-US" sz="1600" b="1" i="1" kern="1200">
                <a:solidFill>
                  <a:srgbClr val="002060"/>
                </a:solidFill>
                <a:latin typeface="Times New Roman" panose="02020603050405020304" pitchFamily="18" charset="0"/>
                <a:ea typeface="+mn-ea"/>
                <a:cs typeface="+mn-cs"/>
              </a:rPr>
              <a:t>	</a:t>
            </a:r>
            <a:r>
              <a:rPr lang="en-US" b="1" i="1" kern="1200">
                <a:solidFill>
                  <a:srgbClr val="002060"/>
                </a:solidFill>
                <a:latin typeface="Times New Roman" panose="02020603050405020304" pitchFamily="18" charset="0"/>
                <a:ea typeface="+mn-ea"/>
                <a:cs typeface="+mn-cs"/>
              </a:rPr>
              <a:t>IF(!INPUT(SW))</a:t>
            </a:r>
          </a:p>
          <a:p>
            <a:pPr defTabSz="457200">
              <a:buClrTx/>
            </a:pPr>
            <a:r>
              <a:rPr lang="en-US" b="1" i="1" kern="1200">
                <a:solidFill>
                  <a:srgbClr val="002060"/>
                </a:solidFill>
                <a:latin typeface="Times New Roman" panose="02020603050405020304" pitchFamily="18" charset="0"/>
                <a:ea typeface="+mn-ea"/>
                <a:cs typeface="+mn-cs"/>
              </a:rPr>
              <a:t>                {</a:t>
            </a:r>
          </a:p>
          <a:p>
            <a:pPr defTabSz="457200">
              <a:buClrTx/>
            </a:pPr>
            <a:r>
              <a:rPr lang="en-US" b="1" i="1" kern="1200">
                <a:solidFill>
                  <a:srgbClr val="002060"/>
                </a:solidFill>
                <a:latin typeface="Times New Roman" panose="02020603050405020304" pitchFamily="18" charset="0"/>
                <a:ea typeface="+mn-ea"/>
                <a:cs typeface="+mn-cs"/>
              </a:rPr>
              <a:t> 		IF(COUNT == 59)      </a:t>
            </a:r>
            <a:r>
              <a:rPr lang="vi-VN" b="1" i="1" kern="1200">
                <a:solidFill>
                  <a:srgbClr val="002060"/>
                </a:solidFill>
                <a:latin typeface="Times New Roman" panose="02020603050405020304" pitchFamily="18" charset="0"/>
                <a:ea typeface="+mn-ea"/>
                <a:cs typeface="+mn-cs"/>
              </a:rPr>
              <a:t> </a:t>
            </a:r>
            <a:r>
              <a:rPr lang="en-US" b="1" i="1" kern="1200">
                <a:solidFill>
                  <a:srgbClr val="002060"/>
                </a:solidFill>
                <a:latin typeface="Times New Roman" panose="02020603050405020304" pitchFamily="18" charset="0"/>
                <a:ea typeface="+mn-ea"/>
                <a:cs typeface="+mn-cs"/>
              </a:rPr>
              <a:t> COUNT = 0;</a:t>
            </a:r>
          </a:p>
          <a:p>
            <a:pPr defTabSz="457200">
              <a:buClrTx/>
            </a:pPr>
            <a:r>
              <a:rPr lang="en-US" b="1" i="1" kern="1200">
                <a:solidFill>
                  <a:srgbClr val="002060"/>
                </a:solidFill>
                <a:latin typeface="Times New Roman" panose="02020603050405020304" pitchFamily="18" charset="0"/>
                <a:ea typeface="+mn-ea"/>
                <a:cs typeface="+mn-cs"/>
              </a:rPr>
              <a:t>    </a:t>
            </a:r>
            <a:r>
              <a:rPr lang="vi-VN" b="1" i="1" kern="1200">
                <a:solidFill>
                  <a:srgbClr val="002060"/>
                </a:solidFill>
                <a:latin typeface="Times New Roman" panose="02020603050405020304" pitchFamily="18" charset="0"/>
                <a:ea typeface="+mn-ea"/>
                <a:cs typeface="+mn-cs"/>
              </a:rPr>
              <a:t>  </a:t>
            </a:r>
            <a:r>
              <a:rPr lang="en-US" b="1" i="1" kern="1200">
                <a:solidFill>
                  <a:srgbClr val="002060"/>
                </a:solidFill>
                <a:latin typeface="Times New Roman" panose="02020603050405020304" pitchFamily="18" charset="0"/>
                <a:ea typeface="+mn-ea"/>
                <a:cs typeface="+mn-cs"/>
              </a:rPr>
              <a:t>ELSE 				        COUNT ++ ;</a:t>
            </a:r>
          </a:p>
          <a:p>
            <a:pPr defTabSz="457200">
              <a:buClrTx/>
            </a:pPr>
            <a:r>
              <a:rPr lang="en-US" b="1" i="1" kern="1200">
                <a:solidFill>
                  <a:srgbClr val="002060"/>
                </a:solidFill>
                <a:latin typeface="Times New Roman" panose="02020603050405020304" pitchFamily="18" charset="0"/>
                <a:ea typeface="+mn-ea"/>
                <a:cs typeface="+mn-cs"/>
              </a:rPr>
              <a:t>                   }</a:t>
            </a:r>
          </a:p>
          <a:p>
            <a:pPr defTabSz="457200">
              <a:buClrTx/>
            </a:pPr>
            <a:r>
              <a:rPr lang="en-US" b="1" i="1" kern="1200">
                <a:solidFill>
                  <a:srgbClr val="002060"/>
                </a:solidFill>
                <a:latin typeface="Times New Roman" panose="02020603050405020304" pitchFamily="18" charset="0"/>
                <a:ea typeface="+mn-ea"/>
                <a:cs typeface="+mn-cs"/>
              </a:rPr>
              <a:t>       ELSE 				</a:t>
            </a:r>
            <a:r>
              <a:rPr lang="vi-VN" b="1" i="1" kern="1200">
                <a:solidFill>
                  <a:srgbClr val="002060"/>
                </a:solidFill>
                <a:latin typeface="Times New Roman" panose="02020603050405020304" pitchFamily="18" charset="0"/>
                <a:ea typeface="+mn-ea"/>
                <a:cs typeface="+mn-cs"/>
              </a:rPr>
              <a:t>         </a:t>
            </a:r>
            <a:r>
              <a:rPr lang="en-US" b="1" i="1" kern="1200">
                <a:solidFill>
                  <a:srgbClr val="002060"/>
                </a:solidFill>
                <a:latin typeface="Times New Roman" panose="02020603050405020304" pitchFamily="18" charset="0"/>
                <a:ea typeface="+mn-ea"/>
                <a:cs typeface="+mn-cs"/>
              </a:rPr>
              <a:t>COUNT = COUNT;</a:t>
            </a:r>
          </a:p>
          <a:p>
            <a:pPr defTabSz="457200">
              <a:buClrTx/>
            </a:pPr>
            <a:r>
              <a:rPr lang="en-US" b="1" i="1" kern="1200">
                <a:solidFill>
                  <a:srgbClr val="002060"/>
                </a:solidFill>
                <a:latin typeface="Times New Roman" panose="02020603050405020304" pitchFamily="18" charset="0"/>
                <a:ea typeface="+mn-ea"/>
                <a:cs typeface="+mn-cs"/>
              </a:rPr>
              <a:t>}</a:t>
            </a:r>
            <a:endParaRPr lang="en-US" b="1" i="1" kern="1200" dirty="0">
              <a:solidFill>
                <a:srgbClr val="002060"/>
              </a:solidFill>
              <a:latin typeface="Calibri"/>
              <a:ea typeface="+mn-ea"/>
              <a:cs typeface="+mn-cs"/>
            </a:endParaRPr>
          </a:p>
        </p:txBody>
      </p:sp>
    </p:spTree>
    <p:extLst>
      <p:ext uri="{BB962C8B-B14F-4D97-AF65-F5344CB8AC3E}">
        <p14:creationId xmlns:p14="http://schemas.microsoft.com/office/powerpoint/2010/main" val="48433722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p:cTn id="17"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20" dur="10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1000" fill="hold"/>
                                        <p:tgtEl>
                                          <p:spTgt spid="2"/>
                                        </p:tgtEl>
                                        <p:attrNameLst>
                                          <p:attrName>ppt_w</p:attrName>
                                        </p:attrNameLst>
                                      </p:cBhvr>
                                      <p:tavLst>
                                        <p:tav tm="0">
                                          <p:val>
                                            <p:fltVal val="0"/>
                                          </p:val>
                                        </p:tav>
                                        <p:tav tm="100000">
                                          <p:val>
                                            <p:strVal val="#ppt_w"/>
                                          </p:val>
                                        </p:tav>
                                      </p:tavLst>
                                    </p:anim>
                                    <p:anim calcmode="lin" valueType="num">
                                      <p:cBhvr>
                                        <p:cTn id="26" dur="1000" fill="hold"/>
                                        <p:tgtEl>
                                          <p:spTgt spid="2"/>
                                        </p:tgtEl>
                                        <p:attrNameLst>
                                          <p:attrName>ppt_h</p:attrName>
                                        </p:attrNameLst>
                                      </p:cBhvr>
                                      <p:tavLst>
                                        <p:tav tm="0">
                                          <p:val>
                                            <p:fltVal val="0"/>
                                          </p:val>
                                        </p:tav>
                                        <p:tav tm="100000">
                                          <p:val>
                                            <p:strVal val="#ppt_h"/>
                                          </p:val>
                                        </p:tav>
                                      </p:tavLst>
                                    </p:anim>
                                    <p:anim calcmode="lin" valueType="num">
                                      <p:cBhvr>
                                        <p:cTn id="27" dur="1000" fill="hold"/>
                                        <p:tgtEl>
                                          <p:spTgt spid="2"/>
                                        </p:tgtEl>
                                        <p:attrNameLst>
                                          <p:attrName>style.rotation</p:attrName>
                                        </p:attrNameLst>
                                      </p:cBhvr>
                                      <p:tavLst>
                                        <p:tav tm="0">
                                          <p:val>
                                            <p:fltVal val="90"/>
                                          </p:val>
                                        </p:tav>
                                        <p:tav tm="100000">
                                          <p:val>
                                            <p:fltVal val="0"/>
                                          </p:val>
                                        </p:tav>
                                      </p:tavLst>
                                    </p:anim>
                                    <p:animEffect transition="in" filter="fade">
                                      <p:cBhvr>
                                        <p:cTn id="28" dur="10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068" y="179694"/>
            <a:ext cx="8977339" cy="385362"/>
          </a:xfrm>
          <a:prstGeom prst="rect">
            <a:avLst/>
          </a:prstGeom>
          <a:solidFill>
            <a:schemeClr val="bg1"/>
          </a:solidFill>
          <a:ln w="19050">
            <a:solidFill>
              <a:srgbClr val="002060"/>
            </a:solidFill>
          </a:ln>
        </p:spPr>
        <p:txBody>
          <a:bodyPr wrap="square">
            <a:spAutoFit/>
          </a:bodyPr>
          <a:lstStyle/>
          <a:p>
            <a:pPr>
              <a:lnSpc>
                <a:spcPct val="115000"/>
              </a:lnSpc>
              <a:spcAft>
                <a:spcPts val="800"/>
              </a:spcAft>
              <a:tabLst>
                <a:tab pos="6931025" algn="r"/>
              </a:tabLst>
            </a:pP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Ví dụ: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Dùng 8 switch kết nối port B, hãy đọc trạng thái 8 SW và xuất ra 8 LED đơn ở port  D. </a:t>
            </a:r>
          </a:p>
        </p:txBody>
      </p:sp>
      <p:pic>
        <p:nvPicPr>
          <p:cNvPr id="3" name="Picture 2"/>
          <p:cNvPicPr>
            <a:picLocks noChangeAspect="1"/>
          </p:cNvPicPr>
          <p:nvPr/>
        </p:nvPicPr>
        <p:blipFill>
          <a:blip r:embed="rId2"/>
          <a:stretch>
            <a:fillRect/>
          </a:stretch>
        </p:blipFill>
        <p:spPr>
          <a:xfrm>
            <a:off x="850082" y="922655"/>
            <a:ext cx="3388089" cy="3326263"/>
          </a:xfrm>
          <a:prstGeom prst="rect">
            <a:avLst/>
          </a:prstGeom>
        </p:spPr>
      </p:pic>
    </p:spTree>
    <p:extLst>
      <p:ext uri="{BB962C8B-B14F-4D97-AF65-F5344CB8AC3E}">
        <p14:creationId xmlns:p14="http://schemas.microsoft.com/office/powerpoint/2010/main" val="16888657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582" y="132498"/>
            <a:ext cx="8977339" cy="729430"/>
          </a:xfrm>
          <a:prstGeom prst="rect">
            <a:avLst/>
          </a:prstGeom>
          <a:ln w="19050">
            <a:solidFill>
              <a:srgbClr val="002060"/>
            </a:solidFill>
          </a:ln>
        </p:spPr>
        <p:txBody>
          <a:bodyPr wrap="square">
            <a:spAutoFit/>
          </a:bodyPr>
          <a:lstStyle/>
          <a:p>
            <a:pPr>
              <a:lnSpc>
                <a:spcPct val="115000"/>
              </a:lnSpc>
              <a:spcAft>
                <a:spcPts val="800"/>
              </a:spcAft>
              <a:tabLst>
                <a:tab pos="6931025" algn="r"/>
              </a:tabLst>
            </a:pP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Ví dụ: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Dùng 2 switch kết nối port B, 4 LED đơn kết nối port D. Thực hiện mạch giải mã với dữ liệu vào từ switch và ngõ ra hiển thị trên LED đơn. </a:t>
            </a: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a:t>
            </a:r>
            <a:endParaRPr lang="en-US"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569041" y="992267"/>
            <a:ext cx="4728673" cy="4000493"/>
          </a:xfrm>
          <a:prstGeom prst="rect">
            <a:avLst/>
          </a:prstGeom>
        </p:spPr>
      </p:pic>
    </p:spTree>
    <p:extLst>
      <p:ext uri="{BB962C8B-B14F-4D97-AF65-F5344CB8AC3E}">
        <p14:creationId xmlns:p14="http://schemas.microsoft.com/office/powerpoint/2010/main" val="20007444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582" y="132498"/>
            <a:ext cx="8977339" cy="2732543"/>
          </a:xfrm>
          <a:prstGeom prst="rect">
            <a:avLst/>
          </a:prstGeom>
          <a:ln w="19050">
            <a:solidFill>
              <a:srgbClr val="002060"/>
            </a:solidFill>
          </a:ln>
        </p:spPr>
        <p:txBody>
          <a:bodyPr wrap="square">
            <a:spAutoFit/>
          </a:bodyPr>
          <a:lstStyle/>
          <a:p>
            <a:pPr>
              <a:lnSpc>
                <a:spcPct val="115000"/>
              </a:lnSpc>
              <a:spcAft>
                <a:spcPts val="800"/>
              </a:spcAft>
              <a:tabLst>
                <a:tab pos="6931025" algn="r"/>
              </a:tabLst>
            </a:pP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CK: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Dùng PIC 16F887 ứng dụng tạo xung (không sử dụng Timer, không sử dụng PWM).</a:t>
            </a:r>
          </a:p>
          <a:p>
            <a:pPr>
              <a:lnSpc>
                <a:spcPct val="115000"/>
              </a:lnSpc>
              <a:spcAft>
                <a:spcPts val="800"/>
              </a:spcAft>
              <a:tabLst>
                <a:tab pos="6931025" algn="r"/>
              </a:tabLst>
            </a:pP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Xung có duty cycle = 50% (T cao = T thấp ), xung ra ở chân RC0</a:t>
            </a:r>
          </a:p>
          <a:p>
            <a:pPr>
              <a:lnSpc>
                <a:spcPct val="115000"/>
              </a:lnSpc>
              <a:spcAft>
                <a:spcPts val="800"/>
              </a:spcAft>
              <a:tabLst>
                <a:tab pos="6931025" algn="r"/>
              </a:tabLst>
            </a:pP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Nhấn nút RUN (RC1) để phát xung, nhấn nút STOP (RC2) để tắt xung ngay lập tức (xuất mức thấp).</a:t>
            </a:r>
          </a:p>
          <a:p>
            <a:pPr>
              <a:lnSpc>
                <a:spcPct val="115000"/>
              </a:lnSpc>
              <a:spcAft>
                <a:spcPts val="800"/>
              </a:spcAft>
              <a:tabLst>
                <a:tab pos="6931025" algn="r"/>
              </a:tabLst>
            </a:pP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Nút ADJ (RA0) để chỉnh bề rộng xung (thời gian mức cao/thấp), hiển thị ra LED 7 đoạn port D, phạm vi từ 0 đến 9</a:t>
            </a:r>
            <a:r>
              <a:rPr lang="en-US"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(0 đến 900ms) </a:t>
            </a:r>
            <a:r>
              <a:rPr lang="en-US"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a:t>
            </a: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chỉ chỉnh được khi mạch chưa chạy.</a:t>
            </a:r>
          </a:p>
          <a:p>
            <a:pPr>
              <a:lnSpc>
                <a:spcPct val="115000"/>
              </a:lnSpc>
              <a:spcAft>
                <a:spcPts val="800"/>
              </a:spcAft>
              <a:tabLst>
                <a:tab pos="6931025" algn="r"/>
              </a:tabLst>
            </a:pPr>
            <a:r>
              <a:rPr lang="vi-VN"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Khi vừa cấp điện, LED 7 đoạn hiện số 5 và tắt xung (mức Low).</a:t>
            </a:r>
            <a:endParaRPr lang="en-US"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45178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tileRect/>
        </a:gradFill>
        <a:effectLst/>
      </p:bgPr>
    </p:bg>
    <p:spTree>
      <p:nvGrpSpPr>
        <p:cNvPr id="1" name="Shape 1519"/>
        <p:cNvGrpSpPr/>
        <p:nvPr/>
      </p:nvGrpSpPr>
      <p:grpSpPr>
        <a:xfrm>
          <a:off x="0" y="0"/>
          <a:ext cx="0" cy="0"/>
          <a:chOff x="0" y="0"/>
          <a:chExt cx="0" cy="0"/>
        </a:xfrm>
      </p:grpSpPr>
      <p:pic>
        <p:nvPicPr>
          <p:cNvPr id="1520" name="Google Shape;1520;p50">
            <a:hlinkClick r:id="rId3"/>
          </p:cNvPr>
          <p:cNvPicPr preferRelativeResize="0"/>
          <p:nvPr/>
        </p:nvPicPr>
        <p:blipFill rotWithShape="1">
          <a:blip r:embed="rId4">
            <a:alphaModFix/>
          </a:blip>
          <a:srcRect/>
          <a:stretch/>
        </p:blipFill>
        <p:spPr>
          <a:xfrm>
            <a:off x="3426425" y="1451225"/>
            <a:ext cx="2291150" cy="550600"/>
          </a:xfrm>
          <a:prstGeom prst="rect">
            <a:avLst/>
          </a:prstGeom>
          <a:noFill/>
          <a:ln>
            <a:noFill/>
          </a:ln>
        </p:spPr>
      </p:pic>
      <p:sp>
        <p:nvSpPr>
          <p:cNvPr id="1521" name="Google Shape;1521;p50"/>
          <p:cNvSpPr txBox="1"/>
          <p:nvPr/>
        </p:nvSpPr>
        <p:spPr>
          <a:xfrm>
            <a:off x="1106100" y="2209500"/>
            <a:ext cx="6931800" cy="267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800" b="1">
                <a:solidFill>
                  <a:srgbClr val="434343"/>
                </a:solidFill>
                <a:latin typeface="Montserrat"/>
                <a:ea typeface="Montserrat"/>
                <a:cs typeface="Montserrat"/>
                <a:sym typeface="Montserrat"/>
              </a:rPr>
              <a:t>Free templates for all your presentation needs</a:t>
            </a:r>
            <a:endParaRPr sz="1800" b="1">
              <a:solidFill>
                <a:srgbClr val="434343"/>
              </a:solidFill>
              <a:latin typeface="Montserrat"/>
              <a:ea typeface="Montserrat"/>
              <a:cs typeface="Montserrat"/>
              <a:sym typeface="Montserrat"/>
            </a:endParaRPr>
          </a:p>
        </p:txBody>
      </p:sp>
      <p:grpSp>
        <p:nvGrpSpPr>
          <p:cNvPr id="1522" name="Google Shape;1522;p50"/>
          <p:cNvGrpSpPr/>
          <p:nvPr/>
        </p:nvGrpSpPr>
        <p:grpSpPr>
          <a:xfrm>
            <a:off x="690575" y="3290132"/>
            <a:ext cx="7762851" cy="892418"/>
            <a:chOff x="801125" y="3213932"/>
            <a:chExt cx="7762851" cy="892418"/>
          </a:xfrm>
        </p:grpSpPr>
        <p:grpSp>
          <p:nvGrpSpPr>
            <p:cNvPr id="1523" name="Google Shape;1523;p50"/>
            <p:cNvGrpSpPr/>
            <p:nvPr/>
          </p:nvGrpSpPr>
          <p:grpSpPr>
            <a:xfrm>
              <a:off x="4845759" y="3213932"/>
              <a:ext cx="1695900" cy="892418"/>
              <a:chOff x="4845759" y="3213932"/>
              <a:chExt cx="1695900" cy="892418"/>
            </a:xfrm>
          </p:grpSpPr>
          <p:sp>
            <p:nvSpPr>
              <p:cNvPr id="1524" name="Google Shape;1524;p50"/>
              <p:cNvSpPr txBox="1"/>
              <p:nvPr/>
            </p:nvSpPr>
            <p:spPr>
              <a:xfrm>
                <a:off x="4845759"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Ready to use, professional and customizable</a:t>
                </a:r>
                <a:endParaRPr sz="1200">
                  <a:solidFill>
                    <a:srgbClr val="434343"/>
                  </a:solidFill>
                  <a:latin typeface="Montserrat"/>
                  <a:ea typeface="Montserrat"/>
                  <a:cs typeface="Montserrat"/>
                  <a:sym typeface="Montserrat"/>
                </a:endParaRPr>
              </a:p>
            </p:txBody>
          </p:sp>
          <p:sp>
            <p:nvSpPr>
              <p:cNvPr id="1525" name="Google Shape;1525;p50"/>
              <p:cNvSpPr/>
              <p:nvPr/>
            </p:nvSpPr>
            <p:spPr>
              <a:xfrm>
                <a:off x="5603395" y="3213932"/>
                <a:ext cx="180627" cy="181175"/>
              </a:xfrm>
              <a:custGeom>
                <a:avLst/>
                <a:gdLst/>
                <a:ahLst/>
                <a:cxnLst/>
                <a:rect l="l" t="t" r="r" b="b"/>
                <a:pathLst>
                  <a:path w="5929" h="5947" extrusionOk="0">
                    <a:moveTo>
                      <a:pt x="4679" y="0"/>
                    </a:moveTo>
                    <a:lnTo>
                      <a:pt x="4567" y="19"/>
                    </a:lnTo>
                    <a:lnTo>
                      <a:pt x="4474" y="37"/>
                    </a:lnTo>
                    <a:lnTo>
                      <a:pt x="4381" y="93"/>
                    </a:lnTo>
                    <a:lnTo>
                      <a:pt x="4288" y="168"/>
                    </a:lnTo>
                    <a:lnTo>
                      <a:pt x="3747" y="690"/>
                    </a:lnTo>
                    <a:lnTo>
                      <a:pt x="3729" y="746"/>
                    </a:lnTo>
                    <a:lnTo>
                      <a:pt x="3710" y="802"/>
                    </a:lnTo>
                    <a:lnTo>
                      <a:pt x="3729" y="857"/>
                    </a:lnTo>
                    <a:lnTo>
                      <a:pt x="3747" y="895"/>
                    </a:lnTo>
                    <a:lnTo>
                      <a:pt x="5033" y="2181"/>
                    </a:lnTo>
                    <a:lnTo>
                      <a:pt x="5089" y="2218"/>
                    </a:lnTo>
                    <a:lnTo>
                      <a:pt x="5182" y="2218"/>
                    </a:lnTo>
                    <a:lnTo>
                      <a:pt x="5238" y="2181"/>
                    </a:lnTo>
                    <a:lnTo>
                      <a:pt x="5779" y="1640"/>
                    </a:lnTo>
                    <a:lnTo>
                      <a:pt x="5835" y="1566"/>
                    </a:lnTo>
                    <a:lnTo>
                      <a:pt x="5891" y="1473"/>
                    </a:lnTo>
                    <a:lnTo>
                      <a:pt x="5928" y="1361"/>
                    </a:lnTo>
                    <a:lnTo>
                      <a:pt x="5928" y="1249"/>
                    </a:lnTo>
                    <a:lnTo>
                      <a:pt x="5928" y="1156"/>
                    </a:lnTo>
                    <a:lnTo>
                      <a:pt x="5891" y="1044"/>
                    </a:lnTo>
                    <a:lnTo>
                      <a:pt x="5835" y="951"/>
                    </a:lnTo>
                    <a:lnTo>
                      <a:pt x="5779" y="857"/>
                    </a:lnTo>
                    <a:lnTo>
                      <a:pt x="5071" y="168"/>
                    </a:lnTo>
                    <a:lnTo>
                      <a:pt x="4977" y="93"/>
                    </a:lnTo>
                    <a:lnTo>
                      <a:pt x="4884" y="37"/>
                    </a:lnTo>
                    <a:lnTo>
                      <a:pt x="4791" y="19"/>
                    </a:lnTo>
                    <a:lnTo>
                      <a:pt x="4679" y="0"/>
                    </a:lnTo>
                    <a:close/>
                    <a:moveTo>
                      <a:pt x="3393" y="1883"/>
                    </a:moveTo>
                    <a:lnTo>
                      <a:pt x="3449" y="1920"/>
                    </a:lnTo>
                    <a:lnTo>
                      <a:pt x="3486" y="1976"/>
                    </a:lnTo>
                    <a:lnTo>
                      <a:pt x="3505" y="2050"/>
                    </a:lnTo>
                    <a:lnTo>
                      <a:pt x="3486" y="2106"/>
                    </a:lnTo>
                    <a:lnTo>
                      <a:pt x="3449" y="2162"/>
                    </a:lnTo>
                    <a:lnTo>
                      <a:pt x="1660" y="3952"/>
                    </a:lnTo>
                    <a:lnTo>
                      <a:pt x="1604" y="3970"/>
                    </a:lnTo>
                    <a:lnTo>
                      <a:pt x="1548" y="3989"/>
                    </a:lnTo>
                    <a:lnTo>
                      <a:pt x="1492" y="3970"/>
                    </a:lnTo>
                    <a:lnTo>
                      <a:pt x="1436" y="3952"/>
                    </a:lnTo>
                    <a:lnTo>
                      <a:pt x="1399" y="3896"/>
                    </a:lnTo>
                    <a:lnTo>
                      <a:pt x="1380" y="3821"/>
                    </a:lnTo>
                    <a:lnTo>
                      <a:pt x="1399" y="3765"/>
                    </a:lnTo>
                    <a:lnTo>
                      <a:pt x="1436" y="3709"/>
                    </a:lnTo>
                    <a:lnTo>
                      <a:pt x="3225" y="1920"/>
                    </a:lnTo>
                    <a:lnTo>
                      <a:pt x="3281" y="1883"/>
                    </a:lnTo>
                    <a:close/>
                    <a:moveTo>
                      <a:pt x="1007" y="4362"/>
                    </a:moveTo>
                    <a:lnTo>
                      <a:pt x="1007" y="4921"/>
                    </a:lnTo>
                    <a:lnTo>
                      <a:pt x="1566" y="4921"/>
                    </a:lnTo>
                    <a:lnTo>
                      <a:pt x="1566" y="5331"/>
                    </a:lnTo>
                    <a:lnTo>
                      <a:pt x="821" y="5462"/>
                    </a:lnTo>
                    <a:lnTo>
                      <a:pt x="467" y="5107"/>
                    </a:lnTo>
                    <a:lnTo>
                      <a:pt x="597" y="4362"/>
                    </a:lnTo>
                    <a:close/>
                    <a:moveTo>
                      <a:pt x="3337" y="1118"/>
                    </a:moveTo>
                    <a:lnTo>
                      <a:pt x="3300" y="1156"/>
                    </a:lnTo>
                    <a:lnTo>
                      <a:pt x="243" y="4213"/>
                    </a:lnTo>
                    <a:lnTo>
                      <a:pt x="1" y="5611"/>
                    </a:lnTo>
                    <a:lnTo>
                      <a:pt x="1" y="5685"/>
                    </a:lnTo>
                    <a:lnTo>
                      <a:pt x="1" y="5741"/>
                    </a:lnTo>
                    <a:lnTo>
                      <a:pt x="38" y="5816"/>
                    </a:lnTo>
                    <a:lnTo>
                      <a:pt x="75" y="5853"/>
                    </a:lnTo>
                    <a:lnTo>
                      <a:pt x="131" y="5890"/>
                    </a:lnTo>
                    <a:lnTo>
                      <a:pt x="187" y="5928"/>
                    </a:lnTo>
                    <a:lnTo>
                      <a:pt x="243" y="5946"/>
                    </a:lnTo>
                    <a:lnTo>
                      <a:pt x="317" y="5928"/>
                    </a:lnTo>
                    <a:lnTo>
                      <a:pt x="1734" y="5685"/>
                    </a:lnTo>
                    <a:lnTo>
                      <a:pt x="4772" y="2647"/>
                    </a:lnTo>
                    <a:lnTo>
                      <a:pt x="4810" y="2591"/>
                    </a:lnTo>
                    <a:lnTo>
                      <a:pt x="4810" y="2535"/>
                    </a:lnTo>
                    <a:lnTo>
                      <a:pt x="4810" y="2498"/>
                    </a:lnTo>
                    <a:lnTo>
                      <a:pt x="4772" y="2442"/>
                    </a:lnTo>
                    <a:lnTo>
                      <a:pt x="3486" y="1156"/>
                    </a:lnTo>
                    <a:lnTo>
                      <a:pt x="3449" y="111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526" name="Google Shape;1526;p50"/>
            <p:cNvGrpSpPr/>
            <p:nvPr/>
          </p:nvGrpSpPr>
          <p:grpSpPr>
            <a:xfrm>
              <a:off x="2823442" y="3214222"/>
              <a:ext cx="1695900" cy="892128"/>
              <a:chOff x="2823442" y="3214222"/>
              <a:chExt cx="1695900" cy="892128"/>
            </a:xfrm>
          </p:grpSpPr>
          <p:sp>
            <p:nvSpPr>
              <p:cNvPr id="1527" name="Google Shape;1527;p50"/>
              <p:cNvSpPr txBox="1"/>
              <p:nvPr/>
            </p:nvSpPr>
            <p:spPr>
              <a:xfrm>
                <a:off x="2823442"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100% free for personal or commercial use</a:t>
                </a:r>
                <a:endParaRPr sz="1200">
                  <a:solidFill>
                    <a:srgbClr val="434343"/>
                  </a:solidFill>
                  <a:latin typeface="Montserrat"/>
                  <a:ea typeface="Montserrat"/>
                  <a:cs typeface="Montserrat"/>
                  <a:sym typeface="Montserrat"/>
                </a:endParaRPr>
              </a:p>
            </p:txBody>
          </p:sp>
          <p:sp>
            <p:nvSpPr>
              <p:cNvPr id="1528" name="Google Shape;1528;p50"/>
              <p:cNvSpPr/>
              <p:nvPr/>
            </p:nvSpPr>
            <p:spPr>
              <a:xfrm>
                <a:off x="3569730" y="3214222"/>
                <a:ext cx="203323" cy="180597"/>
              </a:xfrm>
              <a:custGeom>
                <a:avLst/>
                <a:gdLst/>
                <a:ahLst/>
                <a:cxnLst/>
                <a:rect l="l" t="t" r="r" b="b"/>
                <a:pathLst>
                  <a:path w="6674" h="5928" extrusionOk="0">
                    <a:moveTo>
                      <a:pt x="2443" y="0"/>
                    </a:moveTo>
                    <a:lnTo>
                      <a:pt x="2275" y="37"/>
                    </a:lnTo>
                    <a:lnTo>
                      <a:pt x="2126" y="93"/>
                    </a:lnTo>
                    <a:lnTo>
                      <a:pt x="1995" y="187"/>
                    </a:lnTo>
                    <a:lnTo>
                      <a:pt x="1846" y="336"/>
                    </a:lnTo>
                    <a:lnTo>
                      <a:pt x="1753" y="503"/>
                    </a:lnTo>
                    <a:lnTo>
                      <a:pt x="1697" y="690"/>
                    </a:lnTo>
                    <a:lnTo>
                      <a:pt x="1660" y="876"/>
                    </a:lnTo>
                    <a:lnTo>
                      <a:pt x="1678" y="1063"/>
                    </a:lnTo>
                    <a:lnTo>
                      <a:pt x="1716" y="1249"/>
                    </a:lnTo>
                    <a:lnTo>
                      <a:pt x="1809" y="1417"/>
                    </a:lnTo>
                    <a:lnTo>
                      <a:pt x="1921" y="1566"/>
                    </a:lnTo>
                    <a:lnTo>
                      <a:pt x="3188" y="2889"/>
                    </a:lnTo>
                    <a:lnTo>
                      <a:pt x="3263" y="2945"/>
                    </a:lnTo>
                    <a:lnTo>
                      <a:pt x="3337" y="2964"/>
                    </a:lnTo>
                    <a:lnTo>
                      <a:pt x="3412" y="2945"/>
                    </a:lnTo>
                    <a:lnTo>
                      <a:pt x="3487" y="2889"/>
                    </a:lnTo>
                    <a:lnTo>
                      <a:pt x="4754" y="1566"/>
                    </a:lnTo>
                    <a:lnTo>
                      <a:pt x="4866" y="1417"/>
                    </a:lnTo>
                    <a:lnTo>
                      <a:pt x="4940" y="1249"/>
                    </a:lnTo>
                    <a:lnTo>
                      <a:pt x="4996" y="1063"/>
                    </a:lnTo>
                    <a:lnTo>
                      <a:pt x="5015" y="876"/>
                    </a:lnTo>
                    <a:lnTo>
                      <a:pt x="4978" y="690"/>
                    </a:lnTo>
                    <a:lnTo>
                      <a:pt x="4922" y="503"/>
                    </a:lnTo>
                    <a:lnTo>
                      <a:pt x="4810" y="336"/>
                    </a:lnTo>
                    <a:lnTo>
                      <a:pt x="4679" y="187"/>
                    </a:lnTo>
                    <a:lnTo>
                      <a:pt x="4549" y="93"/>
                    </a:lnTo>
                    <a:lnTo>
                      <a:pt x="4381" y="37"/>
                    </a:lnTo>
                    <a:lnTo>
                      <a:pt x="4232" y="0"/>
                    </a:lnTo>
                    <a:lnTo>
                      <a:pt x="4064" y="0"/>
                    </a:lnTo>
                    <a:lnTo>
                      <a:pt x="3897" y="19"/>
                    </a:lnTo>
                    <a:lnTo>
                      <a:pt x="3747" y="75"/>
                    </a:lnTo>
                    <a:lnTo>
                      <a:pt x="3598" y="168"/>
                    </a:lnTo>
                    <a:lnTo>
                      <a:pt x="3468" y="280"/>
                    </a:lnTo>
                    <a:lnTo>
                      <a:pt x="3337" y="429"/>
                    </a:lnTo>
                    <a:lnTo>
                      <a:pt x="3207" y="280"/>
                    </a:lnTo>
                    <a:lnTo>
                      <a:pt x="3076" y="168"/>
                    </a:lnTo>
                    <a:lnTo>
                      <a:pt x="2927" y="75"/>
                    </a:lnTo>
                    <a:lnTo>
                      <a:pt x="2778" y="19"/>
                    </a:lnTo>
                    <a:lnTo>
                      <a:pt x="2610" y="0"/>
                    </a:lnTo>
                    <a:close/>
                    <a:moveTo>
                      <a:pt x="2219" y="3691"/>
                    </a:moveTo>
                    <a:lnTo>
                      <a:pt x="1995" y="3728"/>
                    </a:lnTo>
                    <a:lnTo>
                      <a:pt x="1772" y="3784"/>
                    </a:lnTo>
                    <a:lnTo>
                      <a:pt x="1548" y="3877"/>
                    </a:lnTo>
                    <a:lnTo>
                      <a:pt x="1362" y="4008"/>
                    </a:lnTo>
                    <a:lnTo>
                      <a:pt x="821" y="4436"/>
                    </a:lnTo>
                    <a:lnTo>
                      <a:pt x="187" y="4436"/>
                    </a:lnTo>
                    <a:lnTo>
                      <a:pt x="113" y="4455"/>
                    </a:lnTo>
                    <a:lnTo>
                      <a:pt x="57" y="4492"/>
                    </a:lnTo>
                    <a:lnTo>
                      <a:pt x="1" y="4548"/>
                    </a:lnTo>
                    <a:lnTo>
                      <a:pt x="1" y="4623"/>
                    </a:lnTo>
                    <a:lnTo>
                      <a:pt x="1" y="5741"/>
                    </a:lnTo>
                    <a:lnTo>
                      <a:pt x="1" y="5816"/>
                    </a:lnTo>
                    <a:lnTo>
                      <a:pt x="57" y="5872"/>
                    </a:lnTo>
                    <a:lnTo>
                      <a:pt x="113" y="5909"/>
                    </a:lnTo>
                    <a:lnTo>
                      <a:pt x="187" y="5928"/>
                    </a:lnTo>
                    <a:lnTo>
                      <a:pt x="4325" y="5928"/>
                    </a:lnTo>
                    <a:lnTo>
                      <a:pt x="4437" y="5909"/>
                    </a:lnTo>
                    <a:lnTo>
                      <a:pt x="4568" y="5890"/>
                    </a:lnTo>
                    <a:lnTo>
                      <a:pt x="4679" y="5834"/>
                    </a:lnTo>
                    <a:lnTo>
                      <a:pt x="4791" y="5760"/>
                    </a:lnTo>
                    <a:lnTo>
                      <a:pt x="6543" y="4362"/>
                    </a:lnTo>
                    <a:lnTo>
                      <a:pt x="6599" y="4306"/>
                    </a:lnTo>
                    <a:lnTo>
                      <a:pt x="6637" y="4231"/>
                    </a:lnTo>
                    <a:lnTo>
                      <a:pt x="6674" y="4157"/>
                    </a:lnTo>
                    <a:lnTo>
                      <a:pt x="6674" y="4082"/>
                    </a:lnTo>
                    <a:lnTo>
                      <a:pt x="6674" y="4008"/>
                    </a:lnTo>
                    <a:lnTo>
                      <a:pt x="6655" y="3933"/>
                    </a:lnTo>
                    <a:lnTo>
                      <a:pt x="6618" y="3859"/>
                    </a:lnTo>
                    <a:lnTo>
                      <a:pt x="6543" y="3784"/>
                    </a:lnTo>
                    <a:lnTo>
                      <a:pt x="6506" y="3747"/>
                    </a:lnTo>
                    <a:lnTo>
                      <a:pt x="6432" y="3728"/>
                    </a:lnTo>
                    <a:lnTo>
                      <a:pt x="6376" y="3709"/>
                    </a:lnTo>
                    <a:lnTo>
                      <a:pt x="6301" y="3709"/>
                    </a:lnTo>
                    <a:lnTo>
                      <a:pt x="6171" y="3728"/>
                    </a:lnTo>
                    <a:lnTo>
                      <a:pt x="6115" y="3747"/>
                    </a:lnTo>
                    <a:lnTo>
                      <a:pt x="6059" y="3784"/>
                    </a:lnTo>
                    <a:lnTo>
                      <a:pt x="4978" y="4641"/>
                    </a:lnTo>
                    <a:lnTo>
                      <a:pt x="4885" y="4716"/>
                    </a:lnTo>
                    <a:lnTo>
                      <a:pt x="4773" y="4772"/>
                    </a:lnTo>
                    <a:lnTo>
                      <a:pt x="4642" y="4809"/>
                    </a:lnTo>
                    <a:lnTo>
                      <a:pt x="3095" y="4809"/>
                    </a:lnTo>
                    <a:lnTo>
                      <a:pt x="3039" y="4772"/>
                    </a:lnTo>
                    <a:lnTo>
                      <a:pt x="2983" y="4716"/>
                    </a:lnTo>
                    <a:lnTo>
                      <a:pt x="2965" y="4660"/>
                    </a:lnTo>
                    <a:lnTo>
                      <a:pt x="2965" y="4586"/>
                    </a:lnTo>
                    <a:lnTo>
                      <a:pt x="3002" y="4511"/>
                    </a:lnTo>
                    <a:lnTo>
                      <a:pt x="3076" y="4455"/>
                    </a:lnTo>
                    <a:lnTo>
                      <a:pt x="3151" y="4436"/>
                    </a:lnTo>
                    <a:lnTo>
                      <a:pt x="4120" y="4436"/>
                    </a:lnTo>
                    <a:lnTo>
                      <a:pt x="4195" y="4418"/>
                    </a:lnTo>
                    <a:lnTo>
                      <a:pt x="4307" y="4362"/>
                    </a:lnTo>
                    <a:lnTo>
                      <a:pt x="4363" y="4306"/>
                    </a:lnTo>
                    <a:lnTo>
                      <a:pt x="4400" y="4250"/>
                    </a:lnTo>
                    <a:lnTo>
                      <a:pt x="4419" y="4194"/>
                    </a:lnTo>
                    <a:lnTo>
                      <a:pt x="4437" y="4138"/>
                    </a:lnTo>
                    <a:lnTo>
                      <a:pt x="4456" y="4045"/>
                    </a:lnTo>
                    <a:lnTo>
                      <a:pt x="4437" y="3970"/>
                    </a:lnTo>
                    <a:lnTo>
                      <a:pt x="4400" y="3896"/>
                    </a:lnTo>
                    <a:lnTo>
                      <a:pt x="4363" y="3821"/>
                    </a:lnTo>
                    <a:lnTo>
                      <a:pt x="4307" y="3784"/>
                    </a:lnTo>
                    <a:lnTo>
                      <a:pt x="4232" y="3728"/>
                    </a:lnTo>
                    <a:lnTo>
                      <a:pt x="4158" y="3709"/>
                    </a:lnTo>
                    <a:lnTo>
                      <a:pt x="4083" y="36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529" name="Google Shape;1529;p50"/>
            <p:cNvGrpSpPr/>
            <p:nvPr/>
          </p:nvGrpSpPr>
          <p:grpSpPr>
            <a:xfrm>
              <a:off x="6868076" y="3213932"/>
              <a:ext cx="1695900" cy="892418"/>
              <a:chOff x="6868076" y="3213932"/>
              <a:chExt cx="1695900" cy="892418"/>
            </a:xfrm>
          </p:grpSpPr>
          <p:sp>
            <p:nvSpPr>
              <p:cNvPr id="1530" name="Google Shape;1530;p50"/>
              <p:cNvSpPr txBox="1"/>
              <p:nvPr/>
            </p:nvSpPr>
            <p:spPr>
              <a:xfrm>
                <a:off x="6868076"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Blow your audience away with attractive visuals</a:t>
                </a:r>
                <a:endParaRPr sz="1200">
                  <a:solidFill>
                    <a:srgbClr val="434343"/>
                  </a:solidFill>
                  <a:latin typeface="Montserrat"/>
                  <a:ea typeface="Montserrat"/>
                  <a:cs typeface="Montserrat"/>
                  <a:sym typeface="Montserrat"/>
                </a:endParaRPr>
              </a:p>
            </p:txBody>
          </p:sp>
          <p:sp>
            <p:nvSpPr>
              <p:cNvPr id="1531" name="Google Shape;1531;p50"/>
              <p:cNvSpPr/>
              <p:nvPr/>
            </p:nvSpPr>
            <p:spPr>
              <a:xfrm>
                <a:off x="7625712" y="3213932"/>
                <a:ext cx="180627" cy="181175"/>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532" name="Google Shape;1532;p50"/>
            <p:cNvGrpSpPr/>
            <p:nvPr/>
          </p:nvGrpSpPr>
          <p:grpSpPr>
            <a:xfrm>
              <a:off x="801125" y="3214206"/>
              <a:ext cx="1695900" cy="892144"/>
              <a:chOff x="801125" y="3214206"/>
              <a:chExt cx="1695900" cy="892144"/>
            </a:xfrm>
          </p:grpSpPr>
          <p:sp>
            <p:nvSpPr>
              <p:cNvPr id="1533" name="Google Shape;1533;p50"/>
              <p:cNvSpPr txBox="1"/>
              <p:nvPr/>
            </p:nvSpPr>
            <p:spPr>
              <a:xfrm>
                <a:off x="801125"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For PowerPoint and Google Slides</a:t>
                </a:r>
                <a:endParaRPr sz="1200">
                  <a:solidFill>
                    <a:srgbClr val="434343"/>
                  </a:solidFill>
                  <a:latin typeface="Montserrat"/>
                  <a:ea typeface="Montserrat"/>
                  <a:cs typeface="Montserrat"/>
                  <a:sym typeface="Montserrat"/>
                </a:endParaRPr>
              </a:p>
            </p:txBody>
          </p:sp>
          <p:sp>
            <p:nvSpPr>
              <p:cNvPr id="1534" name="Google Shape;1534;p50"/>
              <p:cNvSpPr/>
              <p:nvPr/>
            </p:nvSpPr>
            <p:spPr>
              <a:xfrm>
                <a:off x="1535764" y="3214206"/>
                <a:ext cx="226629" cy="180627"/>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spTree>
  </p:cSld>
  <p:clrMapOvr>
    <a:masterClrMapping/>
  </p:clrMapOvr>
</p:sld>
</file>

<file path=ppt/theme/theme1.xml><?xml version="1.0" encoding="utf-8"?>
<a:theme xmlns:a="http://schemas.openxmlformats.org/drawingml/2006/main" name="Balthasar template">
  <a:themeElements>
    <a:clrScheme name="Custom 347">
      <a:dk1>
        <a:srgbClr val="EFEFEF"/>
      </a:dk1>
      <a:lt1>
        <a:srgbClr val="004046"/>
      </a:lt1>
      <a:dk2>
        <a:srgbClr val="6AA84F"/>
      </a:dk2>
      <a:lt2>
        <a:srgbClr val="007074"/>
      </a:lt2>
      <a:accent1>
        <a:srgbClr val="00BFC9"/>
      </a:accent1>
      <a:accent2>
        <a:srgbClr val="00FFFF"/>
      </a:accent2>
      <a:accent3>
        <a:srgbClr val="DDFFFF"/>
      </a:accent3>
      <a:accent4>
        <a:srgbClr val="B6D7A8"/>
      </a:accent4>
      <a:accent5>
        <a:srgbClr val="D9D9D9"/>
      </a:accent5>
      <a:accent6>
        <a:srgbClr val="004046"/>
      </a:accent6>
      <a:hlink>
        <a:srgbClr val="00BFC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1649</TotalTime>
  <Words>978</Words>
  <Application>Microsoft Office PowerPoint</Application>
  <PresentationFormat>On-screen Show (16:9)</PresentationFormat>
  <Paragraphs>75</Paragraphs>
  <Slides>16</Slides>
  <Notes>2</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8" baseType="lpstr">
      <vt:lpstr>Abril Fatface</vt:lpstr>
      <vt:lpstr>Euclid Fraktur</vt:lpstr>
      <vt:lpstr>Arial</vt:lpstr>
      <vt:lpstr>Montserrat</vt:lpstr>
      <vt:lpstr>PT Serif</vt:lpstr>
      <vt:lpstr>Times New Roman</vt:lpstr>
      <vt:lpstr>Bahnschrift Light Condensed</vt:lpstr>
      <vt:lpstr>Calibri</vt:lpstr>
      <vt:lpstr>Wingdings</vt:lpstr>
      <vt:lpstr>Balthasar template</vt:lpstr>
      <vt:lpstr>Office Theme</vt:lpstr>
      <vt:lpstr>Equation</vt:lpstr>
      <vt:lpstr>CHƯƠNG 5: (TT) HÀM DELAY_MSX VÀ GIAO TIẾP SWITCH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5: GIAO TIẾP LED ĐƠN, LED 7 ĐOẠN, NÚT NHẤN, LCD.</dc:title>
  <cp:lastModifiedBy>Pinkcalendar@outlook.com.vn</cp:lastModifiedBy>
  <cp:revision>120</cp:revision>
  <dcterms:modified xsi:type="dcterms:W3CDTF">2026-04-27T09:07:11Z</dcterms:modified>
</cp:coreProperties>
</file>