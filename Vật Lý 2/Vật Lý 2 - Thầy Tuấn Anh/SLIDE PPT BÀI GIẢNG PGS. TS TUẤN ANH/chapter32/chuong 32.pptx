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7" r:id="rId3"/>
    <p:sldId id="318" r:id="rId4"/>
    <p:sldId id="319" r:id="rId5"/>
    <p:sldId id="320" r:id="rId6"/>
    <p:sldId id="257" r:id="rId7"/>
    <p:sldId id="258" r:id="rId8"/>
    <p:sldId id="290" r:id="rId9"/>
    <p:sldId id="259" r:id="rId10"/>
    <p:sldId id="299" r:id="rId11"/>
    <p:sldId id="260" r:id="rId12"/>
    <p:sldId id="261" r:id="rId13"/>
    <p:sldId id="297" r:id="rId14"/>
    <p:sldId id="298" r:id="rId15"/>
    <p:sldId id="311" r:id="rId16"/>
    <p:sldId id="312" r:id="rId17"/>
    <p:sldId id="262" r:id="rId18"/>
    <p:sldId id="263" r:id="rId19"/>
    <p:sldId id="292" r:id="rId20"/>
    <p:sldId id="293" r:id="rId21"/>
    <p:sldId id="294" r:id="rId22"/>
    <p:sldId id="267" r:id="rId23"/>
    <p:sldId id="268" r:id="rId24"/>
    <p:sldId id="295" r:id="rId25"/>
    <p:sldId id="313" r:id="rId26"/>
    <p:sldId id="314" r:id="rId27"/>
    <p:sldId id="272" r:id="rId28"/>
    <p:sldId id="273" r:id="rId29"/>
    <p:sldId id="274" r:id="rId30"/>
    <p:sldId id="300" r:id="rId31"/>
    <p:sldId id="275" r:id="rId32"/>
    <p:sldId id="302" r:id="rId33"/>
    <p:sldId id="276" r:id="rId34"/>
    <p:sldId id="277" r:id="rId35"/>
    <p:sldId id="279" r:id="rId36"/>
    <p:sldId id="303" r:id="rId37"/>
    <p:sldId id="315" r:id="rId38"/>
    <p:sldId id="316" r:id="rId39"/>
    <p:sldId id="280" r:id="rId40"/>
    <p:sldId id="304" r:id="rId41"/>
    <p:sldId id="309" r:id="rId42"/>
    <p:sldId id="281" r:id="rId43"/>
    <p:sldId id="310" r:id="rId44"/>
    <p:sldId id="305" r:id="rId45"/>
    <p:sldId id="306" r:id="rId46"/>
    <p:sldId id="307" r:id="rId47"/>
    <p:sldId id="308" r:id="rId48"/>
    <p:sldId id="283" r:id="rId49"/>
    <p:sldId id="284" r:id="rId50"/>
    <p:sldId id="286" r:id="rId51"/>
    <p:sldId id="28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5" autoAdjust="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7.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7.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608C70D-1E60-4D5A-AEBD-A14EE6E4422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1FF76B7-8E14-4CA5-83B6-4DD16F423106}">
      <dgm:prSet/>
      <dgm:spPr/>
      <dgm:t>
        <a:bodyPr/>
        <a:lstStyle/>
        <a:p>
          <a:r>
            <a:rPr lang="en-US" dirty="0"/>
            <a:t>(a) Tăng </a:t>
          </a:r>
          <a:r>
            <a:rPr lang="en-US" dirty="0" err="1"/>
            <a:t>số</a:t>
          </a:r>
          <a:r>
            <a:rPr lang="en-US" dirty="0"/>
            <a:t> </a:t>
          </a:r>
          <a:r>
            <a:rPr lang="en-US" dirty="0" err="1"/>
            <a:t>vòng</a:t>
          </a:r>
          <a:r>
            <a:rPr lang="en-US" dirty="0"/>
            <a:t> </a:t>
          </a:r>
          <a:r>
            <a:rPr lang="en-US" dirty="0" err="1"/>
            <a:t>trên</a:t>
          </a:r>
          <a:r>
            <a:rPr lang="en-US" dirty="0"/>
            <a:t> </a:t>
          </a:r>
          <a:r>
            <a:rPr lang="en-US" dirty="0" err="1"/>
            <a:t>một</a:t>
          </a:r>
          <a:r>
            <a:rPr lang="en-US" dirty="0"/>
            <a:t> </a:t>
          </a:r>
          <a:r>
            <a:rPr lang="en-US" dirty="0" err="1"/>
            <a:t>đơn</a:t>
          </a:r>
          <a:r>
            <a:rPr lang="en-US" dirty="0"/>
            <a:t> </a:t>
          </a:r>
          <a:r>
            <a:rPr lang="en-US" dirty="0" err="1"/>
            <a:t>vị</a:t>
          </a:r>
          <a:r>
            <a:rPr lang="en-US" dirty="0"/>
            <a:t> độ </a:t>
          </a:r>
          <a:r>
            <a:rPr lang="en-US" dirty="0" err="1"/>
            <a:t>dài</a:t>
          </a:r>
          <a:r>
            <a:rPr lang="en-US" dirty="0"/>
            <a:t> </a:t>
          </a:r>
          <a:r>
            <a:rPr lang="en-US" dirty="0" err="1"/>
            <a:t>của</a:t>
          </a:r>
          <a:r>
            <a:rPr lang="en-US" dirty="0"/>
            <a:t> solenoid</a:t>
          </a:r>
        </a:p>
      </dgm:t>
    </dgm:pt>
    <dgm:pt modelId="{A5DDBE3C-725D-4331-8C70-32D168EE9340}" type="parTrans" cxnId="{4B91C815-573D-4CED-842A-8A81CFD74BAF}">
      <dgm:prSet/>
      <dgm:spPr/>
      <dgm:t>
        <a:bodyPr/>
        <a:lstStyle/>
        <a:p>
          <a:endParaRPr lang="en-US"/>
        </a:p>
      </dgm:t>
    </dgm:pt>
    <dgm:pt modelId="{26BEE566-6F08-4242-BCC3-68648E820155}" type="sibTrans" cxnId="{4B91C815-573D-4CED-842A-8A81CFD74BAF}">
      <dgm:prSet/>
      <dgm:spPr/>
      <dgm:t>
        <a:bodyPr/>
        <a:lstStyle/>
        <a:p>
          <a:endParaRPr lang="en-US"/>
        </a:p>
      </dgm:t>
    </dgm:pt>
    <dgm:pt modelId="{817609B9-EE77-40D8-AC95-8D45B208769A}">
      <dgm:prSet/>
      <dgm:spPr/>
      <dgm:t>
        <a:bodyPr/>
        <a:lstStyle/>
        <a:p>
          <a:r>
            <a:rPr lang="en-US"/>
            <a:t>(b) tăng tiết diện của solenoid </a:t>
          </a:r>
        </a:p>
      </dgm:t>
    </dgm:pt>
    <dgm:pt modelId="{E35610DA-DD12-40EE-BD66-46CC7F63D59F}" type="parTrans" cxnId="{918DEACD-090E-484E-9BAD-3030FD08FB72}">
      <dgm:prSet/>
      <dgm:spPr/>
      <dgm:t>
        <a:bodyPr/>
        <a:lstStyle/>
        <a:p>
          <a:endParaRPr lang="en-US"/>
        </a:p>
      </dgm:t>
    </dgm:pt>
    <dgm:pt modelId="{2B4934C7-108B-4B27-9157-5C11AC0BE063}" type="sibTrans" cxnId="{918DEACD-090E-484E-9BAD-3030FD08FB72}">
      <dgm:prSet/>
      <dgm:spPr/>
      <dgm:t>
        <a:bodyPr/>
        <a:lstStyle/>
        <a:p>
          <a:endParaRPr lang="en-US"/>
        </a:p>
      </dgm:t>
    </dgm:pt>
    <dgm:pt modelId="{D106D57C-0255-4844-B36E-79F3FF7CE5A2}">
      <dgm:prSet/>
      <dgm:spPr/>
      <dgm:t>
        <a:bodyPr/>
        <a:lstStyle/>
        <a:p>
          <a:r>
            <a:rPr lang="en-US" dirty="0"/>
            <a:t>(c) </a:t>
          </a:r>
          <a:r>
            <a:rPr lang="en-US" dirty="0" err="1"/>
            <a:t>tăng</a:t>
          </a:r>
          <a:r>
            <a:rPr lang="en-US" dirty="0"/>
            <a:t> </a:t>
          </a:r>
          <a:r>
            <a:rPr lang="en-US" dirty="0" err="1"/>
            <a:t>chiều</a:t>
          </a:r>
          <a:r>
            <a:rPr lang="en-US" dirty="0"/>
            <a:t> </a:t>
          </a:r>
          <a:r>
            <a:rPr lang="en-US" dirty="0" err="1"/>
            <a:t>dài</a:t>
          </a:r>
          <a:r>
            <a:rPr lang="en-US" dirty="0"/>
            <a:t> </a:t>
          </a:r>
          <a:r>
            <a:rPr lang="en-US" dirty="0" err="1"/>
            <a:t>của</a:t>
          </a:r>
          <a:r>
            <a:rPr lang="en-US" dirty="0"/>
            <a:t> solenoid </a:t>
          </a:r>
          <a:r>
            <a:rPr lang="en-US" dirty="0" err="1"/>
            <a:t>trong</a:t>
          </a:r>
          <a:r>
            <a:rPr lang="en-US" dirty="0"/>
            <a:t> </a:t>
          </a:r>
          <a:r>
            <a:rPr lang="en-US" dirty="0" err="1"/>
            <a:t>khi</a:t>
          </a:r>
          <a:r>
            <a:rPr lang="en-US" dirty="0"/>
            <a:t> </a:t>
          </a:r>
          <a:r>
            <a:rPr lang="en-US" dirty="0" err="1"/>
            <a:t>giữ</a:t>
          </a:r>
          <a:r>
            <a:rPr lang="en-US" dirty="0"/>
            <a:t> </a:t>
          </a:r>
          <a:r>
            <a:rPr lang="en-US" dirty="0" err="1"/>
            <a:t>cố</a:t>
          </a:r>
          <a:r>
            <a:rPr lang="en-US" dirty="0"/>
            <a:t> </a:t>
          </a:r>
          <a:r>
            <a:rPr lang="en-US" dirty="0" err="1"/>
            <a:t>định</a:t>
          </a:r>
          <a:r>
            <a:rPr lang="en-US" dirty="0"/>
            <a:t> </a:t>
          </a:r>
          <a:r>
            <a:rPr lang="en-US" dirty="0" err="1"/>
            <a:t>số</a:t>
          </a:r>
          <a:r>
            <a:rPr lang="en-US" dirty="0"/>
            <a:t> </a:t>
          </a:r>
          <a:r>
            <a:rPr lang="en-US" dirty="0" err="1"/>
            <a:t>vòng</a:t>
          </a:r>
          <a:r>
            <a:rPr lang="en-US" dirty="0"/>
            <a:t> </a:t>
          </a:r>
          <a:r>
            <a:rPr lang="en-US" dirty="0" err="1"/>
            <a:t>dây</a:t>
          </a:r>
          <a:r>
            <a:rPr lang="en-US" dirty="0"/>
            <a:t> </a:t>
          </a:r>
          <a:r>
            <a:rPr lang="en-US" dirty="0" err="1"/>
            <a:t>trên</a:t>
          </a:r>
          <a:r>
            <a:rPr lang="en-US" dirty="0"/>
            <a:t> </a:t>
          </a:r>
          <a:r>
            <a:rPr lang="en-US" dirty="0" err="1"/>
            <a:t>một</a:t>
          </a:r>
          <a:r>
            <a:rPr lang="en-US" dirty="0"/>
            <a:t> </a:t>
          </a:r>
          <a:r>
            <a:rPr lang="en-US" dirty="0" err="1"/>
            <a:t>đơn</a:t>
          </a:r>
          <a:r>
            <a:rPr lang="en-US" dirty="0"/>
            <a:t> </a:t>
          </a:r>
          <a:r>
            <a:rPr lang="en-US" dirty="0" err="1"/>
            <a:t>vị</a:t>
          </a:r>
          <a:r>
            <a:rPr lang="en-US" dirty="0"/>
            <a:t> </a:t>
          </a:r>
          <a:r>
            <a:rPr lang="en-US" dirty="0" err="1"/>
            <a:t>dài</a:t>
          </a:r>
          <a:r>
            <a:rPr lang="en-US" dirty="0"/>
            <a:t> </a:t>
          </a:r>
        </a:p>
      </dgm:t>
    </dgm:pt>
    <dgm:pt modelId="{183B3654-AB61-4759-9928-2E7C94AA5447}" type="parTrans" cxnId="{0911DA74-4352-4A49-BE7C-6C5BA171BFCD}">
      <dgm:prSet/>
      <dgm:spPr/>
      <dgm:t>
        <a:bodyPr/>
        <a:lstStyle/>
        <a:p>
          <a:endParaRPr lang="en-US"/>
        </a:p>
      </dgm:t>
    </dgm:pt>
    <dgm:pt modelId="{05F906B9-C622-47BC-B380-2B772CA0B0EF}" type="sibTrans" cxnId="{0911DA74-4352-4A49-BE7C-6C5BA171BFCD}">
      <dgm:prSet/>
      <dgm:spPr/>
      <dgm:t>
        <a:bodyPr/>
        <a:lstStyle/>
        <a:p>
          <a:endParaRPr lang="en-US"/>
        </a:p>
      </dgm:t>
    </dgm:pt>
    <dgm:pt modelId="{A31FF3D8-0FE9-4E71-B8F7-E8A7CB73ED79}">
      <dgm:prSet/>
      <dgm:spPr/>
      <dgm:t>
        <a:bodyPr/>
        <a:lstStyle/>
        <a:p>
          <a:r>
            <a:rPr lang="en-US" dirty="0"/>
            <a:t>(d) </a:t>
          </a:r>
          <a:r>
            <a:rPr lang="en-US" dirty="0" err="1"/>
            <a:t>tăng</a:t>
          </a:r>
          <a:r>
            <a:rPr lang="en-US" dirty="0"/>
            <a:t> </a:t>
          </a:r>
          <a:r>
            <a:rPr lang="en-US" dirty="0" err="1"/>
            <a:t>dòng</a:t>
          </a:r>
          <a:r>
            <a:rPr lang="en-US" dirty="0"/>
            <a:t> </a:t>
          </a:r>
          <a:r>
            <a:rPr lang="en-US" dirty="0" err="1"/>
            <a:t>điện</a:t>
          </a:r>
          <a:r>
            <a:rPr lang="en-US" dirty="0"/>
            <a:t> </a:t>
          </a:r>
          <a:r>
            <a:rPr lang="en-US" dirty="0" err="1"/>
            <a:t>chạy</a:t>
          </a:r>
          <a:r>
            <a:rPr lang="en-US" dirty="0"/>
            <a:t> qua solenoid.</a:t>
          </a:r>
        </a:p>
      </dgm:t>
    </dgm:pt>
    <dgm:pt modelId="{B4B346F2-0860-43C5-9937-50F5EDD874E5}" type="parTrans" cxnId="{E439F643-AA75-46E2-979E-2B204FD2BE7B}">
      <dgm:prSet/>
      <dgm:spPr/>
      <dgm:t>
        <a:bodyPr/>
        <a:lstStyle/>
        <a:p>
          <a:endParaRPr lang="en-US"/>
        </a:p>
      </dgm:t>
    </dgm:pt>
    <dgm:pt modelId="{97347F24-1431-41F7-A706-E7945103E382}" type="sibTrans" cxnId="{E439F643-AA75-46E2-979E-2B204FD2BE7B}">
      <dgm:prSet/>
      <dgm:spPr/>
      <dgm:t>
        <a:bodyPr/>
        <a:lstStyle/>
        <a:p>
          <a:endParaRPr lang="en-US"/>
        </a:p>
      </dgm:t>
    </dgm:pt>
    <dgm:pt modelId="{31BC0D63-70A8-4739-BF5A-F8FB53A12043}" type="pres">
      <dgm:prSet presAssocID="{B608C70D-1E60-4D5A-AEBD-A14EE6E4422F}" presName="root" presStyleCnt="0">
        <dgm:presLayoutVars>
          <dgm:dir/>
          <dgm:resizeHandles val="exact"/>
        </dgm:presLayoutVars>
      </dgm:prSet>
      <dgm:spPr/>
      <dgm:t>
        <a:bodyPr/>
        <a:lstStyle/>
        <a:p>
          <a:endParaRPr lang="en-US"/>
        </a:p>
      </dgm:t>
    </dgm:pt>
    <dgm:pt modelId="{82F6636F-2219-4DF5-82A6-238ECBC19F39}" type="pres">
      <dgm:prSet presAssocID="{71FF76B7-8E14-4CA5-83B6-4DD16F423106}" presName="compNode" presStyleCnt="0"/>
      <dgm:spPr/>
    </dgm:pt>
    <dgm:pt modelId="{900F30B7-2400-4D48-B7B2-4A94E2339156}" type="pres">
      <dgm:prSet presAssocID="{71FF76B7-8E14-4CA5-83B6-4DD16F423106}" presName="bgRect" presStyleLbl="bgShp" presStyleIdx="0" presStyleCnt="4"/>
      <dgm:spPr/>
    </dgm:pt>
    <dgm:pt modelId="{AB99B06D-B105-462E-BFA9-31B7115814E3}" type="pres">
      <dgm:prSet presAssocID="{71FF76B7-8E14-4CA5-83B6-4DD16F423106}"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Checkmark"/>
        </a:ext>
      </dgm:extLst>
    </dgm:pt>
    <dgm:pt modelId="{7DB46E83-92CC-4170-963A-CDA34EB09F34}" type="pres">
      <dgm:prSet presAssocID="{71FF76B7-8E14-4CA5-83B6-4DD16F423106}" presName="spaceRect" presStyleCnt="0"/>
      <dgm:spPr/>
    </dgm:pt>
    <dgm:pt modelId="{A9EAC71A-EA53-40CB-A7C3-EF3F4A879AF9}" type="pres">
      <dgm:prSet presAssocID="{71FF76B7-8E14-4CA5-83B6-4DD16F423106}" presName="parTx" presStyleLbl="revTx" presStyleIdx="0" presStyleCnt="4">
        <dgm:presLayoutVars>
          <dgm:chMax val="0"/>
          <dgm:chPref val="0"/>
        </dgm:presLayoutVars>
      </dgm:prSet>
      <dgm:spPr/>
      <dgm:t>
        <a:bodyPr/>
        <a:lstStyle/>
        <a:p>
          <a:endParaRPr lang="en-US"/>
        </a:p>
      </dgm:t>
    </dgm:pt>
    <dgm:pt modelId="{46C3A76A-2F4D-41DA-B358-508760D1912F}" type="pres">
      <dgm:prSet presAssocID="{26BEE566-6F08-4242-BCC3-68648E820155}" presName="sibTrans" presStyleCnt="0"/>
      <dgm:spPr/>
    </dgm:pt>
    <dgm:pt modelId="{AF44D422-16D8-474A-B3D5-A0F99A27DF9A}" type="pres">
      <dgm:prSet presAssocID="{817609B9-EE77-40D8-AC95-8D45B208769A}" presName="compNode" presStyleCnt="0"/>
      <dgm:spPr/>
    </dgm:pt>
    <dgm:pt modelId="{AD34E567-8ED6-443C-B5FE-D0633386C47E}" type="pres">
      <dgm:prSet presAssocID="{817609B9-EE77-40D8-AC95-8D45B208769A}" presName="bgRect" presStyleLbl="bgShp" presStyleIdx="1" presStyleCnt="4"/>
      <dgm:spPr/>
    </dgm:pt>
    <dgm:pt modelId="{1218BB78-A894-41B9-81E6-03641E475834}" type="pres">
      <dgm:prSet presAssocID="{817609B9-EE77-40D8-AC95-8D45B208769A}" presName="iconRect" presStyleLbl="node1" presStyleIdx="1" presStyleCnt="4"/>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Atom"/>
        </a:ext>
      </dgm:extLst>
    </dgm:pt>
    <dgm:pt modelId="{96BB74EF-490F-4E3C-82B7-38E6200EBDCF}" type="pres">
      <dgm:prSet presAssocID="{817609B9-EE77-40D8-AC95-8D45B208769A}" presName="spaceRect" presStyleCnt="0"/>
      <dgm:spPr/>
    </dgm:pt>
    <dgm:pt modelId="{B7E508D0-3992-484C-A2A7-0769A716BADC}" type="pres">
      <dgm:prSet presAssocID="{817609B9-EE77-40D8-AC95-8D45B208769A}" presName="parTx" presStyleLbl="revTx" presStyleIdx="1" presStyleCnt="4">
        <dgm:presLayoutVars>
          <dgm:chMax val="0"/>
          <dgm:chPref val="0"/>
        </dgm:presLayoutVars>
      </dgm:prSet>
      <dgm:spPr/>
      <dgm:t>
        <a:bodyPr/>
        <a:lstStyle/>
        <a:p>
          <a:endParaRPr lang="en-US"/>
        </a:p>
      </dgm:t>
    </dgm:pt>
    <dgm:pt modelId="{A326F746-0ADC-46BF-BEAE-76C89353859C}" type="pres">
      <dgm:prSet presAssocID="{2B4934C7-108B-4B27-9157-5C11AC0BE063}" presName="sibTrans" presStyleCnt="0"/>
      <dgm:spPr/>
    </dgm:pt>
    <dgm:pt modelId="{E5C685DE-4933-49BE-926B-8AA4744215B0}" type="pres">
      <dgm:prSet presAssocID="{D106D57C-0255-4844-B36E-79F3FF7CE5A2}" presName="compNode" presStyleCnt="0"/>
      <dgm:spPr/>
    </dgm:pt>
    <dgm:pt modelId="{B3657017-7A93-40A6-8775-0F74B7B69BFC}" type="pres">
      <dgm:prSet presAssocID="{D106D57C-0255-4844-B36E-79F3FF7CE5A2}" presName="bgRect" presStyleLbl="bgShp" presStyleIdx="2" presStyleCnt="4"/>
      <dgm:spPr/>
    </dgm:pt>
    <dgm:pt modelId="{0B723C08-14FF-4FC3-992E-8BEE3F92E67A}" type="pres">
      <dgm:prSet presAssocID="{D106D57C-0255-4844-B36E-79F3FF7CE5A2}" presName="iconRect" presStyleLbl="node1" presStyleIdx="2" presStyleCnt="4"/>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Line Arrow: Straight"/>
        </a:ext>
      </dgm:extLst>
    </dgm:pt>
    <dgm:pt modelId="{19BDA6EA-E268-43CB-8503-DE4706DCA756}" type="pres">
      <dgm:prSet presAssocID="{D106D57C-0255-4844-B36E-79F3FF7CE5A2}" presName="spaceRect" presStyleCnt="0"/>
      <dgm:spPr/>
    </dgm:pt>
    <dgm:pt modelId="{0A2C93E3-89C7-42A7-B0F3-BD598DF22C3E}" type="pres">
      <dgm:prSet presAssocID="{D106D57C-0255-4844-B36E-79F3FF7CE5A2}" presName="parTx" presStyleLbl="revTx" presStyleIdx="2" presStyleCnt="4">
        <dgm:presLayoutVars>
          <dgm:chMax val="0"/>
          <dgm:chPref val="0"/>
        </dgm:presLayoutVars>
      </dgm:prSet>
      <dgm:spPr/>
      <dgm:t>
        <a:bodyPr/>
        <a:lstStyle/>
        <a:p>
          <a:endParaRPr lang="en-US"/>
        </a:p>
      </dgm:t>
    </dgm:pt>
    <dgm:pt modelId="{1F0FE4AE-BFAF-4D39-A048-F1A475AD52F5}" type="pres">
      <dgm:prSet presAssocID="{05F906B9-C622-47BC-B380-2B772CA0B0EF}" presName="sibTrans" presStyleCnt="0"/>
      <dgm:spPr/>
    </dgm:pt>
    <dgm:pt modelId="{3755A0D7-280F-40AE-A18D-769F859234E2}" type="pres">
      <dgm:prSet presAssocID="{A31FF3D8-0FE9-4E71-B8F7-E8A7CB73ED79}" presName="compNode" presStyleCnt="0"/>
      <dgm:spPr/>
    </dgm:pt>
    <dgm:pt modelId="{12F7F91A-B385-47A4-9E15-21C81116AD6D}" type="pres">
      <dgm:prSet presAssocID="{A31FF3D8-0FE9-4E71-B8F7-E8A7CB73ED79}" presName="bgRect" presStyleLbl="bgShp" presStyleIdx="3" presStyleCnt="4"/>
      <dgm:spPr/>
    </dgm:pt>
    <dgm:pt modelId="{874232D3-311F-47EC-BB55-E2C2FF66AE6B}" type="pres">
      <dgm:prSet presAssocID="{A31FF3D8-0FE9-4E71-B8F7-E8A7CB73ED79}" presName="iconRect" presStyleLbl="node1" presStyleIdx="3" presStyleCnt="4"/>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Factory"/>
        </a:ext>
      </dgm:extLst>
    </dgm:pt>
    <dgm:pt modelId="{7C76AA4A-67E5-47E2-9B96-DBCFEECD02E1}" type="pres">
      <dgm:prSet presAssocID="{A31FF3D8-0FE9-4E71-B8F7-E8A7CB73ED79}" presName="spaceRect" presStyleCnt="0"/>
      <dgm:spPr/>
    </dgm:pt>
    <dgm:pt modelId="{48A08797-0E5B-4FC7-B39E-9AD6D061FBCA}" type="pres">
      <dgm:prSet presAssocID="{A31FF3D8-0FE9-4E71-B8F7-E8A7CB73ED79}" presName="parTx" presStyleLbl="revTx" presStyleIdx="3" presStyleCnt="4">
        <dgm:presLayoutVars>
          <dgm:chMax val="0"/>
          <dgm:chPref val="0"/>
        </dgm:presLayoutVars>
      </dgm:prSet>
      <dgm:spPr/>
      <dgm:t>
        <a:bodyPr/>
        <a:lstStyle/>
        <a:p>
          <a:endParaRPr lang="en-US"/>
        </a:p>
      </dgm:t>
    </dgm:pt>
  </dgm:ptLst>
  <dgm:cxnLst>
    <dgm:cxn modelId="{F8EC7BA8-99C9-475E-B817-4272D68C76CE}" type="presOf" srcId="{71FF76B7-8E14-4CA5-83B6-4DD16F423106}" destId="{A9EAC71A-EA53-40CB-A7C3-EF3F4A879AF9}" srcOrd="0" destOrd="0" presId="urn:microsoft.com/office/officeart/2018/2/layout/IconVerticalSolidList"/>
    <dgm:cxn modelId="{E439F643-AA75-46E2-979E-2B204FD2BE7B}" srcId="{B608C70D-1E60-4D5A-AEBD-A14EE6E4422F}" destId="{A31FF3D8-0FE9-4E71-B8F7-E8A7CB73ED79}" srcOrd="3" destOrd="0" parTransId="{B4B346F2-0860-43C5-9937-50F5EDD874E5}" sibTransId="{97347F24-1431-41F7-A706-E7945103E382}"/>
    <dgm:cxn modelId="{918DEACD-090E-484E-9BAD-3030FD08FB72}" srcId="{B608C70D-1E60-4D5A-AEBD-A14EE6E4422F}" destId="{817609B9-EE77-40D8-AC95-8D45B208769A}" srcOrd="1" destOrd="0" parTransId="{E35610DA-DD12-40EE-BD66-46CC7F63D59F}" sibTransId="{2B4934C7-108B-4B27-9157-5C11AC0BE063}"/>
    <dgm:cxn modelId="{0911DA74-4352-4A49-BE7C-6C5BA171BFCD}" srcId="{B608C70D-1E60-4D5A-AEBD-A14EE6E4422F}" destId="{D106D57C-0255-4844-B36E-79F3FF7CE5A2}" srcOrd="2" destOrd="0" parTransId="{183B3654-AB61-4759-9928-2E7C94AA5447}" sibTransId="{05F906B9-C622-47BC-B380-2B772CA0B0EF}"/>
    <dgm:cxn modelId="{79678B53-741B-4733-9D80-E400E53BA3FE}" type="presOf" srcId="{D106D57C-0255-4844-B36E-79F3FF7CE5A2}" destId="{0A2C93E3-89C7-42A7-B0F3-BD598DF22C3E}" srcOrd="0" destOrd="0" presId="urn:microsoft.com/office/officeart/2018/2/layout/IconVerticalSolidList"/>
    <dgm:cxn modelId="{769BE7D3-2E3C-4088-88AE-0ABD871B732A}" type="presOf" srcId="{A31FF3D8-0FE9-4E71-B8F7-E8A7CB73ED79}" destId="{48A08797-0E5B-4FC7-B39E-9AD6D061FBCA}" srcOrd="0" destOrd="0" presId="urn:microsoft.com/office/officeart/2018/2/layout/IconVerticalSolidList"/>
    <dgm:cxn modelId="{4B91C815-573D-4CED-842A-8A81CFD74BAF}" srcId="{B608C70D-1E60-4D5A-AEBD-A14EE6E4422F}" destId="{71FF76B7-8E14-4CA5-83B6-4DD16F423106}" srcOrd="0" destOrd="0" parTransId="{A5DDBE3C-725D-4331-8C70-32D168EE9340}" sibTransId="{26BEE566-6F08-4242-BCC3-68648E820155}"/>
    <dgm:cxn modelId="{6834675D-AF43-4A4F-A663-BD70E256B0BB}" type="presOf" srcId="{B608C70D-1E60-4D5A-AEBD-A14EE6E4422F}" destId="{31BC0D63-70A8-4739-BF5A-F8FB53A12043}" srcOrd="0" destOrd="0" presId="urn:microsoft.com/office/officeart/2018/2/layout/IconVerticalSolidList"/>
    <dgm:cxn modelId="{C07E2CD6-D3B4-43EA-BEF8-21DC35EBCF52}" type="presOf" srcId="{817609B9-EE77-40D8-AC95-8D45B208769A}" destId="{B7E508D0-3992-484C-A2A7-0769A716BADC}" srcOrd="0" destOrd="0" presId="urn:microsoft.com/office/officeart/2018/2/layout/IconVerticalSolidList"/>
    <dgm:cxn modelId="{229E5BC0-1448-41F4-9A3B-A694A536F03A}" type="presParOf" srcId="{31BC0D63-70A8-4739-BF5A-F8FB53A12043}" destId="{82F6636F-2219-4DF5-82A6-238ECBC19F39}" srcOrd="0" destOrd="0" presId="urn:microsoft.com/office/officeart/2018/2/layout/IconVerticalSolidList"/>
    <dgm:cxn modelId="{215E6AC2-B8A3-4958-AE16-04B5A3898D39}" type="presParOf" srcId="{82F6636F-2219-4DF5-82A6-238ECBC19F39}" destId="{900F30B7-2400-4D48-B7B2-4A94E2339156}" srcOrd="0" destOrd="0" presId="urn:microsoft.com/office/officeart/2018/2/layout/IconVerticalSolidList"/>
    <dgm:cxn modelId="{9728DA2B-ACE7-43D5-A529-BAFA7D5F5FC5}" type="presParOf" srcId="{82F6636F-2219-4DF5-82A6-238ECBC19F39}" destId="{AB99B06D-B105-462E-BFA9-31B7115814E3}" srcOrd="1" destOrd="0" presId="urn:microsoft.com/office/officeart/2018/2/layout/IconVerticalSolidList"/>
    <dgm:cxn modelId="{90FBF54E-4011-4CDE-9663-34D354A2A63E}" type="presParOf" srcId="{82F6636F-2219-4DF5-82A6-238ECBC19F39}" destId="{7DB46E83-92CC-4170-963A-CDA34EB09F34}" srcOrd="2" destOrd="0" presId="urn:microsoft.com/office/officeart/2018/2/layout/IconVerticalSolidList"/>
    <dgm:cxn modelId="{F6A92740-65B7-4C8F-B822-6F30854ECE5F}" type="presParOf" srcId="{82F6636F-2219-4DF5-82A6-238ECBC19F39}" destId="{A9EAC71A-EA53-40CB-A7C3-EF3F4A879AF9}" srcOrd="3" destOrd="0" presId="urn:microsoft.com/office/officeart/2018/2/layout/IconVerticalSolidList"/>
    <dgm:cxn modelId="{E9DC6FE7-7FC0-41DD-AD44-4BC26A05B286}" type="presParOf" srcId="{31BC0D63-70A8-4739-BF5A-F8FB53A12043}" destId="{46C3A76A-2F4D-41DA-B358-508760D1912F}" srcOrd="1" destOrd="0" presId="urn:microsoft.com/office/officeart/2018/2/layout/IconVerticalSolidList"/>
    <dgm:cxn modelId="{0C77CD81-01CC-482F-92FE-A66DAD92FB89}" type="presParOf" srcId="{31BC0D63-70A8-4739-BF5A-F8FB53A12043}" destId="{AF44D422-16D8-474A-B3D5-A0F99A27DF9A}" srcOrd="2" destOrd="0" presId="urn:microsoft.com/office/officeart/2018/2/layout/IconVerticalSolidList"/>
    <dgm:cxn modelId="{2CC7BB9F-9FE7-435F-856F-307941E9BC0C}" type="presParOf" srcId="{AF44D422-16D8-474A-B3D5-A0F99A27DF9A}" destId="{AD34E567-8ED6-443C-B5FE-D0633386C47E}" srcOrd="0" destOrd="0" presId="urn:microsoft.com/office/officeart/2018/2/layout/IconVerticalSolidList"/>
    <dgm:cxn modelId="{EC3B7616-9FEB-437F-87B5-C93E2A653897}" type="presParOf" srcId="{AF44D422-16D8-474A-B3D5-A0F99A27DF9A}" destId="{1218BB78-A894-41B9-81E6-03641E475834}" srcOrd="1" destOrd="0" presId="urn:microsoft.com/office/officeart/2018/2/layout/IconVerticalSolidList"/>
    <dgm:cxn modelId="{7D12EA7D-9B7A-4278-8FF8-08E9B672A327}" type="presParOf" srcId="{AF44D422-16D8-474A-B3D5-A0F99A27DF9A}" destId="{96BB74EF-490F-4E3C-82B7-38E6200EBDCF}" srcOrd="2" destOrd="0" presId="urn:microsoft.com/office/officeart/2018/2/layout/IconVerticalSolidList"/>
    <dgm:cxn modelId="{1B8E2C4E-1FC8-4EE5-AC8C-0148A151E064}" type="presParOf" srcId="{AF44D422-16D8-474A-B3D5-A0F99A27DF9A}" destId="{B7E508D0-3992-484C-A2A7-0769A716BADC}" srcOrd="3" destOrd="0" presId="urn:microsoft.com/office/officeart/2018/2/layout/IconVerticalSolidList"/>
    <dgm:cxn modelId="{E4EEC405-B1F4-4D14-824F-22BF1AC03E50}" type="presParOf" srcId="{31BC0D63-70A8-4739-BF5A-F8FB53A12043}" destId="{A326F746-0ADC-46BF-BEAE-76C89353859C}" srcOrd="3" destOrd="0" presId="urn:microsoft.com/office/officeart/2018/2/layout/IconVerticalSolidList"/>
    <dgm:cxn modelId="{990594EC-8C5D-41E4-97D2-D5A7D3533A40}" type="presParOf" srcId="{31BC0D63-70A8-4739-BF5A-F8FB53A12043}" destId="{E5C685DE-4933-49BE-926B-8AA4744215B0}" srcOrd="4" destOrd="0" presId="urn:microsoft.com/office/officeart/2018/2/layout/IconVerticalSolidList"/>
    <dgm:cxn modelId="{34BF5839-AD2A-45CD-B6AA-0BCC92C1B609}" type="presParOf" srcId="{E5C685DE-4933-49BE-926B-8AA4744215B0}" destId="{B3657017-7A93-40A6-8775-0F74B7B69BFC}" srcOrd="0" destOrd="0" presId="urn:microsoft.com/office/officeart/2018/2/layout/IconVerticalSolidList"/>
    <dgm:cxn modelId="{80670BAE-156D-466D-A303-95D7B42783AA}" type="presParOf" srcId="{E5C685DE-4933-49BE-926B-8AA4744215B0}" destId="{0B723C08-14FF-4FC3-992E-8BEE3F92E67A}" srcOrd="1" destOrd="0" presId="urn:microsoft.com/office/officeart/2018/2/layout/IconVerticalSolidList"/>
    <dgm:cxn modelId="{8E611C44-CE01-4D13-A9E2-AED4ACB46E1D}" type="presParOf" srcId="{E5C685DE-4933-49BE-926B-8AA4744215B0}" destId="{19BDA6EA-E268-43CB-8503-DE4706DCA756}" srcOrd="2" destOrd="0" presId="urn:microsoft.com/office/officeart/2018/2/layout/IconVerticalSolidList"/>
    <dgm:cxn modelId="{0393C4CE-57C0-494B-98C7-F1A1D2C3162E}" type="presParOf" srcId="{E5C685DE-4933-49BE-926B-8AA4744215B0}" destId="{0A2C93E3-89C7-42A7-B0F3-BD598DF22C3E}" srcOrd="3" destOrd="0" presId="urn:microsoft.com/office/officeart/2018/2/layout/IconVerticalSolidList"/>
    <dgm:cxn modelId="{FDDAC546-C302-4253-AF72-BCE0B3D1603F}" type="presParOf" srcId="{31BC0D63-70A8-4739-BF5A-F8FB53A12043}" destId="{1F0FE4AE-BFAF-4D39-A048-F1A475AD52F5}" srcOrd="5" destOrd="0" presId="urn:microsoft.com/office/officeart/2018/2/layout/IconVerticalSolidList"/>
    <dgm:cxn modelId="{D5E4F411-2E92-4709-B1E7-B884628DA453}" type="presParOf" srcId="{31BC0D63-70A8-4739-BF5A-F8FB53A12043}" destId="{3755A0D7-280F-40AE-A18D-769F859234E2}" srcOrd="6" destOrd="0" presId="urn:microsoft.com/office/officeart/2018/2/layout/IconVerticalSolidList"/>
    <dgm:cxn modelId="{246F2F82-213A-4A0E-91BA-439D234F5D96}" type="presParOf" srcId="{3755A0D7-280F-40AE-A18D-769F859234E2}" destId="{12F7F91A-B385-47A4-9E15-21C81116AD6D}" srcOrd="0" destOrd="0" presId="urn:microsoft.com/office/officeart/2018/2/layout/IconVerticalSolidList"/>
    <dgm:cxn modelId="{AC33A627-B357-46D2-B909-9AD0E492D45D}" type="presParOf" srcId="{3755A0D7-280F-40AE-A18D-769F859234E2}" destId="{874232D3-311F-47EC-BB55-E2C2FF66AE6B}" srcOrd="1" destOrd="0" presId="urn:microsoft.com/office/officeart/2018/2/layout/IconVerticalSolidList"/>
    <dgm:cxn modelId="{BEA234E9-FD43-4F60-9DB4-F736D2BE9AFC}" type="presParOf" srcId="{3755A0D7-280F-40AE-A18D-769F859234E2}" destId="{7C76AA4A-67E5-47E2-9B96-DBCFEECD02E1}" srcOrd="2" destOrd="0" presId="urn:microsoft.com/office/officeart/2018/2/layout/IconVerticalSolidList"/>
    <dgm:cxn modelId="{322A712E-3F6D-4123-8077-D5FCEFC3D5BD}" type="presParOf" srcId="{3755A0D7-280F-40AE-A18D-769F859234E2}" destId="{48A08797-0E5B-4FC7-B39E-9AD6D061FBC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F30B7-2400-4D48-B7B2-4A94E2339156}">
      <dsp:nvSpPr>
        <dsp:cNvPr id="0" name=""/>
        <dsp:cNvSpPr/>
      </dsp:nvSpPr>
      <dsp:spPr>
        <a:xfrm>
          <a:off x="0" y="2442"/>
          <a:ext cx="6513603" cy="123800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99B06D-B105-462E-BFA9-31B7115814E3}">
      <dsp:nvSpPr>
        <dsp:cNvPr id="0" name=""/>
        <dsp:cNvSpPr/>
      </dsp:nvSpPr>
      <dsp:spPr>
        <a:xfrm>
          <a:off x="374497" y="280994"/>
          <a:ext cx="680904" cy="68090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EAC71A-EA53-40CB-A7C3-EF3F4A879AF9}">
      <dsp:nvSpPr>
        <dsp:cNvPr id="0" name=""/>
        <dsp:cNvSpPr/>
      </dsp:nvSpPr>
      <dsp:spPr>
        <a:xfrm>
          <a:off x="1429899" y="2442"/>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lvl="0" algn="l" defTabSz="977900">
            <a:lnSpc>
              <a:spcPct val="90000"/>
            </a:lnSpc>
            <a:spcBef>
              <a:spcPct val="0"/>
            </a:spcBef>
            <a:spcAft>
              <a:spcPct val="35000"/>
            </a:spcAft>
          </a:pPr>
          <a:r>
            <a:rPr lang="en-US" sz="2200" kern="1200" dirty="0"/>
            <a:t>(a) Tăng </a:t>
          </a:r>
          <a:r>
            <a:rPr lang="en-US" sz="2200" kern="1200" dirty="0" err="1"/>
            <a:t>số</a:t>
          </a:r>
          <a:r>
            <a:rPr lang="en-US" sz="2200" kern="1200" dirty="0"/>
            <a:t> </a:t>
          </a:r>
          <a:r>
            <a:rPr lang="en-US" sz="2200" kern="1200" dirty="0" err="1"/>
            <a:t>vòng</a:t>
          </a:r>
          <a:r>
            <a:rPr lang="en-US" sz="2200" kern="1200" dirty="0"/>
            <a:t> </a:t>
          </a:r>
          <a:r>
            <a:rPr lang="en-US" sz="2200" kern="1200" dirty="0" err="1"/>
            <a:t>trên</a:t>
          </a:r>
          <a:r>
            <a:rPr lang="en-US" sz="2200" kern="1200" dirty="0"/>
            <a:t> </a:t>
          </a:r>
          <a:r>
            <a:rPr lang="en-US" sz="2200" kern="1200" dirty="0" err="1"/>
            <a:t>một</a:t>
          </a:r>
          <a:r>
            <a:rPr lang="en-US" sz="2200" kern="1200" dirty="0"/>
            <a:t> </a:t>
          </a:r>
          <a:r>
            <a:rPr lang="en-US" sz="2200" kern="1200" dirty="0" err="1"/>
            <a:t>đơn</a:t>
          </a:r>
          <a:r>
            <a:rPr lang="en-US" sz="2200" kern="1200" dirty="0"/>
            <a:t> </a:t>
          </a:r>
          <a:r>
            <a:rPr lang="en-US" sz="2200" kern="1200" dirty="0" err="1"/>
            <a:t>vị</a:t>
          </a:r>
          <a:r>
            <a:rPr lang="en-US" sz="2200" kern="1200" dirty="0"/>
            <a:t> độ </a:t>
          </a:r>
          <a:r>
            <a:rPr lang="en-US" sz="2200" kern="1200" dirty="0" err="1"/>
            <a:t>dài</a:t>
          </a:r>
          <a:r>
            <a:rPr lang="en-US" sz="2200" kern="1200" dirty="0"/>
            <a:t> </a:t>
          </a:r>
          <a:r>
            <a:rPr lang="en-US" sz="2200" kern="1200" dirty="0" err="1"/>
            <a:t>của</a:t>
          </a:r>
          <a:r>
            <a:rPr lang="en-US" sz="2200" kern="1200" dirty="0"/>
            <a:t> solenoid</a:t>
          </a:r>
        </a:p>
      </dsp:txBody>
      <dsp:txXfrm>
        <a:off x="1429899" y="2442"/>
        <a:ext cx="5083704" cy="1238008"/>
      </dsp:txXfrm>
    </dsp:sp>
    <dsp:sp modelId="{AD34E567-8ED6-443C-B5FE-D0633386C47E}">
      <dsp:nvSpPr>
        <dsp:cNvPr id="0" name=""/>
        <dsp:cNvSpPr/>
      </dsp:nvSpPr>
      <dsp:spPr>
        <a:xfrm>
          <a:off x="0" y="1549953"/>
          <a:ext cx="6513603" cy="123800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18BB78-A894-41B9-81E6-03641E475834}">
      <dsp:nvSpPr>
        <dsp:cNvPr id="0" name=""/>
        <dsp:cNvSpPr/>
      </dsp:nvSpPr>
      <dsp:spPr>
        <a:xfrm>
          <a:off x="374497" y="1828505"/>
          <a:ext cx="680904" cy="68090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E508D0-3992-484C-A2A7-0769A716BADC}">
      <dsp:nvSpPr>
        <dsp:cNvPr id="0" name=""/>
        <dsp:cNvSpPr/>
      </dsp:nvSpPr>
      <dsp:spPr>
        <a:xfrm>
          <a:off x="1429899" y="1549953"/>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lvl="0" algn="l" defTabSz="977900">
            <a:lnSpc>
              <a:spcPct val="90000"/>
            </a:lnSpc>
            <a:spcBef>
              <a:spcPct val="0"/>
            </a:spcBef>
            <a:spcAft>
              <a:spcPct val="35000"/>
            </a:spcAft>
          </a:pPr>
          <a:r>
            <a:rPr lang="en-US" sz="2200" kern="1200"/>
            <a:t>(b) tăng tiết diện của solenoid </a:t>
          </a:r>
        </a:p>
      </dsp:txBody>
      <dsp:txXfrm>
        <a:off x="1429899" y="1549953"/>
        <a:ext cx="5083704" cy="1238008"/>
      </dsp:txXfrm>
    </dsp:sp>
    <dsp:sp modelId="{B3657017-7A93-40A6-8775-0F74B7B69BFC}">
      <dsp:nvSpPr>
        <dsp:cNvPr id="0" name=""/>
        <dsp:cNvSpPr/>
      </dsp:nvSpPr>
      <dsp:spPr>
        <a:xfrm>
          <a:off x="0" y="3097464"/>
          <a:ext cx="6513603" cy="123800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723C08-14FF-4FC3-992E-8BEE3F92E67A}">
      <dsp:nvSpPr>
        <dsp:cNvPr id="0" name=""/>
        <dsp:cNvSpPr/>
      </dsp:nvSpPr>
      <dsp:spPr>
        <a:xfrm>
          <a:off x="374497" y="3376015"/>
          <a:ext cx="680904" cy="680904"/>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2C93E3-89C7-42A7-B0F3-BD598DF22C3E}">
      <dsp:nvSpPr>
        <dsp:cNvPr id="0" name=""/>
        <dsp:cNvSpPr/>
      </dsp:nvSpPr>
      <dsp:spPr>
        <a:xfrm>
          <a:off x="1429899" y="309746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lvl="0" algn="l" defTabSz="977900">
            <a:lnSpc>
              <a:spcPct val="90000"/>
            </a:lnSpc>
            <a:spcBef>
              <a:spcPct val="0"/>
            </a:spcBef>
            <a:spcAft>
              <a:spcPct val="35000"/>
            </a:spcAft>
          </a:pPr>
          <a:r>
            <a:rPr lang="en-US" sz="2200" kern="1200" dirty="0"/>
            <a:t>(c) </a:t>
          </a:r>
          <a:r>
            <a:rPr lang="en-US" sz="2200" kern="1200" dirty="0" err="1"/>
            <a:t>tăng</a:t>
          </a:r>
          <a:r>
            <a:rPr lang="en-US" sz="2200" kern="1200" dirty="0"/>
            <a:t> </a:t>
          </a:r>
          <a:r>
            <a:rPr lang="en-US" sz="2200" kern="1200" dirty="0" err="1"/>
            <a:t>chiều</a:t>
          </a:r>
          <a:r>
            <a:rPr lang="en-US" sz="2200" kern="1200" dirty="0"/>
            <a:t> </a:t>
          </a:r>
          <a:r>
            <a:rPr lang="en-US" sz="2200" kern="1200" dirty="0" err="1"/>
            <a:t>dài</a:t>
          </a:r>
          <a:r>
            <a:rPr lang="en-US" sz="2200" kern="1200" dirty="0"/>
            <a:t> </a:t>
          </a:r>
          <a:r>
            <a:rPr lang="en-US" sz="2200" kern="1200" dirty="0" err="1"/>
            <a:t>của</a:t>
          </a:r>
          <a:r>
            <a:rPr lang="en-US" sz="2200" kern="1200" dirty="0"/>
            <a:t> solenoid </a:t>
          </a:r>
          <a:r>
            <a:rPr lang="en-US" sz="2200" kern="1200" dirty="0" err="1"/>
            <a:t>trong</a:t>
          </a:r>
          <a:r>
            <a:rPr lang="en-US" sz="2200" kern="1200" dirty="0"/>
            <a:t> </a:t>
          </a:r>
          <a:r>
            <a:rPr lang="en-US" sz="2200" kern="1200" dirty="0" err="1"/>
            <a:t>khi</a:t>
          </a:r>
          <a:r>
            <a:rPr lang="en-US" sz="2200" kern="1200" dirty="0"/>
            <a:t> </a:t>
          </a:r>
          <a:r>
            <a:rPr lang="en-US" sz="2200" kern="1200" dirty="0" err="1"/>
            <a:t>giữ</a:t>
          </a:r>
          <a:r>
            <a:rPr lang="en-US" sz="2200" kern="1200" dirty="0"/>
            <a:t> </a:t>
          </a:r>
          <a:r>
            <a:rPr lang="en-US" sz="2200" kern="1200" dirty="0" err="1"/>
            <a:t>cố</a:t>
          </a:r>
          <a:r>
            <a:rPr lang="en-US" sz="2200" kern="1200" dirty="0"/>
            <a:t> </a:t>
          </a:r>
          <a:r>
            <a:rPr lang="en-US" sz="2200" kern="1200" dirty="0" err="1"/>
            <a:t>định</a:t>
          </a:r>
          <a:r>
            <a:rPr lang="en-US" sz="2200" kern="1200" dirty="0"/>
            <a:t> </a:t>
          </a:r>
          <a:r>
            <a:rPr lang="en-US" sz="2200" kern="1200" dirty="0" err="1"/>
            <a:t>số</a:t>
          </a:r>
          <a:r>
            <a:rPr lang="en-US" sz="2200" kern="1200" dirty="0"/>
            <a:t> </a:t>
          </a:r>
          <a:r>
            <a:rPr lang="en-US" sz="2200" kern="1200" dirty="0" err="1"/>
            <a:t>vòng</a:t>
          </a:r>
          <a:r>
            <a:rPr lang="en-US" sz="2200" kern="1200" dirty="0"/>
            <a:t> </a:t>
          </a:r>
          <a:r>
            <a:rPr lang="en-US" sz="2200" kern="1200" dirty="0" err="1"/>
            <a:t>dây</a:t>
          </a:r>
          <a:r>
            <a:rPr lang="en-US" sz="2200" kern="1200" dirty="0"/>
            <a:t> </a:t>
          </a:r>
          <a:r>
            <a:rPr lang="en-US" sz="2200" kern="1200" dirty="0" err="1"/>
            <a:t>trên</a:t>
          </a:r>
          <a:r>
            <a:rPr lang="en-US" sz="2200" kern="1200" dirty="0"/>
            <a:t> </a:t>
          </a:r>
          <a:r>
            <a:rPr lang="en-US" sz="2200" kern="1200" dirty="0" err="1"/>
            <a:t>một</a:t>
          </a:r>
          <a:r>
            <a:rPr lang="en-US" sz="2200" kern="1200" dirty="0"/>
            <a:t> </a:t>
          </a:r>
          <a:r>
            <a:rPr lang="en-US" sz="2200" kern="1200" dirty="0" err="1"/>
            <a:t>đơn</a:t>
          </a:r>
          <a:r>
            <a:rPr lang="en-US" sz="2200" kern="1200" dirty="0"/>
            <a:t> </a:t>
          </a:r>
          <a:r>
            <a:rPr lang="en-US" sz="2200" kern="1200" dirty="0" err="1"/>
            <a:t>vị</a:t>
          </a:r>
          <a:r>
            <a:rPr lang="en-US" sz="2200" kern="1200" dirty="0"/>
            <a:t> </a:t>
          </a:r>
          <a:r>
            <a:rPr lang="en-US" sz="2200" kern="1200" dirty="0" err="1"/>
            <a:t>dài</a:t>
          </a:r>
          <a:r>
            <a:rPr lang="en-US" sz="2200" kern="1200" dirty="0"/>
            <a:t> </a:t>
          </a:r>
        </a:p>
      </dsp:txBody>
      <dsp:txXfrm>
        <a:off x="1429899" y="3097464"/>
        <a:ext cx="5083704" cy="1238008"/>
      </dsp:txXfrm>
    </dsp:sp>
    <dsp:sp modelId="{12F7F91A-B385-47A4-9E15-21C81116AD6D}">
      <dsp:nvSpPr>
        <dsp:cNvPr id="0" name=""/>
        <dsp:cNvSpPr/>
      </dsp:nvSpPr>
      <dsp:spPr>
        <a:xfrm>
          <a:off x="0" y="4644974"/>
          <a:ext cx="6513603" cy="123800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4232D3-311F-47EC-BB55-E2C2FF66AE6B}">
      <dsp:nvSpPr>
        <dsp:cNvPr id="0" name=""/>
        <dsp:cNvSpPr/>
      </dsp:nvSpPr>
      <dsp:spPr>
        <a:xfrm>
          <a:off x="374497" y="4923526"/>
          <a:ext cx="680904" cy="680904"/>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A08797-0E5B-4FC7-B39E-9AD6D061FBCA}">
      <dsp:nvSpPr>
        <dsp:cNvPr id="0" name=""/>
        <dsp:cNvSpPr/>
      </dsp:nvSpPr>
      <dsp:spPr>
        <a:xfrm>
          <a:off x="1429899" y="464497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lvl="0" algn="l" defTabSz="977900">
            <a:lnSpc>
              <a:spcPct val="90000"/>
            </a:lnSpc>
            <a:spcBef>
              <a:spcPct val="0"/>
            </a:spcBef>
            <a:spcAft>
              <a:spcPct val="35000"/>
            </a:spcAft>
          </a:pPr>
          <a:r>
            <a:rPr lang="en-US" sz="2200" kern="1200" dirty="0"/>
            <a:t>(d) </a:t>
          </a:r>
          <a:r>
            <a:rPr lang="en-US" sz="2200" kern="1200" dirty="0" err="1"/>
            <a:t>tăng</a:t>
          </a:r>
          <a:r>
            <a:rPr lang="en-US" sz="2200" kern="1200" dirty="0"/>
            <a:t> </a:t>
          </a:r>
          <a:r>
            <a:rPr lang="en-US" sz="2200" kern="1200" dirty="0" err="1"/>
            <a:t>dòng</a:t>
          </a:r>
          <a:r>
            <a:rPr lang="en-US" sz="2200" kern="1200" dirty="0"/>
            <a:t> </a:t>
          </a:r>
          <a:r>
            <a:rPr lang="en-US" sz="2200" kern="1200" dirty="0" err="1"/>
            <a:t>điện</a:t>
          </a:r>
          <a:r>
            <a:rPr lang="en-US" sz="2200" kern="1200" dirty="0"/>
            <a:t> </a:t>
          </a:r>
          <a:r>
            <a:rPr lang="en-US" sz="2200" kern="1200" dirty="0" err="1"/>
            <a:t>chạy</a:t>
          </a:r>
          <a:r>
            <a:rPr lang="en-US" sz="2200" kern="1200" dirty="0"/>
            <a:t> qua solenoid.</a:t>
          </a:r>
        </a:p>
      </dsp:txBody>
      <dsp:txXfrm>
        <a:off x="1429899" y="4644974"/>
        <a:ext cx="5083704" cy="12380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8D0375-85ED-482E-9137-09CFAE3CCA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D83CE262-1746-483B-BC39-7F3C597551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9801FCE3-2A1F-4E9A-BF49-3181A7A98026}"/>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5" name="Footer Placeholder 4">
            <a:extLst>
              <a:ext uri="{FF2B5EF4-FFF2-40B4-BE49-F238E27FC236}">
                <a16:creationId xmlns:a16="http://schemas.microsoft.com/office/drawing/2014/main" xmlns="" id="{37BFCCF7-210B-4C06-BF4B-7AF2385A35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EA659C4-6D8B-4B6B-82A8-E84248F8558C}"/>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3656979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A40485-DA9E-4AFE-A5F6-CC6818DD27A9}"/>
              </a:ext>
            </a:extLst>
          </p:cNvPr>
          <p:cNvSpPr>
            <a:spLocks noGrp="1"/>
          </p:cNvSpPr>
          <p:nvPr>
            <p:ph type="title"/>
          </p:nvPr>
        </p:nvSpPr>
        <p:spPr/>
        <p:txBody>
          <a:bodyPr/>
          <a:lstStyle>
            <a:lvl1pPr>
              <a:defRPr>
                <a:solidFill>
                  <a:srgbClr val="FF000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0293585D-9811-40C7-902B-3BF5748A6999}"/>
              </a:ext>
            </a:extLst>
          </p:cNvPr>
          <p:cNvSpPr>
            <a:spLocks noGrp="1"/>
          </p:cNvSpPr>
          <p:nvPr>
            <p:ph idx="1"/>
          </p:nvPr>
        </p:nvSpPr>
        <p:spPr/>
        <p:txBody>
          <a:bodyPr>
            <a:normAutofit/>
          </a:bodyPr>
          <a:lstStyle>
            <a:lvl1pPr marL="0" indent="0" algn="just">
              <a:buNone/>
              <a:defRPr sz="4000">
                <a:solidFill>
                  <a:srgbClr val="7030A0"/>
                </a:solidFill>
                <a:latin typeface="Times New Roman" panose="02020603050405020304" pitchFamily="18" charset="0"/>
                <a:cs typeface="Times New Roman" panose="02020603050405020304" pitchFamily="18" charset="0"/>
              </a:defRPr>
            </a:lvl1pPr>
          </a:lstStyle>
          <a:p>
            <a:pPr lvl="0"/>
            <a:endParaRPr lang="en-US" dirty="0"/>
          </a:p>
        </p:txBody>
      </p:sp>
      <p:sp>
        <p:nvSpPr>
          <p:cNvPr id="4" name="Date Placeholder 3">
            <a:extLst>
              <a:ext uri="{FF2B5EF4-FFF2-40B4-BE49-F238E27FC236}">
                <a16:creationId xmlns:a16="http://schemas.microsoft.com/office/drawing/2014/main" xmlns="" id="{F4F6C494-A920-4816-AD21-6513472954C0}"/>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5" name="Footer Placeholder 4">
            <a:extLst>
              <a:ext uri="{FF2B5EF4-FFF2-40B4-BE49-F238E27FC236}">
                <a16:creationId xmlns:a16="http://schemas.microsoft.com/office/drawing/2014/main" xmlns="" id="{15B3B03D-FDFD-4950-A6D0-16179B42B1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A7D75AA-DCA1-4DE4-A680-86FCF23C0EA3}"/>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1295316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139103-F321-481A-B22A-334C14A66E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76F8FA4A-0BEE-45DB-B1A4-BBE6BF9EAD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55DE64-402F-4DA1-815D-3EED069C206A}"/>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5" name="Footer Placeholder 4">
            <a:extLst>
              <a:ext uri="{FF2B5EF4-FFF2-40B4-BE49-F238E27FC236}">
                <a16:creationId xmlns:a16="http://schemas.microsoft.com/office/drawing/2014/main" xmlns="" id="{95CE915B-DCB9-461F-9E17-D586CC68D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1474432-3574-46E6-BD10-017A10BF9848}"/>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3385461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B5DD8E-000D-4AAD-B2A8-17867D3CC3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58502DC-565F-464B-BC8E-C2EF45764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DDB2942E-AB3D-4EBC-BD08-704565A6D7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4B779A39-D564-4037-8897-9A07825118E8}"/>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6" name="Footer Placeholder 5">
            <a:extLst>
              <a:ext uri="{FF2B5EF4-FFF2-40B4-BE49-F238E27FC236}">
                <a16:creationId xmlns:a16="http://schemas.microsoft.com/office/drawing/2014/main" xmlns="" id="{6457FA85-F3FC-4EA2-8649-FD0E32F071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6697F25-7562-40AA-84C9-C90639017F68}"/>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2584510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34FC0-4848-4DDC-923A-1A6958A8BF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2482BA41-4BB5-4C91-B900-0F2CC4E8E9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8B6D192-6B31-40D7-B2A9-F2CC42F74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0C108173-C648-4D42-9AE6-2CD5990601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092547B-461E-4B13-8290-BE8EC72AC4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0CD781C4-5328-4BBA-86C8-B4C79FAB1BE1}"/>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8" name="Footer Placeholder 7">
            <a:extLst>
              <a:ext uri="{FF2B5EF4-FFF2-40B4-BE49-F238E27FC236}">
                <a16:creationId xmlns:a16="http://schemas.microsoft.com/office/drawing/2014/main" xmlns="" id="{723BA14B-0611-49B3-A2DE-7849F44807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F28EFAD-A069-4C91-8110-84F449F146E4}"/>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3734967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D499A9-9120-4534-A853-81DCA16587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1F8885-0683-4A61-91AA-9350C27E97E1}"/>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4" name="Footer Placeholder 3">
            <a:extLst>
              <a:ext uri="{FF2B5EF4-FFF2-40B4-BE49-F238E27FC236}">
                <a16:creationId xmlns:a16="http://schemas.microsoft.com/office/drawing/2014/main" xmlns="" id="{DE48CAE5-9C10-4A47-AFE1-734DB40BFB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800D4900-789B-4341-A95A-57F0BC150BBB}"/>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2685757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6A2C89E-C98A-4AB5-85C1-C3270182D5E7}"/>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3" name="Footer Placeholder 2">
            <a:extLst>
              <a:ext uri="{FF2B5EF4-FFF2-40B4-BE49-F238E27FC236}">
                <a16:creationId xmlns:a16="http://schemas.microsoft.com/office/drawing/2014/main" xmlns="" id="{F83DD579-5ADE-4663-97A4-815DF2BB86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D762B955-E6BC-45F5-ADCC-E3F30E15005F}"/>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3719888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2D18B3-D8F5-4618-BF6C-03F8565E6D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D09FDC46-8CFD-4923-BB5D-B184CD209E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57A3CF84-7635-46F1-B9EE-4706DB6C5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039C0B2-14FA-4C1B-BAB3-A7C8DDE561D1}"/>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6" name="Footer Placeholder 5">
            <a:extLst>
              <a:ext uri="{FF2B5EF4-FFF2-40B4-BE49-F238E27FC236}">
                <a16:creationId xmlns:a16="http://schemas.microsoft.com/office/drawing/2014/main" xmlns="" id="{986F9C5F-271C-4AB3-B3EE-1F2D28D889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9E92545-3BAE-4B43-90CB-C6E8673E98B2}"/>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236530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0FA572-1C07-4521-B068-635FB81AD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731E6374-0502-4A8E-9C85-851CC36AC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EC5BD302-DA0D-419E-BB68-DCFF7D38D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4C01057-3E3F-4B29-9DC7-00BF72794506}"/>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6" name="Footer Placeholder 5">
            <a:extLst>
              <a:ext uri="{FF2B5EF4-FFF2-40B4-BE49-F238E27FC236}">
                <a16:creationId xmlns:a16="http://schemas.microsoft.com/office/drawing/2014/main" xmlns="" id="{DCF118F3-DB3E-4100-AAE3-2665DD00CC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5AA2EF9-DE40-4B79-BF73-4DF85FB7FBFD}"/>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28791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968C61-317F-4A58-8B03-9D74317D0A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AA1C784A-7E99-4B18-AFA1-A3AAF91C05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92FDA18-2AB1-4232-8B12-CBEC299F075A}"/>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5" name="Footer Placeholder 4">
            <a:extLst>
              <a:ext uri="{FF2B5EF4-FFF2-40B4-BE49-F238E27FC236}">
                <a16:creationId xmlns:a16="http://schemas.microsoft.com/office/drawing/2014/main" xmlns="" id="{69B04077-AE33-40B3-81D0-AC7085CCE0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17BBF8A-77C9-44FC-A295-27EF07F8F015}"/>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2786785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7210D39-501C-4AFF-BB51-548F5C41BA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B8384646-8800-4BBB-8DAB-44A763171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C091CBB-532F-4290-8246-D7EF22FFC3D4}"/>
              </a:ext>
            </a:extLst>
          </p:cNvPr>
          <p:cNvSpPr>
            <a:spLocks noGrp="1"/>
          </p:cNvSpPr>
          <p:nvPr>
            <p:ph type="dt" sz="half" idx="10"/>
          </p:nvPr>
        </p:nvSpPr>
        <p:spPr/>
        <p:txBody>
          <a:bodyPr/>
          <a:lstStyle/>
          <a:p>
            <a:fld id="{BB4E230E-5662-43C0-837B-B36AEACB04C9}" type="datetimeFigureOut">
              <a:rPr lang="en-US" smtClean="0"/>
              <a:t>5/24/2021</a:t>
            </a:fld>
            <a:endParaRPr lang="en-US"/>
          </a:p>
        </p:txBody>
      </p:sp>
      <p:sp>
        <p:nvSpPr>
          <p:cNvPr id="5" name="Footer Placeholder 4">
            <a:extLst>
              <a:ext uri="{FF2B5EF4-FFF2-40B4-BE49-F238E27FC236}">
                <a16:creationId xmlns:a16="http://schemas.microsoft.com/office/drawing/2014/main" xmlns="" id="{1A2AC35D-A25F-47F2-A022-6DC578F860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A96F37-4F68-4032-9FE9-9F052064E34D}"/>
              </a:ext>
            </a:extLst>
          </p:cNvPr>
          <p:cNvSpPr>
            <a:spLocks noGrp="1"/>
          </p:cNvSpPr>
          <p:nvPr>
            <p:ph type="sldNum" sz="quarter" idx="12"/>
          </p:nvPr>
        </p:nvSpPr>
        <p:spPr/>
        <p:txBody>
          <a:bodyPr/>
          <a:lstStyle/>
          <a:p>
            <a:fld id="{4A57AE8D-1BCA-4AC5-9149-1A9CE2668147}" type="slidenum">
              <a:rPr lang="en-US" smtClean="0"/>
              <a:t>‹#›</a:t>
            </a:fld>
            <a:endParaRPr lang="en-US"/>
          </a:p>
        </p:txBody>
      </p:sp>
    </p:spTree>
    <p:extLst>
      <p:ext uri="{BB962C8B-B14F-4D97-AF65-F5344CB8AC3E}">
        <p14:creationId xmlns:p14="http://schemas.microsoft.com/office/powerpoint/2010/main" val="171498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D5E661C-7CF6-45B3-A434-45656A4FB4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39D74784-C9F2-4628-88FB-F5EF72FDAA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98245A9-5BF5-44CA-907D-A847EC2677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4E230E-5662-43C0-837B-B36AEACB04C9}" type="datetimeFigureOut">
              <a:rPr lang="en-US" smtClean="0"/>
              <a:t>5/24/2021</a:t>
            </a:fld>
            <a:endParaRPr lang="en-US"/>
          </a:p>
        </p:txBody>
      </p:sp>
      <p:sp>
        <p:nvSpPr>
          <p:cNvPr id="5" name="Footer Placeholder 4">
            <a:extLst>
              <a:ext uri="{FF2B5EF4-FFF2-40B4-BE49-F238E27FC236}">
                <a16:creationId xmlns:a16="http://schemas.microsoft.com/office/drawing/2014/main" xmlns="" id="{00C4D6DD-52F9-4209-AFDA-F1E3349CB0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329609DE-B98D-4984-999F-3C78E1D445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57AE8D-1BCA-4AC5-9149-1A9CE2668147}" type="slidenum">
              <a:rPr lang="en-US" smtClean="0"/>
              <a:t>‹#›</a:t>
            </a:fld>
            <a:endParaRPr lang="en-US"/>
          </a:p>
        </p:txBody>
      </p:sp>
    </p:spTree>
    <p:extLst>
      <p:ext uri="{BB962C8B-B14F-4D97-AF65-F5344CB8AC3E}">
        <p14:creationId xmlns:p14="http://schemas.microsoft.com/office/powerpoint/2010/main" val="790543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vi.wikipedia.org/wiki/H%C3%ACnh_tr%E1%BB%A5" TargetMode="External"/><Relationship Id="rId7" Type="http://schemas.openxmlformats.org/officeDocument/2006/relationships/hyperlink" Target="https://vi.wikipedia.org/wiki/%C4%90%C6%A1n_v%E1%BB%8B_%C4%91o_chi%E1%BB%81u_d%C3%A0i" TargetMode="External"/><Relationship Id="rId2" Type="http://schemas.openxmlformats.org/officeDocument/2006/relationships/hyperlink" Target="https://vi.wikipedia.org/wiki/D%E1%BA%ABn_%C4%91i%E1%BB%87n" TargetMode="External"/><Relationship Id="rId1" Type="http://schemas.openxmlformats.org/officeDocument/2006/relationships/slideLayout" Target="../slideLayouts/slideLayout2.xml"/><Relationship Id="rId6" Type="http://schemas.openxmlformats.org/officeDocument/2006/relationships/hyperlink" Target="https://vi.wikipedia.org/wiki/D%C3%B2ng_%C4%91i%E1%BB%87n#C%C6%B0%E1%BB%9Dng_%C4%91%E1%BB%99_d%C3%B2ng_%C4%91i%E1%BB%87n" TargetMode="External"/><Relationship Id="rId5" Type="http://schemas.openxmlformats.org/officeDocument/2006/relationships/hyperlink" Target="https://vi.wikipedia.org/wiki/T%E1%BB%AB_tr%C6%B0%E1%BB%9Dng" TargetMode="External"/><Relationship Id="rId4" Type="http://schemas.openxmlformats.org/officeDocument/2006/relationships/hyperlink" Target="https://vi.wikipedia.org/wiki/D%C3%B2ng_%C4%91i%E1%BB%87n" TargetMode="Externa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vi.wikipedia.org/wiki/%C4%90i%E1%BB%87n_xoay_chi%E1%BB%81u" TargetMode="External"/><Relationship Id="rId2" Type="http://schemas.openxmlformats.org/officeDocument/2006/relationships/hyperlink" Target="https://vi.wikipedia.org/w/index.php?title=M%E1%BA%A1ch_%C4%91i%E1%BB%87n_k%C3%ADn&amp;action=edit&amp;redlink=1" TargetMode="External"/><Relationship Id="rId1" Type="http://schemas.openxmlformats.org/officeDocument/2006/relationships/slideLayout" Target="../slideLayouts/slideLayout2.xml"/><Relationship Id="rId4" Type="http://schemas.openxmlformats.org/officeDocument/2006/relationships/hyperlink" Target="https://vi.wikipedia.org/wiki/M%E1%BB%99t_chi%E1%BB%81u_(%C4%91i%E1%BB%87n)"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vi.wikipedia.org/wiki/D%C3%B2ng_%C4%91i%E1%BB%87n#C%C6%B0%E1%BB%9Dng_%C4%91%E1%BB%99_d%C3%B2ng_%C4%91i%E1%BB%87n" TargetMode="External"/><Relationship Id="rId2" Type="http://schemas.openxmlformats.org/officeDocument/2006/relationships/hyperlink" Target="https://vi.wikipedia.org/w/index.php?title=Su%E1%BA%A5t_%C4%91i%E1%BB%87n_%C4%91%E1%BB%99ng_t%E1%BB%B1_c%E1%BA%A3m&amp;action=edit&amp;redlink=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6.png"/><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80.png"/><Relationship Id="rId4" Type="http://schemas.openxmlformats.org/officeDocument/2006/relationships/image" Target="../media/image160.png"/></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2.emf"/><Relationship Id="rId4" Type="http://schemas.openxmlformats.org/officeDocument/2006/relationships/oleObject" Target="../embeddings/oleObject2.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www.wikiwand.com/vi/%C4%90i%E1%BB%87n_tr%E1%BB%9F" TargetMode="External"/><Relationship Id="rId2" Type="http://schemas.openxmlformats.org/officeDocument/2006/relationships/hyperlink" Target="http://www.wikiwand.com/vi/M%E1%BA%A1ch_%C4%91i%E1%BB%87n" TargetMode="External"/><Relationship Id="rId1" Type="http://schemas.openxmlformats.org/officeDocument/2006/relationships/slideLayout" Target="../slideLayouts/slideLayout2.xml"/><Relationship Id="rId6" Type="http://schemas.openxmlformats.org/officeDocument/2006/relationships/hyperlink" Target="http://www.wikiwand.com/vi/Dao_%C4%91%E1%BB%99ng_%C4%91i%E1%BB%81u_h%C3%B2a" TargetMode="External"/><Relationship Id="rId5" Type="http://schemas.openxmlformats.org/officeDocument/2006/relationships/hyperlink" Target="http://www.wikiwand.com/vi/T%E1%BB%A5_%C4%91i%E1%BB%87n" TargetMode="External"/><Relationship Id="rId4" Type="http://schemas.openxmlformats.org/officeDocument/2006/relationships/hyperlink" Target="http://www.wikiwand.com/vi/Cu%E1%BB%99n_c%E1%BA%A3m"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www.wikiwand.com/vi/Truy%E1%BB%81n_h%C3%ACnh" TargetMode="External"/><Relationship Id="rId2" Type="http://schemas.openxmlformats.org/officeDocument/2006/relationships/hyperlink" Target="http://www.wikiwand.com/vi/Radio"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m.congnghegi.com/ly-thuyet-mach-dao-dong-lc-dao-dong-dien-tu-vat-ly-12-38-1962.html" TargetMode="External"/><Relationship Id="rId2" Type="http://schemas.openxmlformats.org/officeDocument/2006/relationships/hyperlink" Target="http://vietsciences2.free.fr/giaokhoa/vatly/dienquangdaicuong/chuong15hientuongcamungtu.htm" TargetMode="External"/><Relationship Id="rId1" Type="http://schemas.openxmlformats.org/officeDocument/2006/relationships/slideLayout" Target="../slideLayouts/slideLayout2.xml"/><Relationship Id="rId5" Type="http://schemas.openxmlformats.org/officeDocument/2006/relationships/hyperlink" Target="http://www.vatlyphothong.net/mach-dao-dong-lc.html" TargetMode="External"/><Relationship Id="rId4" Type="http://schemas.openxmlformats.org/officeDocument/2006/relationships/hyperlink" Target="https://vungoi.vn/lop-12/chi-tiet-ly-thuyet-mach-dao-dong-lc-cac-dai-luong-dac-trung-5af3eae91261631175a05da7.ht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F671FE3F-4D60-444D-A364-014AA578A497}"/>
              </a:ext>
            </a:extLst>
          </p:cNvPr>
          <p:cNvPicPr>
            <a:picLocks noChangeAspect="1"/>
          </p:cNvPicPr>
          <p:nvPr/>
        </p:nvPicPr>
        <p:blipFill rotWithShape="1">
          <a:blip r:embed="rId2"/>
          <a:srcRect r="11111"/>
          <a:stretch/>
        </p:blipFill>
        <p:spPr>
          <a:xfrm>
            <a:off x="20" y="10"/>
            <a:ext cx="12191980" cy="6857990"/>
          </a:xfrm>
          <a:prstGeom prst="rect">
            <a:avLst/>
          </a:prstGeom>
        </p:spPr>
      </p:pic>
      <p:sp>
        <p:nvSpPr>
          <p:cNvPr id="13" name="Freeform 5">
            <a:extLst>
              <a:ext uri="{FF2B5EF4-FFF2-40B4-BE49-F238E27FC236}">
                <a16:creationId xmlns:a16="http://schemas.microsoft.com/office/drawing/2014/main" xmlns="" id="{87CC2527-562A-4F69-B487-4371E5B243E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a:ex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xmlns="" id="{2EBF3A52-7F34-404D-A332-86C6DAA1BB3F}"/>
              </a:ext>
            </a:extLst>
          </p:cNvPr>
          <p:cNvSpPr>
            <a:spLocks noGrp="1"/>
          </p:cNvSpPr>
          <p:nvPr>
            <p:ph type="ctrTitle"/>
          </p:nvPr>
        </p:nvSpPr>
        <p:spPr>
          <a:xfrm>
            <a:off x="7543800" y="3231931"/>
            <a:ext cx="4648199" cy="1834056"/>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Độ </a:t>
            </a:r>
            <a:r>
              <a:rPr lang="en-US" b="1" dirty="0" err="1">
                <a:solidFill>
                  <a:srgbClr val="FF0000"/>
                </a:solidFill>
                <a:latin typeface="Times New Roman" panose="02020603050405020304" pitchFamily="18" charset="0"/>
                <a:cs typeface="Times New Roman" panose="02020603050405020304" pitchFamily="18" charset="0"/>
              </a:rPr>
              <a:t>tự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cảm</a:t>
            </a:r>
            <a:r>
              <a:rPr lang="en-US" sz="4000" b="1" dirty="0"/>
              <a:t/>
            </a:r>
            <a:br>
              <a:rPr lang="en-US" sz="4000" b="1" dirty="0"/>
            </a:br>
            <a:endParaRPr lang="en-US" sz="4000" dirty="0"/>
          </a:p>
        </p:txBody>
      </p:sp>
      <p:sp>
        <p:nvSpPr>
          <p:cNvPr id="3" name="Subtitle 2">
            <a:extLst>
              <a:ext uri="{FF2B5EF4-FFF2-40B4-BE49-F238E27FC236}">
                <a16:creationId xmlns:a16="http://schemas.microsoft.com/office/drawing/2014/main" xmlns="" id="{D7777D17-3C3E-471B-8B09-6E9D490D6463}"/>
              </a:ext>
            </a:extLst>
          </p:cNvPr>
          <p:cNvSpPr>
            <a:spLocks noGrp="1"/>
          </p:cNvSpPr>
          <p:nvPr>
            <p:ph type="subTitle" idx="1"/>
          </p:nvPr>
        </p:nvSpPr>
        <p:spPr>
          <a:xfrm>
            <a:off x="7782910" y="5242675"/>
            <a:ext cx="4330262" cy="683284"/>
          </a:xfrm>
        </p:spPr>
        <p:txBody>
          <a:bodyPr>
            <a:normAutofit/>
          </a:bodyPr>
          <a:lstStyle/>
          <a:p>
            <a:r>
              <a:rPr lang="en-US" sz="2000" b="1" dirty="0">
                <a:latin typeface="Times New Roman" panose="02020603050405020304" pitchFamily="18" charset="0"/>
                <a:cs typeface="Times New Roman" panose="02020603050405020304" pitchFamily="18" charset="0"/>
              </a:rPr>
              <a:t>Chương 32</a:t>
            </a:r>
            <a:endParaRPr lang="en-US" sz="2000"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xmlns="" id="{BCDAEC91-5BCE-4B55-9CC0-43EF94CB734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34660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B46D00-4070-46E7-97BF-89C24764B101}"/>
              </a:ext>
            </a:extLst>
          </p:cNvPr>
          <p:cNvSpPr>
            <a:spLocks noGrp="1"/>
          </p:cNvSpPr>
          <p:nvPr>
            <p:ph type="title"/>
          </p:nvPr>
        </p:nvSpPr>
        <p:spPr/>
        <p:txBody>
          <a:bodyPr/>
          <a:lstStyle/>
          <a:p>
            <a:r>
              <a:rPr lang="en-US" dirty="0" err="1" smtClean="0">
                <a:solidFill>
                  <a:schemeClr val="accent4">
                    <a:lumMod val="60000"/>
                    <a:lumOff val="40000"/>
                  </a:schemeClr>
                </a:solidFill>
              </a:rPr>
              <a:t>Từ</a:t>
            </a:r>
            <a:r>
              <a:rPr lang="en-US" dirty="0" smtClean="0">
                <a:solidFill>
                  <a:schemeClr val="accent4">
                    <a:lumMod val="60000"/>
                    <a:lumOff val="40000"/>
                  </a:schemeClr>
                </a:solidFill>
              </a:rPr>
              <a:t> </a:t>
            </a:r>
            <a:r>
              <a:rPr lang="en-US" dirty="0" err="1" smtClean="0">
                <a:solidFill>
                  <a:schemeClr val="accent4">
                    <a:lumMod val="60000"/>
                    <a:lumOff val="40000"/>
                  </a:schemeClr>
                </a:solidFill>
              </a:rPr>
              <a:t>trương</a:t>
            </a:r>
            <a:r>
              <a:rPr lang="en-US" dirty="0" smtClean="0">
                <a:solidFill>
                  <a:schemeClr val="accent4">
                    <a:lumMod val="60000"/>
                    <a:lumOff val="40000"/>
                  </a:schemeClr>
                </a:solidFill>
              </a:rPr>
              <a:t> </a:t>
            </a:r>
            <a:r>
              <a:rPr lang="en-US" dirty="0" err="1" smtClean="0">
                <a:solidFill>
                  <a:schemeClr val="accent4">
                    <a:lumMod val="60000"/>
                    <a:lumOff val="40000"/>
                  </a:schemeClr>
                </a:solidFill>
              </a:rPr>
              <a:t>của</a:t>
            </a:r>
            <a:r>
              <a:rPr lang="en-US" dirty="0" smtClean="0">
                <a:solidFill>
                  <a:schemeClr val="accent4">
                    <a:lumMod val="60000"/>
                    <a:lumOff val="40000"/>
                  </a:schemeClr>
                </a:solidFill>
              </a:rPr>
              <a:t> </a:t>
            </a:r>
            <a:r>
              <a:rPr lang="en-US" dirty="0" err="1" smtClean="0">
                <a:solidFill>
                  <a:schemeClr val="accent4">
                    <a:lumMod val="60000"/>
                    <a:lumOff val="40000"/>
                  </a:schemeClr>
                </a:solidFill>
              </a:rPr>
              <a:t>cuộn</a:t>
            </a:r>
            <a:r>
              <a:rPr lang="en-US" dirty="0" smtClean="0">
                <a:solidFill>
                  <a:schemeClr val="accent4">
                    <a:lumMod val="60000"/>
                    <a:lumOff val="40000"/>
                  </a:schemeClr>
                </a:solidFill>
              </a:rPr>
              <a:t> </a:t>
            </a:r>
            <a:r>
              <a:rPr lang="en-US" dirty="0" err="1" smtClean="0">
                <a:solidFill>
                  <a:schemeClr val="accent4">
                    <a:lumMod val="60000"/>
                    <a:lumOff val="40000"/>
                  </a:schemeClr>
                </a:solidFill>
              </a:rPr>
              <a:t>dây</a:t>
            </a:r>
            <a:r>
              <a:rPr lang="en-US" dirty="0" smtClean="0">
                <a:solidFill>
                  <a:schemeClr val="accent4">
                    <a:lumMod val="60000"/>
                    <a:lumOff val="40000"/>
                  </a:schemeClr>
                </a:solidFill>
              </a:rPr>
              <a:t> Toroid</a:t>
            </a:r>
            <a:endParaRPr lang="en-US" dirty="0"/>
          </a:p>
        </p:txBody>
      </p:sp>
      <p:sp>
        <p:nvSpPr>
          <p:cNvPr id="3" name="Content Placeholder 2">
            <a:extLst>
              <a:ext uri="{FF2B5EF4-FFF2-40B4-BE49-F238E27FC236}">
                <a16:creationId xmlns:a16="http://schemas.microsoft.com/office/drawing/2014/main" xmlns="" id="{A7DC6F7B-F1D5-4E4F-8570-EEF6C525F11D}"/>
              </a:ext>
            </a:extLst>
          </p:cNvPr>
          <p:cNvSpPr>
            <a:spLocks noGrp="1"/>
          </p:cNvSpPr>
          <p:nvPr>
            <p:ph idx="1"/>
          </p:nvPr>
        </p:nvSpPr>
        <p:spPr>
          <a:xfrm>
            <a:off x="319596" y="1825625"/>
            <a:ext cx="7538943" cy="4823750"/>
          </a:xfrm>
        </p:spPr>
        <p:txBody>
          <a:bodyPr>
            <a:normAutofit fontScale="92500" lnSpcReduction="10000"/>
          </a:bodyPr>
          <a:lstStyle/>
          <a:p>
            <a:r>
              <a:rPr lang="en-US" dirty="0" err="1">
                <a:solidFill>
                  <a:srgbClr val="FF0000"/>
                </a:solidFill>
              </a:rPr>
              <a:t>Một</a:t>
            </a:r>
            <a:r>
              <a:rPr lang="en-US" dirty="0">
                <a:solidFill>
                  <a:srgbClr val="FF0000"/>
                </a:solidFill>
              </a:rPr>
              <a:t> </a:t>
            </a:r>
            <a:r>
              <a:rPr lang="en-US" dirty="0" err="1">
                <a:solidFill>
                  <a:srgbClr val="FF0000"/>
                </a:solidFill>
              </a:rPr>
              <a:t>thiết</a:t>
            </a:r>
            <a:r>
              <a:rPr lang="en-US" dirty="0">
                <a:solidFill>
                  <a:srgbClr val="FF0000"/>
                </a:solidFill>
              </a:rPr>
              <a:t> </a:t>
            </a:r>
            <a:r>
              <a:rPr lang="en-US" dirty="0" err="1">
                <a:solidFill>
                  <a:srgbClr val="FF0000"/>
                </a:solidFill>
              </a:rPr>
              <a:t>bị</a:t>
            </a:r>
            <a:r>
              <a:rPr lang="en-US" dirty="0">
                <a:solidFill>
                  <a:srgbClr val="FF0000"/>
                </a:solidFill>
              </a:rPr>
              <a:t> </a:t>
            </a:r>
            <a:r>
              <a:rPr lang="en-US" dirty="0" err="1">
                <a:solidFill>
                  <a:srgbClr val="FF0000"/>
                </a:solidFill>
              </a:rPr>
              <a:t>gọi</a:t>
            </a:r>
            <a:r>
              <a:rPr lang="en-US" dirty="0">
                <a:solidFill>
                  <a:srgbClr val="FF0000"/>
                </a:solidFill>
              </a:rPr>
              <a:t> </a:t>
            </a:r>
            <a:r>
              <a:rPr lang="en-US" dirty="0" err="1">
                <a:solidFill>
                  <a:srgbClr val="FF0000"/>
                </a:solidFill>
              </a:rPr>
              <a:t>là</a:t>
            </a:r>
            <a:r>
              <a:rPr lang="en-US" dirty="0">
                <a:solidFill>
                  <a:srgbClr val="FF0000"/>
                </a:solidFill>
              </a:rPr>
              <a:t> </a:t>
            </a:r>
            <a:r>
              <a:rPr lang="en-US" dirty="0" err="1">
                <a:solidFill>
                  <a:srgbClr val="FF0000"/>
                </a:solidFill>
              </a:rPr>
              <a:t>hình</a:t>
            </a:r>
            <a:r>
              <a:rPr lang="en-US" dirty="0">
                <a:solidFill>
                  <a:srgbClr val="FF0000"/>
                </a:solidFill>
              </a:rPr>
              <a:t> </a:t>
            </a:r>
            <a:r>
              <a:rPr lang="en-US" dirty="0" err="1">
                <a:solidFill>
                  <a:srgbClr val="FF0000"/>
                </a:solidFill>
              </a:rPr>
              <a:t>xuyến</a:t>
            </a:r>
            <a:r>
              <a:rPr lang="en-US" dirty="0">
                <a:solidFill>
                  <a:srgbClr val="FF0000"/>
                </a:solidFill>
              </a:rPr>
              <a:t> Toroid </a:t>
            </a:r>
            <a:r>
              <a:rPr lang="en-US" dirty="0" err="1">
                <a:solidFill>
                  <a:srgbClr val="FF0000"/>
                </a:solidFill>
              </a:rPr>
              <a:t>thường</a:t>
            </a:r>
            <a:r>
              <a:rPr lang="en-US" dirty="0">
                <a:solidFill>
                  <a:srgbClr val="FF0000"/>
                </a:solidFill>
              </a:rPr>
              <a:t> </a:t>
            </a:r>
            <a:r>
              <a:rPr lang="en-US" dirty="0" err="1">
                <a:solidFill>
                  <a:srgbClr val="FF0000"/>
                </a:solidFill>
              </a:rPr>
              <a:t>được</a:t>
            </a:r>
            <a:r>
              <a:rPr lang="en-US" dirty="0">
                <a:solidFill>
                  <a:srgbClr val="FF0000"/>
                </a:solidFill>
              </a:rPr>
              <a:t> </a:t>
            </a:r>
            <a:r>
              <a:rPr lang="en-US" dirty="0" err="1">
                <a:solidFill>
                  <a:srgbClr val="FF0000"/>
                </a:solidFill>
              </a:rPr>
              <a:t>sử</a:t>
            </a:r>
            <a:r>
              <a:rPr lang="en-US" dirty="0">
                <a:solidFill>
                  <a:srgbClr val="FF0000"/>
                </a:solidFill>
              </a:rPr>
              <a:t> </a:t>
            </a:r>
            <a:r>
              <a:rPr lang="en-US" dirty="0" err="1">
                <a:solidFill>
                  <a:srgbClr val="FF0000"/>
                </a:solidFill>
              </a:rPr>
              <a:t>dụng</a:t>
            </a:r>
            <a:r>
              <a:rPr lang="en-US" dirty="0">
                <a:solidFill>
                  <a:srgbClr val="FF0000"/>
                </a:solidFill>
              </a:rPr>
              <a:t> </a:t>
            </a:r>
            <a:r>
              <a:rPr lang="en-US" dirty="0" err="1">
                <a:solidFill>
                  <a:srgbClr val="FF0000"/>
                </a:solidFill>
              </a:rPr>
              <a:t>để</a:t>
            </a:r>
            <a:r>
              <a:rPr lang="en-US" dirty="0">
                <a:solidFill>
                  <a:srgbClr val="FF0000"/>
                </a:solidFill>
              </a:rPr>
              <a:t> </a:t>
            </a:r>
            <a:r>
              <a:rPr lang="en-US" dirty="0" err="1">
                <a:solidFill>
                  <a:srgbClr val="FF0000"/>
                </a:solidFill>
              </a:rPr>
              <a:t>tạo</a:t>
            </a:r>
            <a:r>
              <a:rPr lang="en-US" dirty="0">
                <a:solidFill>
                  <a:srgbClr val="FF0000"/>
                </a:solidFill>
              </a:rPr>
              <a:t> ra </a:t>
            </a:r>
            <a:r>
              <a:rPr lang="en-US" dirty="0" err="1">
                <a:solidFill>
                  <a:srgbClr val="FF0000"/>
                </a:solidFill>
              </a:rPr>
              <a:t>từ</a:t>
            </a:r>
            <a:r>
              <a:rPr lang="en-US" dirty="0">
                <a:solidFill>
                  <a:srgbClr val="FF0000"/>
                </a:solidFill>
              </a:rPr>
              <a:t> </a:t>
            </a:r>
            <a:r>
              <a:rPr lang="en-US" dirty="0" err="1">
                <a:solidFill>
                  <a:srgbClr val="FF0000"/>
                </a:solidFill>
              </a:rPr>
              <a:t>trường</a:t>
            </a:r>
            <a:r>
              <a:rPr lang="en-US" dirty="0">
                <a:solidFill>
                  <a:srgbClr val="FF0000"/>
                </a:solidFill>
              </a:rPr>
              <a:t> </a:t>
            </a:r>
            <a:r>
              <a:rPr lang="en-US" dirty="0" err="1">
                <a:solidFill>
                  <a:srgbClr val="FF0000"/>
                </a:solidFill>
              </a:rPr>
              <a:t>gần</a:t>
            </a:r>
            <a:r>
              <a:rPr lang="en-US" dirty="0">
                <a:solidFill>
                  <a:srgbClr val="FF0000"/>
                </a:solidFill>
              </a:rPr>
              <a:t> </a:t>
            </a:r>
            <a:r>
              <a:rPr lang="en-US" dirty="0" err="1">
                <a:solidFill>
                  <a:srgbClr val="FF0000"/>
                </a:solidFill>
              </a:rPr>
              <a:t>như</a:t>
            </a:r>
            <a:r>
              <a:rPr lang="en-US" dirty="0">
                <a:solidFill>
                  <a:srgbClr val="FF0000"/>
                </a:solidFill>
              </a:rPr>
              <a:t> </a:t>
            </a:r>
            <a:r>
              <a:rPr lang="en-US" dirty="0" err="1">
                <a:solidFill>
                  <a:srgbClr val="FF0000"/>
                </a:solidFill>
              </a:rPr>
              <a:t>đồng</a:t>
            </a:r>
            <a:r>
              <a:rPr lang="en-US" dirty="0">
                <a:solidFill>
                  <a:srgbClr val="FF0000"/>
                </a:solidFill>
              </a:rPr>
              <a:t> </a:t>
            </a:r>
            <a:r>
              <a:rPr lang="en-US" dirty="0" err="1">
                <a:solidFill>
                  <a:srgbClr val="FF0000"/>
                </a:solidFill>
              </a:rPr>
              <a:t>nhất</a:t>
            </a:r>
            <a:r>
              <a:rPr lang="en-US" dirty="0">
                <a:solidFill>
                  <a:srgbClr val="FF0000"/>
                </a:solidFill>
              </a:rPr>
              <a:t> </a:t>
            </a:r>
            <a:r>
              <a:rPr lang="en-US" dirty="0" err="1">
                <a:solidFill>
                  <a:srgbClr val="FF0000"/>
                </a:solidFill>
              </a:rPr>
              <a:t>trong</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số</a:t>
            </a:r>
            <a:r>
              <a:rPr lang="en-US" dirty="0">
                <a:solidFill>
                  <a:srgbClr val="FF0000"/>
                </a:solidFill>
              </a:rPr>
              <a:t> </a:t>
            </a:r>
            <a:r>
              <a:rPr lang="en-US" dirty="0" err="1">
                <a:solidFill>
                  <a:srgbClr val="FF0000"/>
                </a:solidFill>
              </a:rPr>
              <a:t>khu</a:t>
            </a:r>
            <a:r>
              <a:rPr lang="en-US" dirty="0">
                <a:solidFill>
                  <a:srgbClr val="FF0000"/>
                </a:solidFill>
              </a:rPr>
              <a:t> </a:t>
            </a:r>
            <a:r>
              <a:rPr lang="en-US" dirty="0" err="1">
                <a:solidFill>
                  <a:srgbClr val="FF0000"/>
                </a:solidFill>
              </a:rPr>
              <a:t>vực</a:t>
            </a:r>
            <a:r>
              <a:rPr lang="en-US" dirty="0">
                <a:solidFill>
                  <a:srgbClr val="FF0000"/>
                </a:solidFill>
              </a:rPr>
              <a:t> </a:t>
            </a:r>
            <a:r>
              <a:rPr lang="en-US" dirty="0" err="1">
                <a:solidFill>
                  <a:srgbClr val="FF0000"/>
                </a:solidFill>
              </a:rPr>
              <a:t>kín</a:t>
            </a:r>
            <a:r>
              <a:rPr lang="en-US" dirty="0">
                <a:solidFill>
                  <a:srgbClr val="FF0000"/>
                </a:solidFill>
              </a:rPr>
              <a:t>. </a:t>
            </a:r>
            <a:r>
              <a:rPr lang="en-US" dirty="0" err="1">
                <a:solidFill>
                  <a:srgbClr val="FF0000"/>
                </a:solidFill>
              </a:rPr>
              <a:t>Thiết</a:t>
            </a:r>
            <a:r>
              <a:rPr lang="en-US" dirty="0">
                <a:solidFill>
                  <a:srgbClr val="FF0000"/>
                </a:solidFill>
              </a:rPr>
              <a:t> </a:t>
            </a:r>
            <a:r>
              <a:rPr lang="en-US" dirty="0" err="1">
                <a:solidFill>
                  <a:srgbClr val="FF0000"/>
                </a:solidFill>
              </a:rPr>
              <a:t>bị</a:t>
            </a:r>
            <a:r>
              <a:rPr lang="en-US" dirty="0">
                <a:solidFill>
                  <a:srgbClr val="FF0000"/>
                </a:solidFill>
              </a:rPr>
              <a:t> </a:t>
            </a:r>
            <a:r>
              <a:rPr lang="en-US" dirty="0" err="1">
                <a:solidFill>
                  <a:srgbClr val="FF0000"/>
                </a:solidFill>
              </a:rPr>
              <a:t>này</a:t>
            </a:r>
            <a:r>
              <a:rPr lang="en-US" dirty="0">
                <a:solidFill>
                  <a:srgbClr val="FF0000"/>
                </a:solidFill>
              </a:rPr>
              <a:t> bao </a:t>
            </a:r>
            <a:r>
              <a:rPr lang="en-US" dirty="0" err="1">
                <a:solidFill>
                  <a:srgbClr val="FF0000"/>
                </a:solidFill>
              </a:rPr>
              <a:t>gồm</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dây</a:t>
            </a:r>
            <a:r>
              <a:rPr lang="en-US" dirty="0">
                <a:solidFill>
                  <a:srgbClr val="FF0000"/>
                </a:solidFill>
              </a:rPr>
              <a:t> </a:t>
            </a:r>
            <a:r>
              <a:rPr lang="en-US" dirty="0" err="1">
                <a:solidFill>
                  <a:srgbClr val="FF0000"/>
                </a:solidFill>
              </a:rPr>
              <a:t>dẫn</a:t>
            </a:r>
            <a:r>
              <a:rPr lang="en-US" dirty="0">
                <a:solidFill>
                  <a:srgbClr val="FF0000"/>
                </a:solidFill>
              </a:rPr>
              <a:t> </a:t>
            </a:r>
            <a:r>
              <a:rPr lang="en-US" dirty="0" err="1">
                <a:solidFill>
                  <a:srgbClr val="FF0000"/>
                </a:solidFill>
              </a:rPr>
              <a:t>được</a:t>
            </a:r>
            <a:r>
              <a:rPr lang="en-US" dirty="0">
                <a:solidFill>
                  <a:srgbClr val="FF0000"/>
                </a:solidFill>
              </a:rPr>
              <a:t> </a:t>
            </a:r>
            <a:r>
              <a:rPr lang="en-US" dirty="0" err="1">
                <a:solidFill>
                  <a:srgbClr val="FF0000"/>
                </a:solidFill>
              </a:rPr>
              <a:t>quấn</a:t>
            </a:r>
            <a:r>
              <a:rPr lang="en-US" dirty="0">
                <a:solidFill>
                  <a:srgbClr val="FF0000"/>
                </a:solidFill>
              </a:rPr>
              <a:t> </a:t>
            </a:r>
            <a:r>
              <a:rPr lang="en-US" dirty="0" err="1">
                <a:solidFill>
                  <a:srgbClr val="FF0000"/>
                </a:solidFill>
              </a:rPr>
              <a:t>quanh</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vòng</a:t>
            </a:r>
            <a:r>
              <a:rPr lang="en-US" dirty="0">
                <a:solidFill>
                  <a:srgbClr val="FF0000"/>
                </a:solidFill>
              </a:rPr>
              <a:t> (</a:t>
            </a:r>
            <a:r>
              <a:rPr lang="en-US" dirty="0" err="1">
                <a:solidFill>
                  <a:srgbClr val="FF0000"/>
                </a:solidFill>
              </a:rPr>
              <a:t>hình</a:t>
            </a:r>
            <a:r>
              <a:rPr lang="en-US" dirty="0">
                <a:solidFill>
                  <a:srgbClr val="FF0000"/>
                </a:solidFill>
              </a:rPr>
              <a:t> </a:t>
            </a:r>
            <a:r>
              <a:rPr lang="en-US" dirty="0" err="1">
                <a:solidFill>
                  <a:srgbClr val="FF0000"/>
                </a:solidFill>
              </a:rPr>
              <a:t>xuyến</a:t>
            </a:r>
            <a:r>
              <a:rPr lang="en-US" dirty="0">
                <a:solidFill>
                  <a:srgbClr val="FF0000"/>
                </a:solidFill>
              </a:rPr>
              <a:t>) </a:t>
            </a:r>
            <a:r>
              <a:rPr lang="en-US" dirty="0" err="1">
                <a:solidFill>
                  <a:srgbClr val="FF0000"/>
                </a:solidFill>
              </a:rPr>
              <a:t>làm</a:t>
            </a:r>
            <a:r>
              <a:rPr lang="en-US" dirty="0">
                <a:solidFill>
                  <a:srgbClr val="FF0000"/>
                </a:solidFill>
              </a:rPr>
              <a:t> </a:t>
            </a:r>
            <a:r>
              <a:rPr lang="en-US" dirty="0" err="1">
                <a:solidFill>
                  <a:srgbClr val="FF0000"/>
                </a:solidFill>
              </a:rPr>
              <a:t>bằng</a:t>
            </a:r>
            <a:r>
              <a:rPr lang="en-US" dirty="0">
                <a:solidFill>
                  <a:srgbClr val="FF0000"/>
                </a:solidFill>
              </a:rPr>
              <a:t> </a:t>
            </a:r>
            <a:r>
              <a:rPr lang="en-US" dirty="0" err="1">
                <a:solidFill>
                  <a:srgbClr val="FF0000"/>
                </a:solidFill>
              </a:rPr>
              <a:t>vật</a:t>
            </a:r>
            <a:r>
              <a:rPr lang="en-US" dirty="0">
                <a:solidFill>
                  <a:srgbClr val="FF0000"/>
                </a:solidFill>
              </a:rPr>
              <a:t> </a:t>
            </a:r>
            <a:r>
              <a:rPr lang="en-US" dirty="0" err="1">
                <a:solidFill>
                  <a:srgbClr val="FF0000"/>
                </a:solidFill>
              </a:rPr>
              <a:t>liệu</a:t>
            </a:r>
            <a:r>
              <a:rPr lang="en-US" dirty="0">
                <a:solidFill>
                  <a:srgbClr val="FF0000"/>
                </a:solidFill>
              </a:rPr>
              <a:t> </a:t>
            </a:r>
            <a:r>
              <a:rPr lang="en-US" dirty="0" err="1">
                <a:solidFill>
                  <a:srgbClr val="FF0000"/>
                </a:solidFill>
              </a:rPr>
              <a:t>cách</a:t>
            </a:r>
            <a:r>
              <a:rPr lang="en-US" dirty="0">
                <a:solidFill>
                  <a:srgbClr val="FF0000"/>
                </a:solidFill>
              </a:rPr>
              <a:t> </a:t>
            </a:r>
            <a:r>
              <a:rPr lang="en-US" dirty="0" err="1">
                <a:solidFill>
                  <a:srgbClr val="FF0000"/>
                </a:solidFill>
              </a:rPr>
              <a:t>điện</a:t>
            </a:r>
            <a:r>
              <a:rPr lang="en-US" dirty="0">
                <a:solidFill>
                  <a:srgbClr val="FF0000"/>
                </a:solidFill>
              </a:rPr>
              <a:t>. </a:t>
            </a:r>
            <a:r>
              <a:rPr lang="en-US" dirty="0" err="1">
                <a:solidFill>
                  <a:srgbClr val="7030A0"/>
                </a:solidFill>
              </a:rPr>
              <a:t>Đối</a:t>
            </a:r>
            <a:r>
              <a:rPr lang="en-US" dirty="0">
                <a:solidFill>
                  <a:srgbClr val="7030A0"/>
                </a:solidFill>
              </a:rPr>
              <a:t> </a:t>
            </a:r>
            <a:r>
              <a:rPr lang="en-US" dirty="0" err="1">
                <a:solidFill>
                  <a:srgbClr val="7030A0"/>
                </a:solidFill>
              </a:rPr>
              <a:t>với</a:t>
            </a:r>
            <a:r>
              <a:rPr lang="en-US" dirty="0">
                <a:solidFill>
                  <a:srgbClr val="7030A0"/>
                </a:solidFill>
              </a:rPr>
              <a:t> </a:t>
            </a:r>
            <a:r>
              <a:rPr lang="en-US" dirty="0" err="1">
                <a:solidFill>
                  <a:srgbClr val="7030A0"/>
                </a:solidFill>
              </a:rPr>
              <a:t>một</a:t>
            </a:r>
            <a:r>
              <a:rPr lang="en-US" dirty="0">
                <a:solidFill>
                  <a:srgbClr val="7030A0"/>
                </a:solidFill>
              </a:rPr>
              <a:t> </a:t>
            </a:r>
            <a:r>
              <a:rPr lang="en-US" dirty="0" err="1">
                <a:solidFill>
                  <a:srgbClr val="7030A0"/>
                </a:solidFill>
              </a:rPr>
              <a:t>hình</a:t>
            </a:r>
            <a:r>
              <a:rPr lang="en-US" dirty="0">
                <a:solidFill>
                  <a:srgbClr val="7030A0"/>
                </a:solidFill>
              </a:rPr>
              <a:t> </a:t>
            </a:r>
            <a:r>
              <a:rPr lang="en-US" dirty="0" err="1">
                <a:solidFill>
                  <a:srgbClr val="7030A0"/>
                </a:solidFill>
              </a:rPr>
              <a:t>xuyến</a:t>
            </a:r>
            <a:r>
              <a:rPr lang="en-US" dirty="0">
                <a:solidFill>
                  <a:srgbClr val="7030A0"/>
                </a:solidFill>
              </a:rPr>
              <a:t> </a:t>
            </a:r>
            <a:r>
              <a:rPr lang="en-US" dirty="0" err="1">
                <a:solidFill>
                  <a:srgbClr val="7030A0"/>
                </a:solidFill>
              </a:rPr>
              <a:t>có</a:t>
            </a:r>
            <a:r>
              <a:rPr lang="en-US" dirty="0">
                <a:solidFill>
                  <a:srgbClr val="7030A0"/>
                </a:solidFill>
              </a:rPr>
              <a:t> N </a:t>
            </a:r>
            <a:r>
              <a:rPr lang="en-US" dirty="0" err="1">
                <a:solidFill>
                  <a:srgbClr val="7030A0"/>
                </a:solidFill>
              </a:rPr>
              <a:t>vòng</a:t>
            </a:r>
            <a:r>
              <a:rPr lang="en-US" dirty="0">
                <a:solidFill>
                  <a:srgbClr val="7030A0"/>
                </a:solidFill>
              </a:rPr>
              <a:t> </a:t>
            </a:r>
            <a:r>
              <a:rPr lang="en-US" dirty="0" err="1">
                <a:solidFill>
                  <a:srgbClr val="7030A0"/>
                </a:solidFill>
              </a:rPr>
              <a:t>dây</a:t>
            </a:r>
            <a:r>
              <a:rPr lang="en-US" dirty="0">
                <a:solidFill>
                  <a:srgbClr val="7030A0"/>
                </a:solidFill>
              </a:rPr>
              <a:t> </a:t>
            </a:r>
            <a:r>
              <a:rPr lang="en-US" dirty="0" err="1">
                <a:solidFill>
                  <a:srgbClr val="7030A0"/>
                </a:solidFill>
              </a:rPr>
              <a:t>cách</a:t>
            </a:r>
            <a:r>
              <a:rPr lang="en-US" dirty="0">
                <a:solidFill>
                  <a:srgbClr val="7030A0"/>
                </a:solidFill>
              </a:rPr>
              <a:t> </a:t>
            </a:r>
            <a:r>
              <a:rPr lang="en-US" dirty="0" err="1">
                <a:solidFill>
                  <a:srgbClr val="7030A0"/>
                </a:solidFill>
              </a:rPr>
              <a:t>đều</a:t>
            </a:r>
            <a:r>
              <a:rPr lang="en-US" dirty="0">
                <a:solidFill>
                  <a:srgbClr val="7030A0"/>
                </a:solidFill>
              </a:rPr>
              <a:t> </a:t>
            </a:r>
            <a:r>
              <a:rPr lang="en-US" dirty="0" err="1">
                <a:solidFill>
                  <a:srgbClr val="7030A0"/>
                </a:solidFill>
              </a:rPr>
              <a:t>nhau</a:t>
            </a:r>
            <a:r>
              <a:rPr lang="en-US" dirty="0">
                <a:solidFill>
                  <a:srgbClr val="7030A0"/>
                </a:solidFill>
              </a:rPr>
              <a:t>, </a:t>
            </a:r>
            <a:r>
              <a:rPr lang="en-US" dirty="0" err="1">
                <a:solidFill>
                  <a:srgbClr val="7030A0"/>
                </a:solidFill>
              </a:rPr>
              <a:t>hãy</a:t>
            </a:r>
            <a:r>
              <a:rPr lang="en-US" dirty="0">
                <a:solidFill>
                  <a:srgbClr val="7030A0"/>
                </a:solidFill>
              </a:rPr>
              <a:t> </a:t>
            </a:r>
            <a:r>
              <a:rPr lang="en-US" dirty="0" err="1">
                <a:solidFill>
                  <a:srgbClr val="7030A0"/>
                </a:solidFill>
              </a:rPr>
              <a:t>tính</a:t>
            </a:r>
            <a:r>
              <a:rPr lang="en-US" dirty="0">
                <a:solidFill>
                  <a:srgbClr val="7030A0"/>
                </a:solidFill>
              </a:rPr>
              <a:t> </a:t>
            </a:r>
            <a:r>
              <a:rPr lang="en-US" dirty="0" err="1">
                <a:solidFill>
                  <a:srgbClr val="7030A0"/>
                </a:solidFill>
              </a:rPr>
              <a:t>cảm</a:t>
            </a:r>
            <a:r>
              <a:rPr lang="en-US" dirty="0">
                <a:solidFill>
                  <a:srgbClr val="7030A0"/>
                </a:solidFill>
              </a:rPr>
              <a:t> </a:t>
            </a:r>
            <a:r>
              <a:rPr lang="en-US" dirty="0" err="1">
                <a:solidFill>
                  <a:srgbClr val="7030A0"/>
                </a:solidFill>
              </a:rPr>
              <a:t>ứng</a:t>
            </a:r>
            <a:r>
              <a:rPr lang="en-US" dirty="0">
                <a:solidFill>
                  <a:srgbClr val="7030A0"/>
                </a:solidFill>
              </a:rPr>
              <a:t> </a:t>
            </a:r>
            <a:r>
              <a:rPr lang="en-US" dirty="0" err="1">
                <a:solidFill>
                  <a:srgbClr val="7030A0"/>
                </a:solidFill>
              </a:rPr>
              <a:t>từ</a:t>
            </a:r>
            <a:r>
              <a:rPr lang="en-US" dirty="0">
                <a:solidFill>
                  <a:srgbClr val="7030A0"/>
                </a:solidFill>
              </a:rPr>
              <a:t> </a:t>
            </a:r>
            <a:r>
              <a:rPr lang="en-US" dirty="0" err="1">
                <a:solidFill>
                  <a:srgbClr val="7030A0"/>
                </a:solidFill>
              </a:rPr>
              <a:t>tại</a:t>
            </a:r>
            <a:r>
              <a:rPr lang="en-US" dirty="0">
                <a:solidFill>
                  <a:srgbClr val="7030A0"/>
                </a:solidFill>
              </a:rPr>
              <a:t> </a:t>
            </a:r>
            <a:r>
              <a:rPr lang="en-US" dirty="0" err="1">
                <a:solidFill>
                  <a:srgbClr val="7030A0"/>
                </a:solidFill>
              </a:rPr>
              <a:t>một</a:t>
            </a:r>
            <a:r>
              <a:rPr lang="en-US" dirty="0">
                <a:solidFill>
                  <a:srgbClr val="7030A0"/>
                </a:solidFill>
              </a:rPr>
              <a:t> </a:t>
            </a:r>
            <a:r>
              <a:rPr lang="en-US" dirty="0" err="1">
                <a:solidFill>
                  <a:srgbClr val="7030A0"/>
                </a:solidFill>
              </a:rPr>
              <a:t>điểm</a:t>
            </a:r>
            <a:r>
              <a:rPr lang="en-US" dirty="0">
                <a:solidFill>
                  <a:srgbClr val="7030A0"/>
                </a:solidFill>
              </a:rPr>
              <a:t> </a:t>
            </a:r>
            <a:r>
              <a:rPr lang="en-US" dirty="0" err="1">
                <a:solidFill>
                  <a:srgbClr val="7030A0"/>
                </a:solidFill>
              </a:rPr>
              <a:t>cách</a:t>
            </a:r>
            <a:r>
              <a:rPr lang="en-US" dirty="0">
                <a:solidFill>
                  <a:srgbClr val="7030A0"/>
                </a:solidFill>
              </a:rPr>
              <a:t> </a:t>
            </a:r>
            <a:r>
              <a:rPr lang="en-US" dirty="0" err="1">
                <a:solidFill>
                  <a:srgbClr val="7030A0"/>
                </a:solidFill>
              </a:rPr>
              <a:t>tâm</a:t>
            </a:r>
            <a:r>
              <a:rPr lang="en-US" dirty="0">
                <a:solidFill>
                  <a:srgbClr val="7030A0"/>
                </a:solidFill>
              </a:rPr>
              <a:t> </a:t>
            </a:r>
            <a:r>
              <a:rPr lang="en-US" dirty="0" err="1">
                <a:solidFill>
                  <a:srgbClr val="7030A0"/>
                </a:solidFill>
              </a:rPr>
              <a:t>vòng</a:t>
            </a:r>
            <a:r>
              <a:rPr lang="en-US" dirty="0">
                <a:solidFill>
                  <a:srgbClr val="7030A0"/>
                </a:solidFill>
              </a:rPr>
              <a:t> </a:t>
            </a:r>
            <a:r>
              <a:rPr lang="en-US" dirty="0" err="1">
                <a:solidFill>
                  <a:srgbClr val="7030A0"/>
                </a:solidFill>
              </a:rPr>
              <a:t>dây</a:t>
            </a:r>
            <a:r>
              <a:rPr lang="en-US" dirty="0">
                <a:solidFill>
                  <a:srgbClr val="7030A0"/>
                </a:solidFill>
              </a:rPr>
              <a:t> </a:t>
            </a:r>
            <a:r>
              <a:rPr lang="en-US" dirty="0" err="1">
                <a:solidFill>
                  <a:srgbClr val="7030A0"/>
                </a:solidFill>
              </a:rPr>
              <a:t>hình</a:t>
            </a:r>
            <a:r>
              <a:rPr lang="en-US" dirty="0">
                <a:solidFill>
                  <a:srgbClr val="7030A0"/>
                </a:solidFill>
              </a:rPr>
              <a:t> </a:t>
            </a:r>
            <a:r>
              <a:rPr lang="en-US" dirty="0" err="1">
                <a:solidFill>
                  <a:srgbClr val="7030A0"/>
                </a:solidFill>
              </a:rPr>
              <a:t>xuyến</a:t>
            </a:r>
            <a:r>
              <a:rPr lang="en-US" dirty="0">
                <a:solidFill>
                  <a:srgbClr val="7030A0"/>
                </a:solidFill>
              </a:rPr>
              <a:t> </a:t>
            </a:r>
            <a:r>
              <a:rPr lang="en-US" dirty="0" err="1">
                <a:solidFill>
                  <a:srgbClr val="7030A0"/>
                </a:solidFill>
              </a:rPr>
              <a:t>một</a:t>
            </a:r>
            <a:r>
              <a:rPr lang="en-US" dirty="0">
                <a:solidFill>
                  <a:srgbClr val="7030A0"/>
                </a:solidFill>
              </a:rPr>
              <a:t> </a:t>
            </a:r>
            <a:r>
              <a:rPr lang="en-US" dirty="0" err="1">
                <a:solidFill>
                  <a:srgbClr val="7030A0"/>
                </a:solidFill>
              </a:rPr>
              <a:t>khoảng</a:t>
            </a:r>
            <a:r>
              <a:rPr lang="en-US" dirty="0">
                <a:solidFill>
                  <a:srgbClr val="7030A0"/>
                </a:solidFill>
              </a:rPr>
              <a:t> </a:t>
            </a:r>
            <a:r>
              <a:rPr lang="en-US" i="1" dirty="0">
                <a:solidFill>
                  <a:srgbClr val="7030A0"/>
                </a:solidFill>
              </a:rPr>
              <a:t>r</a:t>
            </a:r>
            <a:r>
              <a:rPr lang="en-US" dirty="0">
                <a:solidFill>
                  <a:srgbClr val="7030A0"/>
                </a:solidFill>
              </a:rPr>
              <a:t>.</a:t>
            </a:r>
          </a:p>
        </p:txBody>
      </p:sp>
      <p:pic>
        <p:nvPicPr>
          <p:cNvPr id="9" name="Picture 8">
            <a:extLst>
              <a:ext uri="{FF2B5EF4-FFF2-40B4-BE49-F238E27FC236}">
                <a16:creationId xmlns:a16="http://schemas.microsoft.com/office/drawing/2014/main" xmlns="" id="{BF66ECBE-5A05-4A1C-B342-B76D7E806E48}"/>
              </a:ext>
            </a:extLst>
          </p:cNvPr>
          <p:cNvPicPr>
            <a:picLocks noChangeAspect="1"/>
          </p:cNvPicPr>
          <p:nvPr/>
        </p:nvPicPr>
        <p:blipFill>
          <a:blip r:embed="rId2"/>
          <a:stretch>
            <a:fillRect/>
          </a:stretch>
        </p:blipFill>
        <p:spPr>
          <a:xfrm>
            <a:off x="7858540" y="2130178"/>
            <a:ext cx="3648075" cy="2952750"/>
          </a:xfrm>
          <a:prstGeom prst="rect">
            <a:avLst/>
          </a:prstGeom>
        </p:spPr>
      </p:pic>
    </p:spTree>
    <p:extLst>
      <p:ext uri="{BB962C8B-B14F-4D97-AF65-F5344CB8AC3E}">
        <p14:creationId xmlns:p14="http://schemas.microsoft.com/office/powerpoint/2010/main" val="16917569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3CCC99-2805-4882-89EC-BBBFD51188B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87476E25-BEF2-47B2-A1FB-004DECA441E3}"/>
                  </a:ext>
                </a:extLst>
              </p:cNvPr>
              <p:cNvSpPr>
                <a:spLocks noGrp="1"/>
              </p:cNvSpPr>
              <p:nvPr>
                <p:ph idx="1"/>
              </p:nvPr>
            </p:nvSpPr>
            <p:spPr/>
            <p:txBody>
              <a:bodyPr/>
              <a:lstStyle/>
              <a:p>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i="1">
                              <a:latin typeface="Cambria Math"/>
                            </a:rPr>
                          </m:ctrlPr>
                        </m:naryPr>
                        <m:sub/>
                        <m:sup/>
                        <m:e>
                          <m:acc>
                            <m:accPr>
                              <m:chr m:val="⃗"/>
                              <m:ctrlPr>
                                <a:rPr lang="en-US" i="1">
                                  <a:latin typeface="Cambria Math"/>
                                </a:rPr>
                              </m:ctrlPr>
                            </m:accPr>
                            <m:e>
                              <m:r>
                                <a:rPr lang="en-US" i="1">
                                  <a:latin typeface="Cambria Math" panose="02040503050406030204" pitchFamily="18" charset="0"/>
                                </a:rPr>
                                <m:t>𝐵</m:t>
                              </m:r>
                            </m:e>
                          </m:acc>
                          <m:r>
                            <m:rPr>
                              <m:sty m:val="p"/>
                            </m:rPr>
                            <a:rPr lang="en-US">
                              <a:latin typeface="Cambria Math" panose="02040503050406030204" pitchFamily="18" charset="0"/>
                            </a:rPr>
                            <m:t>d</m:t>
                          </m:r>
                          <m:acc>
                            <m:accPr>
                              <m:chr m:val="⃗"/>
                              <m:ctrlPr>
                                <a:rPr lang="en-US" i="1">
                                  <a:latin typeface="Cambria Math"/>
                                </a:rPr>
                              </m:ctrlPr>
                            </m:accPr>
                            <m:e>
                              <m:r>
                                <a:rPr lang="en-US" i="1">
                                  <a:latin typeface="Cambria Math" panose="02040503050406030204" pitchFamily="18" charset="0"/>
                                </a:rPr>
                                <m:t>𝑠</m:t>
                              </m:r>
                            </m:e>
                          </m:acc>
                        </m:e>
                      </m:nary>
                      <m:r>
                        <a:rPr lang="en-US" i="1">
                          <a:latin typeface="Cambria Math" panose="02040503050406030204" pitchFamily="18" charset="0"/>
                        </a:rPr>
                        <m:t>=</m:t>
                      </m:r>
                      <m:nary>
                        <m:naryPr>
                          <m:chr m:val="∮"/>
                          <m:limLoc m:val="undOvr"/>
                          <m:subHide m:val="on"/>
                          <m:supHide m:val="on"/>
                          <m:ctrlPr>
                            <a:rPr lang="en-US" i="1">
                              <a:latin typeface="Cambria Math"/>
                            </a:rPr>
                          </m:ctrlPr>
                        </m:naryPr>
                        <m:sub/>
                        <m:sup/>
                        <m:e>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𝑑𝑠</m:t>
                          </m:r>
                        </m:e>
                      </m:nary>
                      <m:r>
                        <a:rPr lang="en-US" i="1">
                          <a:latin typeface="Cambria Math" panose="02040503050406030204" pitchFamily="18" charset="0"/>
                        </a:rPr>
                        <m:t>=</m:t>
                      </m:r>
                      <m:r>
                        <a:rPr lang="en-US" i="1">
                          <a:latin typeface="Cambria Math" panose="02040503050406030204" pitchFamily="18" charset="0"/>
                        </a:rPr>
                        <m:t>𝐵</m:t>
                      </m:r>
                      <m:nary>
                        <m:naryPr>
                          <m:chr m:val="∮"/>
                          <m:limLoc m:val="undOvr"/>
                          <m:subHide m:val="on"/>
                          <m:supHide m:val="on"/>
                          <m:ctrlPr>
                            <a:rPr lang="en-US" i="1">
                              <a:latin typeface="Cambria Math"/>
                            </a:rPr>
                          </m:ctrlPr>
                        </m:naryPr>
                        <m:sub/>
                        <m:sup/>
                        <m:e>
                          <m:r>
                            <a:rPr lang="en-US" i="1">
                              <a:latin typeface="Cambria Math" panose="02040503050406030204" pitchFamily="18" charset="0"/>
                            </a:rPr>
                            <m:t>𝑑𝑠</m:t>
                          </m:r>
                        </m:e>
                      </m:nary>
                      <m:r>
                        <a:rPr lang="en-US" i="1">
                          <a:latin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.2</m:t>
                      </m:r>
                      <m:r>
                        <a:rPr lang="en-US" i="1">
                          <a:latin typeface="Cambria Math" panose="02040503050406030204" pitchFamily="18" charset="0"/>
                        </a:rPr>
                        <m:t>𝜋</m:t>
                      </m:r>
                      <m:r>
                        <a:rPr lang="en-US" i="1">
                          <a:latin typeface="Cambria Math" panose="02040503050406030204" pitchFamily="18" charset="0"/>
                        </a:rPr>
                        <m:t>𝑟</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𝜇</m:t>
                          </m:r>
                        </m:e>
                        <m:sub>
                          <m:r>
                            <a:rPr lang="en-US" i="1">
                              <a:latin typeface="Cambria Math" panose="02040503050406030204" pitchFamily="18" charset="0"/>
                            </a:rPr>
                            <m:t>𝑜</m:t>
                          </m:r>
                        </m:sub>
                      </m:sSub>
                      <m:r>
                        <a:rPr lang="en-US" i="1">
                          <a:latin typeface="Cambria Math" panose="02040503050406030204" pitchFamily="18" charset="0"/>
                        </a:rPr>
                        <m:t>𝑁𝐼</m:t>
                      </m:r>
                    </m:oMath>
                  </m:oMathPara>
                </a14:m>
                <a:endParaRPr lang="en-US" dirty="0"/>
              </a:p>
              <a:p>
                <a:r>
                  <a:rPr lang="en-US" dirty="0" err="1"/>
                  <a:t>Suy</a:t>
                </a:r>
                <a:r>
                  <a:rPr lang="en-US" dirty="0"/>
                  <a:t> ra :</a:t>
                </a:r>
              </a:p>
              <a:p>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𝑩</m:t>
                      </m:r>
                      <m:r>
                        <a:rPr lang="en-US" b="1" i="1">
                          <a:latin typeface="Cambria Math" panose="02040503050406030204" pitchFamily="18" charset="0"/>
                        </a:rPr>
                        <m:t>=</m:t>
                      </m:r>
                      <m:f>
                        <m:fPr>
                          <m:ctrlPr>
                            <a:rPr lang="en-US" b="1" i="1">
                              <a:latin typeface="Cambria Math"/>
                            </a:rPr>
                          </m:ctrlPr>
                        </m:fPr>
                        <m:num>
                          <m:sSub>
                            <m:sSubPr>
                              <m:ctrlPr>
                                <a:rPr lang="en-US" b="1" i="1">
                                  <a:latin typeface="Cambria Math"/>
                                </a:rPr>
                              </m:ctrlPr>
                            </m:sSubPr>
                            <m:e>
                              <m:r>
                                <a:rPr lang="en-US" b="1" i="1">
                                  <a:latin typeface="Cambria Math" panose="02040503050406030204" pitchFamily="18" charset="0"/>
                                </a:rPr>
                                <m:t>𝝁</m:t>
                              </m:r>
                            </m:e>
                            <m:sub>
                              <m:r>
                                <a:rPr lang="en-US" b="1" i="1">
                                  <a:latin typeface="Cambria Math" panose="02040503050406030204" pitchFamily="18" charset="0"/>
                                </a:rPr>
                                <m:t>𝒐</m:t>
                              </m:r>
                            </m:sub>
                          </m:sSub>
                          <m:r>
                            <a:rPr lang="en-US" b="1" i="1">
                              <a:latin typeface="Cambria Math" panose="02040503050406030204" pitchFamily="18" charset="0"/>
                            </a:rPr>
                            <m:t>𝑵𝑰</m:t>
                          </m:r>
                        </m:num>
                        <m:den>
                          <m:r>
                            <a:rPr lang="en-US" b="1" i="1">
                              <a:latin typeface="Cambria Math" panose="02040503050406030204" pitchFamily="18" charset="0"/>
                            </a:rPr>
                            <m:t>𝟐</m:t>
                          </m:r>
                          <m:r>
                            <a:rPr lang="en-US" b="1" i="1">
                              <a:latin typeface="Cambria Math" panose="02040503050406030204" pitchFamily="18" charset="0"/>
                            </a:rPr>
                            <m:t>𝝅</m:t>
                          </m:r>
                          <m:r>
                            <a:rPr lang="en-US" b="1" i="1">
                              <a:latin typeface="Cambria Math" panose="02040503050406030204" pitchFamily="18" charset="0"/>
                            </a:rPr>
                            <m:t>𝒓</m:t>
                          </m:r>
                        </m:den>
                      </m:f>
                      <m:r>
                        <a:rPr lang="en-US" b="1" i="1">
                          <a:latin typeface="Cambria Math" panose="02040503050406030204" pitchFamily="18" charset="0"/>
                        </a:rPr>
                        <m:t> </m:t>
                      </m:r>
                    </m:oMath>
                  </m:oMathPara>
                </a14:m>
                <a:endParaRPr lang="en-US" dirty="0"/>
              </a:p>
            </p:txBody>
          </p:sp>
        </mc:Choice>
        <mc:Fallback xmlns="">
          <p:sp>
            <p:nvSpPr>
              <p:cNvPr id="3" name="Content Placeholder 2">
                <a:extLst>
                  <a:ext uri="{FF2B5EF4-FFF2-40B4-BE49-F238E27FC236}">
                    <a16:creationId xmlns:a16="http://schemas.microsoft.com/office/drawing/2014/main" id="{87476E25-BEF2-47B2-A1FB-004DECA441E3}"/>
                  </a:ext>
                </a:extLst>
              </p:cNvPr>
              <p:cNvSpPr>
                <a:spLocks noGrp="1" noRot="1" noChangeAspect="1" noMove="1" noResize="1" noEditPoints="1" noAdjustHandles="1" noChangeArrowheads="1" noChangeShapeType="1" noTextEdit="1"/>
              </p:cNvSpPr>
              <p:nvPr>
                <p:ph idx="1"/>
              </p:nvPr>
            </p:nvSpPr>
            <p:spPr>
              <a:blipFill>
                <a:blip r:embed="rId2"/>
                <a:stretch>
                  <a:fillRect l="-2087"/>
                </a:stretch>
              </a:blipFill>
            </p:spPr>
            <p:txBody>
              <a:bodyPr/>
              <a:lstStyle/>
              <a:p>
                <a:r>
                  <a:rPr lang="en-US">
                    <a:noFill/>
                  </a:rPr>
                  <a:t> </a:t>
                </a:r>
              </a:p>
            </p:txBody>
          </p:sp>
        </mc:Fallback>
      </mc:AlternateContent>
    </p:spTree>
    <p:extLst>
      <p:ext uri="{BB962C8B-B14F-4D97-AF65-F5344CB8AC3E}">
        <p14:creationId xmlns:p14="http://schemas.microsoft.com/office/powerpoint/2010/main" val="1901349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E02F3C71-C981-4614-98EA-D6C494F8091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336883" y="321176"/>
            <a:ext cx="717424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232504A-84A2-4993-962B-44F16B2D3B2D}"/>
              </a:ext>
            </a:extLst>
          </p:cNvPr>
          <p:cNvSpPr>
            <a:spLocks noGrp="1"/>
          </p:cNvSpPr>
          <p:nvPr>
            <p:ph type="title"/>
          </p:nvPr>
        </p:nvSpPr>
        <p:spPr>
          <a:xfrm>
            <a:off x="821514" y="621401"/>
            <a:ext cx="6204984" cy="1344975"/>
          </a:xfrm>
        </p:spPr>
        <p:txBody>
          <a:bodyPr>
            <a:normAutofit/>
          </a:bodyPr>
          <a:lstStyle/>
          <a:p>
            <a:r>
              <a:rPr lang="en-US" sz="3700" b="1" dirty="0">
                <a:effectLst>
                  <a:glow>
                    <a:srgbClr val="000000"/>
                  </a:glow>
                  <a:outerShdw sx="0" sy="0">
                    <a:srgbClr val="000000"/>
                  </a:outerShdw>
                  <a:reflection stA="0" endPos="0" fadeDir="0" sx="0" sy="0"/>
                </a:effectLst>
              </a:rPr>
              <a:t>Từ </a:t>
            </a:r>
            <a:r>
              <a:rPr lang="en-US" sz="3700" b="1" dirty="0" err="1">
                <a:effectLst>
                  <a:glow>
                    <a:srgbClr val="000000"/>
                  </a:glow>
                  <a:outerShdw sx="0" sy="0">
                    <a:srgbClr val="000000"/>
                  </a:outerShdw>
                  <a:reflection stA="0" endPos="0" fadeDir="0" sx="0" sy="0"/>
                </a:effectLst>
              </a:rPr>
              <a:t>trường</a:t>
            </a:r>
            <a:r>
              <a:rPr lang="en-US" sz="3700" b="1" dirty="0">
                <a:effectLst>
                  <a:glow>
                    <a:srgbClr val="000000"/>
                  </a:glow>
                  <a:outerShdw sx="0" sy="0">
                    <a:srgbClr val="000000"/>
                  </a:outerShdw>
                  <a:reflection stA="0" endPos="0" fadeDir="0" sx="0" sy="0"/>
                </a:effectLst>
              </a:rPr>
              <a:t> </a:t>
            </a:r>
            <a:r>
              <a:rPr lang="en-US" sz="3700" b="1" dirty="0" err="1">
                <a:effectLst>
                  <a:glow>
                    <a:srgbClr val="000000"/>
                  </a:glow>
                  <a:outerShdw sx="0" sy="0">
                    <a:srgbClr val="000000"/>
                  </a:outerShdw>
                  <a:reflection stA="0" endPos="0" fadeDir="0" sx="0" sy="0"/>
                </a:effectLst>
              </a:rPr>
              <a:t>của</a:t>
            </a:r>
            <a:r>
              <a:rPr lang="en-US" sz="3700" b="1" dirty="0">
                <a:effectLst>
                  <a:glow>
                    <a:srgbClr val="000000"/>
                  </a:glow>
                  <a:outerShdw sx="0" sy="0">
                    <a:srgbClr val="000000"/>
                  </a:outerShdw>
                  <a:reflection stA="0" endPos="0" fadeDir="0" sx="0" sy="0"/>
                </a:effectLst>
              </a:rPr>
              <a:t> </a:t>
            </a:r>
            <a:r>
              <a:rPr lang="en-US" sz="3700" b="1" dirty="0" err="1">
                <a:effectLst>
                  <a:glow>
                    <a:srgbClr val="000000"/>
                  </a:glow>
                  <a:outerShdw sx="0" sy="0">
                    <a:srgbClr val="000000"/>
                  </a:outerShdw>
                  <a:reflection stA="0" endPos="0" fadeDir="0" sx="0" sy="0"/>
                </a:effectLst>
              </a:rPr>
              <a:t>ống</a:t>
            </a:r>
            <a:r>
              <a:rPr lang="en-US" sz="3700" b="1" dirty="0">
                <a:effectLst>
                  <a:glow>
                    <a:srgbClr val="000000"/>
                  </a:glow>
                  <a:outerShdw sx="0" sy="0">
                    <a:srgbClr val="000000"/>
                  </a:outerShdw>
                  <a:reflection stA="0" endPos="0" fadeDir="0" sx="0" sy="0"/>
                </a:effectLst>
              </a:rPr>
              <a:t> </a:t>
            </a:r>
            <a:r>
              <a:rPr lang="en-US" sz="3700" b="1" dirty="0" err="1">
                <a:effectLst>
                  <a:glow>
                    <a:srgbClr val="000000"/>
                  </a:glow>
                  <a:outerShdw sx="0" sy="0">
                    <a:srgbClr val="000000"/>
                  </a:outerShdw>
                  <a:reflection stA="0" endPos="0" fadeDir="0" sx="0" sy="0"/>
                </a:effectLst>
              </a:rPr>
              <a:t>dây</a:t>
            </a:r>
            <a:r>
              <a:rPr lang="en-US" sz="3700" b="1" dirty="0">
                <a:effectLst>
                  <a:glow>
                    <a:srgbClr val="000000"/>
                  </a:glow>
                  <a:outerShdw sx="0" sy="0">
                    <a:srgbClr val="000000"/>
                  </a:outerShdw>
                  <a:reflection stA="0" endPos="0" fadeDir="0" sx="0" sy="0"/>
                </a:effectLst>
              </a:rPr>
              <a:t> Solenoid</a:t>
            </a:r>
            <a:br>
              <a:rPr lang="en-US" sz="3700" b="1" dirty="0">
                <a:effectLst>
                  <a:glow>
                    <a:srgbClr val="000000"/>
                  </a:glow>
                  <a:outerShdw sx="0" sy="0">
                    <a:srgbClr val="000000"/>
                  </a:outerShdw>
                  <a:reflection stA="0" endPos="0" fadeDir="0" sx="0" sy="0"/>
                </a:effectLst>
              </a:rPr>
            </a:br>
            <a:endParaRPr lang="en-US" sz="3700" dirty="0"/>
          </a:p>
        </p:txBody>
      </p:sp>
      <p:sp>
        <p:nvSpPr>
          <p:cNvPr id="5" name="Content Placeholder 4">
            <a:extLst>
              <a:ext uri="{FF2B5EF4-FFF2-40B4-BE49-F238E27FC236}">
                <a16:creationId xmlns:a16="http://schemas.microsoft.com/office/drawing/2014/main" xmlns="" id="{72316D07-EA8F-4316-98E5-777BADCF7DA4}"/>
              </a:ext>
            </a:extLst>
          </p:cNvPr>
          <p:cNvSpPr>
            <a:spLocks noGrp="1"/>
          </p:cNvSpPr>
          <p:nvPr>
            <p:ph idx="1"/>
          </p:nvPr>
        </p:nvSpPr>
        <p:spPr>
          <a:xfrm>
            <a:off x="462116" y="1474840"/>
            <a:ext cx="6927919" cy="4562166"/>
          </a:xfrm>
        </p:spPr>
        <p:txBody>
          <a:bodyPr>
            <a:noAutofit/>
          </a:bodyPr>
          <a:lstStyle/>
          <a:p>
            <a:r>
              <a:rPr lang="vi-VN" sz="3200" b="1" dirty="0"/>
              <a:t>Solenoid</a:t>
            </a:r>
            <a:r>
              <a:rPr lang="vi-VN" sz="3200" dirty="0"/>
              <a:t> là một dụng cụ được tạo ra bởi một vòng dây </a:t>
            </a:r>
            <a:r>
              <a:rPr lang="vi-VN" sz="3200" dirty="0">
                <a:hlinkClick r:id="rId2" tooltip="Dẫn điện"/>
              </a:rPr>
              <a:t>dẫn điện</a:t>
            </a:r>
            <a:r>
              <a:rPr lang="vi-VN" sz="3200" dirty="0"/>
              <a:t> quấn theo dạng </a:t>
            </a:r>
            <a:r>
              <a:rPr lang="vi-VN" sz="3200" dirty="0">
                <a:hlinkClick r:id="rId3" tooltip="Hình trụ"/>
              </a:rPr>
              <a:t>hình trụ</a:t>
            </a:r>
            <a:r>
              <a:rPr lang="vi-VN" sz="3200" dirty="0"/>
              <a:t>. Khi cho </a:t>
            </a:r>
            <a:r>
              <a:rPr lang="vi-VN" sz="3200" dirty="0">
                <a:hlinkClick r:id="rId4" tooltip="Dòng điện"/>
              </a:rPr>
              <a:t>dòng điện</a:t>
            </a:r>
            <a:r>
              <a:rPr lang="vi-VN" sz="3200" dirty="0"/>
              <a:t> chạy qua dây thì sẽ xuất hiện </a:t>
            </a:r>
            <a:r>
              <a:rPr lang="vi-VN" sz="3200" dirty="0">
                <a:hlinkClick r:id="rId5" tooltip="Từ trường"/>
              </a:rPr>
              <a:t>từ trường</a:t>
            </a:r>
            <a:r>
              <a:rPr lang="vi-VN" sz="3200" dirty="0"/>
              <a:t> khá đều trong lòng ống. </a:t>
            </a:r>
            <a:r>
              <a:rPr lang="vi-VN" sz="3200" u="sng" dirty="0">
                <a:hlinkClick r:id="rId5"/>
              </a:rPr>
              <a:t>Cường độ từ trường</a:t>
            </a:r>
            <a:r>
              <a:rPr lang="vi-VN" sz="3200" dirty="0"/>
              <a:t> sinh ra phụ thuộc vào </a:t>
            </a:r>
            <a:r>
              <a:rPr lang="vi-VN" sz="3200" dirty="0">
                <a:hlinkClick r:id="rId6" tooltip="Dòng điện"/>
              </a:rPr>
              <a:t>cường độ dòng điện</a:t>
            </a:r>
            <a:r>
              <a:rPr lang="vi-VN" sz="3200" dirty="0"/>
              <a:t> đi qua dây, số vòng dây trên một </a:t>
            </a:r>
            <a:r>
              <a:rPr lang="vi-VN" sz="3200" dirty="0">
                <a:hlinkClick r:id="rId7" tooltip="Đơn vị đo chiều dài"/>
              </a:rPr>
              <a:t>đơn vị đo chiều dài</a:t>
            </a:r>
            <a:r>
              <a:rPr lang="vi-VN" sz="3200" dirty="0"/>
              <a:t> của ống dây và phụ thuộc vào kích thước của ống dây.</a:t>
            </a:r>
            <a:endParaRPr lang="en-US" sz="3200" dirty="0"/>
          </a:p>
        </p:txBody>
      </p:sp>
      <p:pic>
        <p:nvPicPr>
          <p:cNvPr id="3" name="Picture 2">
            <a:extLst>
              <a:ext uri="{FF2B5EF4-FFF2-40B4-BE49-F238E27FC236}">
                <a16:creationId xmlns:a16="http://schemas.microsoft.com/office/drawing/2014/main" xmlns="" id="{9C470956-F7E0-4E52-8C06-6F91ACCF3E97}"/>
              </a:ext>
            </a:extLst>
          </p:cNvPr>
          <p:cNvPicPr>
            <a:picLocks noChangeAspect="1"/>
          </p:cNvPicPr>
          <p:nvPr/>
        </p:nvPicPr>
        <p:blipFill>
          <a:blip r:embed="rId8"/>
          <a:stretch>
            <a:fillRect/>
          </a:stretch>
        </p:blipFill>
        <p:spPr>
          <a:xfrm>
            <a:off x="7829551" y="434254"/>
            <a:ext cx="4042409" cy="2031310"/>
          </a:xfrm>
          <a:prstGeom prst="rect">
            <a:avLst/>
          </a:prstGeom>
        </p:spPr>
      </p:pic>
      <p:pic>
        <p:nvPicPr>
          <p:cNvPr id="4" name="Picture 3">
            <a:extLst>
              <a:ext uri="{FF2B5EF4-FFF2-40B4-BE49-F238E27FC236}">
                <a16:creationId xmlns:a16="http://schemas.microsoft.com/office/drawing/2014/main" xmlns="" id="{74A0B063-E383-4539-A6F2-60BAB45FE645}"/>
              </a:ext>
            </a:extLst>
          </p:cNvPr>
          <p:cNvPicPr>
            <a:picLocks noChangeAspect="1"/>
          </p:cNvPicPr>
          <p:nvPr/>
        </p:nvPicPr>
        <p:blipFill>
          <a:blip r:embed="rId9"/>
          <a:stretch>
            <a:fillRect/>
          </a:stretch>
        </p:blipFill>
        <p:spPr>
          <a:xfrm>
            <a:off x="7874666" y="2828925"/>
            <a:ext cx="3952179" cy="3388994"/>
          </a:xfrm>
          <a:prstGeom prst="rect">
            <a:avLst/>
          </a:prstGeom>
        </p:spPr>
      </p:pic>
    </p:spTree>
    <p:extLst>
      <p:ext uri="{BB962C8B-B14F-4D97-AF65-F5344CB8AC3E}">
        <p14:creationId xmlns:p14="http://schemas.microsoft.com/office/powerpoint/2010/main" val="39085512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A98384DE-8534-472A-A18E-0CFB3D45E45C}"/>
              </a:ext>
            </a:extLst>
          </p:cNvPr>
          <p:cNvPicPr>
            <a:picLocks noChangeAspect="1"/>
          </p:cNvPicPr>
          <p:nvPr/>
        </p:nvPicPr>
        <p:blipFill>
          <a:blip r:embed="rId2"/>
          <a:stretch>
            <a:fillRect/>
          </a:stretch>
        </p:blipFill>
        <p:spPr>
          <a:xfrm>
            <a:off x="1514293" y="2597068"/>
            <a:ext cx="5069382" cy="2739514"/>
          </a:xfrm>
          <a:prstGeom prst="rect">
            <a:avLst/>
          </a:prstGeom>
        </p:spPr>
      </p:pic>
      <p:sp>
        <p:nvSpPr>
          <p:cNvPr id="9" name="Freeform: Shape 8">
            <a:extLst>
              <a:ext uri="{FF2B5EF4-FFF2-40B4-BE49-F238E27FC236}">
                <a16:creationId xmlns:a16="http://schemas.microsoft.com/office/drawing/2014/main" xmlns="" id="{C607803A-4E99-444E-94F7-8785CDDF584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flipH="1" flipV="1">
            <a:off x="780154" y="1884045"/>
            <a:ext cx="3275668" cy="2853308"/>
          </a:xfrm>
          <a:custGeom>
            <a:avLst/>
            <a:gdLst>
              <a:gd name="connsiteX0" fmla="*/ 3275668 w 3275668"/>
              <a:gd name="connsiteY0" fmla="*/ 2853308 h 2853308"/>
              <a:gd name="connsiteX1" fmla="*/ 655 w 3275668"/>
              <a:gd name="connsiteY1" fmla="*/ 2853308 h 2853308"/>
              <a:gd name="connsiteX2" fmla="*/ 0 w 3275668"/>
              <a:gd name="connsiteY2" fmla="*/ 2467565 h 2853308"/>
              <a:gd name="connsiteX3" fmla="*/ 2869894 w 3275668"/>
              <a:gd name="connsiteY3" fmla="*/ 2468888 h 2853308"/>
              <a:gd name="connsiteX4" fmla="*/ 2869894 w 3275668"/>
              <a:gd name="connsiteY4" fmla="*/ 0 h 2853308"/>
              <a:gd name="connsiteX5" fmla="*/ 3275668 w 3275668"/>
              <a:gd name="connsiteY5" fmla="*/ 0 h 28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5668" h="2853308">
                <a:moveTo>
                  <a:pt x="3275668" y="2853308"/>
                </a:moveTo>
                <a:lnTo>
                  <a:pt x="655" y="2853308"/>
                </a:lnTo>
                <a:cubicBezTo>
                  <a:pt x="-655" y="2720171"/>
                  <a:pt x="1310" y="2600702"/>
                  <a:pt x="0" y="2467565"/>
                </a:cubicBezTo>
                <a:lnTo>
                  <a:pt x="2869894" y="2468888"/>
                </a:lnTo>
                <a:lnTo>
                  <a:pt x="2869894" y="0"/>
                </a:lnTo>
                <a:lnTo>
                  <a:pt x="3275668" y="0"/>
                </a:lnTo>
                <a:close/>
              </a:path>
            </a:pathLst>
          </a:custGeom>
          <a:solidFill>
            <a:srgbClr val="4C4C4C"/>
          </a:solidFill>
          <a:ln w="0">
            <a:noFill/>
            <a:prstDash val="solid"/>
            <a:round/>
            <a:headEnd/>
            <a:tailEnd/>
          </a:ln>
        </p:spPr>
      </p:sp>
      <p:sp>
        <p:nvSpPr>
          <p:cNvPr id="11" name="Freeform: Shape 10">
            <a:extLst>
              <a:ext uri="{FF2B5EF4-FFF2-40B4-BE49-F238E27FC236}">
                <a16:creationId xmlns:a16="http://schemas.microsoft.com/office/drawing/2014/main" xmlns="" id="{2989BE6A-C309-418E-8ADD-1616A98057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4055822" y="3222529"/>
            <a:ext cx="3242952" cy="2828156"/>
          </a:xfrm>
          <a:custGeom>
            <a:avLst/>
            <a:gdLst>
              <a:gd name="connsiteX0" fmla="*/ 2837178 w 3242952"/>
              <a:gd name="connsiteY0" fmla="*/ 0 h 2828156"/>
              <a:gd name="connsiteX1" fmla="*/ 3242952 w 3242952"/>
              <a:gd name="connsiteY1" fmla="*/ 0 h 2828156"/>
              <a:gd name="connsiteX2" fmla="*/ 3242952 w 3242952"/>
              <a:gd name="connsiteY2" fmla="*/ 2828156 h 2828156"/>
              <a:gd name="connsiteX3" fmla="*/ 0 w 3242952"/>
              <a:gd name="connsiteY3" fmla="*/ 2828156 h 2828156"/>
              <a:gd name="connsiteX4" fmla="*/ 0 w 3242952"/>
              <a:gd name="connsiteY4" fmla="*/ 2442859 h 2828156"/>
              <a:gd name="connsiteX5" fmla="*/ 2837178 w 3242952"/>
              <a:gd name="connsiteY5" fmla="*/ 2443295 h 282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2952" h="2828156">
                <a:moveTo>
                  <a:pt x="2837178" y="0"/>
                </a:moveTo>
                <a:lnTo>
                  <a:pt x="3242952" y="0"/>
                </a:lnTo>
                <a:lnTo>
                  <a:pt x="3242952" y="2828156"/>
                </a:lnTo>
                <a:lnTo>
                  <a:pt x="0" y="2828156"/>
                </a:lnTo>
                <a:lnTo>
                  <a:pt x="0" y="2442859"/>
                </a:lnTo>
                <a:lnTo>
                  <a:pt x="2837178" y="2443295"/>
                </a:lnTo>
                <a:close/>
              </a:path>
            </a:pathLst>
          </a:custGeom>
          <a:solidFill>
            <a:srgbClr val="4C4C4C"/>
          </a:solidFill>
          <a:ln w="0">
            <a:noFill/>
            <a:prstDash val="solid"/>
            <a:round/>
            <a:headEnd/>
            <a:tailEnd/>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F3DFC78D-8761-4EC5-9556-A4C177C0DD3F}"/>
                  </a:ext>
                </a:extLst>
              </p:cNvPr>
              <p:cNvSpPr>
                <a:spLocks noGrp="1"/>
              </p:cNvSpPr>
              <p:nvPr>
                <p:ph idx="1"/>
              </p:nvPr>
            </p:nvSpPr>
            <p:spPr>
              <a:xfrm>
                <a:off x="4748668" y="195358"/>
                <a:ext cx="6775024" cy="3027171"/>
              </a:xfrm>
            </p:spPr>
            <p:txBody>
              <a:bodyPr anchor="ctr">
                <a:normAutofit/>
              </a:bodyPr>
              <a:lstStyle/>
              <a:p>
                <a:pPr/>
                <a14:m>
                  <m:oMathPara xmlns:m="http://schemas.openxmlformats.org/officeDocument/2006/math">
                    <m:oMathParaPr>
                      <m:jc m:val="centerGroup"/>
                    </m:oMathParaPr>
                    <m:oMath xmlns:m="http://schemas.openxmlformats.org/officeDocument/2006/math">
                      <m:r>
                        <a:rPr lang="en-US" sz="6000" b="1" i="1" smtClean="0">
                          <a:solidFill>
                            <a:srgbClr val="00B050"/>
                          </a:solidFill>
                          <a:latin typeface="Cambria Math" panose="02040503050406030204" pitchFamily="18" charset="0"/>
                        </a:rPr>
                        <m:t>𝑩</m:t>
                      </m:r>
                      <m:r>
                        <a:rPr lang="en-US" sz="6000" b="1" i="1" smtClean="0">
                          <a:solidFill>
                            <a:srgbClr val="00B050"/>
                          </a:solidFill>
                          <a:latin typeface="Cambria Math" panose="02040503050406030204" pitchFamily="18" charset="0"/>
                        </a:rPr>
                        <m:t>=</m:t>
                      </m:r>
                      <m:f>
                        <m:fPr>
                          <m:ctrlPr>
                            <a:rPr lang="en-US" sz="6000" b="1" i="1">
                              <a:solidFill>
                                <a:srgbClr val="00B050"/>
                              </a:solidFill>
                              <a:latin typeface="Cambria Math"/>
                            </a:rPr>
                          </m:ctrlPr>
                        </m:fPr>
                        <m:num>
                          <m:sSub>
                            <m:sSubPr>
                              <m:ctrlPr>
                                <a:rPr lang="en-US" sz="6000" b="1" i="1">
                                  <a:solidFill>
                                    <a:srgbClr val="00B050"/>
                                  </a:solidFill>
                                  <a:latin typeface="Cambria Math"/>
                                </a:rPr>
                              </m:ctrlPr>
                            </m:sSubPr>
                            <m:e>
                              <m:r>
                                <a:rPr lang="en-US" sz="6000" b="1" i="1">
                                  <a:solidFill>
                                    <a:srgbClr val="00B050"/>
                                  </a:solidFill>
                                  <a:latin typeface="Cambria Math" panose="02040503050406030204" pitchFamily="18" charset="0"/>
                                </a:rPr>
                                <m:t>𝝁</m:t>
                              </m:r>
                            </m:e>
                            <m:sub>
                              <m:r>
                                <a:rPr lang="en-US" sz="6000" b="1" i="1">
                                  <a:solidFill>
                                    <a:srgbClr val="00B050"/>
                                  </a:solidFill>
                                  <a:latin typeface="Cambria Math" panose="02040503050406030204" pitchFamily="18" charset="0"/>
                                </a:rPr>
                                <m:t>𝒐</m:t>
                              </m:r>
                            </m:sub>
                          </m:sSub>
                          <m:r>
                            <a:rPr lang="en-US" sz="6000" b="1" i="1">
                              <a:solidFill>
                                <a:srgbClr val="00B050"/>
                              </a:solidFill>
                              <a:latin typeface="Cambria Math" panose="02040503050406030204" pitchFamily="18" charset="0"/>
                            </a:rPr>
                            <m:t>𝑵𝑰</m:t>
                          </m:r>
                        </m:num>
                        <m:den>
                          <m:r>
                            <a:rPr lang="en-US" sz="6000" b="1" i="1">
                              <a:solidFill>
                                <a:srgbClr val="00B050"/>
                              </a:solidFill>
                              <a:latin typeface="Cambria Math" panose="02040503050406030204" pitchFamily="18" charset="0"/>
                            </a:rPr>
                            <m:t>𝒍</m:t>
                          </m:r>
                        </m:den>
                      </m:f>
                      <m:r>
                        <a:rPr lang="en-US" sz="6000" b="1" i="1">
                          <a:solidFill>
                            <a:srgbClr val="00B050"/>
                          </a:solidFill>
                          <a:latin typeface="Cambria Math" panose="02040503050406030204" pitchFamily="18" charset="0"/>
                        </a:rPr>
                        <m:t>=</m:t>
                      </m:r>
                      <m:sSub>
                        <m:sSubPr>
                          <m:ctrlPr>
                            <a:rPr lang="en-US" sz="6000" b="1" i="1">
                              <a:solidFill>
                                <a:srgbClr val="00B050"/>
                              </a:solidFill>
                              <a:latin typeface="Cambria Math"/>
                            </a:rPr>
                          </m:ctrlPr>
                        </m:sSubPr>
                        <m:e>
                          <m:r>
                            <a:rPr lang="en-US" sz="6000" b="1" i="1">
                              <a:solidFill>
                                <a:srgbClr val="00B050"/>
                              </a:solidFill>
                              <a:latin typeface="Cambria Math" panose="02040503050406030204" pitchFamily="18" charset="0"/>
                            </a:rPr>
                            <m:t>𝝁</m:t>
                          </m:r>
                        </m:e>
                        <m:sub>
                          <m:r>
                            <a:rPr lang="en-US" sz="6000" b="1" i="1">
                              <a:solidFill>
                                <a:srgbClr val="00B050"/>
                              </a:solidFill>
                              <a:latin typeface="Cambria Math" panose="02040503050406030204" pitchFamily="18" charset="0"/>
                            </a:rPr>
                            <m:t>𝒐</m:t>
                          </m:r>
                        </m:sub>
                      </m:sSub>
                      <m:r>
                        <a:rPr lang="en-US" sz="6000" b="1" i="1">
                          <a:solidFill>
                            <a:srgbClr val="00B050"/>
                          </a:solidFill>
                          <a:latin typeface="Cambria Math" panose="02040503050406030204" pitchFamily="18" charset="0"/>
                        </a:rPr>
                        <m:t>𝒏𝑰</m:t>
                      </m:r>
                      <m:r>
                        <a:rPr lang="en-US" sz="6000" b="1" i="1">
                          <a:solidFill>
                            <a:srgbClr val="00B050"/>
                          </a:solidFill>
                          <a:latin typeface="Cambria Math" panose="02040503050406030204" pitchFamily="18" charset="0"/>
                        </a:rPr>
                        <m:t> </m:t>
                      </m:r>
                    </m:oMath>
                  </m:oMathPara>
                </a14:m>
                <a:endParaRPr lang="en-US" sz="6000" b="1" i="1" dirty="0">
                  <a:solidFill>
                    <a:srgbClr val="00B050"/>
                  </a:solidFill>
                </a:endParaRPr>
              </a:p>
              <a:p>
                <a:endParaRPr lang="en-US" sz="4400" i="1" dirty="0"/>
              </a:p>
            </p:txBody>
          </p:sp>
        </mc:Choice>
        <mc:Fallback xmlns="">
          <p:sp>
            <p:nvSpPr>
              <p:cNvPr id="3" name="Content Placeholder 2">
                <a:extLst>
                  <a:ext uri="{FF2B5EF4-FFF2-40B4-BE49-F238E27FC236}">
                    <a16:creationId xmlns:a16="http://schemas.microsoft.com/office/drawing/2014/main" id="{F3DFC78D-8761-4EC5-9556-A4C177C0DD3F}"/>
                  </a:ext>
                </a:extLst>
              </p:cNvPr>
              <p:cNvSpPr>
                <a:spLocks noGrp="1" noRot="1" noChangeAspect="1" noMove="1" noResize="1" noEditPoints="1" noAdjustHandles="1" noChangeArrowheads="1" noChangeShapeType="1" noTextEdit="1"/>
              </p:cNvSpPr>
              <p:nvPr>
                <p:ph idx="1"/>
              </p:nvPr>
            </p:nvSpPr>
            <p:spPr>
              <a:xfrm>
                <a:off x="4748668" y="195358"/>
                <a:ext cx="6775024" cy="3027171"/>
              </a:xfrm>
              <a:blipFill>
                <a:blip r:embed="rId3"/>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xmlns="" id="{698972BD-65A6-4601-B247-5284AD11FB8A}"/>
              </a:ext>
            </a:extLst>
          </p:cNvPr>
          <p:cNvSpPr/>
          <p:nvPr/>
        </p:nvSpPr>
        <p:spPr>
          <a:xfrm>
            <a:off x="138111" y="6091371"/>
            <a:ext cx="12229630" cy="584775"/>
          </a:xfrm>
          <a:prstGeom prst="rect">
            <a:avLst/>
          </a:prstGeom>
        </p:spPr>
        <p:txBody>
          <a:bodyPr wrap="none">
            <a:spAutoFit/>
          </a:bodyPr>
          <a:lstStyle/>
          <a:p>
            <a:r>
              <a:rPr lang="pt-BR" sz="3200" dirty="0">
                <a:solidFill>
                  <a:srgbClr val="FF0000"/>
                </a:solidFill>
                <a:latin typeface="Times New Roman" panose="02020603050405020304" pitchFamily="18" charset="0"/>
                <a:cs typeface="Times New Roman" panose="02020603050405020304" pitchFamily="18" charset="0"/>
              </a:rPr>
              <a:t>n = N/ℓ là </a:t>
            </a:r>
            <a:r>
              <a:rPr lang="vi-VN" sz="3200" dirty="0">
                <a:solidFill>
                  <a:srgbClr val="FF0000"/>
                </a:solidFill>
                <a:latin typeface="Times New Roman" panose="02020603050405020304" pitchFamily="18" charset="0"/>
                <a:cs typeface="Times New Roman" panose="02020603050405020304" pitchFamily="18" charset="0"/>
              </a:rPr>
              <a:t>số vòng dây quấn trên một đơn vị dài của lõi </a:t>
            </a:r>
            <a:r>
              <a:rPr lang="en-US" sz="3200" dirty="0">
                <a:solidFill>
                  <a:srgbClr val="FF0000"/>
                </a:solidFill>
                <a:latin typeface="Times New Roman" panose="02020603050405020304" pitchFamily="18" charset="0"/>
                <a:cs typeface="Times New Roman" panose="02020603050405020304" pitchFamily="18" charset="0"/>
              </a:rPr>
              <a:t>-</a:t>
            </a:r>
            <a:r>
              <a:rPr lang="pt-BR" sz="3200" dirty="0">
                <a:solidFill>
                  <a:srgbClr val="FF0000"/>
                </a:solidFill>
                <a:latin typeface="Times New Roman" panose="02020603050405020304" pitchFamily="18" charset="0"/>
                <a:cs typeface="Times New Roman" panose="02020603050405020304" pitchFamily="18" charset="0"/>
              </a:rPr>
              <a:t>mật độ quấn dây</a:t>
            </a:r>
          </a:p>
        </p:txBody>
      </p:sp>
      <p:sp>
        <p:nvSpPr>
          <p:cNvPr id="2" name="Rectangle 1">
            <a:extLst>
              <a:ext uri="{FF2B5EF4-FFF2-40B4-BE49-F238E27FC236}">
                <a16:creationId xmlns:a16="http://schemas.microsoft.com/office/drawing/2014/main" xmlns="" id="{5030BE59-5C7B-4A93-A718-ACDF27C47BBE}"/>
              </a:ext>
            </a:extLst>
          </p:cNvPr>
          <p:cNvSpPr/>
          <p:nvPr/>
        </p:nvSpPr>
        <p:spPr>
          <a:xfrm>
            <a:off x="7781731" y="3461451"/>
            <a:ext cx="3853541" cy="1631216"/>
          </a:xfrm>
          <a:prstGeom prst="rect">
            <a:avLst/>
          </a:prstGeom>
        </p:spPr>
        <p:txBody>
          <a:bodyPr wrap="square">
            <a:spAutoFit/>
          </a:bodyPr>
          <a:lstStyle/>
          <a:p>
            <a:r>
              <a:rPr lang="pt-BR" sz="3200" dirty="0">
                <a:solidFill>
                  <a:srgbClr val="7030A0"/>
                </a:solidFill>
                <a:latin typeface="Times New Roman" panose="02020603050405020304" pitchFamily="18" charset="0"/>
                <a:cs typeface="Times New Roman" panose="02020603050405020304" pitchFamily="18" charset="0"/>
              </a:rPr>
              <a:t>N</a:t>
            </a:r>
            <a:r>
              <a:rPr lang="vi-VN" sz="3200" dirty="0">
                <a:solidFill>
                  <a:srgbClr val="7030A0"/>
                </a:solidFill>
                <a:latin typeface="Times New Roman" panose="02020603050405020304" pitchFamily="18" charset="0"/>
                <a:cs typeface="Times New Roman" panose="02020603050405020304" pitchFamily="18" charset="0"/>
              </a:rPr>
              <a:t> </a:t>
            </a:r>
            <a:r>
              <a:rPr lang="en-US" sz="3200" dirty="0">
                <a:solidFill>
                  <a:srgbClr val="7030A0"/>
                </a:solidFill>
                <a:latin typeface="Times New Roman" panose="02020603050405020304" pitchFamily="18" charset="0"/>
                <a:cs typeface="Times New Roman" panose="02020603050405020304" pitchFamily="18" charset="0"/>
              </a:rPr>
              <a:t>:</a:t>
            </a:r>
            <a:r>
              <a:rPr lang="vi-VN" sz="3200" dirty="0">
                <a:solidFill>
                  <a:srgbClr val="7030A0"/>
                </a:solidFill>
                <a:latin typeface="Times New Roman" panose="02020603050405020304" pitchFamily="18" charset="0"/>
                <a:cs typeface="Times New Roman" panose="02020603050405020304" pitchFamily="18" charset="0"/>
              </a:rPr>
              <a:t> tổng số vòng dây</a:t>
            </a:r>
            <a:endParaRPr lang="en-US" sz="3200" dirty="0">
              <a:solidFill>
                <a:srgbClr val="7030A0"/>
              </a:solidFill>
              <a:latin typeface="Times New Roman" panose="02020603050405020304" pitchFamily="18" charset="0"/>
              <a:cs typeface="Times New Roman" panose="02020603050405020304" pitchFamily="18" charset="0"/>
            </a:endParaRPr>
          </a:p>
          <a:p>
            <a:r>
              <a:rPr lang="vi-VN" sz="3200" dirty="0">
                <a:solidFill>
                  <a:srgbClr val="7030A0"/>
                </a:solidFill>
                <a:latin typeface="Times New Roman" panose="02020603050405020304" pitchFamily="18" charset="0"/>
                <a:cs typeface="Times New Roman" panose="02020603050405020304" pitchFamily="18" charset="0"/>
              </a:rPr>
              <a:t> </a:t>
            </a:r>
            <a:r>
              <a:rPr lang="pt-BR" sz="3200" dirty="0">
                <a:solidFill>
                  <a:srgbClr val="7030A0"/>
                </a:solidFill>
                <a:latin typeface="Times New Roman" panose="02020603050405020304" pitchFamily="18" charset="0"/>
                <a:cs typeface="Times New Roman" panose="02020603050405020304" pitchFamily="18" charset="0"/>
              </a:rPr>
              <a:t>ℓ</a:t>
            </a:r>
            <a:r>
              <a:rPr lang="vi-VN" sz="3200" dirty="0">
                <a:solidFill>
                  <a:srgbClr val="7030A0"/>
                </a:solidFill>
                <a:latin typeface="Times New Roman" panose="02020603050405020304" pitchFamily="18" charset="0"/>
                <a:cs typeface="Times New Roman" panose="02020603050405020304" pitchFamily="18" charset="0"/>
              </a:rPr>
              <a:t> </a:t>
            </a:r>
            <a:r>
              <a:rPr lang="en-US" sz="3200" dirty="0">
                <a:solidFill>
                  <a:srgbClr val="7030A0"/>
                </a:solidFill>
                <a:latin typeface="Times New Roman" panose="02020603050405020304" pitchFamily="18" charset="0"/>
                <a:cs typeface="Times New Roman" panose="02020603050405020304" pitchFamily="18" charset="0"/>
              </a:rPr>
              <a:t>:</a:t>
            </a:r>
            <a:r>
              <a:rPr lang="vi-VN" sz="3200" dirty="0">
                <a:solidFill>
                  <a:srgbClr val="7030A0"/>
                </a:solidFill>
                <a:latin typeface="Times New Roman" panose="02020603050405020304" pitchFamily="18" charset="0"/>
                <a:cs typeface="Times New Roman" panose="02020603050405020304" pitchFamily="18" charset="0"/>
              </a:rPr>
              <a:t> độ dài hình trụ. </a:t>
            </a:r>
            <a:r>
              <a:rPr lang="vi-VN" dirty="0">
                <a:solidFill>
                  <a:srgbClr val="000000"/>
                </a:solidFill>
              </a:rPr>
              <a:t/>
            </a:r>
            <a:br>
              <a:rPr lang="vi-VN" dirty="0">
                <a:solidFill>
                  <a:srgbClr val="000000"/>
                </a:solidFill>
              </a:rPr>
            </a:br>
            <a:r>
              <a:rPr lang="vi-VN" dirty="0">
                <a:solidFill>
                  <a:srgbClr val="000000"/>
                </a:solidFill>
              </a:rPr>
              <a:t/>
            </a:r>
            <a:br>
              <a:rPr lang="vi-VN" dirty="0">
                <a:solidFill>
                  <a:srgbClr val="000000"/>
                </a:solidFill>
              </a:rPr>
            </a:br>
            <a:endParaRPr lang="en-US" dirty="0"/>
          </a:p>
        </p:txBody>
      </p:sp>
    </p:spTree>
    <p:extLst>
      <p:ext uri="{BB962C8B-B14F-4D97-AF65-F5344CB8AC3E}">
        <p14:creationId xmlns:p14="http://schemas.microsoft.com/office/powerpoint/2010/main" val="17841170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42A5316D-ED2F-4F89-B4B4-8D9240B1A34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AF457A7E-8221-4B8C-8C23-7E4BC706D5D9}"/>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fontScale="90000"/>
          </a:bodyPr>
          <a:lstStyle/>
          <a:p>
            <a:pPr algn="ctr"/>
            <a:r>
              <a:rPr lang="en-US" sz="4800" b="1" dirty="0" err="1">
                <a:solidFill>
                  <a:srgbClr val="FFFFFF"/>
                </a:solidFill>
                <a:effectLst>
                  <a:glow>
                    <a:srgbClr val="000000"/>
                  </a:glow>
                  <a:outerShdw sx="0" sy="0">
                    <a:srgbClr val="000000"/>
                  </a:outerShdw>
                  <a:reflection stA="0" endPos="0" fadeDir="0" sx="0" sy="0"/>
                </a:effectLst>
              </a:rPr>
              <a:t>Hiện</a:t>
            </a:r>
            <a:r>
              <a:rPr lang="en-US" sz="4800" b="1" dirty="0">
                <a:solidFill>
                  <a:srgbClr val="FFFFFF"/>
                </a:solidFill>
                <a:effectLst>
                  <a:glow>
                    <a:srgbClr val="000000"/>
                  </a:glow>
                  <a:outerShdw sx="0" sy="0">
                    <a:srgbClr val="000000"/>
                  </a:outerShdw>
                  <a:reflection stA="0" endPos="0" fadeDir="0" sx="0" sy="0"/>
                </a:effectLst>
              </a:rPr>
              <a:t> </a:t>
            </a:r>
            <a:r>
              <a:rPr lang="en-US" sz="4800" b="1" dirty="0" err="1">
                <a:solidFill>
                  <a:srgbClr val="FFFFFF"/>
                </a:solidFill>
                <a:effectLst>
                  <a:glow>
                    <a:srgbClr val="000000"/>
                  </a:glow>
                  <a:outerShdw sx="0" sy="0">
                    <a:srgbClr val="000000"/>
                  </a:outerShdw>
                  <a:reflection stA="0" endPos="0" fadeDir="0" sx="0" sy="0"/>
                </a:effectLst>
              </a:rPr>
              <a:t>tượng</a:t>
            </a:r>
            <a:r>
              <a:rPr lang="en-US" sz="4800" b="1" dirty="0">
                <a:solidFill>
                  <a:srgbClr val="FFFFFF"/>
                </a:solidFill>
                <a:effectLst>
                  <a:glow>
                    <a:srgbClr val="000000"/>
                  </a:glow>
                  <a:outerShdw sx="0" sy="0">
                    <a:srgbClr val="000000"/>
                  </a:outerShdw>
                  <a:reflection stA="0" endPos="0" fadeDir="0" sx="0" sy="0"/>
                </a:effectLst>
              </a:rPr>
              <a:t> </a:t>
            </a:r>
            <a:r>
              <a:rPr lang="en-US" sz="4900" b="1" dirty="0" err="1">
                <a:solidFill>
                  <a:srgbClr val="FFFFFF"/>
                </a:solidFill>
                <a:effectLst>
                  <a:glow>
                    <a:srgbClr val="000000"/>
                  </a:glow>
                  <a:outerShdw sx="0" sy="0">
                    <a:srgbClr val="000000"/>
                  </a:outerShdw>
                  <a:reflection stA="0" endPos="0" fadeDir="0" sx="0" sy="0"/>
                </a:effectLst>
              </a:rPr>
              <a:t>tự</a:t>
            </a:r>
            <a:r>
              <a:rPr lang="en-US" sz="4900" b="1" dirty="0">
                <a:solidFill>
                  <a:srgbClr val="FFFFFF"/>
                </a:solidFill>
                <a:effectLst>
                  <a:glow>
                    <a:srgbClr val="000000"/>
                  </a:glow>
                  <a:outerShdw sx="0" sy="0">
                    <a:srgbClr val="000000"/>
                  </a:outerShdw>
                  <a:reflection stA="0" endPos="0" fadeDir="0" sx="0" sy="0"/>
                </a:effectLst>
              </a:rPr>
              <a:t> </a:t>
            </a:r>
            <a:r>
              <a:rPr lang="en-US" sz="4900" b="1" dirty="0" err="1">
                <a:solidFill>
                  <a:srgbClr val="FFFFFF"/>
                </a:solidFill>
                <a:effectLst>
                  <a:glow>
                    <a:srgbClr val="000000"/>
                  </a:glow>
                  <a:outerShdw sx="0" sy="0">
                    <a:srgbClr val="000000"/>
                  </a:outerShdw>
                  <a:reflection stA="0" endPos="0" fadeDir="0" sx="0" sy="0"/>
                </a:effectLst>
              </a:rPr>
              <a:t>cảm</a:t>
            </a:r>
            <a:r>
              <a:rPr lang="en-US" sz="2600" b="1" dirty="0">
                <a:solidFill>
                  <a:srgbClr val="FFFFFF"/>
                </a:solidFill>
                <a:effectLst>
                  <a:glow>
                    <a:srgbClr val="000000"/>
                  </a:glow>
                  <a:outerShdw sx="0" sy="0">
                    <a:srgbClr val="000000"/>
                  </a:outerShdw>
                  <a:reflection stA="0" endPos="0" fadeDir="0" sx="0" sy="0"/>
                </a:effectLst>
              </a:rPr>
              <a:t/>
            </a:r>
            <a:br>
              <a:rPr lang="en-US" sz="2600" b="1" dirty="0">
                <a:solidFill>
                  <a:srgbClr val="FFFFFF"/>
                </a:solidFill>
                <a:effectLst>
                  <a:glow>
                    <a:srgbClr val="000000"/>
                  </a:glow>
                  <a:outerShdw sx="0" sy="0">
                    <a:srgbClr val="000000"/>
                  </a:outerShdw>
                  <a:reflection stA="0" endPos="0" fadeDir="0" sx="0" sy="0"/>
                </a:effectLst>
              </a:rPr>
            </a:br>
            <a:endParaRPr lang="en-US" sz="2600" dirty="0">
              <a:solidFill>
                <a:srgbClr val="FFFFFF"/>
              </a:solidFill>
            </a:endParaRPr>
          </a:p>
        </p:txBody>
      </p:sp>
      <p:sp>
        <p:nvSpPr>
          <p:cNvPr id="3" name="Content Placeholder 2">
            <a:extLst>
              <a:ext uri="{FF2B5EF4-FFF2-40B4-BE49-F238E27FC236}">
                <a16:creationId xmlns:a16="http://schemas.microsoft.com/office/drawing/2014/main" xmlns="" id="{B1BFE306-E0E7-46C0-ABBC-7D79BC40130F}"/>
              </a:ext>
            </a:extLst>
          </p:cNvPr>
          <p:cNvSpPr>
            <a:spLocks noGrp="1"/>
          </p:cNvSpPr>
          <p:nvPr>
            <p:ph idx="1"/>
          </p:nvPr>
        </p:nvSpPr>
        <p:spPr>
          <a:xfrm>
            <a:off x="2458065" y="4572000"/>
            <a:ext cx="9635611" cy="2035277"/>
          </a:xfrm>
        </p:spPr>
        <p:txBody>
          <a:bodyPr>
            <a:normAutofit lnSpcReduction="10000"/>
          </a:bodyPr>
          <a:lstStyle/>
          <a:p>
            <a:r>
              <a:rPr lang="vi-VN" sz="3600" b="1" dirty="0"/>
              <a:t>Hiện tượng tự cảm</a:t>
            </a:r>
            <a:r>
              <a:rPr lang="vi-VN" sz="3600" dirty="0"/>
              <a:t> xuất hiện trong một </a:t>
            </a:r>
            <a:r>
              <a:rPr lang="vi-VN" sz="3600" dirty="0">
                <a:hlinkClick r:id="rId2" tooltip="Mạch điện kín (trang chưa được viết)"/>
              </a:rPr>
              <a:t>mạch kín</a:t>
            </a:r>
            <a:r>
              <a:rPr lang="vi-VN" sz="3600" dirty="0"/>
              <a:t> có </a:t>
            </a:r>
            <a:r>
              <a:rPr lang="vi-VN" sz="3600" dirty="0">
                <a:hlinkClick r:id="rId3" tooltip="Điện xoay chiều"/>
              </a:rPr>
              <a:t>dòng điện xoay chiều</a:t>
            </a:r>
            <a:r>
              <a:rPr lang="vi-VN" sz="3600" dirty="0"/>
              <a:t> chạy qua, hoặc trong một mạch </a:t>
            </a:r>
            <a:r>
              <a:rPr lang="vi-VN" sz="3600" dirty="0">
                <a:hlinkClick r:id="rId4" tooltip="Một chiều (điện)"/>
              </a:rPr>
              <a:t>điện một chiều</a:t>
            </a:r>
            <a:r>
              <a:rPr lang="vi-VN" sz="3600" dirty="0"/>
              <a:t> khi ta đóng mạch hoặc ngắt mạch.</a:t>
            </a:r>
            <a:endParaRPr lang="en-US" sz="3600" dirty="0"/>
          </a:p>
        </p:txBody>
      </p:sp>
      <p:graphicFrame>
        <p:nvGraphicFramePr>
          <p:cNvPr id="4" name="Table 3">
            <a:extLst>
              <a:ext uri="{FF2B5EF4-FFF2-40B4-BE49-F238E27FC236}">
                <a16:creationId xmlns:a16="http://schemas.microsoft.com/office/drawing/2014/main" xmlns="" id="{81EF6D09-80C0-4E6C-8BA0-5013DDE7B9B6}"/>
              </a:ext>
            </a:extLst>
          </p:cNvPr>
          <p:cNvGraphicFramePr>
            <a:graphicFrameLocks noGrp="1"/>
          </p:cNvGraphicFramePr>
          <p:nvPr>
            <p:extLst>
              <p:ext uri="{D42A27DB-BD31-4B8C-83A1-F6EECF244321}">
                <p14:modId xmlns:p14="http://schemas.microsoft.com/office/powerpoint/2010/main" val="4163763927"/>
              </p:ext>
            </p:extLst>
          </p:nvPr>
        </p:nvGraphicFramePr>
        <p:xfrm>
          <a:off x="3833326" y="360922"/>
          <a:ext cx="7188200" cy="3381870"/>
        </p:xfrm>
        <a:graphic>
          <a:graphicData uri="http://schemas.openxmlformats.org/drawingml/2006/table">
            <a:tbl>
              <a:tblPr>
                <a:noFill/>
              </a:tblPr>
              <a:tblGrid>
                <a:gridCol w="1886339">
                  <a:extLst>
                    <a:ext uri="{9D8B030D-6E8A-4147-A177-3AD203B41FA5}">
                      <a16:colId xmlns:a16="http://schemas.microsoft.com/office/drawing/2014/main" xmlns="" val="1043896796"/>
                    </a:ext>
                  </a:extLst>
                </a:gridCol>
                <a:gridCol w="5301861">
                  <a:extLst>
                    <a:ext uri="{9D8B030D-6E8A-4147-A177-3AD203B41FA5}">
                      <a16:colId xmlns:a16="http://schemas.microsoft.com/office/drawing/2014/main" xmlns="" val="242422193"/>
                    </a:ext>
                  </a:extLst>
                </a:gridCol>
              </a:tblGrid>
              <a:tr h="2947447">
                <a:tc>
                  <a:txBody>
                    <a:bodyPr/>
                    <a:lstStyle/>
                    <a:p>
                      <a:pPr algn="ctr" fontAlgn="base"/>
                      <a:r>
                        <a:rPr lang="vi-VN" sz="2700" b="0" dirty="0">
                          <a:solidFill>
                            <a:schemeClr val="tx1">
                              <a:lumMod val="85000"/>
                              <a:lumOff val="15000"/>
                            </a:schemeClr>
                          </a:solidFill>
                          <a:effectLst/>
                        </a:rPr>
                        <a:t/>
                      </a:r>
                      <a:br>
                        <a:rPr lang="vi-VN" sz="2700" b="0" dirty="0">
                          <a:solidFill>
                            <a:schemeClr val="tx1">
                              <a:lumMod val="85000"/>
                              <a:lumOff val="15000"/>
                            </a:schemeClr>
                          </a:solidFill>
                          <a:effectLst/>
                        </a:rPr>
                      </a:br>
                      <a:endParaRPr lang="vi-VN" sz="2700" b="0" dirty="0">
                        <a:solidFill>
                          <a:schemeClr val="tx1">
                            <a:lumMod val="85000"/>
                            <a:lumOff val="15000"/>
                          </a:schemeClr>
                        </a:solidFill>
                        <a:effectLst/>
                      </a:endParaRPr>
                    </a:p>
                  </a:txBody>
                  <a:tcPr marL="379826" marR="227895" marT="227895" marB="227895">
                    <a:lnL w="12700" cmpd="sng">
                      <a:noFill/>
                      <a:prstDash val="solid"/>
                    </a:lnL>
                    <a:lnR w="38100" cap="flat" cmpd="sng" algn="ctr">
                      <a:solidFill>
                        <a:srgbClr val="FFFFFF"/>
                      </a:solidFill>
                      <a:prstDash val="solid"/>
                    </a:lnR>
                    <a:lnT w="12700" cmpd="sng">
                      <a:noFill/>
                      <a:prstDash val="solid"/>
                    </a:lnT>
                    <a:lnB w="12700" cmpd="sng">
                      <a:noFill/>
                      <a:prstDash val="solid"/>
                    </a:lnB>
                    <a:solidFill>
                      <a:srgbClr val="878E8B">
                        <a:alpha val="30196"/>
                      </a:srgbClr>
                    </a:solidFill>
                  </a:tcPr>
                </a:tc>
                <a:tc>
                  <a:txBody>
                    <a:bodyPr/>
                    <a:lstStyle/>
                    <a:p>
                      <a:pPr algn="just" fontAlgn="base"/>
                      <a:r>
                        <a:rPr lang="vi-VN" sz="3200" b="1" dirty="0">
                          <a:solidFill>
                            <a:schemeClr val="tx1">
                              <a:lumMod val="85000"/>
                              <a:lumOff val="15000"/>
                            </a:schemeClr>
                          </a:solidFill>
                          <a:effectLst/>
                        </a:rPr>
                        <a:t>Hiện tượng tự cảm</a:t>
                      </a:r>
                      <a:r>
                        <a:rPr lang="vi-VN" sz="3200" dirty="0">
                          <a:solidFill>
                            <a:schemeClr val="tx1">
                              <a:lumMod val="85000"/>
                              <a:lumOff val="15000"/>
                            </a:schemeClr>
                          </a:solidFill>
                          <a:effectLst/>
                        </a:rPr>
                        <a:t> là hiện tượng cảm ứng điện từ trong một mạch điện do chính sự biến đổi của dòng điện trong mạch điện đó gây ra.</a:t>
                      </a:r>
                    </a:p>
                  </a:txBody>
                  <a:tcPr marL="379826" marR="227895" marT="227895" marB="227895">
                    <a:lnL w="38100" cap="flat" cmpd="sng" algn="ctr">
                      <a:solidFill>
                        <a:srgbClr val="FFFFFF"/>
                      </a:solidFill>
                      <a:prstDash val="solid"/>
                    </a:lnL>
                    <a:lnR w="12700" cmpd="sng">
                      <a:noFill/>
                      <a:prstDash val="solid"/>
                    </a:lnR>
                    <a:lnT w="12700" cmpd="sng">
                      <a:noFill/>
                      <a:prstDash val="solid"/>
                    </a:lnT>
                    <a:lnB w="12700" cmpd="sng">
                      <a:noFill/>
                      <a:prstDash val="solid"/>
                    </a:lnB>
                    <a:solidFill>
                      <a:srgbClr val="878E8B">
                        <a:alpha val="30196"/>
                      </a:srgbClr>
                    </a:solidFill>
                  </a:tcPr>
                </a:tc>
                <a:extLst>
                  <a:ext uri="{0D108BD9-81ED-4DB2-BD59-A6C34878D82A}">
                    <a16:rowId xmlns:a16="http://schemas.microsoft.com/office/drawing/2014/main" xmlns="" val="3258402694"/>
                  </a:ext>
                </a:extLst>
              </a:tr>
            </a:tbl>
          </a:graphicData>
        </a:graphic>
      </p:graphicFrame>
    </p:spTree>
    <p:extLst>
      <p:ext uri="{BB962C8B-B14F-4D97-AF65-F5344CB8AC3E}">
        <p14:creationId xmlns:p14="http://schemas.microsoft.com/office/powerpoint/2010/main" val="32948801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DE5438-40DD-462C-8ACA-E56658C25D12}"/>
              </a:ext>
            </a:extLst>
          </p:cNvPr>
          <p:cNvSpPr>
            <a:spLocks noGrp="1"/>
          </p:cNvSpPr>
          <p:nvPr>
            <p:ph type="title"/>
          </p:nvPr>
        </p:nvSpPr>
        <p:spPr>
          <a:xfrm>
            <a:off x="0" y="18255"/>
            <a:ext cx="10515600" cy="1325563"/>
          </a:xfrm>
        </p:spPr>
        <p:txBody>
          <a:bodyPr/>
          <a:lstStyle/>
          <a:p>
            <a:r>
              <a:rPr lang="en-US" dirty="0"/>
              <a:t>S</a:t>
            </a:r>
            <a:r>
              <a:rPr lang="vi-VN" dirty="0"/>
              <a:t>uất điện động tự cảm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72F22DED-D6E8-477A-AF99-5E759CEC26DE}"/>
                  </a:ext>
                </a:extLst>
              </p:cNvPr>
              <p:cNvSpPr>
                <a:spLocks noGrp="1"/>
              </p:cNvSpPr>
              <p:nvPr>
                <p:ph idx="1"/>
              </p:nvPr>
            </p:nvSpPr>
            <p:spPr>
              <a:xfrm>
                <a:off x="838200" y="1415078"/>
                <a:ext cx="10515600" cy="5163004"/>
              </a:xfrm>
            </p:spPr>
            <p:txBody>
              <a:bodyPr>
                <a:normAutofit/>
              </a:bodyPr>
              <a:lstStyle/>
              <a:p>
                <a:r>
                  <a:rPr lang="vi-VN" dirty="0"/>
                  <a:t>Suất điện động </a:t>
                </a:r>
                <a:r>
                  <a:rPr lang="en-US" dirty="0" err="1"/>
                  <a:t>gây</a:t>
                </a:r>
                <a:r>
                  <a:rPr lang="en-US" dirty="0"/>
                  <a:t> </a:t>
                </a:r>
                <a:r>
                  <a:rPr lang="en-US" dirty="0" err="1"/>
                  <a:t>nên</a:t>
                </a:r>
                <a:r>
                  <a:rPr lang="en-US" dirty="0"/>
                  <a:t> </a:t>
                </a:r>
                <a:r>
                  <a:rPr lang="en-US" dirty="0" err="1"/>
                  <a:t>dòng</a:t>
                </a:r>
                <a:r>
                  <a:rPr lang="en-US" dirty="0"/>
                  <a:t> </a:t>
                </a:r>
                <a:r>
                  <a:rPr lang="en-US" dirty="0" err="1"/>
                  <a:t>điện</a:t>
                </a:r>
                <a:r>
                  <a:rPr lang="en-US" dirty="0"/>
                  <a:t> </a:t>
                </a:r>
                <a:r>
                  <a:rPr lang="en-US" dirty="0" err="1"/>
                  <a:t>tự</a:t>
                </a:r>
                <a:r>
                  <a:rPr lang="en-US" dirty="0"/>
                  <a:t> </a:t>
                </a:r>
                <a:r>
                  <a:rPr lang="en-US" dirty="0" err="1"/>
                  <a:t>cảm</a:t>
                </a:r>
                <a:r>
                  <a:rPr lang="en-US" dirty="0"/>
                  <a:t> </a:t>
                </a:r>
                <a:r>
                  <a:rPr lang="en-US" dirty="0" err="1"/>
                  <a:t>gọi</a:t>
                </a:r>
                <a:r>
                  <a:rPr lang="en-US" dirty="0"/>
                  <a:t> </a:t>
                </a:r>
                <a:r>
                  <a:rPr lang="en-US" dirty="0" err="1"/>
                  <a:t>là</a:t>
                </a:r>
                <a:r>
                  <a:rPr lang="vi-VN" dirty="0"/>
                  <a:t> suất điện động tự cảm. </a:t>
                </a:r>
                <a:endParaRPr lang="en-US" dirty="0"/>
              </a:p>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a:rPr>
                          </m:ctrlPr>
                        </m:sSubPr>
                        <m:e>
                          <m:r>
                            <a:rPr lang="en-US" i="1" smtClean="0">
                              <a:solidFill>
                                <a:srgbClr val="FF0000"/>
                              </a:solidFill>
                              <a:latin typeface="Cambria Math" panose="02040503050406030204" pitchFamily="18" charset="0"/>
                              <a:ea typeface="Cambria Math" panose="02040503050406030204" pitchFamily="18" charset="0"/>
                            </a:rPr>
                            <m:t>𝜀</m:t>
                          </m:r>
                        </m:e>
                        <m:sub>
                          <m:r>
                            <a:rPr lang="en-US" b="0" i="1" smtClean="0">
                              <a:solidFill>
                                <a:srgbClr val="FF0000"/>
                              </a:solidFill>
                              <a:latin typeface="Cambria Math" panose="02040503050406030204" pitchFamily="18" charset="0"/>
                            </a:rPr>
                            <m:t>𝐿</m:t>
                          </m:r>
                        </m:sub>
                      </m:sSub>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a:rPr>
                          </m:ctrlPr>
                        </m:fPr>
                        <m:num>
                          <m:r>
                            <a:rPr lang="en-US" b="0" i="1" smtClean="0">
                              <a:solidFill>
                                <a:srgbClr val="FF0000"/>
                              </a:solidFill>
                              <a:latin typeface="Cambria Math" panose="02040503050406030204" pitchFamily="18" charset="0"/>
                            </a:rPr>
                            <m:t>𝑑</m:t>
                          </m:r>
                          <m:sSub>
                            <m:sSubPr>
                              <m:ctrlPr>
                                <a:rPr lang="en-US" b="0" i="1" smtClean="0">
                                  <a:solidFill>
                                    <a:srgbClr val="FF0000"/>
                                  </a:solidFill>
                                  <a:latin typeface="Cambria Math"/>
                                </a:rPr>
                              </m:ctrlPr>
                            </m:sSubPr>
                            <m:e>
                              <m:r>
                                <a:rPr lang="en-US" b="0" i="1" smtClean="0">
                                  <a:solidFill>
                                    <a:srgbClr val="FF0000"/>
                                  </a:solidFill>
                                  <a:latin typeface="Cambria Math" panose="02040503050406030204" pitchFamily="18" charset="0"/>
                                  <a:ea typeface="Cambria Math" panose="02040503050406030204" pitchFamily="18" charset="0"/>
                                </a:rPr>
                                <m:t>𝜙</m:t>
                              </m:r>
                            </m:e>
                            <m:sub>
                              <m:r>
                                <a:rPr lang="en-US" b="0" i="1" smtClean="0">
                                  <a:solidFill>
                                    <a:srgbClr val="FF0000"/>
                                  </a:solidFill>
                                  <a:latin typeface="Cambria Math" panose="02040503050406030204" pitchFamily="18" charset="0"/>
                                </a:rPr>
                                <m:t>𝐵</m:t>
                              </m:r>
                            </m:sub>
                          </m:sSub>
                        </m:num>
                        <m:den>
                          <m:r>
                            <a:rPr lang="en-US" b="0" i="1" smtClean="0">
                              <a:solidFill>
                                <a:srgbClr val="FF0000"/>
                              </a:solidFill>
                              <a:latin typeface="Cambria Math" panose="02040503050406030204" pitchFamily="18" charset="0"/>
                            </a:rPr>
                            <m:t>𝑑𝑡</m:t>
                          </m:r>
                        </m:den>
                      </m:f>
                      <m:r>
                        <a:rPr lang="en-US" b="0" i="1" smtClean="0">
                          <a:solidFill>
                            <a:srgbClr val="FF0000"/>
                          </a:solidFill>
                          <a:latin typeface="Cambria Math" panose="02040503050406030204" pitchFamily="18" charset="0"/>
                        </a:rPr>
                        <m:t>=−</m:t>
                      </m:r>
                      <m:f>
                        <m:fPr>
                          <m:ctrlPr>
                            <a:rPr lang="en-US" i="1">
                              <a:solidFill>
                                <a:srgbClr val="FF0000"/>
                              </a:solidFill>
                              <a:latin typeface="Cambria Math"/>
                            </a:rPr>
                          </m:ctrlPr>
                        </m:fPr>
                        <m:num>
                          <m:r>
                            <a:rPr lang="en-US" i="1">
                              <a:solidFill>
                                <a:srgbClr val="FF0000"/>
                              </a:solidFill>
                              <a:latin typeface="Cambria Math" panose="02040503050406030204" pitchFamily="18" charset="0"/>
                            </a:rPr>
                            <m:t>𝑑</m:t>
                          </m:r>
                          <m:d>
                            <m:dPr>
                              <m:ctrlPr>
                                <a:rPr lang="en-US" i="1" smtClean="0">
                                  <a:solidFill>
                                    <a:srgbClr val="FF0000"/>
                                  </a:solidFill>
                                  <a:latin typeface="Cambria Math"/>
                                </a:rPr>
                              </m:ctrlPr>
                            </m:dPr>
                            <m:e>
                              <m:r>
                                <a:rPr lang="en-US" b="0" i="1" smtClean="0">
                                  <a:solidFill>
                                    <a:srgbClr val="FF0000"/>
                                  </a:solidFill>
                                  <a:latin typeface="Cambria Math" panose="02040503050406030204" pitchFamily="18" charset="0"/>
                                </a:rPr>
                                <m:t>𝐿𝑖</m:t>
                              </m:r>
                            </m:e>
                          </m:d>
                        </m:num>
                        <m:den>
                          <m:r>
                            <a:rPr lang="en-US" i="1">
                              <a:solidFill>
                                <a:srgbClr val="FF0000"/>
                              </a:solidFill>
                              <a:latin typeface="Cambria Math" panose="02040503050406030204" pitchFamily="18" charset="0"/>
                            </a:rPr>
                            <m:t>𝑑𝑡</m:t>
                          </m:r>
                        </m:den>
                      </m:f>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𝐿</m:t>
                      </m:r>
                      <m:f>
                        <m:fPr>
                          <m:ctrlPr>
                            <a:rPr lang="en-US" b="0" i="1" smtClean="0">
                              <a:solidFill>
                                <a:srgbClr val="FF0000"/>
                              </a:solidFill>
                              <a:latin typeface="Cambria Math"/>
                            </a:rPr>
                          </m:ctrlPr>
                        </m:fPr>
                        <m:num>
                          <m:r>
                            <a:rPr lang="en-US" b="0" i="1" smtClean="0">
                              <a:solidFill>
                                <a:srgbClr val="FF0000"/>
                              </a:solidFill>
                              <a:latin typeface="Cambria Math" panose="02040503050406030204" pitchFamily="18" charset="0"/>
                            </a:rPr>
                            <m:t>𝑑𝑖</m:t>
                          </m:r>
                        </m:num>
                        <m:den>
                          <m:r>
                            <a:rPr lang="en-US" b="0" i="1" smtClean="0">
                              <a:solidFill>
                                <a:srgbClr val="FF0000"/>
                              </a:solidFill>
                              <a:latin typeface="Cambria Math" panose="02040503050406030204" pitchFamily="18" charset="0"/>
                            </a:rPr>
                            <m:t>𝑑𝑡</m:t>
                          </m:r>
                        </m:den>
                      </m:f>
                    </m:oMath>
                  </m:oMathPara>
                </a14:m>
                <a:endParaRPr lang="en-US" b="0" dirty="0">
                  <a:solidFill>
                    <a:srgbClr val="FF0000"/>
                  </a:solidFill>
                </a:endParaRPr>
              </a:p>
              <a:p>
                <a:endParaRPr lang="en-US" dirty="0"/>
              </a:p>
              <a:p>
                <a:r>
                  <a:rPr lang="en-US" dirty="0"/>
                  <a:t>L : </a:t>
                </a:r>
                <a:r>
                  <a:rPr lang="en-US" b="1" dirty="0"/>
                  <a:t>độ </a:t>
                </a:r>
                <a:r>
                  <a:rPr lang="en-US" b="1" dirty="0" err="1"/>
                  <a:t>tự</a:t>
                </a:r>
                <a:r>
                  <a:rPr lang="en-US" b="1" dirty="0"/>
                  <a:t> </a:t>
                </a:r>
                <a:r>
                  <a:rPr lang="en-US" b="1" dirty="0" err="1"/>
                  <a:t>cảm</a:t>
                </a:r>
                <a:r>
                  <a:rPr lang="en-US" dirty="0"/>
                  <a:t> </a:t>
                </a:r>
                <a:r>
                  <a:rPr lang="en-US" dirty="0" err="1"/>
                  <a:t>của</a:t>
                </a:r>
                <a:r>
                  <a:rPr lang="en-US" dirty="0"/>
                  <a:t> </a:t>
                </a:r>
                <a:r>
                  <a:rPr lang="en-US" dirty="0" err="1"/>
                  <a:t>vòng</a:t>
                </a:r>
                <a:r>
                  <a:rPr lang="en-US" dirty="0"/>
                  <a:t> </a:t>
                </a:r>
                <a:r>
                  <a:rPr lang="en-US" dirty="0" err="1"/>
                  <a:t>dây</a:t>
                </a:r>
                <a:r>
                  <a:rPr lang="en-US" dirty="0"/>
                  <a:t>, </a:t>
                </a:r>
                <a:r>
                  <a:rPr lang="vi-VN" dirty="0"/>
                  <a:t>có giá trị tùy thuộc hình dạng và kích thước của mạch </a:t>
                </a:r>
                <a:endParaRPr lang="en-US" dirty="0"/>
              </a:p>
            </p:txBody>
          </p:sp>
        </mc:Choice>
        <mc:Fallback xmlns="">
          <p:sp>
            <p:nvSpPr>
              <p:cNvPr id="3" name="Content Placeholder 2">
                <a:extLst>
                  <a:ext uri="{FF2B5EF4-FFF2-40B4-BE49-F238E27FC236}">
                    <a16:creationId xmlns:a16="http://schemas.microsoft.com/office/drawing/2014/main" id="{72F22DED-D6E8-477A-AF99-5E759CEC26DE}"/>
                  </a:ext>
                </a:extLst>
              </p:cNvPr>
              <p:cNvSpPr>
                <a:spLocks noGrp="1" noRot="1" noChangeAspect="1" noMove="1" noResize="1" noEditPoints="1" noAdjustHandles="1" noChangeArrowheads="1" noChangeShapeType="1" noTextEdit="1"/>
              </p:cNvSpPr>
              <p:nvPr>
                <p:ph idx="1"/>
              </p:nvPr>
            </p:nvSpPr>
            <p:spPr>
              <a:xfrm>
                <a:off x="838200" y="1415078"/>
                <a:ext cx="10515600" cy="5163004"/>
              </a:xfrm>
              <a:blipFill>
                <a:blip r:embed="rId2"/>
                <a:stretch>
                  <a:fillRect l="-2087" t="-3306" r="-2029"/>
                </a:stretch>
              </a:blipFill>
            </p:spPr>
            <p:txBody>
              <a:bodyPr/>
              <a:lstStyle/>
              <a:p>
                <a:r>
                  <a:rPr lang="en-US">
                    <a:noFill/>
                  </a:rPr>
                  <a:t> </a:t>
                </a:r>
              </a:p>
            </p:txBody>
          </p:sp>
        </mc:Fallback>
      </mc:AlternateContent>
    </p:spTree>
    <p:extLst>
      <p:ext uri="{BB962C8B-B14F-4D97-AF65-F5344CB8AC3E}">
        <p14:creationId xmlns:p14="http://schemas.microsoft.com/office/powerpoint/2010/main" val="14625565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FDAF6A-AB10-4E86-B4FB-B4508CCBA4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FF4393D-F146-435F-988C-BA37E2A9BB42}"/>
              </a:ext>
            </a:extLst>
          </p:cNvPr>
          <p:cNvSpPr>
            <a:spLocks noGrp="1"/>
          </p:cNvSpPr>
          <p:nvPr>
            <p:ph idx="1"/>
          </p:nvPr>
        </p:nvSpPr>
        <p:spPr/>
        <p:txBody>
          <a:bodyPr/>
          <a:lstStyle/>
          <a:p>
            <a:r>
              <a:rPr lang="vi-VN" dirty="0"/>
              <a:t> </a:t>
            </a:r>
            <a:r>
              <a:rPr lang="en-US" i="1" dirty="0"/>
              <a:t>T</a:t>
            </a:r>
            <a:r>
              <a:rPr lang="vi-VN" i="1" dirty="0"/>
              <a:t>rong mạch điện đứng yên và không thay đổi hình dạng, </a:t>
            </a:r>
            <a:r>
              <a:rPr lang="vi-VN" i="1" dirty="0">
                <a:hlinkClick r:id="rId2" tooltip="Suất điện động tự cảm (trang chưa được viết)"/>
              </a:rPr>
              <a:t>suất điện động tự cảm</a:t>
            </a:r>
            <a:r>
              <a:rPr lang="vi-VN" i="1" dirty="0"/>
              <a:t> luôn luôn tỉ lệ thuận, nhưng trái dấu với tốc độ biến thiên </a:t>
            </a:r>
            <a:r>
              <a:rPr lang="vi-VN" i="1" dirty="0">
                <a:hlinkClick r:id="rId3" tooltip="Dòng điện"/>
              </a:rPr>
              <a:t>cường độ dòng điện</a:t>
            </a:r>
            <a:r>
              <a:rPr lang="vi-VN" i="1" dirty="0"/>
              <a:t> trong mạch. Vì nó luôn có tác dụng chống lại sự biến đổi của cường độ dòng điện trong mạch là nguyên nhân đã sinh ra nó.</a:t>
            </a:r>
            <a:endParaRPr lang="en-US" dirty="0"/>
          </a:p>
        </p:txBody>
      </p:sp>
    </p:spTree>
    <p:extLst>
      <p:ext uri="{BB962C8B-B14F-4D97-AF65-F5344CB8AC3E}">
        <p14:creationId xmlns:p14="http://schemas.microsoft.com/office/powerpoint/2010/main" val="18202636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4A92B8-9462-4FC9-81FF-34CB7B5F3782}"/>
              </a:ext>
            </a:extLst>
          </p:cNvPr>
          <p:cNvSpPr>
            <a:spLocks noGrp="1"/>
          </p:cNvSpPr>
          <p:nvPr>
            <p:ph type="title"/>
          </p:nvPr>
        </p:nvSpPr>
        <p:spPr/>
        <p:txBody>
          <a:bodyPr>
            <a:normAutofit fontScale="90000"/>
          </a:bodyPr>
          <a:lstStyle/>
          <a:p>
            <a:r>
              <a:rPr lang="en-US" dirty="0" err="1"/>
              <a:t>Giả</a:t>
            </a:r>
            <a:r>
              <a:rPr lang="en-US" dirty="0"/>
              <a:t> </a:t>
            </a:r>
            <a:r>
              <a:rPr lang="vi-VN" dirty="0"/>
              <a:t>sử</a:t>
            </a:r>
            <a:r>
              <a:rPr lang="en-US" dirty="0"/>
              <a:t> </a:t>
            </a:r>
            <a:r>
              <a:rPr lang="en-US" dirty="0" err="1"/>
              <a:t>rằng</a:t>
            </a:r>
            <a:r>
              <a:rPr lang="en-US" dirty="0"/>
              <a:t> </a:t>
            </a:r>
            <a:r>
              <a:rPr lang="en-US" dirty="0" err="1"/>
              <a:t>từ</a:t>
            </a:r>
            <a:r>
              <a:rPr lang="en-US" dirty="0"/>
              <a:t> </a:t>
            </a:r>
            <a:r>
              <a:rPr lang="en-US" dirty="0" err="1"/>
              <a:t>thông</a:t>
            </a:r>
            <a:r>
              <a:rPr lang="en-US" dirty="0"/>
              <a:t> qua </a:t>
            </a:r>
            <a:r>
              <a:rPr lang="en-US" dirty="0" err="1"/>
              <a:t>các</a:t>
            </a:r>
            <a:r>
              <a:rPr lang="en-US" dirty="0"/>
              <a:t> </a:t>
            </a:r>
            <a:r>
              <a:rPr lang="en-US" dirty="0" err="1"/>
              <a:t>vòng</a:t>
            </a:r>
            <a:r>
              <a:rPr lang="en-US" dirty="0"/>
              <a:t> </a:t>
            </a:r>
            <a:r>
              <a:rPr lang="en-US" dirty="0" err="1"/>
              <a:t>dây</a:t>
            </a:r>
            <a:r>
              <a:rPr lang="en-US" dirty="0"/>
              <a:t> </a:t>
            </a:r>
            <a:r>
              <a:rPr lang="en-US" dirty="0" err="1"/>
              <a:t>là</a:t>
            </a:r>
            <a:r>
              <a:rPr lang="en-US" dirty="0"/>
              <a:t> </a:t>
            </a:r>
            <a:r>
              <a:rPr lang="en-US" dirty="0" err="1"/>
              <a:t>như</a:t>
            </a:r>
            <a:r>
              <a:rPr lang="en-US" dirty="0"/>
              <a:t> </a:t>
            </a:r>
            <a:r>
              <a:rPr lang="en-US" dirty="0" err="1"/>
              <a:t>nhau</a:t>
            </a:r>
            <a:r>
              <a:rPr lang="en-US" dirty="0"/>
              <a:t> </a:t>
            </a:r>
            <a:r>
              <a:rPr lang="en-US" dirty="0" err="1"/>
              <a:t>và</a:t>
            </a:r>
            <a:r>
              <a:rPr lang="en-US" dirty="0"/>
              <a:t> L </a:t>
            </a:r>
            <a:r>
              <a:rPr lang="en-US" dirty="0" err="1"/>
              <a:t>là</a:t>
            </a:r>
            <a:r>
              <a:rPr lang="en-US" dirty="0"/>
              <a:t> độ </a:t>
            </a:r>
            <a:r>
              <a:rPr lang="en-US" dirty="0" err="1"/>
              <a:t>tự</a:t>
            </a:r>
            <a:r>
              <a:rPr lang="en-US" dirty="0"/>
              <a:t> </a:t>
            </a:r>
            <a:r>
              <a:rPr lang="en-US" dirty="0" err="1"/>
              <a:t>cảm</a:t>
            </a:r>
            <a:r>
              <a:rPr lang="en-US" dirty="0"/>
              <a:t> </a:t>
            </a:r>
            <a:r>
              <a:rPr lang="en-US" dirty="0" err="1"/>
              <a:t>của</a:t>
            </a:r>
            <a:r>
              <a:rPr lang="en-US" dirty="0"/>
              <a:t> </a:t>
            </a:r>
            <a:r>
              <a:rPr lang="en-US" dirty="0" err="1"/>
              <a:t>cả</a:t>
            </a:r>
            <a:r>
              <a:rPr lang="en-US" dirty="0"/>
              <a:t> </a:t>
            </a:r>
            <a:r>
              <a:rPr lang="en-US" dirty="0" err="1"/>
              <a:t>cuộn</a:t>
            </a:r>
            <a:r>
              <a:rPr lang="en-US" dirty="0"/>
              <a:t> </a:t>
            </a:r>
            <a:r>
              <a:rPr lang="en-US" dirty="0" err="1"/>
              <a:t>dây</a:t>
            </a:r>
            <a:r>
              <a:rPr lang="en-US" dirty="0"/>
              <a:t>.</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77B6185D-40C9-4256-B603-DA2414D5962D}"/>
                  </a:ext>
                </a:extLst>
              </p:cNvPr>
              <p:cNvSpPr>
                <a:spLocks noGrp="1"/>
              </p:cNvSpPr>
              <p:nvPr>
                <p:ph idx="1"/>
              </p:nvPr>
            </p:nvSpPr>
            <p:spPr>
              <a:xfrm>
                <a:off x="389106" y="1825625"/>
                <a:ext cx="11556460" cy="4351338"/>
              </a:xfrm>
            </p:spPr>
            <p:txBody>
              <a:bodyPr>
                <a:norm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𝐿</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𝑁</m:t>
                      </m:r>
                      <m:f>
                        <m:fPr>
                          <m:ctrlPr>
                            <a:rPr lang="en-US" b="0" i="1" smtClean="0">
                              <a:solidFill>
                                <a:srgbClr val="0070C0"/>
                              </a:solidFill>
                              <a:latin typeface="Cambria Math"/>
                            </a:rPr>
                          </m:ctrlPr>
                        </m:fPr>
                        <m:num>
                          <m:sSub>
                            <m:sSubPr>
                              <m:ctrlPr>
                                <a:rPr lang="en-US" b="0" i="1" smtClean="0">
                                  <a:solidFill>
                                    <a:srgbClr val="0070C0"/>
                                  </a:solidFill>
                                  <a:latin typeface="Cambria Math"/>
                                </a:rPr>
                              </m:ctrlPr>
                            </m:sSubPr>
                            <m:e>
                              <m:r>
                                <a:rPr lang="en-US" b="0" i="1" smtClean="0">
                                  <a:solidFill>
                                    <a:srgbClr val="0070C0"/>
                                  </a:solidFill>
                                  <a:latin typeface="Cambria Math" panose="02040503050406030204" pitchFamily="18" charset="0"/>
                                  <a:ea typeface="Cambria Math" panose="02040503050406030204" pitchFamily="18" charset="0"/>
                                </a:rPr>
                                <m:t>𝜙</m:t>
                              </m:r>
                            </m:e>
                            <m:sub>
                              <m:r>
                                <a:rPr lang="en-US" b="0" i="1" smtClean="0">
                                  <a:solidFill>
                                    <a:srgbClr val="0070C0"/>
                                  </a:solidFill>
                                  <a:latin typeface="Cambria Math" panose="02040503050406030204" pitchFamily="18" charset="0"/>
                                </a:rPr>
                                <m:t>𝐵</m:t>
                              </m:r>
                            </m:sub>
                          </m:sSub>
                        </m:num>
                        <m:den>
                          <m:r>
                            <a:rPr lang="en-US" b="0" i="1" smtClean="0">
                              <a:solidFill>
                                <a:srgbClr val="0070C0"/>
                              </a:solidFill>
                              <a:latin typeface="Cambria Math" panose="02040503050406030204" pitchFamily="18" charset="0"/>
                            </a:rPr>
                            <m:t>𝑖</m:t>
                          </m:r>
                        </m:den>
                      </m:f>
                      <m:r>
                        <a:rPr lang="en-US" b="0" i="1" smtClean="0">
                          <a:solidFill>
                            <a:srgbClr val="0070C0"/>
                          </a:solidFill>
                          <a:latin typeface="Cambria Math" panose="02040503050406030204" pitchFamily="18" charset="0"/>
                        </a:rPr>
                        <m:t>=−</m:t>
                      </m:r>
                      <m:f>
                        <m:fPr>
                          <m:ctrlPr>
                            <a:rPr lang="en-US" b="0" i="1" smtClean="0">
                              <a:solidFill>
                                <a:srgbClr val="0070C0"/>
                              </a:solidFill>
                              <a:latin typeface="Cambria Math"/>
                            </a:rPr>
                          </m:ctrlPr>
                        </m:fPr>
                        <m:num>
                          <m:sSub>
                            <m:sSubPr>
                              <m:ctrlPr>
                                <a:rPr lang="en-US" i="1">
                                  <a:solidFill>
                                    <a:srgbClr val="0070C0"/>
                                  </a:solidFill>
                                  <a:latin typeface="Cambria Math"/>
                                </a:rPr>
                              </m:ctrlPr>
                            </m:sSubPr>
                            <m:e>
                              <m:r>
                                <a:rPr lang="en-US" i="1">
                                  <a:solidFill>
                                    <a:srgbClr val="0070C0"/>
                                  </a:solidFill>
                                  <a:latin typeface="Cambria Math" panose="02040503050406030204" pitchFamily="18" charset="0"/>
                                  <a:ea typeface="Cambria Math" panose="02040503050406030204" pitchFamily="18" charset="0"/>
                                </a:rPr>
                                <m:t>𝜀</m:t>
                              </m:r>
                            </m:e>
                            <m:sub>
                              <m:r>
                                <a:rPr lang="en-US" i="1">
                                  <a:solidFill>
                                    <a:srgbClr val="0070C0"/>
                                  </a:solidFill>
                                  <a:latin typeface="Cambria Math" panose="02040503050406030204" pitchFamily="18" charset="0"/>
                                </a:rPr>
                                <m:t>𝐿</m:t>
                              </m:r>
                            </m:sub>
                          </m:sSub>
                        </m:num>
                        <m:den>
                          <m:d>
                            <m:dPr>
                              <m:ctrlPr>
                                <a:rPr lang="en-US" b="0" i="1" smtClean="0">
                                  <a:solidFill>
                                    <a:srgbClr val="0070C0"/>
                                  </a:solidFill>
                                  <a:latin typeface="Cambria Math"/>
                                </a:rPr>
                              </m:ctrlPr>
                            </m:dPr>
                            <m:e>
                              <m:f>
                                <m:fPr>
                                  <m:type m:val="skw"/>
                                  <m:ctrlPr>
                                    <a:rPr lang="en-US" b="0" i="1" smtClean="0">
                                      <a:solidFill>
                                        <a:srgbClr val="0070C0"/>
                                      </a:solidFill>
                                      <a:latin typeface="Cambria Math"/>
                                    </a:rPr>
                                  </m:ctrlPr>
                                </m:fPr>
                                <m:num>
                                  <m:r>
                                    <a:rPr lang="en-US" b="0" i="1" smtClean="0">
                                      <a:solidFill>
                                        <a:srgbClr val="0070C0"/>
                                      </a:solidFill>
                                      <a:latin typeface="Cambria Math" panose="02040503050406030204" pitchFamily="18" charset="0"/>
                                    </a:rPr>
                                    <m:t>𝑑𝑖</m:t>
                                  </m:r>
                                </m:num>
                                <m:den>
                                  <m:r>
                                    <a:rPr lang="en-US" b="0" i="1" smtClean="0">
                                      <a:solidFill>
                                        <a:srgbClr val="0070C0"/>
                                      </a:solidFill>
                                      <a:latin typeface="Cambria Math" panose="02040503050406030204" pitchFamily="18" charset="0"/>
                                    </a:rPr>
                                    <m:t>𝑑𝑡</m:t>
                                  </m:r>
                                </m:den>
                              </m:f>
                            </m:e>
                          </m:d>
                        </m:den>
                      </m:f>
                    </m:oMath>
                  </m:oMathPara>
                </a14:m>
                <a:endParaRPr lang="en-US" dirty="0"/>
              </a:p>
              <a:p>
                <a:endParaRPr lang="en-US" dirty="0"/>
              </a:p>
              <a:p>
                <a:r>
                  <a:rPr lang="en-US" dirty="0"/>
                  <a:t>L </a:t>
                </a:r>
                <a:r>
                  <a:rPr lang="en-US" dirty="0" err="1"/>
                  <a:t>là</a:t>
                </a:r>
                <a:r>
                  <a:rPr lang="en-US" dirty="0"/>
                  <a:t> </a:t>
                </a:r>
                <a:r>
                  <a:rPr lang="en-US" dirty="0" err="1"/>
                  <a:t>số</a:t>
                </a:r>
                <a:r>
                  <a:rPr lang="en-US" dirty="0"/>
                  <a:t> </a:t>
                </a:r>
                <a:r>
                  <a:rPr lang="en-US" dirty="0" err="1"/>
                  <a:t>đo</a:t>
                </a:r>
                <a:r>
                  <a:rPr lang="en-US" dirty="0"/>
                  <a:t> </a:t>
                </a:r>
                <a:r>
                  <a:rPr lang="en-US" dirty="0" err="1"/>
                  <a:t>của</a:t>
                </a:r>
                <a:r>
                  <a:rPr lang="en-US" dirty="0"/>
                  <a:t> </a:t>
                </a:r>
                <a:r>
                  <a:rPr lang="en-US" dirty="0" err="1"/>
                  <a:t>sự</a:t>
                </a:r>
                <a:r>
                  <a:rPr lang="en-US" dirty="0"/>
                  <a:t> </a:t>
                </a:r>
                <a:r>
                  <a:rPr lang="en-US" dirty="0" err="1"/>
                  <a:t>chống</a:t>
                </a:r>
                <a:r>
                  <a:rPr lang="en-US" dirty="0"/>
                  <a:t> </a:t>
                </a:r>
                <a:r>
                  <a:rPr lang="en-US" dirty="0" err="1"/>
                  <a:t>lại</a:t>
                </a:r>
                <a:r>
                  <a:rPr lang="en-US" dirty="0"/>
                  <a:t> </a:t>
                </a:r>
                <a:r>
                  <a:rPr lang="en-US" dirty="0" err="1"/>
                  <a:t>sự</a:t>
                </a:r>
                <a:r>
                  <a:rPr lang="en-US" dirty="0"/>
                  <a:t> </a:t>
                </a:r>
                <a:r>
                  <a:rPr lang="en-US" dirty="0" err="1"/>
                  <a:t>biến</a:t>
                </a:r>
                <a:r>
                  <a:rPr lang="en-US" dirty="0"/>
                  <a:t> </a:t>
                </a:r>
                <a:r>
                  <a:rPr lang="en-US" dirty="0" err="1"/>
                  <a:t>thiên</a:t>
                </a:r>
                <a:r>
                  <a:rPr lang="en-US" dirty="0"/>
                  <a:t> </a:t>
                </a:r>
                <a:r>
                  <a:rPr lang="en-US" dirty="0" err="1"/>
                  <a:t>của</a:t>
                </a:r>
                <a:r>
                  <a:rPr lang="en-US" dirty="0"/>
                  <a:t> </a:t>
                </a:r>
                <a:r>
                  <a:rPr lang="en-US" dirty="0" err="1"/>
                  <a:t>dòng</a:t>
                </a:r>
                <a:r>
                  <a:rPr lang="en-US" dirty="0"/>
                  <a:t> </a:t>
                </a:r>
                <a:r>
                  <a:rPr lang="en-US" dirty="0" err="1"/>
                  <a:t>điện</a:t>
                </a:r>
                <a:r>
                  <a:rPr lang="en-US" dirty="0"/>
                  <a:t>.</a:t>
                </a:r>
              </a:p>
              <a:p>
                <a:r>
                  <a:rPr lang="en-US" dirty="0" err="1"/>
                  <a:t>Đơn</a:t>
                </a:r>
                <a:r>
                  <a:rPr lang="en-US" dirty="0"/>
                  <a:t> </a:t>
                </a:r>
                <a:r>
                  <a:rPr lang="en-US" dirty="0" err="1"/>
                  <a:t>vị</a:t>
                </a:r>
                <a:r>
                  <a:rPr lang="en-US" dirty="0"/>
                  <a:t> </a:t>
                </a:r>
                <a:r>
                  <a:rPr lang="en-US" dirty="0" err="1"/>
                  <a:t>trong</a:t>
                </a:r>
                <a:r>
                  <a:rPr lang="en-US" dirty="0"/>
                  <a:t> </a:t>
                </a:r>
                <a:r>
                  <a:rPr lang="en-US" dirty="0" err="1"/>
                  <a:t>hệ</a:t>
                </a:r>
                <a:r>
                  <a:rPr lang="en-US" dirty="0"/>
                  <a:t> SI </a:t>
                </a:r>
                <a:r>
                  <a:rPr lang="en-US" dirty="0" err="1"/>
                  <a:t>của</a:t>
                </a:r>
                <a:r>
                  <a:rPr lang="en-US" dirty="0"/>
                  <a:t> L </a:t>
                </a:r>
                <a:r>
                  <a:rPr lang="en-US" dirty="0" err="1"/>
                  <a:t>là</a:t>
                </a:r>
                <a:r>
                  <a:rPr lang="en-US" dirty="0"/>
                  <a:t> Henry (H), 1H = 1 V.s/A.</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77B6185D-40C9-4256-B603-DA2414D5962D}"/>
                  </a:ext>
                </a:extLst>
              </p:cNvPr>
              <p:cNvSpPr>
                <a:spLocks noGrp="1" noRot="1" noChangeAspect="1" noMove="1" noResize="1" noEditPoints="1" noAdjustHandles="1" noChangeArrowheads="1" noChangeShapeType="1" noTextEdit="1"/>
              </p:cNvSpPr>
              <p:nvPr>
                <p:ph idx="1"/>
              </p:nvPr>
            </p:nvSpPr>
            <p:spPr>
              <a:xfrm>
                <a:off x="389106" y="1825625"/>
                <a:ext cx="11556460" cy="4351338"/>
              </a:xfrm>
              <a:blipFill>
                <a:blip r:embed="rId2"/>
                <a:stretch>
                  <a:fillRect l="-1899" r="-1002"/>
                </a:stretch>
              </a:blipFill>
            </p:spPr>
            <p:txBody>
              <a:bodyPr/>
              <a:lstStyle/>
              <a:p>
                <a:r>
                  <a:rPr lang="en-US">
                    <a:noFill/>
                  </a:rPr>
                  <a:t> </a:t>
                </a:r>
              </a:p>
            </p:txBody>
          </p:sp>
        </mc:Fallback>
      </mc:AlternateContent>
    </p:spTree>
    <p:extLst>
      <p:ext uri="{BB962C8B-B14F-4D97-AF65-F5344CB8AC3E}">
        <p14:creationId xmlns:p14="http://schemas.microsoft.com/office/powerpoint/2010/main" val="20752088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86D3E0-32C3-4840-9F35-5E0C60819E2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Độ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Solenoid</a:t>
            </a:r>
            <a:r>
              <a:rPr lang="en-US" dirty="0">
                <a:latin typeface="Times New Roman" panose="02020603050405020304" pitchFamily="18" charset="0"/>
                <a:cs typeface="Times New Roman" panose="02020603050405020304" pitchFamily="18" charset="0"/>
              </a:rPr>
              <a:t> </a:t>
            </a:r>
            <a:r>
              <a:rPr lang="en-US" dirty="0"/>
              <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0E2E6AAB-B2C8-4A94-9AED-862069BD16BF}"/>
                  </a:ext>
                </a:extLst>
              </p:cNvPr>
              <p:cNvSpPr>
                <a:spLocks noGrp="1"/>
              </p:cNvSpPr>
              <p:nvPr>
                <p:ph idx="1"/>
              </p:nvPr>
            </p:nvSpPr>
            <p:spPr>
              <a:xfrm>
                <a:off x="838200" y="1825625"/>
                <a:ext cx="10515600" cy="4351338"/>
              </a:xfrm>
            </p:spPr>
            <p:txBody>
              <a:bodyPr/>
              <a:lstStyle/>
              <a:p>
                <a:r>
                  <a:rPr lang="en-US" dirty="0"/>
                  <a:t>M</a:t>
                </a:r>
                <a:r>
                  <a:rPr lang="vi-VN" dirty="0"/>
                  <a:t>ột ống dây điện chiều dài l, tiết diện </a:t>
                </a:r>
                <a:r>
                  <a:rPr lang="en-US" dirty="0"/>
                  <a:t>A</a:t>
                </a:r>
                <a:r>
                  <a:rPr lang="vi-VN" dirty="0"/>
                  <a:t>, gồm tất cả N vòng dây</a:t>
                </a:r>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sSub>
                        <m:sSubPr>
                          <m:ctrlPr>
                            <a:rPr lang="en-US" b="0" i="1" smtClean="0">
                              <a:latin typeface="Cambria Math"/>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0</m:t>
                          </m:r>
                        </m:sub>
                      </m:sSub>
                      <m:r>
                        <a:rPr lang="en-US" b="0" i="1" smtClean="0">
                          <a:latin typeface="Cambria Math" panose="02040503050406030204" pitchFamily="18" charset="0"/>
                        </a:rPr>
                        <m:t>𝐴</m:t>
                      </m:r>
                      <m:f>
                        <m:fPr>
                          <m:ctrlPr>
                            <a:rPr lang="en-US" b="0" i="1" smtClean="0">
                              <a:latin typeface="Cambria Math"/>
                            </a:rPr>
                          </m:ctrlPr>
                        </m:fPr>
                        <m:num>
                          <m:sSup>
                            <m:sSupPr>
                              <m:ctrlPr>
                                <a:rPr lang="en-US" b="0" i="1" smtClean="0">
                                  <a:latin typeface="Cambria Math"/>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𝑙</m:t>
                          </m:r>
                        </m:den>
                      </m:f>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0E2E6AAB-B2C8-4A94-9AED-862069BD16BF}"/>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2087" t="-3922" r="-2029"/>
                </a:stretch>
              </a:blipFill>
            </p:spPr>
            <p:txBody>
              <a:bodyPr/>
              <a:lstStyle/>
              <a:p>
                <a:r>
                  <a:rPr lang="en-US">
                    <a:noFill/>
                  </a:rPr>
                  <a:t> </a:t>
                </a:r>
              </a:p>
            </p:txBody>
          </p:sp>
        </mc:Fallback>
      </mc:AlternateContent>
    </p:spTree>
    <p:extLst>
      <p:ext uri="{BB962C8B-B14F-4D97-AF65-F5344CB8AC3E}">
        <p14:creationId xmlns:p14="http://schemas.microsoft.com/office/powerpoint/2010/main" val="16288117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6EDE5-4717-4978-9CDB-21D2F123ECD8}"/>
              </a:ext>
            </a:extLst>
          </p:cNvPr>
          <p:cNvSpPr>
            <a:spLocks noGrp="1"/>
          </p:cNvSpPr>
          <p:nvPr>
            <p:ph type="title"/>
          </p:nvPr>
        </p:nvSpPr>
        <p:spPr>
          <a:xfrm>
            <a:off x="0" y="39011"/>
            <a:ext cx="2323289" cy="1325563"/>
          </a:xfrm>
        </p:spPr>
        <p:txBody>
          <a:bodyPr/>
          <a:lstStyle/>
          <a:p>
            <a:r>
              <a:rPr lang="en-US" dirty="0">
                <a:solidFill>
                  <a:srgbClr val="FFC000"/>
                </a:solidFill>
              </a:rPr>
              <a:t>Câu </a:t>
            </a:r>
            <a:r>
              <a:rPr lang="en-US" dirty="0" err="1">
                <a:solidFill>
                  <a:srgbClr val="FFC000"/>
                </a:solidFill>
              </a:rPr>
              <a:t>hỏi</a:t>
            </a:r>
            <a:r>
              <a:rPr lang="en-US" dirty="0">
                <a:solidFill>
                  <a:srgbClr val="FFC000"/>
                </a:solidFill>
              </a:rPr>
              <a:t> 1</a:t>
            </a:r>
          </a:p>
        </p:txBody>
      </p:sp>
      <p:sp>
        <p:nvSpPr>
          <p:cNvPr id="3" name="Content Placeholder 2">
            <a:extLst>
              <a:ext uri="{FF2B5EF4-FFF2-40B4-BE49-F238E27FC236}">
                <a16:creationId xmlns:a16="http://schemas.microsoft.com/office/drawing/2014/main" xmlns="" id="{A14C53A9-2E6F-49CA-B96D-0D13BFCDF87A}"/>
              </a:ext>
            </a:extLst>
          </p:cNvPr>
          <p:cNvSpPr>
            <a:spLocks noGrp="1"/>
          </p:cNvSpPr>
          <p:nvPr>
            <p:ph idx="1"/>
          </p:nvPr>
        </p:nvSpPr>
        <p:spPr>
          <a:xfrm>
            <a:off x="332362" y="1475430"/>
            <a:ext cx="5037306" cy="4351338"/>
          </a:xfrm>
        </p:spPr>
        <p:txBody>
          <a:bodyPr>
            <a:normAutofit lnSpcReduction="10000"/>
          </a:bodyPr>
          <a:lstStyle/>
          <a:p>
            <a:r>
              <a:rPr lang="en-US" dirty="0" err="1">
                <a:solidFill>
                  <a:srgbClr val="FF0000"/>
                </a:solidFill>
              </a:rPr>
              <a:t>Một</a:t>
            </a:r>
            <a:r>
              <a:rPr lang="en-US" dirty="0">
                <a:solidFill>
                  <a:srgbClr val="FF0000"/>
                </a:solidFill>
              </a:rPr>
              <a:t> </a:t>
            </a:r>
            <a:r>
              <a:rPr lang="en-US" dirty="0" err="1">
                <a:solidFill>
                  <a:srgbClr val="FF0000"/>
                </a:solidFill>
              </a:rPr>
              <a:t>cuộn</a:t>
            </a:r>
            <a:r>
              <a:rPr lang="en-US" dirty="0">
                <a:solidFill>
                  <a:srgbClr val="FF0000"/>
                </a:solidFill>
              </a:rPr>
              <a:t> </a:t>
            </a:r>
            <a:r>
              <a:rPr lang="en-US" dirty="0" err="1">
                <a:solidFill>
                  <a:srgbClr val="FF0000"/>
                </a:solidFill>
              </a:rPr>
              <a:t>dây</a:t>
            </a:r>
            <a:r>
              <a:rPr lang="en-US" dirty="0">
                <a:solidFill>
                  <a:srgbClr val="FF0000"/>
                </a:solidFill>
              </a:rPr>
              <a:t> </a:t>
            </a:r>
            <a:r>
              <a:rPr lang="en-US" dirty="0" err="1">
                <a:solidFill>
                  <a:srgbClr val="FF0000"/>
                </a:solidFill>
              </a:rPr>
              <a:t>không</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điện</a:t>
            </a:r>
            <a:r>
              <a:rPr lang="en-US" dirty="0">
                <a:solidFill>
                  <a:srgbClr val="FF0000"/>
                </a:solidFill>
              </a:rPr>
              <a:t> </a:t>
            </a:r>
            <a:r>
              <a:rPr lang="en-US" dirty="0" err="1">
                <a:solidFill>
                  <a:srgbClr val="FF0000"/>
                </a:solidFill>
              </a:rPr>
              <a:t>trở</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đầu</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cuộn</a:t>
            </a:r>
            <a:r>
              <a:rPr lang="en-US" dirty="0">
                <a:solidFill>
                  <a:srgbClr val="FF0000"/>
                </a:solidFill>
              </a:rPr>
              <a:t> </a:t>
            </a:r>
            <a:r>
              <a:rPr lang="en-US" dirty="0" err="1">
                <a:solidFill>
                  <a:srgbClr val="FF0000"/>
                </a:solidFill>
              </a:rPr>
              <a:t>dây</a:t>
            </a:r>
            <a:r>
              <a:rPr lang="en-US" dirty="0">
                <a:solidFill>
                  <a:srgbClr val="FF0000"/>
                </a:solidFill>
              </a:rPr>
              <a:t> </a:t>
            </a:r>
            <a:r>
              <a:rPr lang="en-US" dirty="0" err="1">
                <a:solidFill>
                  <a:srgbClr val="FF0000"/>
                </a:solidFill>
              </a:rPr>
              <a:t>được</a:t>
            </a:r>
            <a:r>
              <a:rPr lang="en-US" dirty="0">
                <a:solidFill>
                  <a:srgbClr val="FF0000"/>
                </a:solidFill>
              </a:rPr>
              <a:t> </a:t>
            </a:r>
            <a:r>
              <a:rPr lang="en-US" dirty="0" err="1">
                <a:solidFill>
                  <a:srgbClr val="FF0000"/>
                </a:solidFill>
              </a:rPr>
              <a:t>kí</a:t>
            </a:r>
            <a:r>
              <a:rPr lang="en-US" dirty="0">
                <a:solidFill>
                  <a:srgbClr val="FF0000"/>
                </a:solidFill>
              </a:rPr>
              <a:t> </a:t>
            </a:r>
            <a:r>
              <a:rPr lang="en-US" dirty="0" err="1">
                <a:solidFill>
                  <a:srgbClr val="FF0000"/>
                </a:solidFill>
              </a:rPr>
              <a:t>hiệu</a:t>
            </a:r>
            <a:r>
              <a:rPr lang="en-US" dirty="0">
                <a:solidFill>
                  <a:srgbClr val="FF0000"/>
                </a:solidFill>
              </a:rPr>
              <a:t> </a:t>
            </a:r>
            <a:r>
              <a:rPr lang="en-US" dirty="0" err="1">
                <a:solidFill>
                  <a:srgbClr val="FF0000"/>
                </a:solidFill>
              </a:rPr>
              <a:t>là</a:t>
            </a:r>
            <a:r>
              <a:rPr lang="en-US" dirty="0">
                <a:solidFill>
                  <a:srgbClr val="FF0000"/>
                </a:solidFill>
              </a:rPr>
              <a:t> a </a:t>
            </a:r>
            <a:r>
              <a:rPr lang="en-US" dirty="0" err="1">
                <a:solidFill>
                  <a:srgbClr val="FF0000"/>
                </a:solidFill>
              </a:rPr>
              <a:t>và</a:t>
            </a:r>
            <a:r>
              <a:rPr lang="en-US" dirty="0">
                <a:solidFill>
                  <a:srgbClr val="FF0000"/>
                </a:solidFill>
              </a:rPr>
              <a:t> b. </a:t>
            </a:r>
            <a:r>
              <a:rPr lang="en-US" dirty="0" err="1">
                <a:solidFill>
                  <a:srgbClr val="FF0000"/>
                </a:solidFill>
              </a:rPr>
              <a:t>Điện</a:t>
            </a:r>
            <a:r>
              <a:rPr lang="en-US" dirty="0">
                <a:solidFill>
                  <a:srgbClr val="FF0000"/>
                </a:solidFill>
              </a:rPr>
              <a:t> </a:t>
            </a:r>
            <a:r>
              <a:rPr lang="en-US" dirty="0" err="1">
                <a:solidFill>
                  <a:srgbClr val="FF0000"/>
                </a:solidFill>
              </a:rPr>
              <a:t>thế</a:t>
            </a:r>
            <a:r>
              <a:rPr lang="en-US" dirty="0">
                <a:solidFill>
                  <a:srgbClr val="FF0000"/>
                </a:solidFill>
              </a:rPr>
              <a:t> ở </a:t>
            </a:r>
            <a:r>
              <a:rPr lang="en-US" dirty="0" err="1">
                <a:solidFill>
                  <a:srgbClr val="FF0000"/>
                </a:solidFill>
              </a:rPr>
              <a:t>đầu</a:t>
            </a:r>
            <a:r>
              <a:rPr lang="en-US" dirty="0">
                <a:solidFill>
                  <a:srgbClr val="FF0000"/>
                </a:solidFill>
              </a:rPr>
              <a:t> a </a:t>
            </a:r>
            <a:r>
              <a:rPr lang="en-US" dirty="0" err="1">
                <a:solidFill>
                  <a:srgbClr val="FF0000"/>
                </a:solidFill>
              </a:rPr>
              <a:t>cao</a:t>
            </a:r>
            <a:r>
              <a:rPr lang="en-US" dirty="0">
                <a:solidFill>
                  <a:srgbClr val="FF0000"/>
                </a:solidFill>
              </a:rPr>
              <a:t> </a:t>
            </a:r>
            <a:r>
              <a:rPr lang="en-US" dirty="0" err="1">
                <a:solidFill>
                  <a:srgbClr val="FF0000"/>
                </a:solidFill>
              </a:rPr>
              <a:t>hơn</a:t>
            </a:r>
            <a:r>
              <a:rPr lang="en-US" dirty="0">
                <a:solidFill>
                  <a:srgbClr val="FF0000"/>
                </a:solidFill>
              </a:rPr>
              <a:t> ở </a:t>
            </a:r>
            <a:r>
              <a:rPr lang="en-US" dirty="0" err="1">
                <a:solidFill>
                  <a:srgbClr val="FF0000"/>
                </a:solidFill>
              </a:rPr>
              <a:t>đầu</a:t>
            </a:r>
            <a:r>
              <a:rPr lang="en-US" dirty="0">
                <a:solidFill>
                  <a:srgbClr val="FF0000"/>
                </a:solidFill>
              </a:rPr>
              <a:t> b. </a:t>
            </a:r>
            <a:r>
              <a:rPr lang="en-US" dirty="0" err="1">
                <a:solidFill>
                  <a:srgbClr val="FF0000"/>
                </a:solidFill>
              </a:rPr>
              <a:t>Phát</a:t>
            </a:r>
            <a:r>
              <a:rPr lang="en-US" dirty="0">
                <a:solidFill>
                  <a:srgbClr val="FF0000"/>
                </a:solidFill>
              </a:rPr>
              <a:t> </a:t>
            </a:r>
            <a:r>
              <a:rPr lang="en-US" dirty="0" err="1">
                <a:solidFill>
                  <a:srgbClr val="FF0000"/>
                </a:solidFill>
              </a:rPr>
              <a:t>biểu</a:t>
            </a:r>
            <a:r>
              <a:rPr lang="en-US" dirty="0">
                <a:solidFill>
                  <a:srgbClr val="FF0000"/>
                </a:solidFill>
              </a:rPr>
              <a:t> </a:t>
            </a:r>
            <a:r>
              <a:rPr lang="en-US" dirty="0" err="1">
                <a:solidFill>
                  <a:srgbClr val="FF0000"/>
                </a:solidFill>
              </a:rPr>
              <a:t>nào</a:t>
            </a:r>
            <a:r>
              <a:rPr lang="en-US" dirty="0">
                <a:solidFill>
                  <a:srgbClr val="FF0000"/>
                </a:solidFill>
              </a:rPr>
              <a:t> </a:t>
            </a:r>
            <a:r>
              <a:rPr lang="en-US" dirty="0" err="1">
                <a:solidFill>
                  <a:srgbClr val="FF0000"/>
                </a:solidFill>
              </a:rPr>
              <a:t>sau</a:t>
            </a:r>
            <a:r>
              <a:rPr lang="en-US" dirty="0">
                <a:solidFill>
                  <a:srgbClr val="FF0000"/>
                </a:solidFill>
              </a:rPr>
              <a:t> </a:t>
            </a:r>
            <a:r>
              <a:rPr lang="en-US" dirty="0" err="1">
                <a:solidFill>
                  <a:srgbClr val="FF0000"/>
                </a:solidFill>
              </a:rPr>
              <a:t>đây</a:t>
            </a:r>
            <a:r>
              <a:rPr lang="en-US" dirty="0">
                <a:solidFill>
                  <a:srgbClr val="FF0000"/>
                </a:solidFill>
              </a:rPr>
              <a:t> </a:t>
            </a:r>
            <a:r>
              <a:rPr lang="en-US" dirty="0" err="1">
                <a:solidFill>
                  <a:srgbClr val="FF0000"/>
                </a:solidFill>
              </a:rPr>
              <a:t>phù</a:t>
            </a:r>
            <a:r>
              <a:rPr lang="en-US" dirty="0">
                <a:solidFill>
                  <a:srgbClr val="FF0000"/>
                </a:solidFill>
              </a:rPr>
              <a:t> </a:t>
            </a:r>
            <a:r>
              <a:rPr lang="en-US" dirty="0" err="1">
                <a:solidFill>
                  <a:srgbClr val="FF0000"/>
                </a:solidFill>
              </a:rPr>
              <a:t>hợp</a:t>
            </a:r>
            <a:r>
              <a:rPr lang="en-US" dirty="0">
                <a:solidFill>
                  <a:srgbClr val="FF0000"/>
                </a:solidFill>
              </a:rPr>
              <a:t> </a:t>
            </a:r>
            <a:r>
              <a:rPr lang="en-US" dirty="0" err="1">
                <a:solidFill>
                  <a:srgbClr val="FF0000"/>
                </a:solidFill>
              </a:rPr>
              <a:t>với</a:t>
            </a:r>
            <a:r>
              <a:rPr lang="en-US" dirty="0">
                <a:solidFill>
                  <a:srgbClr val="FF0000"/>
                </a:solidFill>
              </a:rPr>
              <a:t> </a:t>
            </a:r>
            <a:r>
              <a:rPr lang="en-US" dirty="0" err="1">
                <a:solidFill>
                  <a:srgbClr val="FF0000"/>
                </a:solidFill>
              </a:rPr>
              <a:t>trường</a:t>
            </a:r>
            <a:r>
              <a:rPr lang="en-US" dirty="0">
                <a:solidFill>
                  <a:srgbClr val="FF0000"/>
                </a:solidFill>
              </a:rPr>
              <a:t> </a:t>
            </a:r>
            <a:r>
              <a:rPr lang="en-US" dirty="0" err="1">
                <a:solidFill>
                  <a:srgbClr val="FF0000"/>
                </a:solidFill>
              </a:rPr>
              <a:t>hợp</a:t>
            </a:r>
            <a:r>
              <a:rPr lang="en-US" dirty="0">
                <a:solidFill>
                  <a:srgbClr val="FF0000"/>
                </a:solidFill>
              </a:rPr>
              <a:t> </a:t>
            </a:r>
            <a:r>
              <a:rPr lang="en-US" dirty="0" err="1">
                <a:solidFill>
                  <a:srgbClr val="FF0000"/>
                </a:solidFill>
              </a:rPr>
              <a:t>này</a:t>
            </a:r>
            <a:r>
              <a:rPr lang="en-US" dirty="0">
                <a:solidFill>
                  <a:srgbClr val="FF0000"/>
                </a:solidFill>
              </a:rPr>
              <a:t>? </a:t>
            </a:r>
          </a:p>
        </p:txBody>
      </p:sp>
      <p:sp>
        <p:nvSpPr>
          <p:cNvPr id="4" name="Rectangle 3">
            <a:extLst>
              <a:ext uri="{FF2B5EF4-FFF2-40B4-BE49-F238E27FC236}">
                <a16:creationId xmlns:a16="http://schemas.microsoft.com/office/drawing/2014/main" xmlns="" id="{64D20A60-C317-40A8-8FEF-F27B84EA39A1}"/>
              </a:ext>
            </a:extLst>
          </p:cNvPr>
          <p:cNvSpPr/>
          <p:nvPr/>
        </p:nvSpPr>
        <p:spPr>
          <a:xfrm>
            <a:off x="5966297" y="335845"/>
            <a:ext cx="6096000" cy="6186309"/>
          </a:xfrm>
          <a:prstGeom prst="rect">
            <a:avLst/>
          </a:prstGeom>
        </p:spPr>
        <p:txBody>
          <a:bodyPr>
            <a:spAutoFit/>
          </a:bodyPr>
          <a:lstStyle/>
          <a:p>
            <a:pPr marL="514350" indent="-514350">
              <a:buAutoNum type="alphaLcParenBoth"/>
            </a:pPr>
            <a:r>
              <a:rPr lang="en-US" sz="3300" dirty="0" err="1">
                <a:latin typeface="Times New Roman" panose="02020603050405020304" pitchFamily="18" charset="0"/>
                <a:cs typeface="Times New Roman" panose="02020603050405020304" pitchFamily="18" charset="0"/>
              </a:rPr>
              <a:t>Dòng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điện</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không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đổi</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chạy</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từ</a:t>
            </a:r>
            <a:r>
              <a:rPr lang="en-US" sz="3300" dirty="0">
                <a:latin typeface="Times New Roman" panose="02020603050405020304" pitchFamily="18" charset="0"/>
                <a:cs typeface="Times New Roman" panose="02020603050405020304" pitchFamily="18" charset="0"/>
              </a:rPr>
              <a:t> a </a:t>
            </a:r>
            <a:r>
              <a:rPr lang="en-US" sz="3300" dirty="0" err="1">
                <a:latin typeface="Times New Roman" panose="02020603050405020304" pitchFamily="18" charset="0"/>
                <a:cs typeface="Times New Roman" panose="02020603050405020304" pitchFamily="18" charset="0"/>
              </a:rPr>
              <a:t>đến</a:t>
            </a:r>
            <a:r>
              <a:rPr lang="en-US" sz="3300" dirty="0">
                <a:latin typeface="Times New Roman" panose="02020603050405020304" pitchFamily="18" charset="0"/>
                <a:cs typeface="Times New Roman" panose="02020603050405020304" pitchFamily="18" charset="0"/>
              </a:rPr>
              <a:t> b. </a:t>
            </a:r>
          </a:p>
          <a:p>
            <a:pPr marL="514350" indent="-514350">
              <a:buAutoNum type="alphaLcParenBoth"/>
            </a:pPr>
            <a:r>
              <a:rPr lang="en-US" sz="3300" dirty="0" err="1">
                <a:latin typeface="Times New Roman" panose="02020603050405020304" pitchFamily="18" charset="0"/>
                <a:cs typeface="Times New Roman" panose="02020603050405020304" pitchFamily="18" charset="0"/>
              </a:rPr>
              <a:t>Dòng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điện</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không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đổi</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chạy</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từ</a:t>
            </a:r>
            <a:r>
              <a:rPr lang="en-US" sz="3300" dirty="0">
                <a:latin typeface="Times New Roman" panose="02020603050405020304" pitchFamily="18" charset="0"/>
                <a:cs typeface="Times New Roman" panose="02020603050405020304" pitchFamily="18" charset="0"/>
              </a:rPr>
              <a:t> b </a:t>
            </a:r>
            <a:r>
              <a:rPr lang="en-US" sz="3300" dirty="0" err="1">
                <a:latin typeface="Times New Roman" panose="02020603050405020304" pitchFamily="18" charset="0"/>
                <a:cs typeface="Times New Roman" panose="02020603050405020304" pitchFamily="18" charset="0"/>
              </a:rPr>
              <a:t>đến</a:t>
            </a:r>
            <a:r>
              <a:rPr lang="en-US" sz="3300" dirty="0">
                <a:latin typeface="Times New Roman" panose="02020603050405020304" pitchFamily="18" charset="0"/>
                <a:cs typeface="Times New Roman" panose="02020603050405020304" pitchFamily="18" charset="0"/>
              </a:rPr>
              <a:t> a. </a:t>
            </a:r>
          </a:p>
          <a:p>
            <a:pPr marL="514350" indent="-514350">
              <a:buAutoNum type="alphaLcParenBoth"/>
            </a:pPr>
            <a:r>
              <a:rPr lang="en-US" sz="3300" dirty="0" err="1">
                <a:latin typeface="Times New Roman" panose="02020603050405020304" pitchFamily="18" charset="0"/>
                <a:cs typeface="Times New Roman" panose="02020603050405020304" pitchFamily="18" charset="0"/>
              </a:rPr>
              <a:t>Dòng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điện</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đang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tăng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chạy</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từ</a:t>
            </a:r>
            <a:r>
              <a:rPr lang="en-US" sz="3300" dirty="0">
                <a:latin typeface="Times New Roman" panose="02020603050405020304" pitchFamily="18" charset="0"/>
                <a:cs typeface="Times New Roman" panose="02020603050405020304" pitchFamily="18" charset="0"/>
              </a:rPr>
              <a:t> a </a:t>
            </a:r>
            <a:r>
              <a:rPr lang="en-US" sz="3300" dirty="0" err="1">
                <a:latin typeface="Times New Roman" panose="02020603050405020304" pitchFamily="18" charset="0"/>
                <a:cs typeface="Times New Roman" panose="02020603050405020304" pitchFamily="18" charset="0"/>
              </a:rPr>
              <a:t>đến</a:t>
            </a:r>
            <a:r>
              <a:rPr lang="en-US" sz="3300" dirty="0">
                <a:latin typeface="Times New Roman" panose="02020603050405020304" pitchFamily="18" charset="0"/>
                <a:cs typeface="Times New Roman" panose="02020603050405020304" pitchFamily="18" charset="0"/>
              </a:rPr>
              <a:t> b. </a:t>
            </a:r>
          </a:p>
          <a:p>
            <a:pPr marL="514350" indent="-514350">
              <a:buAutoNum type="alphaLcParenBoth"/>
            </a:pPr>
            <a:r>
              <a:rPr lang="en-US" sz="3300" dirty="0" err="1">
                <a:latin typeface="Times New Roman" panose="02020603050405020304" pitchFamily="18" charset="0"/>
                <a:cs typeface="Times New Roman" panose="02020603050405020304" pitchFamily="18" charset="0"/>
              </a:rPr>
              <a:t>Dòng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điện</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đang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giảm</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chạy</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từ</a:t>
            </a:r>
            <a:r>
              <a:rPr lang="en-US" sz="3300" dirty="0">
                <a:latin typeface="Times New Roman" panose="02020603050405020304" pitchFamily="18" charset="0"/>
                <a:cs typeface="Times New Roman" panose="02020603050405020304" pitchFamily="18" charset="0"/>
              </a:rPr>
              <a:t> a </a:t>
            </a:r>
            <a:r>
              <a:rPr lang="en-US" sz="3300" dirty="0" err="1">
                <a:latin typeface="Times New Roman" panose="02020603050405020304" pitchFamily="18" charset="0"/>
                <a:cs typeface="Times New Roman" panose="02020603050405020304" pitchFamily="18" charset="0"/>
              </a:rPr>
              <a:t>đến</a:t>
            </a:r>
            <a:r>
              <a:rPr lang="en-US" sz="3300" dirty="0">
                <a:latin typeface="Times New Roman" panose="02020603050405020304" pitchFamily="18" charset="0"/>
                <a:cs typeface="Times New Roman" panose="02020603050405020304" pitchFamily="18" charset="0"/>
              </a:rPr>
              <a:t> b. </a:t>
            </a:r>
          </a:p>
          <a:p>
            <a:pPr marL="514350" indent="-514350">
              <a:buAutoNum type="alphaLcParenBoth"/>
            </a:pPr>
            <a:r>
              <a:rPr lang="en-US" sz="3300" dirty="0" err="1">
                <a:latin typeface="Times New Roman" panose="02020603050405020304" pitchFamily="18" charset="0"/>
                <a:cs typeface="Times New Roman" panose="02020603050405020304" pitchFamily="18" charset="0"/>
              </a:rPr>
              <a:t>Dòng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điện</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đang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tăng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chạy</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từ</a:t>
            </a:r>
            <a:r>
              <a:rPr lang="en-US" sz="3300" dirty="0">
                <a:latin typeface="Times New Roman" panose="02020603050405020304" pitchFamily="18" charset="0"/>
                <a:cs typeface="Times New Roman" panose="02020603050405020304" pitchFamily="18" charset="0"/>
              </a:rPr>
              <a:t> b </a:t>
            </a:r>
            <a:r>
              <a:rPr lang="en-US" sz="3300" dirty="0" err="1">
                <a:latin typeface="Times New Roman" panose="02020603050405020304" pitchFamily="18" charset="0"/>
                <a:cs typeface="Times New Roman" panose="02020603050405020304" pitchFamily="18" charset="0"/>
              </a:rPr>
              <a:t>đến</a:t>
            </a:r>
            <a:r>
              <a:rPr lang="en-US" sz="3300" dirty="0">
                <a:latin typeface="Times New Roman" panose="02020603050405020304" pitchFamily="18" charset="0"/>
                <a:cs typeface="Times New Roman" panose="02020603050405020304" pitchFamily="18" charset="0"/>
              </a:rPr>
              <a:t> a. </a:t>
            </a:r>
          </a:p>
          <a:p>
            <a:pPr marL="514350" indent="-514350">
              <a:buAutoNum type="alphaLcParenBoth"/>
            </a:pPr>
            <a:r>
              <a:rPr lang="en-US" sz="3300" dirty="0" err="1">
                <a:latin typeface="Times New Roman" panose="02020603050405020304" pitchFamily="18" charset="0"/>
                <a:cs typeface="Times New Roman" panose="02020603050405020304" pitchFamily="18" charset="0"/>
              </a:rPr>
              <a:t>Dòng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điện</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đang</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giảm</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chạy</a:t>
            </a: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từ</a:t>
            </a:r>
            <a:r>
              <a:rPr lang="en-US" sz="3300" dirty="0">
                <a:latin typeface="Times New Roman" panose="02020603050405020304" pitchFamily="18" charset="0"/>
                <a:cs typeface="Times New Roman" panose="02020603050405020304" pitchFamily="18" charset="0"/>
              </a:rPr>
              <a:t> b </a:t>
            </a:r>
            <a:r>
              <a:rPr lang="en-US" sz="3300" dirty="0" err="1">
                <a:latin typeface="Times New Roman" panose="02020603050405020304" pitchFamily="18" charset="0"/>
                <a:cs typeface="Times New Roman" panose="02020603050405020304" pitchFamily="18" charset="0"/>
              </a:rPr>
              <a:t>đến</a:t>
            </a:r>
            <a:r>
              <a:rPr lang="en-US" sz="3300" dirty="0">
                <a:latin typeface="Times New Roman" panose="02020603050405020304" pitchFamily="18" charset="0"/>
                <a:cs typeface="Times New Roman" panose="02020603050405020304" pitchFamily="18" charset="0"/>
              </a:rPr>
              <a:t> a.</a:t>
            </a:r>
          </a:p>
        </p:txBody>
      </p:sp>
    </p:spTree>
    <p:extLst>
      <p:ext uri="{BB962C8B-B14F-4D97-AF65-F5344CB8AC3E}">
        <p14:creationId xmlns:p14="http://schemas.microsoft.com/office/powerpoint/2010/main" val="5663440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B2A300-CEDC-4F41-9BE3-AE00EE3B14C2}"/>
              </a:ext>
            </a:extLst>
          </p:cNvPr>
          <p:cNvSpPr>
            <a:spLocks noGrp="1"/>
          </p:cNvSpPr>
          <p:nvPr>
            <p:ph type="title"/>
          </p:nvPr>
        </p:nvSpPr>
        <p:spPr/>
        <p:txBody>
          <a:bodyPr/>
          <a:lstStyle/>
          <a:p>
            <a:r>
              <a:rPr lang="vi-VN" dirty="0"/>
              <a:t>Trả lời: (d), (e). </a:t>
            </a:r>
            <a:endParaRPr lang="en-US" dirty="0"/>
          </a:p>
        </p:txBody>
      </p:sp>
      <p:sp>
        <p:nvSpPr>
          <p:cNvPr id="3" name="Content Placeholder 2">
            <a:extLst>
              <a:ext uri="{FF2B5EF4-FFF2-40B4-BE49-F238E27FC236}">
                <a16:creationId xmlns:a16="http://schemas.microsoft.com/office/drawing/2014/main" xmlns="" id="{A87D4C1A-E5A9-4AED-AE29-11D8D395C7B7}"/>
              </a:ext>
            </a:extLst>
          </p:cNvPr>
          <p:cNvSpPr>
            <a:spLocks noGrp="1"/>
          </p:cNvSpPr>
          <p:nvPr>
            <p:ph idx="1"/>
          </p:nvPr>
        </p:nvSpPr>
        <p:spPr/>
        <p:txBody>
          <a:bodyPr>
            <a:normAutofit fontScale="92500" lnSpcReduction="10000"/>
          </a:bodyPr>
          <a:lstStyle/>
          <a:p>
            <a:r>
              <a:rPr lang="vi-VN" dirty="0"/>
              <a:t>Đối với dòng điện không đổi trong (a) và (b), không có hiệu điện thế giữa các cuộn cảm không điện trở. </a:t>
            </a:r>
            <a:endParaRPr lang="en-US" dirty="0"/>
          </a:p>
          <a:p>
            <a:r>
              <a:rPr lang="vi-VN" dirty="0"/>
              <a:t>Trong (c), nếu dòng điện tăng, emf cảm ứng trong cuộn cảm theo hướng ngược lại, từ b đến a, làm cho b có điện thế cao hơn a. </a:t>
            </a:r>
            <a:endParaRPr lang="en-US"/>
          </a:p>
          <a:p>
            <a:r>
              <a:rPr lang="vi-VN"/>
              <a:t>Tương </a:t>
            </a:r>
            <a:r>
              <a:rPr lang="vi-VN" dirty="0"/>
              <a:t>tự, trong (f), dòng điện giảm tạo ra một emf theo cùng hướng với dòng điện, từ b đến a, một lần nữa làm cho điện thế ở b cao hơn a.</a:t>
            </a:r>
            <a:endParaRPr lang="en-US" dirty="0"/>
          </a:p>
        </p:txBody>
      </p:sp>
    </p:spTree>
    <p:extLst>
      <p:ext uri="{BB962C8B-B14F-4D97-AF65-F5344CB8AC3E}">
        <p14:creationId xmlns:p14="http://schemas.microsoft.com/office/powerpoint/2010/main" val="5295492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4626C8-8F95-4CF0-9174-841AF2AA1B2E}"/>
              </a:ext>
            </a:extLst>
          </p:cNvPr>
          <p:cNvSpPr>
            <a:spLocks noGrp="1"/>
          </p:cNvSpPr>
          <p:nvPr>
            <p:ph type="title"/>
          </p:nvPr>
        </p:nvSpPr>
        <p:spPr/>
        <p:txBody>
          <a:bodyPr/>
          <a:lstStyle/>
          <a:p>
            <a:r>
              <a:rPr lang="en-US" dirty="0" err="1">
                <a:solidFill>
                  <a:srgbClr val="FFC000"/>
                </a:solidFill>
              </a:rPr>
              <a:t>Bài</a:t>
            </a:r>
            <a:r>
              <a:rPr lang="en-US" dirty="0">
                <a:solidFill>
                  <a:srgbClr val="FFC000"/>
                </a:solidFill>
              </a:rPr>
              <a:t> </a:t>
            </a:r>
            <a:r>
              <a:rPr lang="en-US" dirty="0" err="1">
                <a:solidFill>
                  <a:srgbClr val="FFC000"/>
                </a:solidFill>
              </a:rPr>
              <a:t>tập</a:t>
            </a:r>
            <a:r>
              <a:rPr lang="en-US" dirty="0">
                <a:solidFill>
                  <a:srgbClr val="FFC000"/>
                </a:solidFill>
              </a:rPr>
              <a:t> 1</a:t>
            </a:r>
            <a:endParaRPr lang="en-US" dirty="0"/>
          </a:p>
        </p:txBody>
      </p:sp>
      <p:sp>
        <p:nvSpPr>
          <p:cNvPr id="3" name="Content Placeholder 2">
            <a:extLst>
              <a:ext uri="{FF2B5EF4-FFF2-40B4-BE49-F238E27FC236}">
                <a16:creationId xmlns:a16="http://schemas.microsoft.com/office/drawing/2014/main" xmlns="" id="{32D1CEF7-6AA8-4E13-8E47-FDB6545F5C88}"/>
              </a:ext>
            </a:extLst>
          </p:cNvPr>
          <p:cNvSpPr>
            <a:spLocks noGrp="1"/>
          </p:cNvSpPr>
          <p:nvPr>
            <p:ph idx="1"/>
          </p:nvPr>
        </p:nvSpPr>
        <p:spPr/>
        <p:txBody>
          <a:bodyPr/>
          <a:lstStyle/>
          <a:p>
            <a:r>
              <a:rPr lang="fr-FR" dirty="0" err="1"/>
              <a:t>Một</a:t>
            </a:r>
            <a:r>
              <a:rPr lang="fr-FR" dirty="0"/>
              <a:t> </a:t>
            </a:r>
            <a:r>
              <a:rPr lang="fr-FR" dirty="0" err="1"/>
              <a:t>cuộn</a:t>
            </a:r>
            <a:r>
              <a:rPr lang="fr-FR" dirty="0"/>
              <a:t> </a:t>
            </a:r>
            <a:r>
              <a:rPr lang="fr-FR" dirty="0" err="1"/>
              <a:t>dây</a:t>
            </a:r>
            <a:r>
              <a:rPr lang="fr-FR" dirty="0"/>
              <a:t> </a:t>
            </a:r>
            <a:r>
              <a:rPr lang="fr-FR" dirty="0" err="1"/>
              <a:t>có</a:t>
            </a:r>
            <a:r>
              <a:rPr lang="fr-FR" dirty="0"/>
              <a:t> </a:t>
            </a:r>
            <a:r>
              <a:rPr lang="fr-FR" dirty="0" err="1"/>
              <a:t>độ</a:t>
            </a:r>
            <a:r>
              <a:rPr lang="fr-FR" dirty="0"/>
              <a:t> </a:t>
            </a:r>
            <a:r>
              <a:rPr lang="fr-FR" dirty="0" err="1"/>
              <a:t>tự</a:t>
            </a:r>
            <a:r>
              <a:rPr lang="fr-FR" dirty="0"/>
              <a:t> </a:t>
            </a:r>
            <a:r>
              <a:rPr lang="fr-FR" dirty="0" err="1"/>
              <a:t>cảm</a:t>
            </a:r>
            <a:r>
              <a:rPr lang="fr-FR" dirty="0"/>
              <a:t> 3,0 </a:t>
            </a:r>
            <a:r>
              <a:rPr lang="fr-FR" dirty="0" err="1"/>
              <a:t>mH</a:t>
            </a:r>
            <a:r>
              <a:rPr lang="fr-FR" dirty="0"/>
              <a:t>, </a:t>
            </a:r>
            <a:r>
              <a:rPr lang="fr-FR" dirty="0" err="1"/>
              <a:t>dòng</a:t>
            </a:r>
            <a:r>
              <a:rPr lang="fr-FR" dirty="0"/>
              <a:t> </a:t>
            </a:r>
            <a:r>
              <a:rPr lang="fr-FR" dirty="0" err="1"/>
              <a:t>điện</a:t>
            </a:r>
            <a:r>
              <a:rPr lang="fr-FR" dirty="0"/>
              <a:t> </a:t>
            </a:r>
            <a:r>
              <a:rPr lang="fr-FR" dirty="0" err="1"/>
              <a:t>trong</a:t>
            </a:r>
            <a:r>
              <a:rPr lang="fr-FR" dirty="0"/>
              <a:t> </a:t>
            </a:r>
            <a:r>
              <a:rPr lang="fr-FR" dirty="0" err="1"/>
              <a:t>cuộn</a:t>
            </a:r>
            <a:r>
              <a:rPr lang="fr-FR" dirty="0"/>
              <a:t> </a:t>
            </a:r>
            <a:r>
              <a:rPr lang="fr-FR" dirty="0" err="1"/>
              <a:t>dây</a:t>
            </a:r>
            <a:r>
              <a:rPr lang="fr-FR" dirty="0"/>
              <a:t> </a:t>
            </a:r>
            <a:r>
              <a:rPr lang="fr-FR" dirty="0" err="1"/>
              <a:t>thay</a:t>
            </a:r>
            <a:r>
              <a:rPr lang="fr-FR" dirty="0"/>
              <a:t> </a:t>
            </a:r>
            <a:r>
              <a:rPr lang="fr-FR" dirty="0" err="1"/>
              <a:t>đổi</a:t>
            </a:r>
            <a:r>
              <a:rPr lang="fr-FR" dirty="0"/>
              <a:t> </a:t>
            </a:r>
            <a:r>
              <a:rPr lang="fr-FR" dirty="0" err="1"/>
              <a:t>từ</a:t>
            </a:r>
            <a:r>
              <a:rPr lang="fr-FR" dirty="0"/>
              <a:t> 0,2 A </a:t>
            </a:r>
            <a:r>
              <a:rPr lang="fr-FR" dirty="0" err="1"/>
              <a:t>đến</a:t>
            </a:r>
            <a:r>
              <a:rPr lang="fr-FR" dirty="0"/>
              <a:t> 1,5 A </a:t>
            </a:r>
            <a:r>
              <a:rPr lang="fr-FR" dirty="0" err="1"/>
              <a:t>trong</a:t>
            </a:r>
            <a:r>
              <a:rPr lang="fr-FR" dirty="0"/>
              <a:t> </a:t>
            </a:r>
            <a:r>
              <a:rPr lang="fr-FR" dirty="0" err="1"/>
              <a:t>khoảng</a:t>
            </a:r>
            <a:r>
              <a:rPr lang="fr-FR" dirty="0"/>
              <a:t> </a:t>
            </a:r>
            <a:r>
              <a:rPr lang="fr-FR" dirty="0" err="1"/>
              <a:t>thời</a:t>
            </a:r>
            <a:r>
              <a:rPr lang="fr-FR" dirty="0"/>
              <a:t> </a:t>
            </a:r>
            <a:r>
              <a:rPr lang="fr-FR" dirty="0" err="1"/>
              <a:t>gian</a:t>
            </a:r>
            <a:r>
              <a:rPr lang="fr-FR" dirty="0"/>
              <a:t> 0,2 s. </a:t>
            </a:r>
          </a:p>
          <a:p>
            <a:r>
              <a:rPr lang="fr-FR" dirty="0" err="1"/>
              <a:t>Hãy</a:t>
            </a:r>
            <a:r>
              <a:rPr lang="fr-FR" dirty="0"/>
              <a:t> </a:t>
            </a:r>
            <a:r>
              <a:rPr lang="fr-FR" dirty="0" err="1"/>
              <a:t>tìm</a:t>
            </a:r>
            <a:r>
              <a:rPr lang="fr-FR" dirty="0"/>
              <a:t> </a:t>
            </a:r>
            <a:r>
              <a:rPr lang="fr-FR" dirty="0" err="1"/>
              <a:t>độ</a:t>
            </a:r>
            <a:r>
              <a:rPr lang="fr-FR" dirty="0"/>
              <a:t> </a:t>
            </a:r>
            <a:r>
              <a:rPr lang="fr-FR" dirty="0" err="1"/>
              <a:t>lớn</a:t>
            </a:r>
            <a:r>
              <a:rPr lang="fr-FR" dirty="0"/>
              <a:t> </a:t>
            </a:r>
            <a:r>
              <a:rPr lang="fr-FR" dirty="0" err="1"/>
              <a:t>của</a:t>
            </a:r>
            <a:r>
              <a:rPr lang="fr-FR" dirty="0"/>
              <a:t> </a:t>
            </a:r>
            <a:r>
              <a:rPr lang="fr-FR" dirty="0" err="1"/>
              <a:t>suất</a:t>
            </a:r>
            <a:r>
              <a:rPr lang="fr-FR" dirty="0"/>
              <a:t> </a:t>
            </a:r>
            <a:r>
              <a:rPr lang="fr-FR" dirty="0" err="1"/>
              <a:t>điện</a:t>
            </a:r>
            <a:r>
              <a:rPr lang="fr-FR" dirty="0"/>
              <a:t> </a:t>
            </a:r>
            <a:r>
              <a:rPr lang="fr-FR" dirty="0" err="1"/>
              <a:t>động</a:t>
            </a:r>
            <a:r>
              <a:rPr lang="fr-FR" dirty="0"/>
              <a:t> </a:t>
            </a:r>
            <a:r>
              <a:rPr lang="fr-FR" dirty="0" err="1"/>
              <a:t>cảm</a:t>
            </a:r>
            <a:r>
              <a:rPr lang="fr-FR" dirty="0"/>
              <a:t> </a:t>
            </a:r>
            <a:r>
              <a:rPr lang="fr-FR" dirty="0" err="1"/>
              <a:t>ứng</a:t>
            </a:r>
            <a:r>
              <a:rPr lang="fr-FR" dirty="0"/>
              <a:t> </a:t>
            </a:r>
            <a:r>
              <a:rPr lang="fr-FR" dirty="0" err="1"/>
              <a:t>trung</a:t>
            </a:r>
            <a:r>
              <a:rPr lang="fr-FR" dirty="0"/>
              <a:t> </a:t>
            </a:r>
            <a:r>
              <a:rPr lang="fr-FR" dirty="0" err="1"/>
              <a:t>bình</a:t>
            </a:r>
            <a:r>
              <a:rPr lang="fr-FR" dirty="0"/>
              <a:t> </a:t>
            </a:r>
            <a:r>
              <a:rPr lang="fr-FR" dirty="0" err="1"/>
              <a:t>trong</a:t>
            </a:r>
            <a:r>
              <a:rPr lang="fr-FR" dirty="0"/>
              <a:t> </a:t>
            </a:r>
            <a:r>
              <a:rPr lang="fr-FR" dirty="0" err="1"/>
              <a:t>cuộn</a:t>
            </a:r>
            <a:r>
              <a:rPr lang="fr-FR" dirty="0"/>
              <a:t> </a:t>
            </a:r>
            <a:r>
              <a:rPr lang="fr-FR" dirty="0" err="1"/>
              <a:t>dây</a:t>
            </a:r>
            <a:r>
              <a:rPr lang="fr-FR" dirty="0"/>
              <a:t> </a:t>
            </a:r>
            <a:r>
              <a:rPr lang="fr-FR" dirty="0" err="1"/>
              <a:t>trong</a:t>
            </a:r>
            <a:r>
              <a:rPr lang="fr-FR" dirty="0"/>
              <a:t> </a:t>
            </a:r>
            <a:r>
              <a:rPr lang="fr-FR" dirty="0" err="1"/>
              <a:t>khoảng</a:t>
            </a:r>
            <a:r>
              <a:rPr lang="fr-FR" dirty="0"/>
              <a:t> </a:t>
            </a:r>
            <a:r>
              <a:rPr lang="fr-FR" dirty="0" err="1"/>
              <a:t>thời</a:t>
            </a:r>
            <a:r>
              <a:rPr lang="fr-FR" dirty="0"/>
              <a:t> </a:t>
            </a:r>
            <a:r>
              <a:rPr lang="fr-FR" dirty="0" err="1"/>
              <a:t>gian</a:t>
            </a:r>
            <a:r>
              <a:rPr lang="fr-FR" dirty="0"/>
              <a:t> </a:t>
            </a:r>
            <a:r>
              <a:rPr lang="fr-FR" dirty="0" err="1"/>
              <a:t>này</a:t>
            </a:r>
            <a:r>
              <a:rPr lang="fr-FR" dirty="0"/>
              <a:t>.</a:t>
            </a:r>
            <a:endParaRPr lang="en-US" dirty="0"/>
          </a:p>
          <a:p>
            <a:endParaRPr lang="en-US" dirty="0"/>
          </a:p>
        </p:txBody>
      </p:sp>
    </p:spTree>
    <p:extLst>
      <p:ext uri="{BB962C8B-B14F-4D97-AF65-F5344CB8AC3E}">
        <p14:creationId xmlns:p14="http://schemas.microsoft.com/office/powerpoint/2010/main" val="17006181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3703FDD-38F7-4DB7-8212-2990C9146D8F}"/>
              </a:ext>
            </a:extLst>
          </p:cNvPr>
          <p:cNvPicPr>
            <a:picLocks noChangeAspect="1"/>
          </p:cNvPicPr>
          <p:nvPr/>
        </p:nvPicPr>
        <p:blipFill>
          <a:blip r:embed="rId2"/>
          <a:stretch>
            <a:fillRect/>
          </a:stretch>
        </p:blipFill>
        <p:spPr>
          <a:xfrm>
            <a:off x="757084" y="1895168"/>
            <a:ext cx="10858500" cy="2349756"/>
          </a:xfrm>
          <a:prstGeom prst="rect">
            <a:avLst/>
          </a:prstGeom>
        </p:spPr>
      </p:pic>
    </p:spTree>
    <p:extLst>
      <p:ext uri="{BB962C8B-B14F-4D97-AF65-F5344CB8AC3E}">
        <p14:creationId xmlns:p14="http://schemas.microsoft.com/office/powerpoint/2010/main" val="27866059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7358F2-219E-48A8-9C57-9104A734A9C5}"/>
              </a:ext>
            </a:extLst>
          </p:cNvPr>
          <p:cNvSpPr>
            <a:spLocks noGrp="1"/>
          </p:cNvSpPr>
          <p:nvPr>
            <p:ph type="title"/>
          </p:nvPr>
        </p:nvSpPr>
        <p:spPr/>
        <p:txBody>
          <a:bodyPr/>
          <a:lstStyle/>
          <a:p>
            <a:r>
              <a:rPr lang="en-US" dirty="0" err="1">
                <a:solidFill>
                  <a:srgbClr val="FFC000"/>
                </a:solidFill>
              </a:rPr>
              <a:t>Bài</a:t>
            </a:r>
            <a:r>
              <a:rPr lang="en-US" dirty="0">
                <a:solidFill>
                  <a:srgbClr val="FFC000"/>
                </a:solidFill>
              </a:rPr>
              <a:t> </a:t>
            </a:r>
            <a:r>
              <a:rPr lang="en-US" dirty="0" err="1">
                <a:solidFill>
                  <a:srgbClr val="FFC000"/>
                </a:solidFill>
              </a:rPr>
              <a:t>tập</a:t>
            </a:r>
            <a:r>
              <a:rPr lang="en-US" dirty="0">
                <a:solidFill>
                  <a:srgbClr val="FFC000"/>
                </a:solidFill>
              </a:rPr>
              <a:t> 2</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E2DE4EA3-876C-4137-B703-0871A9F3DC40}"/>
                  </a:ext>
                </a:extLst>
              </p:cNvPr>
              <p:cNvSpPr>
                <a:spLocks noGrp="1"/>
              </p:cNvSpPr>
              <p:nvPr>
                <p:ph idx="1"/>
              </p:nvPr>
            </p:nvSpPr>
            <p:spPr/>
            <p:txBody>
              <a:bodyPr/>
              <a:lstStyle/>
              <a:p>
                <a:r>
                  <a:rPr lang="fr-FR" dirty="0" err="1"/>
                  <a:t>Một</a:t>
                </a:r>
                <a:r>
                  <a:rPr lang="fr-FR" dirty="0"/>
                  <a:t> </a:t>
                </a:r>
                <a:r>
                  <a:rPr lang="fr-FR" dirty="0" err="1"/>
                  <a:t>ống</a:t>
                </a:r>
                <a:r>
                  <a:rPr lang="fr-FR" dirty="0"/>
                  <a:t> </a:t>
                </a:r>
                <a:r>
                  <a:rPr lang="fr-FR" dirty="0" err="1"/>
                  <a:t>dây</a:t>
                </a:r>
                <a:r>
                  <a:rPr lang="fr-FR" dirty="0"/>
                  <a:t> </a:t>
                </a:r>
                <a:r>
                  <a:rPr lang="fr-FR" dirty="0" err="1"/>
                  <a:t>solenoid</a:t>
                </a:r>
                <a:r>
                  <a:rPr lang="fr-FR" dirty="0"/>
                  <a:t> </a:t>
                </a:r>
                <a:r>
                  <a:rPr lang="fr-FR" dirty="0" err="1"/>
                  <a:t>có</a:t>
                </a:r>
                <a:r>
                  <a:rPr lang="fr-FR" dirty="0"/>
                  <a:t> </a:t>
                </a:r>
                <a:r>
                  <a:rPr lang="fr-FR" dirty="0" err="1"/>
                  <a:t>bán</a:t>
                </a:r>
                <a:r>
                  <a:rPr lang="fr-FR" dirty="0"/>
                  <a:t> </a:t>
                </a:r>
                <a:r>
                  <a:rPr lang="fr-FR" dirty="0" err="1"/>
                  <a:t>kính</a:t>
                </a:r>
                <a:r>
                  <a:rPr lang="fr-FR" dirty="0"/>
                  <a:t> 2,5 cm, </a:t>
                </a:r>
                <a:r>
                  <a:rPr lang="fr-FR" dirty="0" err="1"/>
                  <a:t>dài</a:t>
                </a:r>
                <a:r>
                  <a:rPr lang="fr-FR" dirty="0"/>
                  <a:t> 20,0 cm, </a:t>
                </a:r>
                <a:r>
                  <a:rPr lang="fr-FR" dirty="0" err="1"/>
                  <a:t>gồm</a:t>
                </a:r>
                <a:r>
                  <a:rPr lang="fr-FR" dirty="0"/>
                  <a:t> 400 </a:t>
                </a:r>
                <a:r>
                  <a:rPr lang="fr-FR" dirty="0" err="1"/>
                  <a:t>vòng</a:t>
                </a:r>
                <a:r>
                  <a:rPr lang="fr-FR" dirty="0"/>
                  <a:t>. </a:t>
                </a:r>
                <a:r>
                  <a:rPr lang="fr-FR" dirty="0" err="1"/>
                  <a:t>Hãy</a:t>
                </a:r>
                <a:r>
                  <a:rPr lang="fr-FR" dirty="0"/>
                  <a:t> </a:t>
                </a:r>
                <a:r>
                  <a:rPr lang="fr-FR" dirty="0" err="1"/>
                  <a:t>tìm</a:t>
                </a:r>
                <a:r>
                  <a:rPr lang="fr-FR" dirty="0"/>
                  <a:t> </a:t>
                </a:r>
              </a:p>
              <a:p>
                <a:pPr marL="742950" indent="-742950">
                  <a:buAutoNum type="alphaLcParenBoth"/>
                </a:pPr>
                <a:r>
                  <a:rPr lang="fr-FR" dirty="0" err="1"/>
                  <a:t>độ</a:t>
                </a:r>
                <a:r>
                  <a:rPr lang="fr-FR" dirty="0"/>
                  <a:t> </a:t>
                </a:r>
                <a:r>
                  <a:rPr lang="fr-FR" dirty="0" err="1"/>
                  <a:t>tự</a:t>
                </a:r>
                <a:r>
                  <a:rPr lang="fr-FR" dirty="0"/>
                  <a:t> </a:t>
                </a:r>
                <a:r>
                  <a:rPr lang="fr-FR" dirty="0" err="1"/>
                  <a:t>cảm</a:t>
                </a:r>
                <a:r>
                  <a:rPr lang="fr-FR" dirty="0"/>
                  <a:t> </a:t>
                </a:r>
                <a:r>
                  <a:rPr lang="fr-FR" dirty="0" err="1"/>
                  <a:t>của</a:t>
                </a:r>
                <a:r>
                  <a:rPr lang="fr-FR" dirty="0"/>
                  <a:t> </a:t>
                </a:r>
                <a:r>
                  <a:rPr lang="fr-FR" dirty="0" err="1"/>
                  <a:t>solenoid</a:t>
                </a:r>
                <a:r>
                  <a:rPr lang="fr-FR" dirty="0"/>
                  <a:t> </a:t>
                </a:r>
              </a:p>
              <a:p>
                <a:pPr marL="742950" indent="-742950">
                  <a:buAutoNum type="alphaLcParenBoth"/>
                </a:pPr>
                <a:r>
                  <a:rPr lang="fr-FR" dirty="0" err="1"/>
                  <a:t>tốc</a:t>
                </a:r>
                <a:r>
                  <a:rPr lang="fr-FR" dirty="0"/>
                  <a:t> </a:t>
                </a:r>
                <a:r>
                  <a:rPr lang="fr-FR" dirty="0" err="1"/>
                  <a:t>độ</a:t>
                </a:r>
                <a:r>
                  <a:rPr lang="fr-FR" dirty="0"/>
                  <a:t> </a:t>
                </a:r>
                <a:r>
                  <a:rPr lang="fr-FR" dirty="0" err="1"/>
                  <a:t>biến</a:t>
                </a:r>
                <a:r>
                  <a:rPr lang="fr-FR" dirty="0"/>
                  <a:t> </a:t>
                </a:r>
                <a:r>
                  <a:rPr lang="fr-FR" dirty="0" err="1"/>
                  <a:t>thiên</a:t>
                </a:r>
                <a:r>
                  <a:rPr lang="fr-FR" dirty="0"/>
                  <a:t> </a:t>
                </a:r>
                <a:r>
                  <a:rPr lang="fr-FR" dirty="0" err="1"/>
                  <a:t>của</a:t>
                </a:r>
                <a:r>
                  <a:rPr lang="fr-FR" dirty="0"/>
                  <a:t> </a:t>
                </a:r>
                <a:r>
                  <a:rPr lang="fr-FR" dirty="0" err="1"/>
                  <a:t>dòng</a:t>
                </a:r>
                <a:r>
                  <a:rPr lang="fr-FR" dirty="0"/>
                  <a:t> </a:t>
                </a:r>
                <a:r>
                  <a:rPr lang="fr-FR" dirty="0" err="1"/>
                  <a:t>điện</a:t>
                </a:r>
                <a:r>
                  <a:rPr lang="fr-FR" dirty="0"/>
                  <a:t> </a:t>
                </a:r>
                <a:r>
                  <a:rPr lang="fr-FR" dirty="0" err="1"/>
                  <a:t>trong</a:t>
                </a:r>
                <a:r>
                  <a:rPr lang="fr-FR" dirty="0"/>
                  <a:t> </a:t>
                </a:r>
                <a:r>
                  <a:rPr lang="fr-FR" dirty="0" err="1"/>
                  <a:t>solenoid</a:t>
                </a:r>
                <a:r>
                  <a:rPr lang="fr-FR" dirty="0"/>
                  <a:t> </a:t>
                </a:r>
                <a:r>
                  <a:rPr lang="fr-FR" dirty="0" err="1"/>
                  <a:t>để</a:t>
                </a:r>
                <a:r>
                  <a:rPr lang="fr-FR" dirty="0"/>
                  <a:t> </a:t>
                </a:r>
                <a:r>
                  <a:rPr lang="fr-FR" dirty="0" err="1"/>
                  <a:t>sinh</a:t>
                </a:r>
                <a:r>
                  <a:rPr lang="fr-FR" dirty="0"/>
                  <a:t> ra </a:t>
                </a:r>
                <a:r>
                  <a:rPr lang="fr-FR" dirty="0" err="1"/>
                  <a:t>một</a:t>
                </a:r>
                <a:r>
                  <a:rPr lang="fr-FR" dirty="0"/>
                  <a:t> </a:t>
                </a:r>
                <a:r>
                  <a:rPr lang="fr-FR" dirty="0" err="1"/>
                  <a:t>suất</a:t>
                </a:r>
                <a:r>
                  <a:rPr lang="fr-FR" dirty="0"/>
                  <a:t> </a:t>
                </a:r>
                <a:r>
                  <a:rPr lang="fr-FR" dirty="0" err="1"/>
                  <a:t>điện</a:t>
                </a:r>
                <a:r>
                  <a:rPr lang="fr-FR" dirty="0"/>
                  <a:t> </a:t>
                </a:r>
                <a:r>
                  <a:rPr lang="fr-FR" dirty="0" err="1"/>
                  <a:t>động</a:t>
                </a:r>
                <a:r>
                  <a:rPr lang="fr-FR" dirty="0"/>
                  <a:t> </a:t>
                </a:r>
                <a:r>
                  <a:rPr lang="fr-FR" dirty="0" err="1"/>
                  <a:t>bằng</a:t>
                </a:r>
                <a:r>
                  <a:rPr lang="fr-FR" dirty="0"/>
                  <a:t> 75,0 </a:t>
                </a:r>
                <a14:m>
                  <m:oMath xmlns:m="http://schemas.openxmlformats.org/officeDocument/2006/math">
                    <m:r>
                      <a:rPr lang="fr-FR" i="1" smtClean="0">
                        <a:latin typeface="Cambria Math" panose="02040503050406030204" pitchFamily="18" charset="0"/>
                        <a:ea typeface="Cambria Math" panose="02040503050406030204" pitchFamily="18" charset="0"/>
                      </a:rPr>
                      <m:t>𝜇</m:t>
                    </m:r>
                  </m:oMath>
                </a14:m>
                <a:r>
                  <a:rPr lang="fr-FR" dirty="0"/>
                  <a:t>V.</a:t>
                </a:r>
                <a:endParaRPr lang="en-US" dirty="0"/>
              </a:p>
              <a:p>
                <a:endParaRPr lang="en-US" dirty="0"/>
              </a:p>
            </p:txBody>
          </p:sp>
        </mc:Choice>
        <mc:Fallback xmlns="">
          <p:sp>
            <p:nvSpPr>
              <p:cNvPr id="3" name="Content Placeholder 2">
                <a:extLst>
                  <a:ext uri="{FF2B5EF4-FFF2-40B4-BE49-F238E27FC236}">
                    <a16:creationId xmlns:a16="http://schemas.microsoft.com/office/drawing/2014/main" id="{E2DE4EA3-876C-4137-B703-0871A9F3DC40}"/>
                  </a:ext>
                </a:extLst>
              </p:cNvPr>
              <p:cNvSpPr>
                <a:spLocks noGrp="1" noRot="1" noChangeAspect="1" noMove="1" noResize="1" noEditPoints="1" noAdjustHandles="1" noChangeArrowheads="1" noChangeShapeType="1" noTextEdit="1"/>
              </p:cNvSpPr>
              <p:nvPr>
                <p:ph idx="1"/>
              </p:nvPr>
            </p:nvSpPr>
            <p:spPr>
              <a:blipFill>
                <a:blip r:embed="rId2"/>
                <a:stretch>
                  <a:fillRect l="-2087" t="-3922" r="-2029"/>
                </a:stretch>
              </a:blipFill>
            </p:spPr>
            <p:txBody>
              <a:bodyPr/>
              <a:lstStyle/>
              <a:p>
                <a:r>
                  <a:rPr lang="en-US">
                    <a:noFill/>
                  </a:rPr>
                  <a:t> </a:t>
                </a:r>
              </a:p>
            </p:txBody>
          </p:sp>
        </mc:Fallback>
      </mc:AlternateContent>
    </p:spTree>
    <p:extLst>
      <p:ext uri="{BB962C8B-B14F-4D97-AF65-F5344CB8AC3E}">
        <p14:creationId xmlns:p14="http://schemas.microsoft.com/office/powerpoint/2010/main" val="23854399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D1FEA-7D96-4434-A766-087F785A3AF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xmlns="" id="{552EEDDE-80E9-4989-9714-AC88BEFBA74A}"/>
              </a:ext>
            </a:extLst>
          </p:cNvPr>
          <p:cNvPicPr>
            <a:picLocks noGrp="1" noChangeAspect="1"/>
          </p:cNvPicPr>
          <p:nvPr>
            <p:ph idx="1"/>
          </p:nvPr>
        </p:nvPicPr>
        <p:blipFill>
          <a:blip r:embed="rId2"/>
          <a:stretch>
            <a:fillRect/>
          </a:stretch>
        </p:blipFill>
        <p:spPr>
          <a:xfrm>
            <a:off x="2519362" y="2391569"/>
            <a:ext cx="7153275" cy="3219450"/>
          </a:xfrm>
          <a:prstGeom prst="rect">
            <a:avLst/>
          </a:prstGeom>
        </p:spPr>
      </p:pic>
    </p:spTree>
    <p:extLst>
      <p:ext uri="{BB962C8B-B14F-4D97-AF65-F5344CB8AC3E}">
        <p14:creationId xmlns:p14="http://schemas.microsoft.com/office/powerpoint/2010/main" val="35232649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9A67BC-2AE0-4730-B7B8-A4ACB78B1FC7}"/>
              </a:ext>
            </a:extLst>
          </p:cNvPr>
          <p:cNvSpPr>
            <a:spLocks noGrp="1"/>
          </p:cNvSpPr>
          <p:nvPr>
            <p:ph type="title"/>
          </p:nvPr>
        </p:nvSpPr>
        <p:spPr/>
        <p:txBody>
          <a:bodyPr/>
          <a:lstStyle/>
          <a:p>
            <a:r>
              <a:rPr lang="en-US" b="1" dirty="0" err="1">
                <a:effectLst>
                  <a:glow>
                    <a:srgbClr val="000000"/>
                  </a:glow>
                  <a:outerShdw sx="0" sy="0">
                    <a:srgbClr val="000000"/>
                  </a:outerShdw>
                  <a:reflection stA="0" endPos="0" fadeDir="0" sx="0" sy="0"/>
                </a:effectLst>
              </a:rPr>
              <a:t>Các</a:t>
            </a:r>
            <a:r>
              <a:rPr lang="en-US" b="1" dirty="0">
                <a:effectLst>
                  <a:glow>
                    <a:srgbClr val="000000"/>
                  </a:glow>
                  <a:outerShdw sx="0" sy="0">
                    <a:srgbClr val="000000"/>
                  </a:outerShdw>
                  <a:reflection stA="0" endPos="0" fadeDir="0" sx="0" sy="0"/>
                </a:effectLst>
              </a:rPr>
              <a:t> </a:t>
            </a:r>
            <a:r>
              <a:rPr lang="en-US" b="1" dirty="0" err="1">
                <a:effectLst>
                  <a:glow>
                    <a:srgbClr val="000000"/>
                  </a:glow>
                  <a:outerShdw sx="0" sy="0">
                    <a:srgbClr val="000000"/>
                  </a:outerShdw>
                  <a:reflection stA="0" endPos="0" fadeDir="0" sx="0" sy="0"/>
                </a:effectLst>
              </a:rPr>
              <a:t>mạch</a:t>
            </a:r>
            <a:r>
              <a:rPr lang="en-US" b="1" dirty="0">
                <a:effectLst>
                  <a:glow>
                    <a:srgbClr val="000000"/>
                  </a:glow>
                  <a:outerShdw sx="0" sy="0">
                    <a:srgbClr val="000000"/>
                  </a:outerShdw>
                  <a:reflection stA="0" endPos="0" fadeDir="0" sx="0" sy="0"/>
                </a:effectLst>
              </a:rPr>
              <a:t> RL</a:t>
            </a:r>
            <a:br>
              <a:rPr lang="en-US" b="1" dirty="0">
                <a:effectLst>
                  <a:glow>
                    <a:srgbClr val="000000"/>
                  </a:glow>
                  <a:outerShdw sx="0" sy="0">
                    <a:srgbClr val="000000"/>
                  </a:outerShdw>
                  <a:reflection stA="0" endPos="0" fadeDir="0" sx="0" sy="0"/>
                </a:effectLst>
              </a:rPr>
            </a:br>
            <a:endParaRPr lang="en-US" dirty="0"/>
          </a:p>
        </p:txBody>
      </p:sp>
      <p:sp>
        <p:nvSpPr>
          <p:cNvPr id="3" name="Content Placeholder 2">
            <a:extLst>
              <a:ext uri="{FF2B5EF4-FFF2-40B4-BE49-F238E27FC236}">
                <a16:creationId xmlns:a16="http://schemas.microsoft.com/office/drawing/2014/main" xmlns="" id="{AC824513-B862-4DE2-8C1B-9E6499F9ADB6}"/>
              </a:ext>
            </a:extLst>
          </p:cNvPr>
          <p:cNvSpPr>
            <a:spLocks noGrp="1"/>
          </p:cNvSpPr>
          <p:nvPr>
            <p:ph idx="1"/>
          </p:nvPr>
        </p:nvSpPr>
        <p:spPr>
          <a:xfrm>
            <a:off x="4572000" y="1510017"/>
            <a:ext cx="4366098" cy="820535"/>
          </a:xfrm>
        </p:spPr>
        <p:txBody>
          <a:bodyPr/>
          <a:lstStyle/>
          <a:p>
            <a:r>
              <a:rPr lang="en-US" dirty="0" err="1"/>
              <a:t>Ký</a:t>
            </a:r>
            <a:r>
              <a:rPr lang="en-US" dirty="0"/>
              <a:t> </a:t>
            </a:r>
            <a:r>
              <a:rPr lang="en-US" dirty="0" err="1"/>
              <a:t>hiệu</a:t>
            </a:r>
            <a:r>
              <a:rPr lang="en-US" dirty="0"/>
              <a:t> </a:t>
            </a:r>
            <a:r>
              <a:rPr lang="en-US" dirty="0" err="1"/>
              <a:t>cuộn</a:t>
            </a:r>
            <a:r>
              <a:rPr lang="en-US" dirty="0"/>
              <a:t> </a:t>
            </a:r>
            <a:r>
              <a:rPr lang="en-US" dirty="0" err="1"/>
              <a:t>cảm</a:t>
            </a:r>
            <a:endParaRPr lang="en-US" dirty="0"/>
          </a:p>
        </p:txBody>
      </p:sp>
      <p:pic>
        <p:nvPicPr>
          <p:cNvPr id="4" name="Picture 3">
            <a:extLst>
              <a:ext uri="{FF2B5EF4-FFF2-40B4-BE49-F238E27FC236}">
                <a16:creationId xmlns:a16="http://schemas.microsoft.com/office/drawing/2014/main" xmlns="" id="{58D4CE5D-CC41-4105-BC7E-FC515B43653C}"/>
              </a:ext>
            </a:extLst>
          </p:cNvPr>
          <p:cNvPicPr>
            <a:picLocks noChangeAspect="1"/>
          </p:cNvPicPr>
          <p:nvPr/>
        </p:nvPicPr>
        <p:blipFill>
          <a:blip r:embed="rId2"/>
          <a:stretch>
            <a:fillRect/>
          </a:stretch>
        </p:blipFill>
        <p:spPr>
          <a:xfrm>
            <a:off x="6047433" y="2633403"/>
            <a:ext cx="1415232" cy="404353"/>
          </a:xfrm>
          <a:prstGeom prst="rect">
            <a:avLst/>
          </a:prstGeom>
        </p:spPr>
      </p:pic>
      <p:pic>
        <p:nvPicPr>
          <p:cNvPr id="8" name="Picture 7">
            <a:extLst>
              <a:ext uri="{FF2B5EF4-FFF2-40B4-BE49-F238E27FC236}">
                <a16:creationId xmlns:a16="http://schemas.microsoft.com/office/drawing/2014/main" xmlns="" id="{DE50A7F2-B188-46BB-8CBE-FF1D52F32064}"/>
              </a:ext>
            </a:extLst>
          </p:cNvPr>
          <p:cNvPicPr>
            <a:picLocks noChangeAspect="1"/>
          </p:cNvPicPr>
          <p:nvPr/>
        </p:nvPicPr>
        <p:blipFill>
          <a:blip r:embed="rId3"/>
          <a:stretch>
            <a:fillRect/>
          </a:stretch>
        </p:blipFill>
        <p:spPr>
          <a:xfrm>
            <a:off x="0" y="3798887"/>
            <a:ext cx="4874746" cy="2856706"/>
          </a:xfrm>
          <a:prstGeom prst="rect">
            <a:avLst/>
          </a:prstGeom>
        </p:spPr>
      </p:pic>
      <p:pic>
        <p:nvPicPr>
          <p:cNvPr id="9" name="Picture 8">
            <a:extLst>
              <a:ext uri="{FF2B5EF4-FFF2-40B4-BE49-F238E27FC236}">
                <a16:creationId xmlns:a16="http://schemas.microsoft.com/office/drawing/2014/main" xmlns="" id="{10672B60-BB15-4561-B4A4-0164654C9773}"/>
              </a:ext>
            </a:extLst>
          </p:cNvPr>
          <p:cNvPicPr>
            <a:picLocks noChangeAspect="1"/>
          </p:cNvPicPr>
          <p:nvPr/>
        </p:nvPicPr>
        <p:blipFill>
          <a:blip r:embed="rId4"/>
          <a:stretch>
            <a:fillRect/>
          </a:stretch>
        </p:blipFill>
        <p:spPr>
          <a:xfrm>
            <a:off x="8575675" y="3806824"/>
            <a:ext cx="3226299" cy="2720975"/>
          </a:xfrm>
          <a:prstGeom prst="rect">
            <a:avLst/>
          </a:prstGeom>
        </p:spPr>
      </p:pic>
    </p:spTree>
    <p:extLst>
      <p:ext uri="{BB962C8B-B14F-4D97-AF65-F5344CB8AC3E}">
        <p14:creationId xmlns:p14="http://schemas.microsoft.com/office/powerpoint/2010/main" val="42637116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AFF62B-B281-4374-9082-455AE0B40172}"/>
              </a:ext>
            </a:extLst>
          </p:cNvPr>
          <p:cNvSpPr>
            <a:spLocks noGrp="1"/>
          </p:cNvSpPr>
          <p:nvPr>
            <p:ph type="title"/>
          </p:nvPr>
        </p:nvSpPr>
        <p:spPr>
          <a:xfrm>
            <a:off x="0" y="681038"/>
            <a:ext cx="12090399" cy="1325563"/>
          </a:xfrm>
        </p:spPr>
        <p:txBody>
          <a:bodyPr>
            <a:normAutofit fontScale="90000"/>
          </a:bodyPr>
          <a:lstStyle/>
          <a:p>
            <a:pPr algn="just"/>
            <a:r>
              <a:rPr lang="en-US" dirty="0"/>
              <a:t>Nếu </a:t>
            </a:r>
            <a:r>
              <a:rPr lang="en-US" dirty="0" err="1"/>
              <a:t>mạch</a:t>
            </a:r>
            <a:r>
              <a:rPr lang="en-US" dirty="0"/>
              <a:t> </a:t>
            </a:r>
            <a:r>
              <a:rPr lang="en-US" dirty="0" err="1"/>
              <a:t>điện</a:t>
            </a:r>
            <a:r>
              <a:rPr lang="en-US" dirty="0"/>
              <a:t> </a:t>
            </a:r>
            <a:r>
              <a:rPr lang="en-US" dirty="0" err="1"/>
              <a:t>chứa</a:t>
            </a:r>
            <a:r>
              <a:rPr lang="en-US" dirty="0"/>
              <a:t> </a:t>
            </a:r>
            <a:r>
              <a:rPr lang="en-US" dirty="0" err="1"/>
              <a:t>cuộn</a:t>
            </a:r>
            <a:r>
              <a:rPr lang="en-US" dirty="0"/>
              <a:t> </a:t>
            </a:r>
            <a:r>
              <a:rPr lang="en-US" dirty="0" err="1"/>
              <a:t>dây</a:t>
            </a:r>
            <a:r>
              <a:rPr lang="en-US" dirty="0"/>
              <a:t> </a:t>
            </a:r>
            <a:r>
              <a:rPr lang="en-US" dirty="0" err="1"/>
              <a:t>thì</a:t>
            </a:r>
            <a:r>
              <a:rPr lang="en-US" dirty="0"/>
              <a:t> độ </a:t>
            </a:r>
            <a:r>
              <a:rPr lang="en-US" dirty="0" err="1"/>
              <a:t>tự</a:t>
            </a:r>
            <a:r>
              <a:rPr lang="en-US" dirty="0"/>
              <a:t> </a:t>
            </a:r>
            <a:r>
              <a:rPr lang="en-US" dirty="0" err="1"/>
              <a:t>cảm</a:t>
            </a:r>
            <a:r>
              <a:rPr lang="en-US" dirty="0"/>
              <a:t> </a:t>
            </a:r>
            <a:r>
              <a:rPr lang="en-US" dirty="0" err="1"/>
              <a:t>của</a:t>
            </a:r>
            <a:r>
              <a:rPr lang="en-US" dirty="0"/>
              <a:t> </a:t>
            </a:r>
            <a:r>
              <a:rPr lang="en-US" dirty="0" err="1"/>
              <a:t>cuộn</a:t>
            </a:r>
            <a:r>
              <a:rPr lang="en-US" dirty="0"/>
              <a:t> </a:t>
            </a:r>
            <a:r>
              <a:rPr lang="en-US" dirty="0" err="1"/>
              <a:t>dây</a:t>
            </a:r>
            <a:r>
              <a:rPr lang="en-US" dirty="0"/>
              <a:t> </a:t>
            </a:r>
            <a:r>
              <a:rPr lang="en-US" dirty="0" err="1"/>
              <a:t>ngăn</a:t>
            </a:r>
            <a:r>
              <a:rPr lang="en-US" dirty="0"/>
              <a:t> </a:t>
            </a:r>
            <a:r>
              <a:rPr lang="en-US" dirty="0" err="1"/>
              <a:t>không</a:t>
            </a:r>
            <a:r>
              <a:rPr lang="en-US" dirty="0"/>
              <a:t> </a:t>
            </a:r>
            <a:r>
              <a:rPr lang="en-US" dirty="0" err="1"/>
              <a:t>cho</a:t>
            </a:r>
            <a:r>
              <a:rPr lang="en-US" dirty="0"/>
              <a:t> </a:t>
            </a:r>
            <a:r>
              <a:rPr lang="en-US" dirty="0" err="1"/>
              <a:t>dòng</a:t>
            </a:r>
            <a:r>
              <a:rPr lang="en-US" dirty="0"/>
              <a:t> </a:t>
            </a:r>
            <a:r>
              <a:rPr lang="en-US" dirty="0" err="1"/>
              <a:t>điện</a:t>
            </a:r>
            <a:r>
              <a:rPr lang="en-US" dirty="0"/>
              <a:t> </a:t>
            </a:r>
            <a:r>
              <a:rPr lang="en-US" dirty="0" err="1"/>
              <a:t>trong</a:t>
            </a:r>
            <a:r>
              <a:rPr lang="en-US" dirty="0"/>
              <a:t> </a:t>
            </a:r>
            <a:r>
              <a:rPr lang="en-US" dirty="0" err="1"/>
              <a:t>mạch</a:t>
            </a:r>
            <a:r>
              <a:rPr lang="en-US" dirty="0"/>
              <a:t> </a:t>
            </a:r>
            <a:r>
              <a:rPr lang="en-US" dirty="0" err="1"/>
              <a:t>tăng</a:t>
            </a:r>
            <a:r>
              <a:rPr lang="en-US" dirty="0"/>
              <a:t> </a:t>
            </a:r>
            <a:r>
              <a:rPr lang="en-US" dirty="0" err="1"/>
              <a:t>hoặc</a:t>
            </a:r>
            <a:r>
              <a:rPr lang="en-US" dirty="0"/>
              <a:t> </a:t>
            </a:r>
            <a:r>
              <a:rPr lang="en-US" dirty="0" err="1"/>
              <a:t>giảm</a:t>
            </a:r>
            <a:r>
              <a:rPr lang="en-US" dirty="0"/>
              <a:t> </a:t>
            </a:r>
            <a:r>
              <a:rPr lang="en-US" dirty="0" err="1"/>
              <a:t>một</a:t>
            </a:r>
            <a:r>
              <a:rPr lang="en-US" dirty="0"/>
              <a:t> </a:t>
            </a:r>
            <a:r>
              <a:rPr lang="en-US" dirty="0" err="1"/>
              <a:t>cách</a:t>
            </a:r>
            <a:r>
              <a:rPr lang="en-US" dirty="0"/>
              <a:t> </a:t>
            </a:r>
            <a:r>
              <a:rPr lang="en-US" dirty="0" err="1"/>
              <a:t>tức</a:t>
            </a:r>
            <a:r>
              <a:rPr lang="en-US" dirty="0"/>
              <a:t> </a:t>
            </a:r>
            <a:r>
              <a:rPr lang="en-US" dirty="0" err="1"/>
              <a:t>thời</a:t>
            </a:r>
            <a:endParaRPr lang="en-US" dirty="0"/>
          </a:p>
        </p:txBody>
      </p:sp>
      <p:sp>
        <p:nvSpPr>
          <p:cNvPr id="3" name="Content Placeholder 2">
            <a:extLst>
              <a:ext uri="{FF2B5EF4-FFF2-40B4-BE49-F238E27FC236}">
                <a16:creationId xmlns:a16="http://schemas.microsoft.com/office/drawing/2014/main" xmlns="" id="{4A2D5C49-B445-45B1-8B41-5E9C1C5283CC}"/>
              </a:ext>
            </a:extLst>
          </p:cNvPr>
          <p:cNvSpPr>
            <a:spLocks noGrp="1"/>
          </p:cNvSpPr>
          <p:nvPr>
            <p:ph idx="1"/>
          </p:nvPr>
        </p:nvSpPr>
        <p:spPr>
          <a:xfrm>
            <a:off x="559610" y="2675106"/>
            <a:ext cx="11220585" cy="3870528"/>
          </a:xfrm>
        </p:spPr>
        <p:txBody>
          <a:bodyPr>
            <a:normAutofit fontScale="70000" lnSpcReduction="20000"/>
          </a:bodyPr>
          <a:lstStyle/>
          <a:p>
            <a:r>
              <a:rPr lang="en-US" sz="4600" dirty="0" err="1"/>
              <a:t>Vì</a:t>
            </a:r>
            <a:r>
              <a:rPr lang="en-US" sz="4600" dirty="0"/>
              <a:t> độ </a:t>
            </a:r>
            <a:r>
              <a:rPr lang="en-US" sz="4600" dirty="0" err="1"/>
              <a:t>tự</a:t>
            </a:r>
            <a:r>
              <a:rPr lang="en-US" sz="4600" dirty="0"/>
              <a:t> </a:t>
            </a:r>
            <a:r>
              <a:rPr lang="en-US" sz="4600" dirty="0" err="1"/>
              <a:t>cảm</a:t>
            </a:r>
            <a:r>
              <a:rPr lang="en-US" sz="4600" dirty="0"/>
              <a:t> </a:t>
            </a:r>
            <a:r>
              <a:rPr lang="en-US" sz="4600" dirty="0" err="1"/>
              <a:t>của</a:t>
            </a:r>
            <a:r>
              <a:rPr lang="en-US" sz="4600" dirty="0"/>
              <a:t> </a:t>
            </a:r>
            <a:r>
              <a:rPr lang="en-US" sz="4600" dirty="0" err="1"/>
              <a:t>cuộn</a:t>
            </a:r>
            <a:r>
              <a:rPr lang="en-US" sz="4600" dirty="0"/>
              <a:t> </a:t>
            </a:r>
            <a:r>
              <a:rPr lang="en-US" sz="4600" dirty="0" err="1"/>
              <a:t>cảm</a:t>
            </a:r>
            <a:r>
              <a:rPr lang="en-US" sz="4600" dirty="0"/>
              <a:t> </a:t>
            </a:r>
            <a:r>
              <a:rPr lang="en-US" sz="4600" dirty="0" err="1"/>
              <a:t>gây</a:t>
            </a:r>
            <a:r>
              <a:rPr lang="en-US" sz="4600" dirty="0"/>
              <a:t> ra </a:t>
            </a:r>
            <a:r>
              <a:rPr lang="en-US" sz="4600" dirty="0" err="1"/>
              <a:t>một</a:t>
            </a:r>
            <a:r>
              <a:rPr lang="en-US" sz="4600" dirty="0"/>
              <a:t> </a:t>
            </a:r>
            <a:r>
              <a:rPr lang="en-US" sz="4600" dirty="0" err="1"/>
              <a:t>suất</a:t>
            </a:r>
            <a:r>
              <a:rPr lang="en-US" sz="4600" dirty="0"/>
              <a:t> </a:t>
            </a:r>
            <a:r>
              <a:rPr lang="en-US" sz="4600" dirty="0" err="1"/>
              <a:t>điện</a:t>
            </a:r>
            <a:r>
              <a:rPr lang="en-US" sz="4600" dirty="0"/>
              <a:t> </a:t>
            </a:r>
            <a:r>
              <a:rPr lang="en-US" sz="4600" dirty="0" err="1"/>
              <a:t>động</a:t>
            </a:r>
            <a:r>
              <a:rPr lang="en-US" sz="4600" dirty="0"/>
              <a:t> </a:t>
            </a:r>
            <a:r>
              <a:rPr lang="en-US" sz="4600" dirty="0" err="1"/>
              <a:t>ngược</a:t>
            </a:r>
            <a:r>
              <a:rPr lang="en-US" sz="4600" dirty="0"/>
              <a:t> </a:t>
            </a:r>
            <a:r>
              <a:rPr lang="en-US" sz="4600" dirty="0" err="1"/>
              <a:t>nên</a:t>
            </a:r>
            <a:r>
              <a:rPr lang="en-US" sz="4600" dirty="0"/>
              <a:t> </a:t>
            </a:r>
            <a:r>
              <a:rPr lang="en-US" sz="4600" dirty="0" err="1"/>
              <a:t>cuộn</a:t>
            </a:r>
            <a:r>
              <a:rPr lang="en-US" sz="4600" dirty="0"/>
              <a:t> </a:t>
            </a:r>
            <a:r>
              <a:rPr lang="en-US" sz="4600" dirty="0" err="1"/>
              <a:t>cảm</a:t>
            </a:r>
            <a:r>
              <a:rPr lang="en-US" sz="4600" dirty="0"/>
              <a:t> </a:t>
            </a:r>
            <a:r>
              <a:rPr lang="en-US" sz="4600" dirty="0" err="1"/>
              <a:t>trong</a:t>
            </a:r>
            <a:r>
              <a:rPr lang="en-US" sz="4600" dirty="0"/>
              <a:t> </a:t>
            </a:r>
            <a:r>
              <a:rPr lang="en-US" sz="4600" dirty="0" err="1"/>
              <a:t>mạch</a:t>
            </a:r>
            <a:r>
              <a:rPr lang="en-US" sz="4600" dirty="0"/>
              <a:t> </a:t>
            </a:r>
            <a:r>
              <a:rPr lang="en-US" sz="4600" dirty="0" err="1"/>
              <a:t>chống</a:t>
            </a:r>
            <a:r>
              <a:rPr lang="en-US" sz="4600" dirty="0"/>
              <a:t> </a:t>
            </a:r>
            <a:r>
              <a:rPr lang="en-US" sz="4600" dirty="0" err="1"/>
              <a:t>lại</a:t>
            </a:r>
            <a:r>
              <a:rPr lang="en-US" sz="4600" dirty="0"/>
              <a:t> </a:t>
            </a:r>
            <a:r>
              <a:rPr lang="en-US" sz="4600" dirty="0" err="1"/>
              <a:t>các</a:t>
            </a:r>
            <a:r>
              <a:rPr lang="en-US" sz="4600" dirty="0"/>
              <a:t> </a:t>
            </a:r>
            <a:r>
              <a:rPr lang="en-US" sz="4600" dirty="0" err="1"/>
              <a:t>thay</a:t>
            </a:r>
            <a:r>
              <a:rPr lang="en-US" sz="4600" dirty="0"/>
              <a:t> </a:t>
            </a:r>
            <a:r>
              <a:rPr lang="en-US" sz="4600" dirty="0" err="1"/>
              <a:t>đổi</a:t>
            </a:r>
            <a:r>
              <a:rPr lang="en-US" sz="4600" dirty="0"/>
              <a:t> </a:t>
            </a:r>
            <a:r>
              <a:rPr lang="en-US" sz="4600" dirty="0" err="1"/>
              <a:t>của</a:t>
            </a:r>
            <a:r>
              <a:rPr lang="en-US" sz="4600" dirty="0"/>
              <a:t> </a:t>
            </a:r>
            <a:r>
              <a:rPr lang="en-US" sz="4600" dirty="0" err="1"/>
              <a:t>dòng</a:t>
            </a:r>
            <a:r>
              <a:rPr lang="en-US" sz="4600" dirty="0"/>
              <a:t> </a:t>
            </a:r>
            <a:r>
              <a:rPr lang="en-US" sz="4600" dirty="0" err="1"/>
              <a:t>điện</a:t>
            </a:r>
            <a:r>
              <a:rPr lang="en-US" sz="4600" dirty="0"/>
              <a:t> </a:t>
            </a:r>
            <a:r>
              <a:rPr lang="en-US" sz="4600" dirty="0" err="1"/>
              <a:t>trong</a:t>
            </a:r>
            <a:r>
              <a:rPr lang="en-US" sz="4600" dirty="0"/>
              <a:t> </a:t>
            </a:r>
            <a:r>
              <a:rPr lang="en-US" sz="4600" dirty="0" err="1"/>
              <a:t>mạch</a:t>
            </a:r>
            <a:r>
              <a:rPr lang="en-US" sz="4600" dirty="0"/>
              <a:t> </a:t>
            </a:r>
            <a:r>
              <a:rPr lang="en-US" sz="4600" dirty="0" err="1"/>
              <a:t>đó</a:t>
            </a:r>
            <a:r>
              <a:rPr lang="en-US" sz="4600" dirty="0"/>
              <a:t>. </a:t>
            </a:r>
            <a:r>
              <a:rPr lang="en-US" sz="4600" dirty="0" err="1"/>
              <a:t>Cuộn</a:t>
            </a:r>
            <a:r>
              <a:rPr lang="en-US" sz="4600" dirty="0"/>
              <a:t> </a:t>
            </a:r>
            <a:r>
              <a:rPr lang="en-US" sz="4600" dirty="0" err="1"/>
              <a:t>cảm</a:t>
            </a:r>
            <a:r>
              <a:rPr lang="en-US" sz="4600" dirty="0"/>
              <a:t> </a:t>
            </a:r>
            <a:r>
              <a:rPr lang="en-US" sz="4600" dirty="0" err="1"/>
              <a:t>cố</a:t>
            </a:r>
            <a:r>
              <a:rPr lang="en-US" sz="4600" dirty="0"/>
              <a:t> </a:t>
            </a:r>
            <a:r>
              <a:rPr lang="en-US" sz="4600" dirty="0" err="1"/>
              <a:t>gắng</a:t>
            </a:r>
            <a:r>
              <a:rPr lang="en-US" sz="4600" dirty="0"/>
              <a:t> </a:t>
            </a:r>
            <a:r>
              <a:rPr lang="en-US" sz="4600" dirty="0" err="1"/>
              <a:t>giữ</a:t>
            </a:r>
            <a:r>
              <a:rPr lang="en-US" sz="4600" dirty="0"/>
              <a:t> </a:t>
            </a:r>
            <a:r>
              <a:rPr lang="en-US" sz="4600" dirty="0" err="1"/>
              <a:t>cho</a:t>
            </a:r>
            <a:r>
              <a:rPr lang="en-US" sz="4600" dirty="0"/>
              <a:t> </a:t>
            </a:r>
            <a:r>
              <a:rPr lang="en-US" sz="4600" dirty="0" err="1"/>
              <a:t>dòng</a:t>
            </a:r>
            <a:r>
              <a:rPr lang="en-US" sz="4600" dirty="0"/>
              <a:t> </a:t>
            </a:r>
            <a:r>
              <a:rPr lang="en-US" sz="4600" dirty="0" err="1"/>
              <a:t>điện</a:t>
            </a:r>
            <a:r>
              <a:rPr lang="en-US" sz="4600" dirty="0"/>
              <a:t> </a:t>
            </a:r>
            <a:r>
              <a:rPr lang="en-US" sz="4600" dirty="0" err="1"/>
              <a:t>ổn</a:t>
            </a:r>
            <a:r>
              <a:rPr lang="en-US" sz="4600" dirty="0"/>
              <a:t> </a:t>
            </a:r>
            <a:r>
              <a:rPr lang="en-US" sz="4600" dirty="0" err="1"/>
              <a:t>định</a:t>
            </a:r>
            <a:r>
              <a:rPr lang="en-US" sz="4600" dirty="0"/>
              <a:t> </a:t>
            </a:r>
            <a:r>
              <a:rPr lang="en-US" sz="4600" dirty="0" err="1"/>
              <a:t>như</a:t>
            </a:r>
            <a:r>
              <a:rPr lang="en-US" sz="4600" dirty="0"/>
              <a:t> </a:t>
            </a:r>
            <a:r>
              <a:rPr lang="en-US" sz="4600" dirty="0" err="1"/>
              <a:t>nó</a:t>
            </a:r>
            <a:r>
              <a:rPr lang="en-US" sz="4600" dirty="0"/>
              <a:t> </a:t>
            </a:r>
            <a:r>
              <a:rPr lang="en-US" sz="4600" dirty="0" err="1"/>
              <a:t>vốn</a:t>
            </a:r>
            <a:r>
              <a:rPr lang="en-US" sz="4600" dirty="0"/>
              <a:t> </a:t>
            </a:r>
            <a:r>
              <a:rPr lang="en-US" sz="4600" dirty="0" err="1"/>
              <a:t>có</a:t>
            </a:r>
            <a:r>
              <a:rPr lang="en-US" sz="4600" dirty="0"/>
              <a:t> </a:t>
            </a:r>
            <a:r>
              <a:rPr lang="en-US" sz="4600" dirty="0" err="1"/>
              <a:t>trước</a:t>
            </a:r>
            <a:r>
              <a:rPr lang="en-US" sz="4600" dirty="0"/>
              <a:t> </a:t>
            </a:r>
            <a:r>
              <a:rPr lang="en-US" sz="4600" dirty="0" err="1"/>
              <a:t>khi</a:t>
            </a:r>
            <a:r>
              <a:rPr lang="en-US" sz="4600" dirty="0"/>
              <a:t> </a:t>
            </a:r>
            <a:r>
              <a:rPr lang="en-US" sz="4600" dirty="0" err="1"/>
              <a:t>xảy</a:t>
            </a:r>
            <a:r>
              <a:rPr lang="en-US" sz="4600" dirty="0"/>
              <a:t> ra </a:t>
            </a:r>
            <a:r>
              <a:rPr lang="en-US" sz="4600" dirty="0" err="1"/>
              <a:t>sự</a:t>
            </a:r>
            <a:r>
              <a:rPr lang="en-US" sz="4600" dirty="0"/>
              <a:t> </a:t>
            </a:r>
            <a:r>
              <a:rPr lang="en-US" sz="4600" dirty="0" err="1"/>
              <a:t>thay</a:t>
            </a:r>
            <a:r>
              <a:rPr lang="en-US" sz="4600" dirty="0"/>
              <a:t> </a:t>
            </a:r>
            <a:r>
              <a:rPr lang="en-US" sz="4600" dirty="0" err="1"/>
              <a:t>đổi</a:t>
            </a:r>
            <a:r>
              <a:rPr lang="en-US" sz="4600" dirty="0"/>
              <a:t>. Nếu </a:t>
            </a:r>
            <a:r>
              <a:rPr lang="en-US" sz="4600" dirty="0" err="1"/>
              <a:t>điện</a:t>
            </a:r>
            <a:r>
              <a:rPr lang="en-US" sz="4600" dirty="0"/>
              <a:t> </a:t>
            </a:r>
            <a:r>
              <a:rPr lang="en-US" sz="4600" dirty="0" err="1"/>
              <a:t>áp</a:t>
            </a:r>
            <a:r>
              <a:rPr lang="en-US" sz="4600" dirty="0"/>
              <a:t> </a:t>
            </a:r>
            <a:r>
              <a:rPr lang="en-US" sz="4600" dirty="0" err="1"/>
              <a:t>của</a:t>
            </a:r>
            <a:r>
              <a:rPr lang="en-US" sz="4600" dirty="0"/>
              <a:t> </a:t>
            </a:r>
            <a:r>
              <a:rPr lang="en-US" sz="4600" dirty="0" err="1"/>
              <a:t>nguồn</a:t>
            </a:r>
            <a:r>
              <a:rPr lang="en-US" sz="4600" dirty="0"/>
              <a:t> </a:t>
            </a:r>
            <a:r>
              <a:rPr lang="en-US" sz="4600" dirty="0" err="1"/>
              <a:t>điện</a:t>
            </a:r>
            <a:r>
              <a:rPr lang="en-US" sz="4600" dirty="0"/>
              <a:t> </a:t>
            </a:r>
            <a:r>
              <a:rPr lang="en-US" sz="4600" dirty="0" err="1"/>
              <a:t>trong</a:t>
            </a:r>
            <a:r>
              <a:rPr lang="en-US" sz="4600" dirty="0"/>
              <a:t> </a:t>
            </a:r>
            <a:r>
              <a:rPr lang="en-US" sz="4600" dirty="0" err="1"/>
              <a:t>mạch</a:t>
            </a:r>
            <a:r>
              <a:rPr lang="en-US" sz="4600" dirty="0"/>
              <a:t> </a:t>
            </a:r>
            <a:r>
              <a:rPr lang="en-US" sz="4600" dirty="0" err="1"/>
              <a:t>tăng</a:t>
            </a:r>
            <a:r>
              <a:rPr lang="en-US" sz="4600" dirty="0"/>
              <a:t> </a:t>
            </a:r>
            <a:r>
              <a:rPr lang="en-US" sz="4600" dirty="0" err="1"/>
              <a:t>lên</a:t>
            </a:r>
            <a:r>
              <a:rPr lang="en-US" sz="4600" dirty="0"/>
              <a:t> </a:t>
            </a:r>
            <a:r>
              <a:rPr lang="en-US" sz="4600" dirty="0" err="1"/>
              <a:t>để</a:t>
            </a:r>
            <a:r>
              <a:rPr lang="en-US" sz="4600" dirty="0"/>
              <a:t> </a:t>
            </a:r>
            <a:r>
              <a:rPr lang="en-US" sz="4600" dirty="0" err="1"/>
              <a:t>cho</a:t>
            </a:r>
            <a:r>
              <a:rPr lang="en-US" sz="4600" dirty="0"/>
              <a:t> </a:t>
            </a:r>
            <a:r>
              <a:rPr lang="en-US" sz="4600" dirty="0" err="1"/>
              <a:t>dòng</a:t>
            </a:r>
            <a:r>
              <a:rPr lang="en-US" sz="4600" dirty="0"/>
              <a:t> </a:t>
            </a:r>
            <a:r>
              <a:rPr lang="en-US" sz="4600" dirty="0" err="1"/>
              <a:t>điện</a:t>
            </a:r>
            <a:r>
              <a:rPr lang="en-US" sz="4600" dirty="0"/>
              <a:t> </a:t>
            </a:r>
            <a:r>
              <a:rPr lang="en-US" sz="4600" dirty="0" err="1"/>
              <a:t>tăng</a:t>
            </a:r>
            <a:r>
              <a:rPr lang="en-US" sz="4600" dirty="0"/>
              <a:t> </a:t>
            </a:r>
            <a:r>
              <a:rPr lang="en-US" sz="4600" dirty="0" err="1"/>
              <a:t>lên</a:t>
            </a:r>
            <a:r>
              <a:rPr lang="en-US" sz="4600" dirty="0"/>
              <a:t> </a:t>
            </a:r>
            <a:r>
              <a:rPr lang="en-US" sz="4600" dirty="0" err="1"/>
              <a:t>thì</a:t>
            </a:r>
            <a:r>
              <a:rPr lang="en-US" sz="4600" dirty="0"/>
              <a:t> </a:t>
            </a:r>
            <a:r>
              <a:rPr lang="en-US" sz="4600" dirty="0" err="1"/>
              <a:t>cuộn</a:t>
            </a:r>
            <a:r>
              <a:rPr lang="en-US" sz="4600" dirty="0"/>
              <a:t> </a:t>
            </a:r>
            <a:r>
              <a:rPr lang="en-US" sz="4600" dirty="0" err="1"/>
              <a:t>cảm</a:t>
            </a:r>
            <a:r>
              <a:rPr lang="en-US" sz="4600" dirty="0"/>
              <a:t> </a:t>
            </a:r>
            <a:r>
              <a:rPr lang="en-US" sz="4600" dirty="0" err="1"/>
              <a:t>chống</a:t>
            </a:r>
            <a:r>
              <a:rPr lang="en-US" sz="4600" dirty="0"/>
              <a:t> </a:t>
            </a:r>
            <a:r>
              <a:rPr lang="en-US" sz="4600" dirty="0" err="1"/>
              <a:t>lại</a:t>
            </a:r>
            <a:r>
              <a:rPr lang="en-US" sz="4600" dirty="0"/>
              <a:t> </a:t>
            </a:r>
            <a:r>
              <a:rPr lang="en-US" sz="4600" dirty="0" err="1"/>
              <a:t>sự</a:t>
            </a:r>
            <a:r>
              <a:rPr lang="en-US" sz="4600" dirty="0"/>
              <a:t> </a:t>
            </a:r>
            <a:r>
              <a:rPr lang="en-US" sz="4600" dirty="0" err="1"/>
              <a:t>thay</a:t>
            </a:r>
            <a:r>
              <a:rPr lang="en-US" sz="4600" dirty="0"/>
              <a:t> </a:t>
            </a:r>
            <a:r>
              <a:rPr lang="en-US" sz="4600" dirty="0" err="1"/>
              <a:t>đổi</a:t>
            </a:r>
            <a:r>
              <a:rPr lang="en-US" sz="4600" dirty="0"/>
              <a:t> </a:t>
            </a:r>
            <a:r>
              <a:rPr lang="en-US" sz="4600" dirty="0" err="1"/>
              <a:t>này</a:t>
            </a:r>
            <a:r>
              <a:rPr lang="en-US" sz="4600" dirty="0"/>
              <a:t> </a:t>
            </a:r>
            <a:r>
              <a:rPr lang="en-US" sz="4600" dirty="0" err="1"/>
              <a:t>và</a:t>
            </a:r>
            <a:r>
              <a:rPr lang="en-US" sz="4600" dirty="0"/>
              <a:t> </a:t>
            </a:r>
            <a:r>
              <a:rPr lang="en-US" sz="4600" dirty="0" err="1"/>
              <a:t>sự</a:t>
            </a:r>
            <a:r>
              <a:rPr lang="en-US" sz="4600" dirty="0"/>
              <a:t> </a:t>
            </a:r>
            <a:r>
              <a:rPr lang="en-US" sz="4600" dirty="0" err="1"/>
              <a:t>tăng</a:t>
            </a:r>
            <a:r>
              <a:rPr lang="en-US" sz="4600" dirty="0"/>
              <a:t> </a:t>
            </a:r>
            <a:r>
              <a:rPr lang="en-US" sz="4600" dirty="0" err="1"/>
              <a:t>dòng</a:t>
            </a:r>
            <a:r>
              <a:rPr lang="en-US" sz="4600" dirty="0"/>
              <a:t> </a:t>
            </a:r>
            <a:r>
              <a:rPr lang="en-US" sz="4600" dirty="0" err="1"/>
              <a:t>điện</a:t>
            </a:r>
            <a:r>
              <a:rPr lang="en-US" sz="4600" dirty="0"/>
              <a:t> </a:t>
            </a:r>
            <a:r>
              <a:rPr lang="en-US" sz="4600" dirty="0" err="1"/>
              <a:t>không</a:t>
            </a:r>
            <a:r>
              <a:rPr lang="en-US" sz="4600" dirty="0"/>
              <a:t> </a:t>
            </a:r>
            <a:r>
              <a:rPr lang="en-US" sz="4600" dirty="0" err="1"/>
              <a:t>xảy</a:t>
            </a:r>
            <a:r>
              <a:rPr lang="en-US" sz="4600" dirty="0"/>
              <a:t> ra </a:t>
            </a:r>
            <a:r>
              <a:rPr lang="en-US" sz="4600" dirty="0" err="1"/>
              <a:t>ngay</a:t>
            </a:r>
            <a:r>
              <a:rPr lang="en-US" sz="4600" dirty="0"/>
              <a:t> </a:t>
            </a:r>
            <a:r>
              <a:rPr lang="en-US" sz="4600" dirty="0" err="1"/>
              <a:t>lập</a:t>
            </a:r>
            <a:r>
              <a:rPr lang="en-US" sz="4600" dirty="0"/>
              <a:t> </a:t>
            </a:r>
            <a:r>
              <a:rPr lang="en-US" sz="4600" dirty="0" err="1"/>
              <a:t>tức</a:t>
            </a:r>
            <a:r>
              <a:rPr lang="en-US" sz="4600" dirty="0"/>
              <a:t>. Nếu </a:t>
            </a:r>
            <a:r>
              <a:rPr lang="en-US" sz="4600" dirty="0" err="1"/>
              <a:t>điện</a:t>
            </a:r>
            <a:r>
              <a:rPr lang="en-US" sz="4600" dirty="0"/>
              <a:t> </a:t>
            </a:r>
            <a:r>
              <a:rPr lang="en-US" sz="4600" dirty="0" err="1"/>
              <a:t>áp</a:t>
            </a:r>
            <a:r>
              <a:rPr lang="en-US" sz="4600" dirty="0"/>
              <a:t> </a:t>
            </a:r>
            <a:r>
              <a:rPr lang="en-US" sz="4600" dirty="0" err="1"/>
              <a:t>của</a:t>
            </a:r>
            <a:r>
              <a:rPr lang="en-US" sz="4600" dirty="0"/>
              <a:t> </a:t>
            </a:r>
            <a:r>
              <a:rPr lang="en-US" sz="4600" dirty="0" err="1"/>
              <a:t>nguồn</a:t>
            </a:r>
            <a:r>
              <a:rPr lang="en-US" sz="4600" dirty="0"/>
              <a:t> </a:t>
            </a:r>
            <a:r>
              <a:rPr lang="en-US" sz="4600" dirty="0" err="1"/>
              <a:t>giảm</a:t>
            </a:r>
            <a:r>
              <a:rPr lang="en-US" sz="4600" dirty="0"/>
              <a:t> </a:t>
            </a:r>
            <a:r>
              <a:rPr lang="en-US" sz="4600" dirty="0" err="1"/>
              <a:t>xuống</a:t>
            </a:r>
            <a:r>
              <a:rPr lang="en-US" sz="4600" dirty="0"/>
              <a:t> </a:t>
            </a:r>
            <a:r>
              <a:rPr lang="en-US" sz="4600" dirty="0" err="1"/>
              <a:t>thì</a:t>
            </a:r>
            <a:r>
              <a:rPr lang="en-US" sz="4600" dirty="0"/>
              <a:t> </a:t>
            </a:r>
            <a:r>
              <a:rPr lang="en-US" sz="4600" dirty="0" err="1"/>
              <a:t>cuộn</a:t>
            </a:r>
            <a:r>
              <a:rPr lang="en-US" sz="4600" dirty="0"/>
              <a:t> </a:t>
            </a:r>
            <a:r>
              <a:rPr lang="en-US" sz="4600" dirty="0" err="1"/>
              <a:t>cảm</a:t>
            </a:r>
            <a:r>
              <a:rPr lang="en-US" sz="4600" dirty="0"/>
              <a:t> </a:t>
            </a:r>
            <a:r>
              <a:rPr lang="en-US" sz="4600" dirty="0" err="1"/>
              <a:t>gây</a:t>
            </a:r>
            <a:r>
              <a:rPr lang="en-US" sz="4600" dirty="0"/>
              <a:t> ra </a:t>
            </a:r>
            <a:r>
              <a:rPr lang="en-US" sz="4600" dirty="0" err="1"/>
              <a:t>một</a:t>
            </a:r>
            <a:r>
              <a:rPr lang="en-US" sz="4600" dirty="0"/>
              <a:t> </a:t>
            </a:r>
            <a:r>
              <a:rPr lang="en-US" sz="4600" dirty="0" err="1"/>
              <a:t>sự</a:t>
            </a:r>
            <a:r>
              <a:rPr lang="en-US" sz="4600" dirty="0"/>
              <a:t> </a:t>
            </a:r>
            <a:r>
              <a:rPr lang="en-US" sz="4600" dirty="0" err="1"/>
              <a:t>suy</a:t>
            </a:r>
            <a:r>
              <a:rPr lang="en-US" sz="4600" dirty="0"/>
              <a:t> </a:t>
            </a:r>
            <a:r>
              <a:rPr lang="en-US" sz="4600" dirty="0" err="1"/>
              <a:t>giảm</a:t>
            </a:r>
            <a:r>
              <a:rPr lang="en-US" sz="4600" dirty="0"/>
              <a:t> </a:t>
            </a:r>
            <a:r>
              <a:rPr lang="en-US" sz="4600" dirty="0" err="1"/>
              <a:t>chậm</a:t>
            </a:r>
            <a:r>
              <a:rPr lang="en-US" sz="4600" dirty="0"/>
              <a:t> </a:t>
            </a:r>
            <a:r>
              <a:rPr lang="en-US" sz="4600" dirty="0" err="1"/>
              <a:t>của</a:t>
            </a:r>
            <a:r>
              <a:rPr lang="en-US" sz="4600" dirty="0"/>
              <a:t> </a:t>
            </a:r>
            <a:r>
              <a:rPr lang="en-US" sz="4600" dirty="0" err="1"/>
              <a:t>dòng</a:t>
            </a:r>
            <a:r>
              <a:rPr lang="en-US" sz="4600" dirty="0"/>
              <a:t> </a:t>
            </a:r>
            <a:r>
              <a:rPr lang="en-US" sz="4600" dirty="0" err="1"/>
              <a:t>điện</a:t>
            </a:r>
            <a:r>
              <a:rPr lang="en-US" sz="4600" dirty="0"/>
              <a:t> </a:t>
            </a:r>
            <a:r>
              <a:rPr lang="en-US" sz="4600" dirty="0" err="1"/>
              <a:t>chứ</a:t>
            </a:r>
            <a:r>
              <a:rPr lang="en-US" sz="4600" dirty="0"/>
              <a:t> </a:t>
            </a:r>
            <a:r>
              <a:rPr lang="en-US" sz="4600" dirty="0" err="1"/>
              <a:t>không</a:t>
            </a:r>
            <a:r>
              <a:rPr lang="en-US" sz="4600" dirty="0"/>
              <a:t> </a:t>
            </a:r>
            <a:r>
              <a:rPr lang="en-US" sz="4600" dirty="0" err="1"/>
              <a:t>phải</a:t>
            </a:r>
            <a:r>
              <a:rPr lang="en-US" sz="4600" dirty="0"/>
              <a:t> </a:t>
            </a:r>
            <a:r>
              <a:rPr lang="en-US" sz="4600" dirty="0" err="1"/>
              <a:t>là</a:t>
            </a:r>
            <a:r>
              <a:rPr lang="en-US" sz="4600" dirty="0"/>
              <a:t> </a:t>
            </a:r>
            <a:r>
              <a:rPr lang="en-US" sz="4600" dirty="0" err="1"/>
              <a:t>một</a:t>
            </a:r>
            <a:r>
              <a:rPr lang="en-US" sz="4600" dirty="0"/>
              <a:t> </a:t>
            </a:r>
            <a:r>
              <a:rPr lang="en-US" sz="4600" dirty="0" err="1"/>
              <a:t>sự</a:t>
            </a:r>
            <a:r>
              <a:rPr lang="en-US" sz="4600" dirty="0"/>
              <a:t> </a:t>
            </a:r>
            <a:r>
              <a:rPr lang="en-US" sz="4600" dirty="0" err="1"/>
              <a:t>suy</a:t>
            </a:r>
            <a:r>
              <a:rPr lang="en-US" sz="4600" dirty="0"/>
              <a:t> </a:t>
            </a:r>
            <a:r>
              <a:rPr lang="en-US" sz="4600" dirty="0" err="1"/>
              <a:t>giảm</a:t>
            </a:r>
            <a:r>
              <a:rPr lang="en-US" sz="4600" dirty="0"/>
              <a:t> </a:t>
            </a:r>
            <a:r>
              <a:rPr lang="en-US" sz="4600" dirty="0" err="1"/>
              <a:t>tức</a:t>
            </a:r>
            <a:r>
              <a:rPr lang="en-US" sz="4600" dirty="0"/>
              <a:t> </a:t>
            </a:r>
            <a:r>
              <a:rPr lang="en-US" sz="4600" dirty="0" err="1"/>
              <a:t>thì</a:t>
            </a:r>
            <a:r>
              <a:rPr lang="en-US" sz="4600" dirty="0"/>
              <a:t>. Do </a:t>
            </a:r>
            <a:r>
              <a:rPr lang="en-US" sz="4600" dirty="0" err="1"/>
              <a:t>đó</a:t>
            </a:r>
            <a:r>
              <a:rPr lang="en-US" sz="4600" dirty="0"/>
              <a:t>, </a:t>
            </a:r>
            <a:r>
              <a:rPr lang="en-US" sz="4600" dirty="0" err="1"/>
              <a:t>cuộn</a:t>
            </a:r>
            <a:r>
              <a:rPr lang="en-US" sz="4600" dirty="0"/>
              <a:t> </a:t>
            </a:r>
            <a:r>
              <a:rPr lang="en-US" sz="4600" dirty="0" err="1"/>
              <a:t>cảm</a:t>
            </a:r>
            <a:r>
              <a:rPr lang="en-US" sz="4600" dirty="0"/>
              <a:t> </a:t>
            </a:r>
            <a:r>
              <a:rPr lang="en-US" sz="4600" dirty="0" err="1"/>
              <a:t>làm</a:t>
            </a:r>
            <a:r>
              <a:rPr lang="en-US" sz="4600" dirty="0"/>
              <a:t> </a:t>
            </a:r>
            <a:r>
              <a:rPr lang="en-US" sz="4600" dirty="0" err="1"/>
              <a:t>cho</a:t>
            </a:r>
            <a:r>
              <a:rPr lang="en-US" sz="4600" dirty="0"/>
              <a:t> </a:t>
            </a:r>
            <a:r>
              <a:rPr lang="en-US" sz="4600" dirty="0" err="1"/>
              <a:t>mạch</a:t>
            </a:r>
            <a:r>
              <a:rPr lang="en-US" sz="4600" dirty="0"/>
              <a:t> </a:t>
            </a:r>
            <a:r>
              <a:rPr lang="en-US" sz="4600" dirty="0" err="1"/>
              <a:t>điện</a:t>
            </a:r>
            <a:r>
              <a:rPr lang="en-US" sz="4600" dirty="0"/>
              <a:t> </a:t>
            </a:r>
            <a:r>
              <a:rPr lang="en-US" sz="4600" dirty="0" err="1"/>
              <a:t>trở</a:t>
            </a:r>
            <a:r>
              <a:rPr lang="en-US" sz="4600" dirty="0"/>
              <a:t> </a:t>
            </a:r>
            <a:r>
              <a:rPr lang="en-US" sz="4600" dirty="0" err="1"/>
              <a:t>nên</a:t>
            </a:r>
            <a:r>
              <a:rPr lang="en-US" sz="4600" dirty="0"/>
              <a:t> “</a:t>
            </a:r>
            <a:r>
              <a:rPr lang="en-US" sz="4600" dirty="0" err="1"/>
              <a:t>chậm</a:t>
            </a:r>
            <a:r>
              <a:rPr lang="en-US" sz="4600" dirty="0"/>
              <a:t> </a:t>
            </a:r>
            <a:r>
              <a:rPr lang="en-US" sz="4600" dirty="0" err="1"/>
              <a:t>chạp</a:t>
            </a:r>
            <a:r>
              <a:rPr lang="en-US" sz="4600" dirty="0"/>
              <a:t>” </a:t>
            </a:r>
            <a:r>
              <a:rPr lang="en-US" sz="4600" dirty="0" err="1"/>
              <a:t>khi</a:t>
            </a:r>
            <a:r>
              <a:rPr lang="en-US" sz="4600" dirty="0"/>
              <a:t> </a:t>
            </a:r>
            <a:r>
              <a:rPr lang="en-US" sz="4600" dirty="0" err="1"/>
              <a:t>nó</a:t>
            </a:r>
            <a:r>
              <a:rPr lang="en-US" sz="4600" dirty="0"/>
              <a:t> </a:t>
            </a:r>
            <a:r>
              <a:rPr lang="en-US" sz="4600" dirty="0" err="1"/>
              <a:t>phản</a:t>
            </a:r>
            <a:r>
              <a:rPr lang="en-US" sz="4600" dirty="0"/>
              <a:t> </a:t>
            </a:r>
            <a:r>
              <a:rPr lang="en-US" sz="4600" dirty="0" err="1"/>
              <a:t>ứng</a:t>
            </a:r>
            <a:r>
              <a:rPr lang="en-US" sz="4600" dirty="0"/>
              <a:t> </a:t>
            </a:r>
            <a:r>
              <a:rPr lang="en-US" sz="4600" dirty="0" err="1"/>
              <a:t>lại</a:t>
            </a:r>
            <a:r>
              <a:rPr lang="en-US" sz="4600" dirty="0"/>
              <a:t> </a:t>
            </a:r>
            <a:r>
              <a:rPr lang="en-US" sz="4600" dirty="0" err="1"/>
              <a:t>các</a:t>
            </a:r>
            <a:r>
              <a:rPr lang="en-US" sz="4600" dirty="0"/>
              <a:t> </a:t>
            </a:r>
            <a:r>
              <a:rPr lang="en-US" sz="4600" dirty="0" err="1"/>
              <a:t>thay</a:t>
            </a:r>
            <a:r>
              <a:rPr lang="en-US" sz="4600" dirty="0"/>
              <a:t> </a:t>
            </a:r>
            <a:r>
              <a:rPr lang="en-US" sz="4600" dirty="0" err="1"/>
              <a:t>đổi</a:t>
            </a:r>
            <a:r>
              <a:rPr lang="en-US" sz="4600" dirty="0"/>
              <a:t> </a:t>
            </a:r>
            <a:r>
              <a:rPr lang="en-US" sz="4600" dirty="0" err="1"/>
              <a:t>điện</a:t>
            </a:r>
            <a:r>
              <a:rPr lang="en-US" sz="4600" dirty="0"/>
              <a:t> </a:t>
            </a:r>
            <a:r>
              <a:rPr lang="en-US" sz="4600" dirty="0" err="1"/>
              <a:t>áp</a:t>
            </a:r>
            <a:r>
              <a:rPr lang="en-US" sz="4600" dirty="0"/>
              <a:t>. </a:t>
            </a:r>
          </a:p>
          <a:p>
            <a:endParaRPr lang="en-US" dirty="0"/>
          </a:p>
        </p:txBody>
      </p:sp>
    </p:spTree>
    <p:extLst>
      <p:ext uri="{BB962C8B-B14F-4D97-AF65-F5344CB8AC3E}">
        <p14:creationId xmlns:p14="http://schemas.microsoft.com/office/powerpoint/2010/main" val="9575820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E38CED5-1248-443E-97F2-B994A39D8086}"/>
              </a:ext>
            </a:extLst>
          </p:cNvPr>
          <p:cNvSpPr>
            <a:spLocks noGrp="1"/>
          </p:cNvSpPr>
          <p:nvPr>
            <p:ph idx="1"/>
          </p:nvPr>
        </p:nvSpPr>
        <p:spPr>
          <a:xfrm>
            <a:off x="692286" y="561029"/>
            <a:ext cx="6389451" cy="975941"/>
          </a:xfrm>
        </p:spPr>
        <p:txBody>
          <a:bodyPr/>
          <a:lstStyle/>
          <a:p>
            <a:r>
              <a:rPr lang="en-US" dirty="0"/>
              <a:t>Xét </a:t>
            </a:r>
            <a:r>
              <a:rPr lang="en-US" dirty="0" err="1"/>
              <a:t>mạch</a:t>
            </a:r>
            <a:r>
              <a:rPr lang="en-US" dirty="0"/>
              <a:t> </a:t>
            </a:r>
            <a:r>
              <a:rPr lang="en-US" dirty="0" err="1"/>
              <a:t>điện</a:t>
            </a:r>
            <a:r>
              <a:rPr lang="en-US" dirty="0"/>
              <a:t> </a:t>
            </a:r>
            <a:r>
              <a:rPr lang="en-US" dirty="0" err="1"/>
              <a:t>nh</a:t>
            </a:r>
            <a:r>
              <a:rPr lang="vi-VN" dirty="0"/>
              <a:t>ư</a:t>
            </a:r>
            <a:r>
              <a:rPr lang="en-US" dirty="0"/>
              <a:t> </a:t>
            </a:r>
            <a:r>
              <a:rPr lang="en-US" dirty="0" err="1"/>
              <a:t>hình</a:t>
            </a:r>
            <a:r>
              <a:rPr lang="en-US" dirty="0"/>
              <a:t>. </a:t>
            </a:r>
          </a:p>
        </p:txBody>
      </p:sp>
      <p:pic>
        <p:nvPicPr>
          <p:cNvPr id="4" name="Picture 3">
            <a:extLst>
              <a:ext uri="{FF2B5EF4-FFF2-40B4-BE49-F238E27FC236}">
                <a16:creationId xmlns:a16="http://schemas.microsoft.com/office/drawing/2014/main" xmlns="" id="{98A2A4D9-FE6B-45E8-9132-A054C56011C9}"/>
              </a:ext>
            </a:extLst>
          </p:cNvPr>
          <p:cNvPicPr>
            <a:picLocks noChangeAspect="1"/>
          </p:cNvPicPr>
          <p:nvPr/>
        </p:nvPicPr>
        <p:blipFill>
          <a:blip r:embed="rId2"/>
          <a:stretch>
            <a:fillRect/>
          </a:stretch>
        </p:blipFill>
        <p:spPr>
          <a:xfrm>
            <a:off x="3375498" y="2132542"/>
            <a:ext cx="5770123" cy="4044421"/>
          </a:xfrm>
          <a:prstGeom prst="rect">
            <a:avLst/>
          </a:prstGeom>
        </p:spPr>
      </p:pic>
    </p:spTree>
    <p:extLst>
      <p:ext uri="{BB962C8B-B14F-4D97-AF65-F5344CB8AC3E}">
        <p14:creationId xmlns:p14="http://schemas.microsoft.com/office/powerpoint/2010/main" val="5036737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694CFC1-9D5C-4C33-BAEA-22D667CB5198}"/>
              </a:ext>
            </a:extLst>
          </p:cNvPr>
          <p:cNvSpPr>
            <a:spLocks noGrp="1"/>
          </p:cNvSpPr>
          <p:nvPr>
            <p:ph idx="1"/>
          </p:nvPr>
        </p:nvSpPr>
        <p:spPr>
          <a:xfrm>
            <a:off x="515566" y="379379"/>
            <a:ext cx="4795736" cy="5797584"/>
          </a:xfrm>
        </p:spPr>
        <p:txBody>
          <a:bodyPr>
            <a:normAutofit/>
          </a:bodyPr>
          <a:lstStyle/>
          <a:p>
            <a:r>
              <a:rPr lang="vi-VN" dirty="0"/>
              <a:t>Giả sử S</a:t>
            </a:r>
            <a:r>
              <a:rPr lang="vi-VN" baseline="-25000" dirty="0"/>
              <a:t>2</a:t>
            </a:r>
            <a:r>
              <a:rPr lang="vi-VN" dirty="0"/>
              <a:t> được đặt ở a và S</a:t>
            </a:r>
            <a:r>
              <a:rPr lang="vi-VN" baseline="-25000" dirty="0"/>
              <a:t>1</a:t>
            </a:r>
            <a:r>
              <a:rPr lang="vi-VN" dirty="0"/>
              <a:t> được mở đối với t &lt; 0 và sau đó chuyển qua đóng lúc t = 0. Dòng điện trong mạch bắt đầu tăng, và một suất điện động ngược chống lại sự tăng dòng điện được sinh ra trong cuộn cảm</a:t>
            </a:r>
            <a:endParaRPr lang="en-US" dirty="0"/>
          </a:p>
        </p:txBody>
      </p:sp>
      <p:pic>
        <p:nvPicPr>
          <p:cNvPr id="4" name="Picture 3">
            <a:extLst>
              <a:ext uri="{FF2B5EF4-FFF2-40B4-BE49-F238E27FC236}">
                <a16:creationId xmlns:a16="http://schemas.microsoft.com/office/drawing/2014/main" xmlns="" id="{D5A3928D-18FC-47BD-B3E5-4A389157F86A}"/>
              </a:ext>
            </a:extLst>
          </p:cNvPr>
          <p:cNvPicPr>
            <a:picLocks noChangeAspect="1"/>
          </p:cNvPicPr>
          <p:nvPr/>
        </p:nvPicPr>
        <p:blipFill>
          <a:blip r:embed="rId2"/>
          <a:stretch>
            <a:fillRect/>
          </a:stretch>
        </p:blipFill>
        <p:spPr>
          <a:xfrm>
            <a:off x="5836597" y="1310468"/>
            <a:ext cx="5468566" cy="3921101"/>
          </a:xfrm>
          <a:prstGeom prst="rect">
            <a:avLst/>
          </a:prstGeom>
        </p:spPr>
      </p:pic>
    </p:spTree>
    <p:extLst>
      <p:ext uri="{BB962C8B-B14F-4D97-AF65-F5344CB8AC3E}">
        <p14:creationId xmlns:p14="http://schemas.microsoft.com/office/powerpoint/2010/main" val="5465152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5E66773A-F6A4-4A0D-8623-64F25BE965D0}"/>
              </a:ext>
            </a:extLst>
          </p:cNvPr>
          <p:cNvPicPr>
            <a:picLocks noChangeAspect="1"/>
          </p:cNvPicPr>
          <p:nvPr/>
        </p:nvPicPr>
        <p:blipFill>
          <a:blip r:embed="rId2"/>
          <a:stretch>
            <a:fillRect/>
          </a:stretch>
        </p:blipFill>
        <p:spPr>
          <a:xfrm>
            <a:off x="6870500" y="2472266"/>
            <a:ext cx="5474682" cy="3920068"/>
          </a:xfrm>
          <a:prstGeom prst="rect">
            <a:avLst/>
          </a:prstGeom>
        </p:spPr>
      </p:pic>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xmlns="" id="{30383F0C-ADAF-471F-9F8E-83888FDC13BE}"/>
                  </a:ext>
                </a:extLst>
              </p:cNvPr>
              <p:cNvSpPr>
                <a:spLocks noGrp="1"/>
              </p:cNvSpPr>
              <p:nvPr>
                <p:ph idx="1"/>
              </p:nvPr>
            </p:nvSpPr>
            <p:spPr>
              <a:xfrm>
                <a:off x="777775" y="3263899"/>
                <a:ext cx="5829300" cy="3281363"/>
              </a:xfrm>
            </p:spPr>
            <p:txBody>
              <a:bodyPr/>
              <a:lstStyle/>
              <a:p>
                <a:r>
                  <a:rPr lang="vi-VN" dirty="0"/>
                  <a:t>Dòng điện </a:t>
                </a:r>
                <a:r>
                  <a:rPr lang="en-US" dirty="0"/>
                  <a:t>qua </a:t>
                </a:r>
                <a:r>
                  <a:rPr lang="en-US" dirty="0" err="1"/>
                  <a:t>mạch</a:t>
                </a:r>
                <a:r>
                  <a:rPr lang="en-US" dirty="0"/>
                  <a:t> RL:</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ea typeface="Cambria Math" panose="02040503050406030204" pitchFamily="18" charset="0"/>
                            </a:rPr>
                            <m:t>𝜀</m:t>
                          </m:r>
                        </m:num>
                        <m:den>
                          <m:r>
                            <a:rPr lang="en-US" i="1">
                              <a:latin typeface="Cambria Math" panose="02040503050406030204" pitchFamily="18" charset="0"/>
                            </a:rPr>
                            <m:t>𝑅</m:t>
                          </m:r>
                        </m:den>
                      </m:f>
                      <m:d>
                        <m:dPr>
                          <m:ctrlPr>
                            <a:rPr lang="en-US" i="1">
                              <a:latin typeface="Cambria Math"/>
                            </a:rPr>
                          </m:ctrlPr>
                        </m:dPr>
                        <m:e>
                          <m:r>
                            <a:rPr lang="en-US" i="1">
                              <a:latin typeface="Cambria Math" panose="02040503050406030204" pitchFamily="18" charset="0"/>
                            </a:rPr>
                            <m:t>1−</m:t>
                          </m:r>
                          <m:sSup>
                            <m:sSupPr>
                              <m:ctrlPr>
                                <a:rPr lang="en-US" i="1">
                                  <a:latin typeface="Cambria Math"/>
                                </a:rPr>
                              </m:ctrlPr>
                            </m:sSupPr>
                            <m:e>
                              <m:r>
                                <a:rPr lang="en-US" i="1">
                                  <a:latin typeface="Cambria Math" panose="02040503050406030204" pitchFamily="18" charset="0"/>
                                </a:rPr>
                                <m:t>𝑒</m:t>
                              </m:r>
                            </m:e>
                            <m:sup>
                              <m:f>
                                <m:fPr>
                                  <m:type m:val="lin"/>
                                  <m:ctrlPr>
                                    <a:rPr lang="en-US" i="1">
                                      <a:latin typeface="Cambria Math"/>
                                    </a:rPr>
                                  </m:ctrlPr>
                                </m:fPr>
                                <m:num>
                                  <m:r>
                                    <a:rPr lang="en-US" i="1">
                                      <a:latin typeface="Cambria Math" panose="02040503050406030204" pitchFamily="18" charset="0"/>
                                    </a:rPr>
                                    <m:t>−</m:t>
                                  </m:r>
                                  <m:r>
                                    <a:rPr lang="en-US" i="1">
                                      <a:latin typeface="Cambria Math" panose="02040503050406030204" pitchFamily="18" charset="0"/>
                                    </a:rPr>
                                    <m:t>𝑅𝑡</m:t>
                                  </m:r>
                                </m:num>
                                <m:den>
                                  <m:r>
                                    <a:rPr lang="en-US" i="1">
                                      <a:latin typeface="Cambria Math" panose="02040503050406030204" pitchFamily="18" charset="0"/>
                                    </a:rPr>
                                    <m:t>𝐿</m:t>
                                  </m:r>
                                </m:den>
                              </m:f>
                            </m:sup>
                          </m:sSup>
                        </m:e>
                      </m:d>
                      <m:r>
                        <a:rPr lang="en-US" i="1">
                          <a:latin typeface="Cambria Math" panose="02040503050406030204" pitchFamily="18" charset="0"/>
                        </a:rPr>
                        <m:t>=</m:t>
                      </m:r>
                      <m:f>
                        <m:fPr>
                          <m:ctrlPr>
                            <a:rPr lang="en-US" i="1">
                              <a:latin typeface="Cambria Math"/>
                            </a:rPr>
                          </m:ctrlPr>
                        </m:fPr>
                        <m:num>
                          <m:r>
                            <a:rPr lang="en-US" i="1">
                              <a:latin typeface="Cambria Math" panose="02040503050406030204" pitchFamily="18" charset="0"/>
                              <a:ea typeface="Cambria Math" panose="02040503050406030204" pitchFamily="18" charset="0"/>
                            </a:rPr>
                            <m:t>𝜀</m:t>
                          </m:r>
                        </m:num>
                        <m:den>
                          <m:r>
                            <a:rPr lang="en-US" i="1">
                              <a:latin typeface="Cambria Math" panose="02040503050406030204" pitchFamily="18" charset="0"/>
                            </a:rPr>
                            <m:t>𝑅</m:t>
                          </m:r>
                        </m:den>
                      </m:f>
                      <m:d>
                        <m:dPr>
                          <m:ctrlPr>
                            <a:rPr lang="en-US" i="1">
                              <a:latin typeface="Cambria Math"/>
                            </a:rPr>
                          </m:ctrlPr>
                        </m:dPr>
                        <m:e>
                          <m:r>
                            <a:rPr lang="en-US" i="1">
                              <a:latin typeface="Cambria Math" panose="02040503050406030204" pitchFamily="18" charset="0"/>
                            </a:rPr>
                            <m:t>1−</m:t>
                          </m:r>
                          <m:sSup>
                            <m:sSupPr>
                              <m:ctrlPr>
                                <a:rPr lang="en-US" i="1">
                                  <a:latin typeface="Cambria Math"/>
                                </a:rPr>
                              </m:ctrlPr>
                            </m:sSupPr>
                            <m:e>
                              <m:r>
                                <a:rPr lang="en-US" i="1">
                                  <a:latin typeface="Cambria Math" panose="02040503050406030204" pitchFamily="18" charset="0"/>
                                </a:rPr>
                                <m:t>𝑒</m:t>
                              </m:r>
                            </m:e>
                            <m:sup>
                              <m:f>
                                <m:fPr>
                                  <m:type m:val="lin"/>
                                  <m:ctrlPr>
                                    <a:rPr lang="en-US" i="1">
                                      <a:latin typeface="Cambria Math"/>
                                    </a:rPr>
                                  </m:ctrlPr>
                                </m:fPr>
                                <m:num>
                                  <m:r>
                                    <a:rPr lang="en-US" i="1">
                                      <a:latin typeface="Cambria Math" panose="02040503050406030204" pitchFamily="18" charset="0"/>
                                    </a:rPr>
                                    <m:t>−</m:t>
                                  </m:r>
                                  <m:r>
                                    <a:rPr lang="en-US" i="1">
                                      <a:latin typeface="Cambria Math" panose="02040503050406030204" pitchFamily="18" charset="0"/>
                                    </a:rPr>
                                    <m:t>𝑡</m:t>
                                  </m:r>
                                </m:num>
                                <m:den>
                                  <m:r>
                                    <a:rPr lang="en-US" i="1">
                                      <a:latin typeface="Cambria Math" panose="02040503050406030204" pitchFamily="18" charset="0"/>
                                      <a:ea typeface="Cambria Math" panose="02040503050406030204" pitchFamily="18" charset="0"/>
                                    </a:rPr>
                                    <m:t>𝜏</m:t>
                                  </m:r>
                                </m:den>
                              </m:f>
                            </m:sup>
                          </m:sSup>
                        </m:e>
                      </m:d>
                    </m:oMath>
                  </m:oMathPara>
                </a14:m>
                <a:endParaRPr lang="en-US" dirty="0"/>
              </a:p>
            </p:txBody>
          </p:sp>
        </mc:Choice>
        <mc:Fallback xmlns="">
          <p:sp>
            <p:nvSpPr>
              <p:cNvPr id="7" name="Content Placeholder 6">
                <a:extLst>
                  <a:ext uri="{FF2B5EF4-FFF2-40B4-BE49-F238E27FC236}">
                    <a16:creationId xmlns:a16="http://schemas.microsoft.com/office/drawing/2014/main" id="{30383F0C-ADAF-471F-9F8E-83888FDC13BE}"/>
                  </a:ext>
                </a:extLst>
              </p:cNvPr>
              <p:cNvSpPr>
                <a:spLocks noGrp="1" noRot="1" noChangeAspect="1" noMove="1" noResize="1" noEditPoints="1" noAdjustHandles="1" noChangeArrowheads="1" noChangeShapeType="1" noTextEdit="1"/>
              </p:cNvSpPr>
              <p:nvPr>
                <p:ph idx="1"/>
              </p:nvPr>
            </p:nvSpPr>
            <p:spPr>
              <a:xfrm>
                <a:off x="777775" y="3263899"/>
                <a:ext cx="5829300" cy="3281363"/>
              </a:xfrm>
              <a:blipFill>
                <a:blip r:embed="rId3"/>
                <a:stretch>
                  <a:fillRect l="-3766" t="-519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xmlns="" id="{F7846AA8-7707-4F17-8FEF-439E0ED481DB}"/>
              </a:ext>
            </a:extLst>
          </p:cNvPr>
          <p:cNvPicPr>
            <a:picLocks noChangeAspect="1"/>
          </p:cNvPicPr>
          <p:nvPr/>
        </p:nvPicPr>
        <p:blipFill>
          <a:blip r:embed="rId4"/>
          <a:stretch>
            <a:fillRect/>
          </a:stretch>
        </p:blipFill>
        <p:spPr>
          <a:xfrm>
            <a:off x="0" y="0"/>
            <a:ext cx="6343650" cy="2771775"/>
          </a:xfrm>
          <a:prstGeom prst="rect">
            <a:avLst/>
          </a:prstGeom>
        </p:spPr>
      </p:pic>
    </p:spTree>
    <p:extLst>
      <p:ext uri="{BB962C8B-B14F-4D97-AF65-F5344CB8AC3E}">
        <p14:creationId xmlns:p14="http://schemas.microsoft.com/office/powerpoint/2010/main" val="19479680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839C65-F3C2-4C01-843F-5E069BE5D4CD}"/>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761599C4-1EAF-41AA-8A6D-22DC9F47EB2F}"/>
                  </a:ext>
                </a:extLst>
              </p:cNvPr>
              <p:cNvSpPr>
                <a:spLocks noGrp="1"/>
              </p:cNvSpPr>
              <p:nvPr>
                <p:ph idx="1"/>
              </p:nvPr>
            </p:nvSpPr>
            <p:spPr/>
            <p:txBody>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i="1" smtClean="0">
                        <a:latin typeface="Cambria Math" panose="02040503050406030204" pitchFamily="18" charset="0"/>
                        <a:ea typeface="Cambria Math" panose="02040503050406030204" pitchFamily="18" charset="0"/>
                      </a:rPr>
                      <m:t> </m:t>
                    </m:r>
                  </m:oMath>
                </a14:m>
                <a:r>
                  <a:rPr lang="en-US" b="1" dirty="0"/>
                  <a:t>: hằng </a:t>
                </a:r>
                <a:r>
                  <a:rPr lang="en-US" b="1" dirty="0" err="1"/>
                  <a:t>số</a:t>
                </a:r>
                <a:r>
                  <a:rPr lang="en-US" b="1" dirty="0"/>
                  <a:t> </a:t>
                </a:r>
                <a:r>
                  <a:rPr lang="en-US" b="1" dirty="0" err="1"/>
                  <a:t>thời</a:t>
                </a:r>
                <a:r>
                  <a:rPr lang="en-US" b="1" dirty="0"/>
                  <a:t> </a:t>
                </a:r>
                <a:r>
                  <a:rPr lang="en-US" b="1" dirty="0" err="1"/>
                  <a:t>gian</a:t>
                </a:r>
                <a:r>
                  <a:rPr lang="en-US" dirty="0"/>
                  <a:t> </a:t>
                </a:r>
                <a:r>
                  <a:rPr lang="en-US" dirty="0" err="1"/>
                  <a:t>của</a:t>
                </a:r>
                <a:r>
                  <a:rPr lang="en-US" dirty="0"/>
                  <a:t> </a:t>
                </a:r>
                <a:r>
                  <a:rPr lang="en-US" dirty="0" err="1"/>
                  <a:t>mạch</a:t>
                </a:r>
                <a:r>
                  <a:rPr lang="en-US" dirty="0"/>
                  <a:t> RL ( </a:t>
                </a:r>
                <a:r>
                  <a:rPr lang="en-US" dirty="0" err="1"/>
                  <a:t>thời</a:t>
                </a:r>
                <a:r>
                  <a:rPr lang="en-US" dirty="0"/>
                  <a:t> </a:t>
                </a:r>
                <a:r>
                  <a:rPr lang="en-US" dirty="0" err="1"/>
                  <a:t>hằng</a:t>
                </a:r>
                <a:r>
                  <a:rPr lang="en-US" dirty="0"/>
                  <a:t>)</a:t>
                </a: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f>
                        <m:fPr>
                          <m:ctrlPr>
                            <a:rPr lang="en-US" b="0" i="1" smtClean="0">
                              <a:latin typeface="Cambria Math"/>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𝐿</m:t>
                          </m:r>
                        </m:num>
                        <m:den>
                          <m:r>
                            <a:rPr lang="en-US" b="0" i="1" smtClean="0">
                              <a:latin typeface="Cambria Math" panose="02040503050406030204" pitchFamily="18" charset="0"/>
                              <a:ea typeface="Cambria Math" panose="02040503050406030204" pitchFamily="18" charset="0"/>
                            </a:rPr>
                            <m:t>𝑅</m:t>
                          </m:r>
                        </m:den>
                      </m:f>
                    </m:oMath>
                  </m:oMathPara>
                </a14:m>
                <a:endParaRPr lang="en-US" dirty="0"/>
              </a:p>
              <a:p>
                <a:r>
                  <a:rPr lang="en-US" dirty="0" err="1"/>
                  <a:t>Về</a:t>
                </a:r>
                <a:r>
                  <a:rPr lang="en-US" dirty="0"/>
                  <a:t> </a:t>
                </a:r>
                <a:r>
                  <a:rPr lang="en-US" dirty="0" err="1"/>
                  <a:t>mặt</a:t>
                </a:r>
                <a:r>
                  <a:rPr lang="en-US" dirty="0"/>
                  <a:t> </a:t>
                </a:r>
                <a:r>
                  <a:rPr lang="en-US" dirty="0" err="1"/>
                  <a:t>vật</a:t>
                </a:r>
                <a:r>
                  <a:rPr lang="en-US" dirty="0"/>
                  <a:t> </a:t>
                </a:r>
                <a:r>
                  <a:rPr lang="en-US" dirty="0" err="1"/>
                  <a:t>lý</a:t>
                </a:r>
                <a:r>
                  <a:rPr lang="en-US" dirty="0"/>
                  <a:t>,</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𝜏</m:t>
                    </m:r>
                  </m:oMath>
                </a14:m>
                <a:r>
                  <a:rPr lang="en-US" dirty="0"/>
                  <a:t> </a:t>
                </a:r>
                <a:r>
                  <a:rPr lang="en-US" dirty="0" err="1"/>
                  <a:t>là</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cần</a:t>
                </a:r>
                <a:r>
                  <a:rPr lang="en-US" dirty="0"/>
                  <a:t> </a:t>
                </a:r>
                <a:r>
                  <a:rPr lang="en-US" dirty="0" err="1"/>
                  <a:t>thiết</a:t>
                </a:r>
                <a:r>
                  <a:rPr lang="en-US" dirty="0"/>
                  <a:t> </a:t>
                </a:r>
                <a:r>
                  <a:rPr lang="en-US" dirty="0" err="1"/>
                  <a:t>để</a:t>
                </a:r>
                <a:r>
                  <a:rPr lang="en-US" dirty="0"/>
                  <a:t> </a:t>
                </a:r>
                <a:r>
                  <a:rPr lang="en-US" dirty="0" err="1"/>
                  <a:t>dòng</a:t>
                </a:r>
                <a:r>
                  <a:rPr lang="en-US" dirty="0"/>
                  <a:t> </a:t>
                </a:r>
                <a:r>
                  <a:rPr lang="en-US" dirty="0" err="1"/>
                  <a:t>điện</a:t>
                </a:r>
                <a:r>
                  <a:rPr lang="en-US" dirty="0"/>
                  <a:t> </a:t>
                </a:r>
                <a:r>
                  <a:rPr lang="en-US" dirty="0" err="1"/>
                  <a:t>trong</a:t>
                </a:r>
                <a:r>
                  <a:rPr lang="en-US" dirty="0"/>
                  <a:t> </a:t>
                </a:r>
                <a:r>
                  <a:rPr lang="en-US" dirty="0" err="1"/>
                  <a:t>mạch</a:t>
                </a:r>
                <a:r>
                  <a:rPr lang="en-US" dirty="0"/>
                  <a:t> </a:t>
                </a:r>
                <a:r>
                  <a:rPr lang="en-US" dirty="0" err="1"/>
                  <a:t>đạt</a:t>
                </a:r>
                <a:r>
                  <a:rPr lang="en-US" dirty="0"/>
                  <a:t> tới </a:t>
                </a:r>
                <a14:m>
                  <m:oMath xmlns:m="http://schemas.openxmlformats.org/officeDocument/2006/math">
                    <m:r>
                      <a:rPr lang="en-US" b="0" i="1" smtClean="0">
                        <a:latin typeface="Cambria Math" panose="02040503050406030204" pitchFamily="18" charset="0"/>
                        <a:ea typeface="Cambria Math" panose="02040503050406030204" pitchFamily="18" charset="0"/>
                      </a:rPr>
                      <m:t>63,2%</m:t>
                    </m:r>
                  </m:oMath>
                </a14:m>
                <a:r>
                  <a:rPr lang="en-US" dirty="0"/>
                  <a:t> </a:t>
                </a:r>
                <a:r>
                  <a:rPr lang="en-US" dirty="0" err="1"/>
                  <a:t>giá</a:t>
                </a:r>
                <a:r>
                  <a:rPr lang="en-US" dirty="0"/>
                  <a:t> </a:t>
                </a:r>
                <a:r>
                  <a:rPr lang="en-US" dirty="0" err="1"/>
                  <a:t>trị</a:t>
                </a:r>
                <a:r>
                  <a:rPr lang="en-US" dirty="0"/>
                  <a:t> </a:t>
                </a:r>
                <a:r>
                  <a:rPr lang="en-US" dirty="0" err="1"/>
                  <a:t>lớn</a:t>
                </a:r>
                <a:r>
                  <a:rPr lang="en-US" dirty="0"/>
                  <a:t> </a:t>
                </a:r>
                <a:r>
                  <a:rPr lang="en-US" dirty="0" err="1"/>
                  <a:t>nhất</a:t>
                </a:r>
                <a:r>
                  <a:rPr lang="en-US" dirty="0"/>
                  <a:t> </a:t>
                </a:r>
                <a:r>
                  <a:rPr lang="en-US" dirty="0" err="1"/>
                  <a:t>của</a:t>
                </a:r>
                <a:r>
                  <a:rPr lang="en-US" dirty="0"/>
                  <a:t> </a:t>
                </a:r>
                <a:r>
                  <a:rPr lang="en-US" dirty="0" err="1"/>
                  <a:t>nó</a:t>
                </a:r>
                <a:r>
                  <a:rPr lang="en-US" dirty="0"/>
                  <a:t> </a:t>
                </a:r>
              </a:p>
            </p:txBody>
          </p:sp>
        </mc:Choice>
        <mc:Fallback xmlns="">
          <p:sp>
            <p:nvSpPr>
              <p:cNvPr id="3" name="Content Placeholder 2">
                <a:extLst>
                  <a:ext uri="{FF2B5EF4-FFF2-40B4-BE49-F238E27FC236}">
                    <a16:creationId xmlns:a16="http://schemas.microsoft.com/office/drawing/2014/main" id="{761599C4-1EAF-41AA-8A6D-22DC9F47EB2F}"/>
                  </a:ext>
                </a:extLst>
              </p:cNvPr>
              <p:cNvSpPr>
                <a:spLocks noGrp="1" noRot="1" noChangeAspect="1" noMove="1" noResize="1" noEditPoints="1" noAdjustHandles="1" noChangeArrowheads="1" noChangeShapeType="1" noTextEdit="1"/>
              </p:cNvSpPr>
              <p:nvPr>
                <p:ph idx="1"/>
              </p:nvPr>
            </p:nvSpPr>
            <p:spPr>
              <a:blipFill>
                <a:blip r:embed="rId2"/>
                <a:stretch>
                  <a:fillRect l="-2087" t="-3922" r="-2029"/>
                </a:stretch>
              </a:blipFill>
            </p:spPr>
            <p:txBody>
              <a:bodyPr/>
              <a:lstStyle/>
              <a:p>
                <a:r>
                  <a:rPr lang="en-US">
                    <a:noFill/>
                  </a:rPr>
                  <a:t> </a:t>
                </a:r>
              </a:p>
            </p:txBody>
          </p:sp>
        </mc:Fallback>
      </mc:AlternateContent>
    </p:spTree>
    <p:extLst>
      <p:ext uri="{BB962C8B-B14F-4D97-AF65-F5344CB8AC3E}">
        <p14:creationId xmlns:p14="http://schemas.microsoft.com/office/powerpoint/2010/main" val="8387450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29D263-D8A5-4E6B-9F94-B0300BC8FEBB}"/>
              </a:ext>
            </a:extLst>
          </p:cNvPr>
          <p:cNvSpPr>
            <a:spLocks noGrp="1"/>
          </p:cNvSpPr>
          <p:nvPr>
            <p:ph type="title"/>
          </p:nvPr>
        </p:nvSpPr>
        <p:spPr>
          <a:xfrm>
            <a:off x="0" y="42262"/>
            <a:ext cx="12192000" cy="1325563"/>
          </a:xfrm>
        </p:spPr>
        <p:txBody>
          <a:bodyPr/>
          <a:lstStyle/>
          <a:p>
            <a:r>
              <a:rPr lang="en-US" dirty="0" err="1"/>
              <a:t>đồ</a:t>
            </a:r>
            <a:r>
              <a:rPr lang="en-US" dirty="0"/>
              <a:t> </a:t>
            </a:r>
            <a:r>
              <a:rPr lang="en-US" dirty="0" err="1"/>
              <a:t>thị</a:t>
            </a:r>
            <a:r>
              <a:rPr lang="en-US" dirty="0"/>
              <a:t> </a:t>
            </a:r>
            <a:r>
              <a:rPr lang="en-US" dirty="0" err="1"/>
              <a:t>của</a:t>
            </a:r>
            <a:r>
              <a:rPr lang="en-US" dirty="0"/>
              <a:t> </a:t>
            </a:r>
            <a:r>
              <a:rPr lang="en-US" dirty="0" err="1"/>
              <a:t>dòng</a:t>
            </a:r>
            <a:r>
              <a:rPr lang="en-US" dirty="0"/>
              <a:t> </a:t>
            </a:r>
            <a:r>
              <a:rPr lang="en-US" dirty="0" err="1"/>
              <a:t>điện</a:t>
            </a:r>
            <a:r>
              <a:rPr lang="en-US" dirty="0"/>
              <a:t> </a:t>
            </a:r>
            <a:r>
              <a:rPr lang="en-US" dirty="0" err="1"/>
              <a:t>theo</a:t>
            </a:r>
            <a:r>
              <a:rPr lang="en-US" dirty="0"/>
              <a:t> </a:t>
            </a:r>
            <a:r>
              <a:rPr lang="en-US" dirty="0" err="1"/>
              <a:t>thời</a:t>
            </a:r>
            <a:r>
              <a:rPr lang="en-US" dirty="0"/>
              <a:t> </a:t>
            </a:r>
            <a:r>
              <a:rPr lang="en-US" dirty="0" err="1"/>
              <a:t>gian</a:t>
            </a:r>
            <a:r>
              <a:rPr lang="en-US" dirty="0"/>
              <a:t> </a:t>
            </a:r>
            <a:r>
              <a:rPr lang="en-US" dirty="0" err="1"/>
              <a:t>trong</a:t>
            </a:r>
            <a:r>
              <a:rPr lang="en-US" dirty="0"/>
              <a:t> </a:t>
            </a:r>
            <a:r>
              <a:rPr lang="en-US" dirty="0" err="1"/>
              <a:t>mạch</a:t>
            </a:r>
            <a:r>
              <a:rPr lang="en-US" dirty="0"/>
              <a:t> RL</a:t>
            </a:r>
          </a:p>
        </p:txBody>
      </p:sp>
      <p:pic>
        <p:nvPicPr>
          <p:cNvPr id="4" name="Content Placeholder 3">
            <a:extLst>
              <a:ext uri="{FF2B5EF4-FFF2-40B4-BE49-F238E27FC236}">
                <a16:creationId xmlns:a16="http://schemas.microsoft.com/office/drawing/2014/main" xmlns="" id="{E31985C4-E01A-49F0-B82F-FE60C9C83DC4}"/>
              </a:ext>
            </a:extLst>
          </p:cNvPr>
          <p:cNvPicPr>
            <a:picLocks noGrp="1" noChangeAspect="1"/>
          </p:cNvPicPr>
          <p:nvPr>
            <p:ph idx="1"/>
          </p:nvPr>
        </p:nvPicPr>
        <p:blipFill>
          <a:blip r:embed="rId3"/>
          <a:stretch>
            <a:fillRect/>
          </a:stretch>
        </p:blipFill>
        <p:spPr>
          <a:xfrm>
            <a:off x="673100" y="1196787"/>
            <a:ext cx="4597400" cy="5679142"/>
          </a:xfrm>
          <a:prstGeom prst="rect">
            <a:avLst/>
          </a:prstGeom>
        </p:spPr>
      </p:pic>
      <p:sp>
        <p:nvSpPr>
          <p:cNvPr id="5" name="Rectangle 2">
            <a:extLst>
              <a:ext uri="{FF2B5EF4-FFF2-40B4-BE49-F238E27FC236}">
                <a16:creationId xmlns:a16="http://schemas.microsoft.com/office/drawing/2014/main" xmlns="" id="{568DC1EE-EB1D-4EE5-B94E-BE516FB1A8E5}"/>
              </a:ext>
            </a:extLst>
          </p:cNvPr>
          <p:cNvSpPr>
            <a:spLocks noChangeArrowheads="1"/>
          </p:cNvSpPr>
          <p:nvPr/>
        </p:nvSpPr>
        <p:spPr bwMode="auto">
          <a:xfrm>
            <a:off x="7962900" y="999243"/>
            <a:ext cx="2135512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6" name="Object 5">
            <a:extLst>
              <a:ext uri="{FF2B5EF4-FFF2-40B4-BE49-F238E27FC236}">
                <a16:creationId xmlns:a16="http://schemas.microsoft.com/office/drawing/2014/main" xmlns="" id="{7187C3E6-37F2-4512-A64E-542B9ADC3289}"/>
              </a:ext>
            </a:extLst>
          </p:cNvPr>
          <p:cNvGraphicFramePr>
            <a:graphicFrameLocks noChangeAspect="1"/>
          </p:cNvGraphicFramePr>
          <p:nvPr>
            <p:extLst>
              <p:ext uri="{D42A27DB-BD31-4B8C-83A1-F6EECF244321}">
                <p14:modId xmlns:p14="http://schemas.microsoft.com/office/powerpoint/2010/main" val="1922367246"/>
              </p:ext>
            </p:extLst>
          </p:nvPr>
        </p:nvGraphicFramePr>
        <p:xfrm>
          <a:off x="6784738" y="1207808"/>
          <a:ext cx="4242544" cy="5607929"/>
        </p:xfrm>
        <a:graphic>
          <a:graphicData uri="http://schemas.openxmlformats.org/presentationml/2006/ole">
            <mc:AlternateContent xmlns:mc="http://schemas.openxmlformats.org/markup-compatibility/2006">
              <mc:Choice xmlns:v="urn:schemas-microsoft-com:vml" Requires="v">
                <p:oleObj spid="_x0000_s2105" name="Bitmap Image" r:id="rId4" imgW="2844946" imgH="3772094" progId="Paint.Picture">
                  <p:embed/>
                </p:oleObj>
              </mc:Choice>
              <mc:Fallback>
                <p:oleObj name="Bitmap Image" r:id="rId4" imgW="2844946" imgH="3772094"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4738" y="1207808"/>
                        <a:ext cx="4242544" cy="5607929"/>
                      </a:xfrm>
                      <a:prstGeom prst="rect">
                        <a:avLst/>
                      </a:prstGeom>
                      <a:noFill/>
                    </p:spPr>
                  </p:pic>
                </p:oleObj>
              </mc:Fallback>
            </mc:AlternateContent>
          </a:graphicData>
        </a:graphic>
      </p:graphicFrame>
    </p:spTree>
    <p:extLst>
      <p:ext uri="{BB962C8B-B14F-4D97-AF65-F5344CB8AC3E}">
        <p14:creationId xmlns:p14="http://schemas.microsoft.com/office/powerpoint/2010/main" val="7130698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937F7BCE-5EE9-45BD-BC62-283C70836D83}"/>
              </a:ext>
            </a:extLst>
          </p:cNvPr>
          <p:cNvPicPr>
            <a:picLocks noGrp="1" noChangeAspect="1"/>
          </p:cNvPicPr>
          <p:nvPr>
            <p:ph idx="1"/>
          </p:nvPr>
        </p:nvPicPr>
        <p:blipFill>
          <a:blip r:embed="rId2"/>
          <a:stretch>
            <a:fillRect/>
          </a:stretch>
        </p:blipFill>
        <p:spPr>
          <a:xfrm>
            <a:off x="8257668" y="229029"/>
            <a:ext cx="3324908" cy="2396736"/>
          </a:xfrm>
          <a:prstGeom prst="rect">
            <a:avLst/>
          </a:prstGeom>
        </p:spPr>
      </p:pic>
      <p:pic>
        <p:nvPicPr>
          <p:cNvPr id="4" name="Picture 3">
            <a:extLst>
              <a:ext uri="{FF2B5EF4-FFF2-40B4-BE49-F238E27FC236}">
                <a16:creationId xmlns:a16="http://schemas.microsoft.com/office/drawing/2014/main" xmlns="" id="{9F3538AC-7AE0-4B2E-AE4B-17B88AFAFB33}"/>
              </a:ext>
            </a:extLst>
          </p:cNvPr>
          <p:cNvPicPr>
            <a:picLocks noChangeAspect="1"/>
          </p:cNvPicPr>
          <p:nvPr/>
        </p:nvPicPr>
        <p:blipFill>
          <a:blip r:embed="rId3"/>
          <a:stretch>
            <a:fillRect/>
          </a:stretch>
        </p:blipFill>
        <p:spPr>
          <a:xfrm>
            <a:off x="1760032" y="1739329"/>
            <a:ext cx="4348601" cy="2675355"/>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3AF1F4CC-D423-48C1-AB1B-79D328C4A0F2}"/>
                  </a:ext>
                </a:extLst>
              </p:cNvPr>
              <p:cNvSpPr/>
              <p:nvPr/>
            </p:nvSpPr>
            <p:spPr>
              <a:xfrm>
                <a:off x="152399" y="229029"/>
                <a:ext cx="7470775" cy="1959191"/>
              </a:xfrm>
              <a:prstGeom prst="rect">
                <a:avLst/>
              </a:prstGeom>
            </p:spPr>
            <p:txBody>
              <a:bodyPr wrap="square">
                <a:spAutoFit/>
              </a:bodyPr>
              <a:lstStyle/>
              <a:p>
                <a:pPr algn="just"/>
                <a:r>
                  <a:rPr lang="en-US" sz="2800" dirty="0"/>
                  <a:t>Giả </a:t>
                </a:r>
                <a:r>
                  <a:rPr lang="en-US" sz="2800" dirty="0" err="1"/>
                  <a:t>sử</a:t>
                </a:r>
                <a:r>
                  <a:rPr lang="en-US" sz="2800" dirty="0"/>
                  <a:t> </a:t>
                </a:r>
                <a:r>
                  <a:rPr lang="en-US" sz="2800" dirty="0" err="1"/>
                  <a:t>khóa</a:t>
                </a:r>
                <a:r>
                  <a:rPr lang="en-US" sz="2800" dirty="0"/>
                  <a:t> S</a:t>
                </a:r>
                <a:r>
                  <a:rPr lang="en-US" sz="2800" baseline="-25000" dirty="0"/>
                  <a:t>2</a:t>
                </a:r>
                <a:r>
                  <a:rPr lang="en-US" sz="2800" dirty="0"/>
                  <a:t> </a:t>
                </a:r>
                <a:r>
                  <a:rPr lang="en-US" sz="2800" dirty="0" err="1"/>
                  <a:t>đã</a:t>
                </a:r>
                <a:r>
                  <a:rPr lang="en-US" sz="2800" dirty="0"/>
                  <a:t> </a:t>
                </a:r>
                <a:r>
                  <a:rPr lang="en-US" sz="2800" dirty="0" err="1"/>
                  <a:t>được</a:t>
                </a:r>
                <a:r>
                  <a:rPr lang="en-US" sz="2800" dirty="0"/>
                  <a:t> </a:t>
                </a:r>
                <a:r>
                  <a:rPr lang="en-US" sz="2800" dirty="0" err="1"/>
                  <a:t>đặt</a:t>
                </a:r>
                <a:r>
                  <a:rPr lang="en-US" sz="2800" dirty="0"/>
                  <a:t> </a:t>
                </a:r>
                <a:r>
                  <a:rPr lang="en-US" sz="2800" dirty="0" err="1"/>
                  <a:t>tại</a:t>
                </a:r>
                <a:r>
                  <a:rPr lang="en-US" sz="2800" dirty="0"/>
                  <a:t> </a:t>
                </a:r>
                <a:r>
                  <a:rPr lang="en-US" sz="2800" dirty="0" err="1"/>
                  <a:t>vị</a:t>
                </a:r>
                <a:r>
                  <a:rPr lang="en-US" sz="2800" dirty="0"/>
                  <a:t> </a:t>
                </a:r>
                <a:r>
                  <a:rPr lang="en-US" sz="2800" dirty="0" err="1"/>
                  <a:t>trí</a:t>
                </a:r>
                <a:r>
                  <a:rPr lang="en-US" sz="2800" dirty="0"/>
                  <a:t> a </a:t>
                </a:r>
                <a:r>
                  <a:rPr lang="en-US" sz="2800" dirty="0" err="1"/>
                  <a:t>đủ</a:t>
                </a:r>
                <a:r>
                  <a:rPr lang="en-US" sz="2800" dirty="0"/>
                  <a:t> </a:t>
                </a:r>
                <a:r>
                  <a:rPr lang="en-US" sz="2800" dirty="0" err="1"/>
                  <a:t>lâu</a:t>
                </a:r>
                <a:r>
                  <a:rPr lang="en-US" sz="2800" dirty="0"/>
                  <a:t> (</a:t>
                </a:r>
                <a:r>
                  <a:rPr lang="en-US" sz="2800" dirty="0" err="1"/>
                  <a:t>và</a:t>
                </a:r>
                <a:r>
                  <a:rPr lang="en-US" sz="2800" dirty="0"/>
                  <a:t> </a:t>
                </a:r>
                <a:r>
                  <a:rPr lang="en-US" sz="2800" dirty="0" err="1"/>
                  <a:t>khóa</a:t>
                </a:r>
                <a:r>
                  <a:rPr lang="en-US" sz="2800" dirty="0"/>
                  <a:t> S</a:t>
                </a:r>
                <a:r>
                  <a:rPr lang="en-US" sz="2800" baseline="-25000" dirty="0"/>
                  <a:t>1</a:t>
                </a:r>
                <a:r>
                  <a:rPr lang="en-US" sz="2800" dirty="0"/>
                  <a:t> </a:t>
                </a:r>
                <a:r>
                  <a:rPr lang="en-US" sz="2800" dirty="0" err="1"/>
                  <a:t>vẫn</a:t>
                </a:r>
                <a:r>
                  <a:rPr lang="en-US" sz="2800" dirty="0"/>
                  <a:t> </a:t>
                </a:r>
                <a:r>
                  <a:rPr lang="en-US" sz="2800" dirty="0" err="1"/>
                  <a:t>còn</a:t>
                </a:r>
                <a:r>
                  <a:rPr lang="en-US" sz="2800" dirty="0"/>
                  <a:t> </a:t>
                </a:r>
                <a:r>
                  <a:rPr lang="en-US" sz="2800" dirty="0" err="1"/>
                  <a:t>đóng</a:t>
                </a:r>
                <a:r>
                  <a:rPr lang="en-US" sz="2800" dirty="0"/>
                  <a:t>) </a:t>
                </a:r>
                <a:r>
                  <a:rPr lang="en-US" sz="2800" dirty="0" err="1"/>
                  <a:t>để</a:t>
                </a:r>
                <a:r>
                  <a:rPr lang="en-US" sz="2800" dirty="0"/>
                  <a:t> </a:t>
                </a:r>
                <a:r>
                  <a:rPr lang="en-US" sz="2800" dirty="0" err="1"/>
                  <a:t>cho</a:t>
                </a:r>
                <a:r>
                  <a:rPr lang="en-US" sz="2800" dirty="0"/>
                  <a:t> </a:t>
                </a:r>
                <a:r>
                  <a:rPr lang="en-US" sz="2800" dirty="0" err="1"/>
                  <a:t>phép</a:t>
                </a:r>
                <a:r>
                  <a:rPr lang="en-US" sz="2800" dirty="0"/>
                  <a:t> </a:t>
                </a:r>
                <a:r>
                  <a:rPr lang="en-US" sz="2800" dirty="0" err="1"/>
                  <a:t>dòng</a:t>
                </a:r>
                <a:r>
                  <a:rPr lang="en-US" sz="2800" dirty="0"/>
                  <a:t> </a:t>
                </a:r>
                <a:r>
                  <a:rPr lang="en-US" sz="2800" dirty="0" err="1"/>
                  <a:t>điện</a:t>
                </a:r>
                <a:r>
                  <a:rPr lang="en-US" sz="2800" dirty="0"/>
                  <a:t> </a:t>
                </a:r>
                <a:r>
                  <a:rPr lang="en-US" sz="2800" dirty="0" err="1"/>
                  <a:t>đạt</a:t>
                </a:r>
                <a:r>
                  <a:rPr lang="en-US" sz="2800" dirty="0"/>
                  <a:t> tới </a:t>
                </a:r>
                <a:r>
                  <a:rPr lang="en-US" sz="2800" dirty="0" err="1"/>
                  <a:t>giá</a:t>
                </a:r>
                <a:r>
                  <a:rPr lang="en-US" sz="2800" dirty="0"/>
                  <a:t> </a:t>
                </a:r>
                <a:r>
                  <a:rPr lang="en-US" sz="2800" dirty="0" err="1"/>
                  <a:t>trị</a:t>
                </a:r>
                <a:r>
                  <a:rPr lang="en-US" sz="2800" dirty="0"/>
                  <a:t> </a:t>
                </a:r>
                <a:r>
                  <a:rPr lang="en-US" sz="2800" dirty="0" err="1"/>
                  <a:t>cân</a:t>
                </a:r>
                <a:r>
                  <a:rPr lang="en-US" sz="2800" dirty="0"/>
                  <a:t> </a:t>
                </a:r>
                <a:r>
                  <a:rPr lang="en-US" sz="2800" dirty="0" err="1"/>
                  <a:t>bằng</a:t>
                </a:r>
                <a:r>
                  <a:rPr lang="en-US" sz="2800" dirty="0"/>
                  <a:t> </a:t>
                </a:r>
                <a14:m>
                  <m:oMath xmlns:m="http://schemas.openxmlformats.org/officeDocument/2006/math">
                    <m:f>
                      <m:fPr>
                        <m:ctrlPr>
                          <a:rPr lang="en-US" sz="2800" i="1">
                            <a:latin typeface="Cambria Math"/>
                          </a:rPr>
                        </m:ctrlPr>
                      </m:fPr>
                      <m:num>
                        <m:r>
                          <a:rPr lang="en-US" sz="2800" i="1">
                            <a:latin typeface="Cambria Math" panose="02040503050406030204" pitchFamily="18" charset="0"/>
                            <a:ea typeface="Cambria Math" panose="02040503050406030204" pitchFamily="18" charset="0"/>
                          </a:rPr>
                          <m:t>𝜀</m:t>
                        </m:r>
                      </m:num>
                      <m:den>
                        <m:r>
                          <a:rPr lang="en-US" sz="2800" i="1">
                            <a:latin typeface="Cambria Math" panose="02040503050406030204" pitchFamily="18" charset="0"/>
                          </a:rPr>
                          <m:t>𝑅</m:t>
                        </m:r>
                      </m:den>
                    </m:f>
                  </m:oMath>
                </a14:m>
                <a:r>
                  <a:rPr lang="en-US" sz="2800" dirty="0"/>
                  <a:t>. Nếu S</a:t>
                </a:r>
                <a:r>
                  <a:rPr lang="en-US" sz="2800" baseline="-25000" dirty="0"/>
                  <a:t>2</a:t>
                </a:r>
                <a:r>
                  <a:rPr lang="en-US" sz="2800" dirty="0"/>
                  <a:t> </a:t>
                </a:r>
                <a:r>
                  <a:rPr lang="en-US" sz="2800" dirty="0" err="1"/>
                  <a:t>được</a:t>
                </a:r>
                <a:r>
                  <a:rPr lang="en-US" sz="2800" dirty="0"/>
                  <a:t> </a:t>
                </a:r>
                <a:r>
                  <a:rPr lang="en-US" sz="2800" dirty="0" err="1"/>
                  <a:t>chuyển</a:t>
                </a:r>
                <a:r>
                  <a:rPr lang="en-US" sz="2800" dirty="0"/>
                  <a:t> </a:t>
                </a:r>
                <a:r>
                  <a:rPr lang="en-US" sz="2800" dirty="0" err="1"/>
                  <a:t>từ</a:t>
                </a:r>
                <a:r>
                  <a:rPr lang="en-US" sz="2800" dirty="0"/>
                  <a:t> a sang b</a:t>
                </a:r>
              </a:p>
            </p:txBody>
          </p:sp>
        </mc:Choice>
        <mc:Fallback xmlns="">
          <p:sp>
            <p:nvSpPr>
              <p:cNvPr id="7" name="Rectangle 6">
                <a:extLst>
                  <a:ext uri="{FF2B5EF4-FFF2-40B4-BE49-F238E27FC236}">
                    <a16:creationId xmlns:a16="http://schemas.microsoft.com/office/drawing/2014/main" id="{3AF1F4CC-D423-48C1-AB1B-79D328C4A0F2}"/>
                  </a:ext>
                </a:extLst>
              </p:cNvPr>
              <p:cNvSpPr>
                <a:spLocks noRot="1" noChangeAspect="1" noMove="1" noResize="1" noEditPoints="1" noAdjustHandles="1" noChangeArrowheads="1" noChangeShapeType="1" noTextEdit="1"/>
              </p:cNvSpPr>
              <p:nvPr/>
            </p:nvSpPr>
            <p:spPr>
              <a:xfrm>
                <a:off x="152399" y="229029"/>
                <a:ext cx="7470775" cy="1959191"/>
              </a:xfrm>
              <a:prstGeom prst="rect">
                <a:avLst/>
              </a:prstGeom>
              <a:blipFill>
                <a:blip r:embed="rId4"/>
                <a:stretch>
                  <a:fillRect l="-1631" t="-3115" r="-1550" b="-81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11E1911A-3233-4217-9F10-BEF5578B6DBB}"/>
                  </a:ext>
                </a:extLst>
              </p:cNvPr>
              <p:cNvSpPr/>
              <p:nvPr/>
            </p:nvSpPr>
            <p:spPr>
              <a:xfrm>
                <a:off x="432318" y="4857359"/>
                <a:ext cx="7470775" cy="2041328"/>
              </a:xfrm>
              <a:prstGeom prst="rect">
                <a:avLst/>
              </a:prstGeom>
            </p:spPr>
            <p:txBody>
              <a:bodyPr wrap="square">
                <a:spAutoFit/>
              </a:bodyPr>
              <a:lstStyle/>
              <a:p>
                <a:r>
                  <a:rPr lang="vi-VN" sz="2400" dirty="0"/>
                  <a:t>Dòng điện </a:t>
                </a:r>
                <a:r>
                  <a:rPr lang="en-US" sz="2400" dirty="0"/>
                  <a:t>qua </a:t>
                </a:r>
                <a:r>
                  <a:rPr lang="en-US" sz="2400" dirty="0" err="1"/>
                  <a:t>mạch</a:t>
                </a:r>
                <a:r>
                  <a:rPr lang="en-US" sz="2400" dirty="0"/>
                  <a:t> RL:</a:t>
                </a:r>
              </a:p>
              <a:p>
                <a:pPr/>
                <a14:m>
                  <m:oMathPara xmlns:m="http://schemas.openxmlformats.org/officeDocument/2006/math">
                    <m:oMathParaPr>
                      <m:jc m:val="centerGroup"/>
                    </m:oMathParaPr>
                    <m:oMath xmlns:m="http://schemas.openxmlformats.org/officeDocument/2006/math">
                      <m:r>
                        <m:rPr>
                          <m:sty m:val="p"/>
                        </m:rPr>
                        <a:rPr lang="en-US" sz="3200">
                          <a:solidFill>
                            <a:srgbClr val="FF0000"/>
                          </a:solidFill>
                          <a:latin typeface="Cambria Math" panose="02040503050406030204" pitchFamily="18" charset="0"/>
                        </a:rPr>
                        <m:t>i</m:t>
                      </m:r>
                      <m:r>
                        <a:rPr lang="en-US" sz="3200">
                          <a:solidFill>
                            <a:srgbClr val="FF0000"/>
                          </a:solidFill>
                          <a:latin typeface="Cambria Math" panose="02040503050406030204" pitchFamily="18" charset="0"/>
                        </a:rPr>
                        <m:t>=</m:t>
                      </m:r>
                      <m:f>
                        <m:fPr>
                          <m:ctrlPr>
                            <a:rPr lang="en-US" sz="3200" i="1">
                              <a:solidFill>
                                <a:srgbClr val="FF0000"/>
                              </a:solidFill>
                              <a:latin typeface="Cambria Math"/>
                            </a:rPr>
                          </m:ctrlPr>
                        </m:fPr>
                        <m:num>
                          <m:r>
                            <m:rPr>
                              <m:sty m:val="p"/>
                            </m:rPr>
                            <a:rPr lang="en-US" sz="3200">
                              <a:solidFill>
                                <a:srgbClr val="FF0000"/>
                              </a:solidFill>
                              <a:latin typeface="Cambria Math" panose="02040503050406030204" pitchFamily="18" charset="0"/>
                              <a:ea typeface="Cambria Math" panose="02040503050406030204" pitchFamily="18" charset="0"/>
                            </a:rPr>
                            <m:t>ε</m:t>
                          </m:r>
                        </m:num>
                        <m:den>
                          <m:r>
                            <m:rPr>
                              <m:sty m:val="p"/>
                            </m:rPr>
                            <a:rPr lang="en-US" sz="3200">
                              <a:solidFill>
                                <a:srgbClr val="FF0000"/>
                              </a:solidFill>
                              <a:latin typeface="Cambria Math" panose="02040503050406030204" pitchFamily="18" charset="0"/>
                            </a:rPr>
                            <m:t>R</m:t>
                          </m:r>
                        </m:den>
                      </m:f>
                      <m:d>
                        <m:dPr>
                          <m:ctrlPr>
                            <a:rPr lang="en-US" sz="3200" i="1">
                              <a:solidFill>
                                <a:srgbClr val="FF0000"/>
                              </a:solidFill>
                              <a:latin typeface="Cambria Math"/>
                            </a:rPr>
                          </m:ctrlPr>
                        </m:dPr>
                        <m:e>
                          <m:sSup>
                            <m:sSupPr>
                              <m:ctrlPr>
                                <a:rPr lang="en-US" sz="3200" i="1">
                                  <a:solidFill>
                                    <a:srgbClr val="FF0000"/>
                                  </a:solidFill>
                                  <a:latin typeface="Cambria Math"/>
                                </a:rPr>
                              </m:ctrlPr>
                            </m:sSupPr>
                            <m:e>
                              <m:r>
                                <m:rPr>
                                  <m:sty m:val="p"/>
                                </m:rPr>
                                <a:rPr lang="en-US" sz="3200">
                                  <a:solidFill>
                                    <a:srgbClr val="FF0000"/>
                                  </a:solidFill>
                                  <a:latin typeface="Cambria Math" panose="02040503050406030204" pitchFamily="18" charset="0"/>
                                </a:rPr>
                                <m:t>e</m:t>
                              </m:r>
                            </m:e>
                            <m:sup>
                              <m:f>
                                <m:fPr>
                                  <m:type m:val="lin"/>
                                  <m:ctrlPr>
                                    <a:rPr lang="en-US" sz="3200" i="1">
                                      <a:solidFill>
                                        <a:srgbClr val="FF0000"/>
                                      </a:solidFill>
                                      <a:latin typeface="Cambria Math"/>
                                    </a:rPr>
                                  </m:ctrlPr>
                                </m:fPr>
                                <m:num>
                                  <m:r>
                                    <a:rPr lang="en-US" sz="3200">
                                      <a:solidFill>
                                        <a:srgbClr val="FF0000"/>
                                      </a:solidFill>
                                      <a:latin typeface="Cambria Math" panose="02040503050406030204" pitchFamily="18" charset="0"/>
                                    </a:rPr>
                                    <m:t>−</m:t>
                                  </m:r>
                                  <m:r>
                                    <m:rPr>
                                      <m:sty m:val="p"/>
                                    </m:rPr>
                                    <a:rPr lang="en-US" sz="3200">
                                      <a:solidFill>
                                        <a:srgbClr val="FF0000"/>
                                      </a:solidFill>
                                      <a:latin typeface="Cambria Math" panose="02040503050406030204" pitchFamily="18" charset="0"/>
                                    </a:rPr>
                                    <m:t>t</m:t>
                                  </m:r>
                                </m:num>
                                <m:den>
                                  <m:r>
                                    <m:rPr>
                                      <m:sty m:val="p"/>
                                    </m:rPr>
                                    <a:rPr lang="en-US" sz="3200">
                                      <a:solidFill>
                                        <a:srgbClr val="FF0000"/>
                                      </a:solidFill>
                                      <a:latin typeface="Cambria Math" panose="02040503050406030204" pitchFamily="18" charset="0"/>
                                      <a:ea typeface="Cambria Math" panose="02040503050406030204" pitchFamily="18" charset="0"/>
                                    </a:rPr>
                                    <m:t>τ</m:t>
                                  </m:r>
                                </m:den>
                              </m:f>
                            </m:sup>
                          </m:sSup>
                        </m:e>
                      </m:d>
                      <m:r>
                        <a:rPr lang="en-US" sz="3200">
                          <a:solidFill>
                            <a:srgbClr val="FF0000"/>
                          </a:solidFill>
                          <a:latin typeface="Cambria Math" panose="02040503050406030204" pitchFamily="18" charset="0"/>
                          <a:ea typeface="Cambria Math" panose="02040503050406030204" pitchFamily="18" charset="0"/>
                        </a:rPr>
                        <m:t>=</m:t>
                      </m:r>
                      <m:sSub>
                        <m:sSubPr>
                          <m:ctrlPr>
                            <a:rPr lang="en-US" sz="3200" i="1">
                              <a:solidFill>
                                <a:srgbClr val="FF0000"/>
                              </a:solidFill>
                              <a:latin typeface="Cambria Math"/>
                              <a:ea typeface="Cambria Math" panose="02040503050406030204" pitchFamily="18" charset="0"/>
                            </a:rPr>
                          </m:ctrlPr>
                        </m:sSubPr>
                        <m:e>
                          <m:r>
                            <m:rPr>
                              <m:sty m:val="p"/>
                            </m:rPr>
                            <a:rPr lang="en-US" sz="3200">
                              <a:solidFill>
                                <a:srgbClr val="FF0000"/>
                              </a:solidFill>
                              <a:latin typeface="Cambria Math" panose="02040503050406030204" pitchFamily="18" charset="0"/>
                              <a:ea typeface="Cambria Math" panose="02040503050406030204" pitchFamily="18" charset="0"/>
                            </a:rPr>
                            <m:t>I</m:t>
                          </m:r>
                        </m:e>
                        <m:sub>
                          <m:r>
                            <m:rPr>
                              <m:sty m:val="p"/>
                            </m:rPr>
                            <a:rPr lang="en-US" sz="3200">
                              <a:solidFill>
                                <a:srgbClr val="FF0000"/>
                              </a:solidFill>
                              <a:latin typeface="Cambria Math" panose="02040503050406030204" pitchFamily="18" charset="0"/>
                              <a:ea typeface="Cambria Math" panose="02040503050406030204" pitchFamily="18" charset="0"/>
                            </a:rPr>
                            <m:t>i</m:t>
                          </m:r>
                        </m:sub>
                      </m:sSub>
                      <m:d>
                        <m:dPr>
                          <m:ctrlPr>
                            <a:rPr lang="en-US" sz="3200" i="1">
                              <a:solidFill>
                                <a:srgbClr val="FF0000"/>
                              </a:solidFill>
                              <a:latin typeface="Cambria Math"/>
                            </a:rPr>
                          </m:ctrlPr>
                        </m:dPr>
                        <m:e>
                          <m:sSup>
                            <m:sSupPr>
                              <m:ctrlPr>
                                <a:rPr lang="en-US" sz="3200" i="1">
                                  <a:solidFill>
                                    <a:srgbClr val="FF0000"/>
                                  </a:solidFill>
                                  <a:latin typeface="Cambria Math"/>
                                </a:rPr>
                              </m:ctrlPr>
                            </m:sSupPr>
                            <m:e>
                              <m:r>
                                <m:rPr>
                                  <m:sty m:val="p"/>
                                </m:rPr>
                                <a:rPr lang="en-US" sz="3200">
                                  <a:solidFill>
                                    <a:srgbClr val="FF0000"/>
                                  </a:solidFill>
                                  <a:latin typeface="Cambria Math" panose="02040503050406030204" pitchFamily="18" charset="0"/>
                                </a:rPr>
                                <m:t>e</m:t>
                              </m:r>
                            </m:e>
                            <m:sup>
                              <m:f>
                                <m:fPr>
                                  <m:type m:val="lin"/>
                                  <m:ctrlPr>
                                    <a:rPr lang="en-US" sz="3200" i="1">
                                      <a:solidFill>
                                        <a:srgbClr val="FF0000"/>
                                      </a:solidFill>
                                      <a:latin typeface="Cambria Math"/>
                                    </a:rPr>
                                  </m:ctrlPr>
                                </m:fPr>
                                <m:num>
                                  <m:r>
                                    <a:rPr lang="en-US" sz="3200">
                                      <a:solidFill>
                                        <a:srgbClr val="FF0000"/>
                                      </a:solidFill>
                                      <a:latin typeface="Cambria Math" panose="02040503050406030204" pitchFamily="18" charset="0"/>
                                    </a:rPr>
                                    <m:t>−</m:t>
                                  </m:r>
                                  <m:r>
                                    <m:rPr>
                                      <m:sty m:val="p"/>
                                    </m:rPr>
                                    <a:rPr lang="en-US" sz="3200">
                                      <a:solidFill>
                                        <a:srgbClr val="FF0000"/>
                                      </a:solidFill>
                                      <a:latin typeface="Cambria Math" panose="02040503050406030204" pitchFamily="18" charset="0"/>
                                    </a:rPr>
                                    <m:t>t</m:t>
                                  </m:r>
                                </m:num>
                                <m:den>
                                  <m:r>
                                    <m:rPr>
                                      <m:sty m:val="p"/>
                                    </m:rPr>
                                    <a:rPr lang="en-US" sz="3200">
                                      <a:solidFill>
                                        <a:srgbClr val="FF0000"/>
                                      </a:solidFill>
                                      <a:latin typeface="Cambria Math" panose="02040503050406030204" pitchFamily="18" charset="0"/>
                                      <a:ea typeface="Cambria Math" panose="02040503050406030204" pitchFamily="18" charset="0"/>
                                    </a:rPr>
                                    <m:t>τ</m:t>
                                  </m:r>
                                </m:den>
                              </m:f>
                            </m:sup>
                          </m:sSup>
                        </m:e>
                      </m:d>
                    </m:oMath>
                  </m:oMathPara>
                </a14:m>
                <a:endParaRPr lang="en-US" sz="3200" dirty="0">
                  <a:solidFill>
                    <a:srgbClr val="FF0000"/>
                  </a:solidFill>
                </a:endParaRPr>
              </a:p>
              <a:p>
                <a:endParaRPr lang="en-US" sz="24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a:ea typeface="Cambria Math" panose="02040503050406030204" pitchFamily="18" charset="0"/>
                            </a:rPr>
                          </m:ctrlPr>
                        </m:sSubPr>
                        <m:e>
                          <m:r>
                            <m:rPr>
                              <m:sty m:val="p"/>
                            </m:rPr>
                            <a:rPr lang="en-US" sz="2400">
                              <a:latin typeface="Cambria Math" panose="02040503050406030204" pitchFamily="18" charset="0"/>
                              <a:ea typeface="Cambria Math" panose="02040503050406030204" pitchFamily="18" charset="0"/>
                            </a:rPr>
                            <m:t>I</m:t>
                          </m:r>
                        </m:e>
                        <m:sub>
                          <m:r>
                            <m:rPr>
                              <m:sty m:val="p"/>
                            </m:rPr>
                            <a:rPr lang="en-US" sz="2400">
                              <a:latin typeface="Cambria Math" panose="02040503050406030204" pitchFamily="18" charset="0"/>
                              <a:ea typeface="Cambria Math" panose="02040503050406030204" pitchFamily="18" charset="0"/>
                            </a:rPr>
                            <m:t>i</m:t>
                          </m:r>
                        </m:sub>
                      </m:sSub>
                      <m:r>
                        <m:rPr>
                          <m:nor/>
                        </m:rPr>
                        <a:rPr lang="en-US" sz="2400" dirty="0"/>
                        <m:t>: </m:t>
                      </m:r>
                      <m:r>
                        <m:rPr>
                          <m:nor/>
                        </m:rPr>
                        <a:rPr lang="en-US" sz="2400" dirty="0" err="1"/>
                        <m:t>d</m:t>
                      </m:r>
                      <m:r>
                        <m:rPr>
                          <m:nor/>
                        </m:rPr>
                        <a:rPr lang="en-US" sz="2400" dirty="0" err="1"/>
                        <m:t>ò</m:t>
                      </m:r>
                      <m:r>
                        <m:rPr>
                          <m:nor/>
                        </m:rPr>
                        <a:rPr lang="en-US" sz="2400" dirty="0" err="1"/>
                        <m:t>ng</m:t>
                      </m:r>
                      <m:r>
                        <m:rPr>
                          <m:nor/>
                        </m:rPr>
                        <a:rPr lang="en-US" sz="2400" dirty="0"/>
                        <m:t> </m:t>
                      </m:r>
                      <m:r>
                        <m:rPr>
                          <m:nor/>
                        </m:rPr>
                        <a:rPr lang="en-US" sz="2400" dirty="0" err="1"/>
                        <m:t>đ</m:t>
                      </m:r>
                      <m:r>
                        <m:rPr>
                          <m:nor/>
                        </m:rPr>
                        <a:rPr lang="en-US" sz="2400" dirty="0" err="1"/>
                        <m:t>i</m:t>
                      </m:r>
                      <m:r>
                        <m:rPr>
                          <m:nor/>
                        </m:rPr>
                        <a:rPr lang="en-US" sz="2400" dirty="0" err="1"/>
                        <m:t>ệ</m:t>
                      </m:r>
                      <m:r>
                        <m:rPr>
                          <m:nor/>
                        </m:rPr>
                        <a:rPr lang="en-US" sz="2400" dirty="0" err="1"/>
                        <m:t>n</m:t>
                      </m:r>
                      <m:r>
                        <m:rPr>
                          <m:nor/>
                        </m:rPr>
                        <a:rPr lang="en-US" sz="2400" dirty="0"/>
                        <m:t> </m:t>
                      </m:r>
                      <m:r>
                        <m:rPr>
                          <m:nor/>
                        </m:rPr>
                        <a:rPr lang="en-US" sz="2400" dirty="0"/>
                        <m:t>ban</m:t>
                      </m:r>
                      <m:r>
                        <m:rPr>
                          <m:nor/>
                        </m:rPr>
                        <a:rPr lang="en-US" sz="2400" dirty="0"/>
                        <m:t> đầ</m:t>
                      </m:r>
                      <m:r>
                        <m:rPr>
                          <m:nor/>
                        </m:rPr>
                        <a:rPr lang="en-US" sz="2400" dirty="0" err="1"/>
                        <m:t>u</m:t>
                      </m:r>
                      <m:r>
                        <m:rPr>
                          <m:nor/>
                        </m:rPr>
                        <a:rPr lang="en-US" sz="2400" dirty="0"/>
                        <m:t> </m:t>
                      </m:r>
                      <m:r>
                        <m:rPr>
                          <m:nor/>
                        </m:rPr>
                        <a:rPr lang="en-US" sz="2400" dirty="0" err="1"/>
                        <m:t>t</m:t>
                      </m:r>
                      <m:r>
                        <m:rPr>
                          <m:nor/>
                        </m:rPr>
                        <a:rPr lang="en-US" sz="2400" dirty="0" err="1"/>
                        <m:t>ạ</m:t>
                      </m:r>
                      <m:r>
                        <m:rPr>
                          <m:nor/>
                        </m:rPr>
                        <a:rPr lang="en-US" sz="2400" dirty="0" err="1"/>
                        <m:t>i</m:t>
                      </m:r>
                      <m:r>
                        <m:rPr>
                          <m:nor/>
                        </m:rPr>
                        <a:rPr lang="en-US" sz="2400" dirty="0"/>
                        <m:t> </m:t>
                      </m:r>
                      <m:r>
                        <m:rPr>
                          <m:nor/>
                        </m:rPr>
                        <a:rPr lang="en-US" sz="2400" dirty="0" err="1"/>
                        <m:t>th</m:t>
                      </m:r>
                      <m:r>
                        <m:rPr>
                          <m:nor/>
                        </m:rPr>
                        <a:rPr lang="en-US" sz="2400" dirty="0" err="1"/>
                        <m:t>ờ</m:t>
                      </m:r>
                      <m:r>
                        <m:rPr>
                          <m:nor/>
                        </m:rPr>
                        <a:rPr lang="en-US" sz="2400" dirty="0" err="1"/>
                        <m:t>i</m:t>
                      </m:r>
                      <m:r>
                        <m:rPr>
                          <m:nor/>
                        </m:rPr>
                        <a:rPr lang="en-US" sz="2400" dirty="0"/>
                        <m:t> </m:t>
                      </m:r>
                      <m:r>
                        <m:rPr>
                          <m:nor/>
                        </m:rPr>
                        <a:rPr lang="en-US" sz="2400" dirty="0" err="1"/>
                        <m:t>đ</m:t>
                      </m:r>
                      <m:r>
                        <m:rPr>
                          <m:nor/>
                        </m:rPr>
                        <a:rPr lang="en-US" sz="2400" dirty="0" err="1"/>
                        <m:t>i</m:t>
                      </m:r>
                      <m:r>
                        <m:rPr>
                          <m:nor/>
                        </m:rPr>
                        <a:rPr lang="en-US" sz="2400" dirty="0" err="1"/>
                        <m:t>ể</m:t>
                      </m:r>
                      <m:r>
                        <m:rPr>
                          <m:nor/>
                        </m:rPr>
                        <a:rPr lang="en-US" sz="2400" dirty="0" err="1"/>
                        <m:t>m</m:t>
                      </m:r>
                      <m:r>
                        <m:rPr>
                          <m:nor/>
                        </m:rPr>
                        <a:rPr lang="en-US" sz="2400" dirty="0"/>
                        <m:t> </m:t>
                      </m:r>
                      <m:r>
                        <m:rPr>
                          <m:nor/>
                        </m:rPr>
                        <a:rPr lang="en-US" sz="2400" dirty="0" err="1"/>
                        <m:t>kh</m:t>
                      </m:r>
                      <m:r>
                        <m:rPr>
                          <m:nor/>
                        </m:rPr>
                        <a:rPr lang="en-US" sz="2400" dirty="0" err="1"/>
                        <m:t>ó</m:t>
                      </m:r>
                      <m:r>
                        <m:rPr>
                          <m:nor/>
                        </m:rPr>
                        <a:rPr lang="en-US" sz="2400" dirty="0" err="1"/>
                        <m:t>a</m:t>
                      </m:r>
                      <m:r>
                        <m:rPr>
                          <m:nor/>
                        </m:rPr>
                        <a:rPr lang="en-US" sz="2400" dirty="0"/>
                        <m:t> </m:t>
                      </m:r>
                      <m:r>
                        <m:rPr>
                          <m:nor/>
                        </m:rPr>
                        <a:rPr lang="en-US" sz="2400" dirty="0"/>
                        <m:t>S</m:t>
                      </m:r>
                      <m:r>
                        <m:rPr>
                          <m:nor/>
                        </m:rPr>
                        <a:rPr lang="en-US" sz="2400" baseline="-25000" dirty="0"/>
                        <m:t>2</m:t>
                      </m:r>
                      <m:r>
                        <m:rPr>
                          <m:nor/>
                        </m:rPr>
                        <a:rPr lang="en-US" sz="2400" dirty="0"/>
                        <m:t> </m:t>
                      </m:r>
                      <m:r>
                        <m:rPr>
                          <m:nor/>
                        </m:rPr>
                        <a:rPr lang="en-US" sz="2400" dirty="0" err="1"/>
                        <m:t>đượ</m:t>
                      </m:r>
                      <m:r>
                        <m:rPr>
                          <m:nor/>
                        </m:rPr>
                        <a:rPr lang="en-US" sz="2400" dirty="0" err="1"/>
                        <m:t>c</m:t>
                      </m:r>
                      <m:r>
                        <m:rPr>
                          <m:nor/>
                        </m:rPr>
                        <a:rPr lang="en-US" sz="2400" dirty="0"/>
                        <m:t> </m:t>
                      </m:r>
                      <m:r>
                        <m:rPr>
                          <m:nor/>
                        </m:rPr>
                        <a:rPr lang="en-US" sz="2400" dirty="0" err="1"/>
                        <m:t>đặ</m:t>
                      </m:r>
                      <m:r>
                        <m:rPr>
                          <m:nor/>
                        </m:rPr>
                        <a:rPr lang="en-US" sz="2400" dirty="0" err="1"/>
                        <m:t>t</m:t>
                      </m:r>
                      <m:r>
                        <m:rPr>
                          <m:nor/>
                        </m:rPr>
                        <a:rPr lang="en-US" sz="2400" dirty="0"/>
                        <m:t> </m:t>
                      </m:r>
                      <m:r>
                        <m:rPr>
                          <m:nor/>
                        </m:rPr>
                        <a:rPr lang="en-US" sz="2400" dirty="0" err="1"/>
                        <m:t>t</m:t>
                      </m:r>
                      <m:r>
                        <m:rPr>
                          <m:nor/>
                        </m:rPr>
                        <a:rPr lang="en-US" sz="2400" dirty="0" err="1"/>
                        <m:t>ạ</m:t>
                      </m:r>
                      <m:r>
                        <m:rPr>
                          <m:nor/>
                        </m:rPr>
                        <a:rPr lang="en-US" sz="2400" dirty="0" err="1"/>
                        <m:t>i</m:t>
                      </m:r>
                      <m:r>
                        <m:rPr>
                          <m:nor/>
                        </m:rPr>
                        <a:rPr lang="en-US" sz="2400" dirty="0"/>
                        <m:t> </m:t>
                      </m:r>
                      <m:r>
                        <m:rPr>
                          <m:nor/>
                        </m:rPr>
                        <a:rPr lang="en-US" sz="2400" dirty="0"/>
                        <m:t>b</m:t>
                      </m:r>
                    </m:oMath>
                  </m:oMathPara>
                </a14:m>
                <a:endParaRPr lang="en-US" sz="2400" dirty="0"/>
              </a:p>
            </p:txBody>
          </p:sp>
        </mc:Choice>
        <mc:Fallback xmlns="">
          <p:sp>
            <p:nvSpPr>
              <p:cNvPr id="2" name="Rectangle 1">
                <a:extLst>
                  <a:ext uri="{FF2B5EF4-FFF2-40B4-BE49-F238E27FC236}">
                    <a16:creationId xmlns:a16="http://schemas.microsoft.com/office/drawing/2014/main" id="{11E1911A-3233-4217-9F10-BEF5578B6DBB}"/>
                  </a:ext>
                </a:extLst>
              </p:cNvPr>
              <p:cNvSpPr>
                <a:spLocks noRot="1" noChangeAspect="1" noMove="1" noResize="1" noEditPoints="1" noAdjustHandles="1" noChangeArrowheads="1" noChangeShapeType="1" noTextEdit="1"/>
              </p:cNvSpPr>
              <p:nvPr/>
            </p:nvSpPr>
            <p:spPr>
              <a:xfrm>
                <a:off x="432318" y="4857359"/>
                <a:ext cx="7470775" cy="2041328"/>
              </a:xfrm>
              <a:prstGeom prst="rect">
                <a:avLst/>
              </a:prstGeom>
              <a:blipFill>
                <a:blip r:embed="rId5"/>
                <a:stretch>
                  <a:fillRect l="-1306" t="-2687" b="-2388"/>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xmlns="" id="{92DD548A-4558-4171-B8DF-53CD7E8D6C53}"/>
              </a:ext>
            </a:extLst>
          </p:cNvPr>
          <p:cNvPicPr>
            <a:picLocks noChangeAspect="1"/>
          </p:cNvPicPr>
          <p:nvPr/>
        </p:nvPicPr>
        <p:blipFill>
          <a:blip r:embed="rId6"/>
          <a:stretch>
            <a:fillRect/>
          </a:stretch>
        </p:blipFill>
        <p:spPr>
          <a:xfrm>
            <a:off x="8257668" y="2938547"/>
            <a:ext cx="3502013" cy="3837623"/>
          </a:xfrm>
          <a:prstGeom prst="rect">
            <a:avLst/>
          </a:prstGeom>
        </p:spPr>
      </p:pic>
    </p:spTree>
    <p:extLst>
      <p:ext uri="{BB962C8B-B14F-4D97-AF65-F5344CB8AC3E}">
        <p14:creationId xmlns:p14="http://schemas.microsoft.com/office/powerpoint/2010/main" val="17253150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ADFB6E-BF5D-4367-8C5E-29D16009283F}"/>
              </a:ext>
            </a:extLst>
          </p:cNvPr>
          <p:cNvSpPr>
            <a:spLocks noGrp="1"/>
          </p:cNvSpPr>
          <p:nvPr>
            <p:ph type="title"/>
          </p:nvPr>
        </p:nvSpPr>
        <p:spPr/>
        <p:txBody>
          <a:bodyPr/>
          <a:lstStyle/>
          <a:p>
            <a:r>
              <a:rPr lang="en-US" dirty="0" err="1">
                <a:solidFill>
                  <a:srgbClr val="FFC000"/>
                </a:solidFill>
              </a:rPr>
              <a:t>Bài</a:t>
            </a:r>
            <a:r>
              <a:rPr lang="en-US" dirty="0">
                <a:solidFill>
                  <a:srgbClr val="FFC000"/>
                </a:solidFill>
              </a:rPr>
              <a:t> </a:t>
            </a:r>
            <a:r>
              <a:rPr lang="en-US" dirty="0" err="1">
                <a:solidFill>
                  <a:srgbClr val="FFC000"/>
                </a:solidFill>
              </a:rPr>
              <a:t>tập</a:t>
            </a:r>
            <a:r>
              <a:rPr lang="en-US" dirty="0">
                <a:solidFill>
                  <a:srgbClr val="FFC000"/>
                </a:solidFill>
              </a:rPr>
              <a:t>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A9ADE200-7A85-4504-9BA6-3A9BE662AB91}"/>
                  </a:ext>
                </a:extLst>
              </p:cNvPr>
              <p:cNvSpPr>
                <a:spLocks noGrp="1"/>
              </p:cNvSpPr>
              <p:nvPr>
                <p:ph idx="1"/>
              </p:nvPr>
            </p:nvSpPr>
            <p:spPr/>
            <p:txBody>
              <a:bodyPr/>
              <a:lstStyle/>
              <a:p>
                <a:r>
                  <a:rPr lang="en-US" dirty="0" err="1"/>
                  <a:t>Một</a:t>
                </a:r>
                <a:r>
                  <a:rPr lang="en-US" dirty="0"/>
                  <a:t> </a:t>
                </a:r>
                <a:r>
                  <a:rPr lang="en-US" dirty="0" err="1"/>
                  <a:t>ắc</a:t>
                </a:r>
                <a:r>
                  <a:rPr lang="en-US" dirty="0"/>
                  <a:t> </a:t>
                </a:r>
                <a:r>
                  <a:rPr lang="en-US" dirty="0" err="1"/>
                  <a:t>quy</a:t>
                </a:r>
                <a:r>
                  <a:rPr lang="en-US" dirty="0"/>
                  <a:t> 12,0 V </a:t>
                </a:r>
                <a:r>
                  <a:rPr lang="en-US" dirty="0" err="1"/>
                  <a:t>được</a:t>
                </a:r>
                <a:r>
                  <a:rPr lang="en-US" dirty="0"/>
                  <a:t> </a:t>
                </a:r>
                <a:r>
                  <a:rPr lang="en-US" dirty="0" err="1"/>
                  <a:t>mắc</a:t>
                </a:r>
                <a:r>
                  <a:rPr lang="en-US" dirty="0"/>
                  <a:t> </a:t>
                </a:r>
                <a:r>
                  <a:rPr lang="en-US" dirty="0" err="1"/>
                  <a:t>vào</a:t>
                </a:r>
                <a:r>
                  <a:rPr lang="en-US" dirty="0"/>
                  <a:t> </a:t>
                </a:r>
                <a:r>
                  <a:rPr lang="en-US" dirty="0" err="1"/>
                  <a:t>mạch</a:t>
                </a:r>
                <a:r>
                  <a:rPr lang="en-US" dirty="0"/>
                  <a:t> </a:t>
                </a:r>
                <a:r>
                  <a:rPr lang="en-US" dirty="0" err="1"/>
                  <a:t>điện</a:t>
                </a:r>
                <a:r>
                  <a:rPr lang="en-US" dirty="0"/>
                  <a:t> </a:t>
                </a:r>
                <a:r>
                  <a:rPr lang="en-US" dirty="0" err="1"/>
                  <a:t>gồm</a:t>
                </a:r>
                <a:r>
                  <a:rPr lang="en-US" dirty="0"/>
                  <a:t> </a:t>
                </a:r>
                <a:r>
                  <a:rPr lang="en-US" dirty="0" err="1"/>
                  <a:t>điện</a:t>
                </a:r>
                <a:r>
                  <a:rPr lang="en-US" dirty="0"/>
                  <a:t> </a:t>
                </a:r>
                <a:r>
                  <a:rPr lang="en-US" dirty="0" err="1"/>
                  <a:t>trở</a:t>
                </a:r>
                <a:r>
                  <a:rPr lang="en-US" dirty="0"/>
                  <a:t> 10,0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Ω</m:t>
                    </m:r>
                  </m:oMath>
                </a14:m>
                <a:r>
                  <a:rPr lang="en-US" dirty="0"/>
                  <a:t> </a:t>
                </a:r>
                <a:r>
                  <a:rPr lang="en-US" dirty="0" err="1"/>
                  <a:t>nối</a:t>
                </a:r>
                <a:r>
                  <a:rPr lang="en-US" dirty="0"/>
                  <a:t> </a:t>
                </a:r>
                <a:r>
                  <a:rPr lang="en-US" dirty="0" err="1"/>
                  <a:t>tiếp</a:t>
                </a:r>
                <a:r>
                  <a:rPr lang="en-US" dirty="0"/>
                  <a:t> </a:t>
                </a:r>
                <a:r>
                  <a:rPr lang="en-US" dirty="0" err="1"/>
                  <a:t>với</a:t>
                </a:r>
                <a:r>
                  <a:rPr lang="en-US" dirty="0"/>
                  <a:t> </a:t>
                </a:r>
                <a:r>
                  <a:rPr lang="en-US" dirty="0" err="1"/>
                  <a:t>cuộn</a:t>
                </a:r>
                <a:r>
                  <a:rPr lang="en-US" dirty="0"/>
                  <a:t> </a:t>
                </a:r>
                <a:r>
                  <a:rPr lang="en-US" dirty="0" err="1"/>
                  <a:t>cảm</a:t>
                </a:r>
                <a:r>
                  <a:rPr lang="en-US" dirty="0"/>
                  <a:t> 2,0 H. </a:t>
                </a:r>
                <a:r>
                  <a:rPr lang="en-US" dirty="0" err="1"/>
                  <a:t>Hỏi</a:t>
                </a:r>
                <a:r>
                  <a:rPr lang="en-US" dirty="0"/>
                  <a:t> </a:t>
                </a:r>
                <a:r>
                  <a:rPr lang="en-US" dirty="0" err="1"/>
                  <a:t>sau</a:t>
                </a:r>
                <a:r>
                  <a:rPr lang="en-US" dirty="0"/>
                  <a:t> bao </a:t>
                </a:r>
                <a:r>
                  <a:rPr lang="en-US" dirty="0" err="1"/>
                  <a:t>lâu</a:t>
                </a:r>
                <a:r>
                  <a:rPr lang="en-US" dirty="0"/>
                  <a:t> </a:t>
                </a:r>
                <a:r>
                  <a:rPr lang="en-US" dirty="0" err="1"/>
                  <a:t>thì</a:t>
                </a:r>
                <a:r>
                  <a:rPr lang="en-US" dirty="0"/>
                  <a:t> </a:t>
                </a:r>
                <a:r>
                  <a:rPr lang="en-US" dirty="0" err="1"/>
                  <a:t>dòng</a:t>
                </a:r>
                <a:r>
                  <a:rPr lang="en-US" dirty="0"/>
                  <a:t> </a:t>
                </a:r>
                <a:r>
                  <a:rPr lang="en-US" dirty="0" err="1"/>
                  <a:t>điện</a:t>
                </a:r>
                <a:r>
                  <a:rPr lang="en-US" dirty="0"/>
                  <a:t> </a:t>
                </a:r>
                <a:r>
                  <a:rPr lang="en-US" dirty="0" err="1"/>
                  <a:t>trong</a:t>
                </a:r>
                <a:r>
                  <a:rPr lang="en-US" dirty="0"/>
                  <a:t> </a:t>
                </a:r>
                <a:r>
                  <a:rPr lang="en-US" dirty="0" err="1"/>
                  <a:t>mạch</a:t>
                </a:r>
                <a:r>
                  <a:rPr lang="en-US" dirty="0"/>
                  <a:t> </a:t>
                </a:r>
                <a:r>
                  <a:rPr lang="en-US" dirty="0" err="1"/>
                  <a:t>đạt</a:t>
                </a:r>
                <a:r>
                  <a:rPr lang="en-US" dirty="0"/>
                  <a:t> </a:t>
                </a:r>
                <a:r>
                  <a:rPr lang="en-US" dirty="0" err="1"/>
                  <a:t>tới</a:t>
                </a:r>
                <a:r>
                  <a:rPr lang="en-US" dirty="0"/>
                  <a:t> 50% </a:t>
                </a:r>
                <a:r>
                  <a:rPr lang="en-US" dirty="0" err="1"/>
                  <a:t>giá</a:t>
                </a:r>
                <a:r>
                  <a:rPr lang="en-US" dirty="0"/>
                  <a:t> </a:t>
                </a:r>
                <a:r>
                  <a:rPr lang="en-US" dirty="0" err="1"/>
                  <a:t>trị</a:t>
                </a:r>
                <a:r>
                  <a:rPr lang="en-US" dirty="0"/>
                  <a:t> </a:t>
                </a:r>
                <a:r>
                  <a:rPr lang="en-US" dirty="0" err="1"/>
                  <a:t>cực</a:t>
                </a:r>
                <a:r>
                  <a:rPr lang="en-US" dirty="0"/>
                  <a:t> </a:t>
                </a:r>
                <a:r>
                  <a:rPr lang="en-US" dirty="0" err="1"/>
                  <a:t>đại</a:t>
                </a:r>
                <a:r>
                  <a:rPr lang="en-US" dirty="0"/>
                  <a:t> </a:t>
                </a:r>
                <a:r>
                  <a:rPr lang="en-US" dirty="0" err="1"/>
                  <a:t>của</a:t>
                </a:r>
                <a:r>
                  <a:rPr lang="en-US" dirty="0"/>
                  <a:t> </a:t>
                </a:r>
                <a:r>
                  <a:rPr lang="en-US" dirty="0" err="1"/>
                  <a:t>nó</a:t>
                </a:r>
                <a:endParaRPr lang="en-US" dirty="0"/>
              </a:p>
            </p:txBody>
          </p:sp>
        </mc:Choice>
        <mc:Fallback xmlns="">
          <p:sp>
            <p:nvSpPr>
              <p:cNvPr id="3" name="Content Placeholder 2">
                <a:extLst>
                  <a:ext uri="{FF2B5EF4-FFF2-40B4-BE49-F238E27FC236}">
                    <a16:creationId xmlns:a16="http://schemas.microsoft.com/office/drawing/2014/main" id="{A9ADE200-7A85-4504-9BA6-3A9BE662AB91}"/>
                  </a:ext>
                </a:extLst>
              </p:cNvPr>
              <p:cNvSpPr>
                <a:spLocks noGrp="1" noRot="1" noChangeAspect="1" noMove="1" noResize="1" noEditPoints="1" noAdjustHandles="1" noChangeArrowheads="1" noChangeShapeType="1" noTextEdit="1"/>
              </p:cNvSpPr>
              <p:nvPr>
                <p:ph idx="1"/>
              </p:nvPr>
            </p:nvSpPr>
            <p:spPr>
              <a:blipFill>
                <a:blip r:embed="rId2"/>
                <a:stretch>
                  <a:fillRect l="-2087" t="-3922" r="-2029"/>
                </a:stretch>
              </a:blipFill>
            </p:spPr>
            <p:txBody>
              <a:bodyPr/>
              <a:lstStyle/>
              <a:p>
                <a:r>
                  <a:rPr lang="en-US">
                    <a:noFill/>
                  </a:rPr>
                  <a:t> </a:t>
                </a:r>
              </a:p>
            </p:txBody>
          </p:sp>
        </mc:Fallback>
      </mc:AlternateContent>
    </p:spTree>
    <p:extLst>
      <p:ext uri="{BB962C8B-B14F-4D97-AF65-F5344CB8AC3E}">
        <p14:creationId xmlns:p14="http://schemas.microsoft.com/office/powerpoint/2010/main" val="39669620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B7D6E85C-E5E7-45E9-8F31-158F788DED0B}"/>
              </a:ext>
            </a:extLst>
          </p:cNvPr>
          <p:cNvPicPr>
            <a:picLocks noGrp="1" noChangeAspect="1"/>
          </p:cNvPicPr>
          <p:nvPr>
            <p:ph idx="1"/>
          </p:nvPr>
        </p:nvPicPr>
        <p:blipFill>
          <a:blip r:embed="rId2"/>
          <a:stretch>
            <a:fillRect/>
          </a:stretch>
        </p:blipFill>
        <p:spPr>
          <a:xfrm>
            <a:off x="1199688" y="198003"/>
            <a:ext cx="6552431" cy="3043108"/>
          </a:xfrm>
          <a:prstGeom prst="rect">
            <a:avLst/>
          </a:prstGeom>
        </p:spPr>
      </p:pic>
      <p:pic>
        <p:nvPicPr>
          <p:cNvPr id="5" name="Picture 4">
            <a:extLst>
              <a:ext uri="{FF2B5EF4-FFF2-40B4-BE49-F238E27FC236}">
                <a16:creationId xmlns:a16="http://schemas.microsoft.com/office/drawing/2014/main" xmlns="" id="{6A7F407F-72E5-4265-8F49-C9DEA8016141}"/>
              </a:ext>
            </a:extLst>
          </p:cNvPr>
          <p:cNvPicPr>
            <a:picLocks noChangeAspect="1"/>
          </p:cNvPicPr>
          <p:nvPr/>
        </p:nvPicPr>
        <p:blipFill>
          <a:blip r:embed="rId3"/>
          <a:stretch>
            <a:fillRect/>
          </a:stretch>
        </p:blipFill>
        <p:spPr>
          <a:xfrm>
            <a:off x="1435662" y="3241111"/>
            <a:ext cx="5800725" cy="3286125"/>
          </a:xfrm>
          <a:prstGeom prst="rect">
            <a:avLst/>
          </a:prstGeom>
        </p:spPr>
      </p:pic>
    </p:spTree>
    <p:extLst>
      <p:ext uri="{BB962C8B-B14F-4D97-AF65-F5344CB8AC3E}">
        <p14:creationId xmlns:p14="http://schemas.microsoft.com/office/powerpoint/2010/main" val="3692359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6E5ECC-42E6-4814-82E7-1B06AA236982}"/>
              </a:ext>
            </a:extLst>
          </p:cNvPr>
          <p:cNvSpPr>
            <a:spLocks noGrp="1"/>
          </p:cNvSpPr>
          <p:nvPr>
            <p:ph type="title"/>
          </p:nvPr>
        </p:nvSpPr>
        <p:spPr/>
        <p:txBody>
          <a:bodyPr/>
          <a:lstStyle/>
          <a:p>
            <a:r>
              <a:rPr lang="en-US" dirty="0" err="1"/>
              <a:t>Năng</a:t>
            </a:r>
            <a:r>
              <a:rPr lang="en-US" dirty="0"/>
              <a:t> </a:t>
            </a:r>
            <a:r>
              <a:rPr lang="en-US" dirty="0" err="1"/>
              <a:t>lượng</a:t>
            </a:r>
            <a:r>
              <a:rPr lang="en-US" dirty="0"/>
              <a:t> </a:t>
            </a:r>
            <a:r>
              <a:rPr lang="en-US" dirty="0" err="1"/>
              <a:t>từ</a:t>
            </a:r>
            <a:r>
              <a:rPr lang="en-US" dirty="0"/>
              <a:t> </a:t>
            </a:r>
            <a:r>
              <a:rPr lang="en-US" dirty="0" err="1"/>
              <a:t>trường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35D313AB-EA02-4DB6-81D1-3603B2FA9FBB}"/>
                  </a:ext>
                </a:extLst>
              </p:cNvPr>
              <p:cNvSpPr>
                <a:spLocks noGrp="1"/>
              </p:cNvSpPr>
              <p:nvPr>
                <p:ph idx="1"/>
              </p:nvPr>
            </p:nvSpPr>
            <p:spPr/>
            <p:txBody>
              <a:bodyPr>
                <a:normAutofit/>
              </a:bodyPr>
              <a:lstStyle/>
              <a:p>
                <a:r>
                  <a:rPr lang="en-US" dirty="0"/>
                  <a:t>K</a:t>
                </a:r>
                <a:r>
                  <a:rPr lang="vi-VN" dirty="0"/>
                  <a:t>hi có dòng điện cường độ </a:t>
                </a:r>
                <a:r>
                  <a:rPr lang="en-US" dirty="0"/>
                  <a:t>I</a:t>
                </a:r>
                <a:r>
                  <a:rPr lang="vi-VN" dirty="0"/>
                  <a:t> chạy qua ống dây tự cảm thì ống dây tích lũy được một năng lượng :</a:t>
                </a:r>
                <a:endParaRPr lang="en-US" b="1" dirty="0"/>
              </a:p>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𝑼</m:t>
                      </m:r>
                      <m:r>
                        <a:rPr lang="en-US" b="1" i="1" smtClean="0">
                          <a:latin typeface="Cambria Math" panose="02040503050406030204" pitchFamily="18" charset="0"/>
                        </a:rPr>
                        <m:t>=</m:t>
                      </m:r>
                      <m:f>
                        <m:fPr>
                          <m:ctrlPr>
                            <a:rPr lang="en-US" b="1" i="1" smtClean="0">
                              <a:latin typeface="Cambria Math"/>
                            </a:rPr>
                          </m:ctrlPr>
                        </m:fPr>
                        <m:num>
                          <m:r>
                            <a:rPr lang="en-US" b="1" i="1" smtClean="0">
                              <a:latin typeface="Cambria Math" panose="02040503050406030204" pitchFamily="18" charset="0"/>
                            </a:rPr>
                            <m:t>𝟏</m:t>
                          </m:r>
                        </m:num>
                        <m:den>
                          <m:r>
                            <a:rPr lang="en-US" b="1" i="1" smtClean="0">
                              <a:latin typeface="Cambria Math" panose="02040503050406030204" pitchFamily="18" charset="0"/>
                            </a:rPr>
                            <m:t>𝟐</m:t>
                          </m:r>
                        </m:den>
                      </m:f>
                      <m:r>
                        <a:rPr lang="en-US" b="1" i="1" smtClean="0">
                          <a:latin typeface="Cambria Math" panose="02040503050406030204" pitchFamily="18" charset="0"/>
                        </a:rPr>
                        <m:t>𝑳</m:t>
                      </m:r>
                      <m:sSup>
                        <m:sSupPr>
                          <m:ctrlPr>
                            <a:rPr lang="en-US" b="1" i="1" smtClean="0">
                              <a:latin typeface="Cambria Math"/>
                            </a:rPr>
                          </m:ctrlPr>
                        </m:sSupPr>
                        <m:e>
                          <m:r>
                            <a:rPr lang="en-US" b="1" i="1" smtClean="0">
                              <a:latin typeface="Cambria Math" panose="02040503050406030204" pitchFamily="18" charset="0"/>
                            </a:rPr>
                            <m:t>𝑰</m:t>
                          </m:r>
                        </m:e>
                        <m:sup>
                          <m:r>
                            <a:rPr lang="en-US" b="1" i="1" smtClean="0">
                              <a:latin typeface="Cambria Math" panose="02040503050406030204" pitchFamily="18" charset="0"/>
                            </a:rPr>
                            <m:t>𝟐</m:t>
                          </m:r>
                        </m:sup>
                      </m:sSup>
                    </m:oMath>
                  </m:oMathPara>
                </a14:m>
                <a:endParaRPr lang="en-US" b="1" dirty="0"/>
              </a:p>
              <a:p>
                <a:endParaRPr lang="en-US" dirty="0"/>
              </a:p>
            </p:txBody>
          </p:sp>
        </mc:Choice>
        <mc:Fallback xmlns="">
          <p:sp>
            <p:nvSpPr>
              <p:cNvPr id="3" name="Content Placeholder 2">
                <a:extLst>
                  <a:ext uri="{FF2B5EF4-FFF2-40B4-BE49-F238E27FC236}">
                    <a16:creationId xmlns:a16="http://schemas.microsoft.com/office/drawing/2014/main" id="{35D313AB-EA02-4DB6-81D1-3603B2FA9FBB}"/>
                  </a:ext>
                </a:extLst>
              </p:cNvPr>
              <p:cNvSpPr>
                <a:spLocks noGrp="1" noRot="1" noChangeAspect="1" noMove="1" noResize="1" noEditPoints="1" noAdjustHandles="1" noChangeArrowheads="1" noChangeShapeType="1" noTextEdit="1"/>
              </p:cNvSpPr>
              <p:nvPr>
                <p:ph idx="1"/>
              </p:nvPr>
            </p:nvSpPr>
            <p:spPr>
              <a:blipFill>
                <a:blip r:embed="rId2"/>
                <a:stretch>
                  <a:fillRect l="-2087" t="-3922" r="-2029"/>
                </a:stretch>
              </a:blipFill>
            </p:spPr>
            <p:txBody>
              <a:bodyPr/>
              <a:lstStyle/>
              <a:p>
                <a:r>
                  <a:rPr lang="en-US">
                    <a:noFill/>
                  </a:rPr>
                  <a:t> </a:t>
                </a:r>
              </a:p>
            </p:txBody>
          </p:sp>
        </mc:Fallback>
      </mc:AlternateContent>
    </p:spTree>
    <p:extLst>
      <p:ext uri="{BB962C8B-B14F-4D97-AF65-F5344CB8AC3E}">
        <p14:creationId xmlns:p14="http://schemas.microsoft.com/office/powerpoint/2010/main" val="15295636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3635F3-CB3E-4A51-97C0-887711B40290}"/>
              </a:ext>
            </a:extLst>
          </p:cNvPr>
          <p:cNvSpPr>
            <a:spLocks noGrp="1"/>
          </p:cNvSpPr>
          <p:nvPr>
            <p:ph type="title"/>
          </p:nvPr>
        </p:nvSpPr>
        <p:spPr/>
        <p:txBody>
          <a:bodyPr/>
          <a:lstStyle/>
          <a:p>
            <a:r>
              <a:rPr lang="en-US" dirty="0" err="1"/>
              <a:t>Mật</a:t>
            </a:r>
            <a:r>
              <a:rPr lang="en-US" dirty="0"/>
              <a:t> độ </a:t>
            </a:r>
            <a:r>
              <a:rPr lang="en-US" dirty="0" err="1"/>
              <a:t>năng</a:t>
            </a:r>
            <a:r>
              <a:rPr lang="en-US" dirty="0"/>
              <a:t> </a:t>
            </a:r>
            <a:r>
              <a:rPr lang="en-US" dirty="0" err="1"/>
              <a:t>lượng</a:t>
            </a:r>
            <a:r>
              <a:rPr lang="en-US" dirty="0"/>
              <a:t> </a:t>
            </a:r>
            <a:r>
              <a:rPr lang="en-US" dirty="0" err="1"/>
              <a:t>từ</a:t>
            </a:r>
            <a:r>
              <a:rPr lang="en-US" dirty="0"/>
              <a:t> </a:t>
            </a:r>
            <a:r>
              <a:rPr lang="en-US" dirty="0" err="1"/>
              <a:t>trường</a:t>
            </a:r>
            <a:r>
              <a:rPr lang="en-US" dirty="0"/>
              <a:t>:</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A1E23D0-D4EF-447E-A811-5FF1F1622804}"/>
                  </a:ext>
                </a:extLst>
              </p:cNvPr>
              <p:cNvSpPr>
                <a:spLocks noGrp="1"/>
              </p:cNvSpPr>
              <p:nvPr>
                <p:ph idx="1"/>
              </p:nvPr>
            </p:nvSpPr>
            <p:spPr>
              <a:xfrm>
                <a:off x="838200" y="1825625"/>
                <a:ext cx="10754032" cy="4351338"/>
              </a:xfrm>
            </p:spPr>
            <p: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a:rPr>
                          </m:ctrlPr>
                        </m:fPr>
                        <m:num>
                          <m:sSup>
                            <m:sSupPr>
                              <m:ctrlPr>
                                <a:rPr lang="en-US" b="0" i="1" smtClean="0">
                                  <a:latin typeface="Cambria Math"/>
                                </a:rPr>
                              </m:ctrlPr>
                            </m:sSupPr>
                            <m:e>
                              <m:r>
                                <a:rPr lang="en-US" b="0" i="1" smtClean="0">
                                  <a:latin typeface="Cambria Math" panose="02040503050406030204" pitchFamily="18" charset="0"/>
                                </a:rPr>
                                <m:t>𝐵</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b>
                            <m:sSubPr>
                              <m:ctrlPr>
                                <a:rPr lang="en-US" b="0" i="1" smtClean="0">
                                  <a:latin typeface="Cambria Math"/>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0</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BA1E23D0-D4EF-447E-A811-5FF1F1622804}"/>
                  </a:ext>
                </a:extLst>
              </p:cNvPr>
              <p:cNvSpPr>
                <a:spLocks noGrp="1" noRot="1" noChangeAspect="1" noMove="1" noResize="1" noEditPoints="1" noAdjustHandles="1" noChangeArrowheads="1" noChangeShapeType="1" noTextEdit="1"/>
              </p:cNvSpPr>
              <p:nvPr>
                <p:ph idx="1"/>
              </p:nvPr>
            </p:nvSpPr>
            <p:spPr>
              <a:xfrm>
                <a:off x="838200" y="1825625"/>
                <a:ext cx="10754032" cy="4351338"/>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98530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xmlns="" id="{46C2E80F-49A6-4372-B103-219D417A5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1750E3F8-295F-41F6-B51A-79B5B8EB9A52}"/>
              </a:ext>
            </a:extLst>
          </p:cNvPr>
          <p:cNvSpPr>
            <a:spLocks noGrp="1"/>
          </p:cNvSpPr>
          <p:nvPr>
            <p:ph type="title"/>
          </p:nvPr>
        </p:nvSpPr>
        <p:spPr>
          <a:xfrm>
            <a:off x="653143" y="1012004"/>
            <a:ext cx="4086808" cy="4795408"/>
          </a:xfrm>
        </p:spPr>
        <p:txBody>
          <a:bodyPr>
            <a:normAutofit fontScale="90000"/>
          </a:bodyPr>
          <a:lstStyle/>
          <a:p>
            <a:pPr algn="just"/>
            <a:r>
              <a:rPr lang="en-US" sz="3100" dirty="0" err="1">
                <a:solidFill>
                  <a:schemeClr val="bg1"/>
                </a:solidFill>
              </a:rPr>
              <a:t>Giả</a:t>
            </a:r>
            <a:r>
              <a:rPr lang="en-US" sz="3100" dirty="0">
                <a:solidFill>
                  <a:schemeClr val="bg1"/>
                </a:solidFill>
              </a:rPr>
              <a:t> </a:t>
            </a:r>
            <a:r>
              <a:rPr lang="en-US" sz="3100" dirty="0" err="1">
                <a:solidFill>
                  <a:schemeClr val="bg1"/>
                </a:solidFill>
              </a:rPr>
              <a:t>sử</a:t>
            </a:r>
            <a:r>
              <a:rPr lang="en-US" sz="3100" dirty="0">
                <a:solidFill>
                  <a:schemeClr val="bg1"/>
                </a:solidFill>
              </a:rPr>
              <a:t> </a:t>
            </a:r>
            <a:r>
              <a:rPr lang="en-US" sz="3100" dirty="0" err="1">
                <a:solidFill>
                  <a:schemeClr val="bg1"/>
                </a:solidFill>
              </a:rPr>
              <a:t>bạn</a:t>
            </a:r>
            <a:r>
              <a:rPr lang="en-US" sz="3100" dirty="0">
                <a:solidFill>
                  <a:schemeClr val="bg1"/>
                </a:solidFill>
              </a:rPr>
              <a:t> </a:t>
            </a:r>
            <a:r>
              <a:rPr lang="en-US" sz="3100" dirty="0" err="1">
                <a:solidFill>
                  <a:schemeClr val="bg1"/>
                </a:solidFill>
              </a:rPr>
              <a:t>đang</a:t>
            </a:r>
            <a:r>
              <a:rPr lang="en-US" sz="3100" dirty="0">
                <a:solidFill>
                  <a:schemeClr val="bg1"/>
                </a:solidFill>
              </a:rPr>
              <a:t> </a:t>
            </a:r>
            <a:r>
              <a:rPr lang="en-US" sz="3100" dirty="0" err="1">
                <a:solidFill>
                  <a:schemeClr val="bg1"/>
                </a:solidFill>
              </a:rPr>
              <a:t>thực</a:t>
            </a:r>
            <a:r>
              <a:rPr lang="en-US" sz="3100" dirty="0">
                <a:solidFill>
                  <a:schemeClr val="bg1"/>
                </a:solidFill>
              </a:rPr>
              <a:t> </a:t>
            </a:r>
            <a:r>
              <a:rPr lang="en-US" sz="3100" dirty="0" err="1">
                <a:solidFill>
                  <a:schemeClr val="bg1"/>
                </a:solidFill>
              </a:rPr>
              <a:t>hiện</a:t>
            </a:r>
            <a:r>
              <a:rPr lang="en-US" sz="3100" dirty="0">
                <a:solidFill>
                  <a:schemeClr val="bg1"/>
                </a:solidFill>
              </a:rPr>
              <a:t> </a:t>
            </a:r>
            <a:r>
              <a:rPr lang="en-US" sz="3100" dirty="0" err="1">
                <a:solidFill>
                  <a:schemeClr val="bg1"/>
                </a:solidFill>
              </a:rPr>
              <a:t>một</a:t>
            </a:r>
            <a:r>
              <a:rPr lang="en-US" sz="3100" dirty="0">
                <a:solidFill>
                  <a:schemeClr val="bg1"/>
                </a:solidFill>
              </a:rPr>
              <a:t> </a:t>
            </a:r>
            <a:r>
              <a:rPr lang="en-US" sz="3100" dirty="0" err="1">
                <a:solidFill>
                  <a:schemeClr val="bg1"/>
                </a:solidFill>
              </a:rPr>
              <a:t>thí</a:t>
            </a:r>
            <a:r>
              <a:rPr lang="en-US" sz="3100" dirty="0">
                <a:solidFill>
                  <a:schemeClr val="bg1"/>
                </a:solidFill>
              </a:rPr>
              <a:t> </a:t>
            </a:r>
            <a:r>
              <a:rPr lang="en-US" sz="3100" dirty="0" err="1">
                <a:solidFill>
                  <a:schemeClr val="bg1"/>
                </a:solidFill>
              </a:rPr>
              <a:t>nghiệm</a:t>
            </a:r>
            <a:r>
              <a:rPr lang="en-US" sz="3100" dirty="0">
                <a:solidFill>
                  <a:schemeClr val="bg1"/>
                </a:solidFill>
              </a:rPr>
              <a:t> </a:t>
            </a:r>
            <a:r>
              <a:rPr lang="en-US" sz="3100" dirty="0" err="1">
                <a:solidFill>
                  <a:schemeClr val="bg1"/>
                </a:solidFill>
              </a:rPr>
              <a:t>trong</a:t>
            </a:r>
            <a:r>
              <a:rPr lang="en-US" sz="3100" dirty="0">
                <a:solidFill>
                  <a:schemeClr val="bg1"/>
                </a:solidFill>
              </a:rPr>
              <a:t> </a:t>
            </a:r>
            <a:r>
              <a:rPr lang="en-US" sz="3100" dirty="0" err="1">
                <a:solidFill>
                  <a:schemeClr val="bg1"/>
                </a:solidFill>
              </a:rPr>
              <a:t>đó</a:t>
            </a:r>
            <a:r>
              <a:rPr lang="en-US" sz="3100" dirty="0">
                <a:solidFill>
                  <a:schemeClr val="bg1"/>
                </a:solidFill>
              </a:rPr>
              <a:t> </a:t>
            </a:r>
            <a:r>
              <a:rPr lang="en-US" sz="3100" dirty="0" err="1">
                <a:solidFill>
                  <a:schemeClr val="bg1"/>
                </a:solidFill>
              </a:rPr>
              <a:t>yêu</a:t>
            </a:r>
            <a:r>
              <a:rPr lang="en-US" sz="3100" dirty="0">
                <a:solidFill>
                  <a:schemeClr val="bg1"/>
                </a:solidFill>
              </a:rPr>
              <a:t> </a:t>
            </a:r>
            <a:r>
              <a:rPr lang="en-US" sz="3100" dirty="0" err="1">
                <a:solidFill>
                  <a:schemeClr val="bg1"/>
                </a:solidFill>
              </a:rPr>
              <a:t>cầu</a:t>
            </a:r>
            <a:r>
              <a:rPr lang="en-US" sz="3100" dirty="0">
                <a:solidFill>
                  <a:schemeClr val="bg1"/>
                </a:solidFill>
              </a:rPr>
              <a:t> </a:t>
            </a:r>
            <a:r>
              <a:rPr lang="en-US" sz="3100" dirty="0" err="1">
                <a:solidFill>
                  <a:schemeClr val="bg1"/>
                </a:solidFill>
              </a:rPr>
              <a:t>mật</a:t>
            </a:r>
            <a:r>
              <a:rPr lang="en-US" sz="3100" dirty="0">
                <a:solidFill>
                  <a:schemeClr val="bg1"/>
                </a:solidFill>
              </a:rPr>
              <a:t> độ </a:t>
            </a:r>
            <a:r>
              <a:rPr lang="en-US" sz="3100" dirty="0" err="1">
                <a:solidFill>
                  <a:schemeClr val="bg1"/>
                </a:solidFill>
              </a:rPr>
              <a:t>năng</a:t>
            </a:r>
            <a:r>
              <a:rPr lang="en-US" sz="3100" dirty="0">
                <a:solidFill>
                  <a:schemeClr val="bg1"/>
                </a:solidFill>
              </a:rPr>
              <a:t> </a:t>
            </a:r>
            <a:r>
              <a:rPr lang="en-US" sz="3100" dirty="0" err="1">
                <a:solidFill>
                  <a:schemeClr val="bg1"/>
                </a:solidFill>
              </a:rPr>
              <a:t>lượng</a:t>
            </a:r>
            <a:r>
              <a:rPr lang="en-US" sz="3100" dirty="0">
                <a:solidFill>
                  <a:schemeClr val="bg1"/>
                </a:solidFill>
              </a:rPr>
              <a:t> </a:t>
            </a:r>
            <a:r>
              <a:rPr lang="en-US" sz="3100" dirty="0" err="1">
                <a:solidFill>
                  <a:schemeClr val="bg1"/>
                </a:solidFill>
              </a:rPr>
              <a:t>từ</a:t>
            </a:r>
            <a:r>
              <a:rPr lang="en-US" sz="3100" dirty="0">
                <a:solidFill>
                  <a:schemeClr val="bg1"/>
                </a:solidFill>
              </a:rPr>
              <a:t> </a:t>
            </a:r>
            <a:r>
              <a:rPr lang="en-US" sz="3100" dirty="0" err="1">
                <a:solidFill>
                  <a:schemeClr val="bg1"/>
                </a:solidFill>
              </a:rPr>
              <a:t>trường</a:t>
            </a:r>
            <a:r>
              <a:rPr lang="en-US" sz="3100" dirty="0">
                <a:solidFill>
                  <a:schemeClr val="bg1"/>
                </a:solidFill>
              </a:rPr>
              <a:t> </a:t>
            </a:r>
            <a:r>
              <a:rPr lang="en-US" sz="3100" dirty="0" err="1">
                <a:solidFill>
                  <a:schemeClr val="bg1"/>
                </a:solidFill>
              </a:rPr>
              <a:t>bên</a:t>
            </a:r>
            <a:r>
              <a:rPr lang="en-US" sz="3100" dirty="0">
                <a:solidFill>
                  <a:schemeClr val="bg1"/>
                </a:solidFill>
              </a:rPr>
              <a:t> </a:t>
            </a:r>
            <a:r>
              <a:rPr lang="en-US" sz="3100" dirty="0" err="1">
                <a:solidFill>
                  <a:schemeClr val="bg1"/>
                </a:solidFill>
              </a:rPr>
              <a:t>trong</a:t>
            </a:r>
            <a:r>
              <a:rPr lang="en-US" sz="3100" dirty="0">
                <a:solidFill>
                  <a:schemeClr val="bg1"/>
                </a:solidFill>
              </a:rPr>
              <a:t> </a:t>
            </a:r>
            <a:r>
              <a:rPr lang="en-US" sz="3100" dirty="0" err="1">
                <a:solidFill>
                  <a:schemeClr val="bg1"/>
                </a:solidFill>
              </a:rPr>
              <a:t>một</a:t>
            </a:r>
            <a:r>
              <a:rPr lang="en-US" sz="3100" dirty="0">
                <a:solidFill>
                  <a:schemeClr val="bg1"/>
                </a:solidFill>
              </a:rPr>
              <a:t> solenoid </a:t>
            </a:r>
            <a:r>
              <a:rPr lang="en-US" sz="3100" dirty="0" err="1">
                <a:solidFill>
                  <a:schemeClr val="bg1"/>
                </a:solidFill>
              </a:rPr>
              <a:t>càng</a:t>
            </a:r>
            <a:r>
              <a:rPr lang="en-US" sz="3100" dirty="0">
                <a:solidFill>
                  <a:schemeClr val="bg1"/>
                </a:solidFill>
              </a:rPr>
              <a:t> </a:t>
            </a:r>
            <a:r>
              <a:rPr lang="en-US" sz="3100" dirty="0" err="1">
                <a:solidFill>
                  <a:schemeClr val="bg1"/>
                </a:solidFill>
              </a:rPr>
              <a:t>lớn</a:t>
            </a:r>
            <a:r>
              <a:rPr lang="en-US" sz="3100" dirty="0">
                <a:solidFill>
                  <a:schemeClr val="bg1"/>
                </a:solidFill>
              </a:rPr>
              <a:t> </a:t>
            </a:r>
            <a:r>
              <a:rPr lang="en-US" sz="3100" dirty="0" err="1">
                <a:solidFill>
                  <a:schemeClr val="bg1"/>
                </a:solidFill>
              </a:rPr>
              <a:t>càng</a:t>
            </a:r>
            <a:r>
              <a:rPr lang="en-US" sz="3100" dirty="0">
                <a:solidFill>
                  <a:schemeClr val="bg1"/>
                </a:solidFill>
              </a:rPr>
              <a:t> </a:t>
            </a:r>
            <a:r>
              <a:rPr lang="en-US" sz="3100" dirty="0" err="1">
                <a:solidFill>
                  <a:schemeClr val="bg1"/>
                </a:solidFill>
              </a:rPr>
              <a:t>tốt</a:t>
            </a:r>
            <a:r>
              <a:rPr lang="en-US" sz="3100" dirty="0">
                <a:solidFill>
                  <a:schemeClr val="bg1"/>
                </a:solidFill>
              </a:rPr>
              <a:t>. Solenoid </a:t>
            </a:r>
            <a:r>
              <a:rPr lang="en-US" sz="3100" dirty="0" err="1">
                <a:solidFill>
                  <a:schemeClr val="bg1"/>
                </a:solidFill>
              </a:rPr>
              <a:t>rất</a:t>
            </a:r>
            <a:r>
              <a:rPr lang="en-US" sz="3100" dirty="0">
                <a:solidFill>
                  <a:schemeClr val="bg1"/>
                </a:solidFill>
              </a:rPr>
              <a:t> </a:t>
            </a:r>
            <a:r>
              <a:rPr lang="en-US" sz="3100" dirty="0" err="1">
                <a:solidFill>
                  <a:schemeClr val="bg1"/>
                </a:solidFill>
              </a:rPr>
              <a:t>dài</a:t>
            </a:r>
            <a:r>
              <a:rPr lang="en-US" sz="3100" dirty="0">
                <a:solidFill>
                  <a:schemeClr val="bg1"/>
                </a:solidFill>
              </a:rPr>
              <a:t> </a:t>
            </a:r>
            <a:r>
              <a:rPr lang="en-US" sz="3100" dirty="0" err="1">
                <a:solidFill>
                  <a:schemeClr val="bg1"/>
                </a:solidFill>
              </a:rPr>
              <a:t>và</a:t>
            </a:r>
            <a:r>
              <a:rPr lang="en-US" sz="3100" dirty="0">
                <a:solidFill>
                  <a:schemeClr val="bg1"/>
                </a:solidFill>
              </a:rPr>
              <a:t> </a:t>
            </a:r>
            <a:r>
              <a:rPr lang="en-US" sz="3100" dirty="0" err="1">
                <a:solidFill>
                  <a:schemeClr val="bg1"/>
                </a:solidFill>
              </a:rPr>
              <a:t>mang</a:t>
            </a:r>
            <a:r>
              <a:rPr lang="en-US" sz="3100" dirty="0">
                <a:solidFill>
                  <a:schemeClr val="bg1"/>
                </a:solidFill>
              </a:rPr>
              <a:t> </a:t>
            </a:r>
            <a:r>
              <a:rPr lang="en-US" sz="3100" dirty="0" err="1">
                <a:solidFill>
                  <a:schemeClr val="bg1"/>
                </a:solidFill>
              </a:rPr>
              <a:t>dòng</a:t>
            </a:r>
            <a:r>
              <a:rPr lang="en-US" sz="3100" dirty="0">
                <a:solidFill>
                  <a:schemeClr val="bg1"/>
                </a:solidFill>
              </a:rPr>
              <a:t> </a:t>
            </a:r>
            <a:r>
              <a:rPr lang="en-US" sz="3100" dirty="0" err="1">
                <a:solidFill>
                  <a:schemeClr val="bg1"/>
                </a:solidFill>
              </a:rPr>
              <a:t>điện</a:t>
            </a:r>
            <a:r>
              <a:rPr lang="en-US" sz="3100" dirty="0">
                <a:solidFill>
                  <a:schemeClr val="bg1"/>
                </a:solidFill>
              </a:rPr>
              <a:t>. </a:t>
            </a:r>
            <a:r>
              <a:rPr lang="en-US" sz="3100" dirty="0" err="1">
                <a:solidFill>
                  <a:schemeClr val="bg1"/>
                </a:solidFill>
              </a:rPr>
              <a:t>Sự</a:t>
            </a:r>
            <a:r>
              <a:rPr lang="en-US" sz="3100" dirty="0">
                <a:solidFill>
                  <a:schemeClr val="bg1"/>
                </a:solidFill>
              </a:rPr>
              <a:t> </a:t>
            </a:r>
            <a:r>
              <a:rPr lang="en-US" sz="3100" dirty="0" err="1">
                <a:solidFill>
                  <a:schemeClr val="bg1"/>
                </a:solidFill>
              </a:rPr>
              <a:t>điều</a:t>
            </a:r>
            <a:r>
              <a:rPr lang="en-US" sz="3100" dirty="0">
                <a:solidFill>
                  <a:schemeClr val="bg1"/>
                </a:solidFill>
              </a:rPr>
              <a:t> </a:t>
            </a:r>
            <a:r>
              <a:rPr lang="en-US" sz="3100" dirty="0" err="1">
                <a:solidFill>
                  <a:schemeClr val="bg1"/>
                </a:solidFill>
              </a:rPr>
              <a:t>chỉnh</a:t>
            </a:r>
            <a:r>
              <a:rPr lang="en-US" sz="3100" dirty="0">
                <a:solidFill>
                  <a:schemeClr val="bg1"/>
                </a:solidFill>
              </a:rPr>
              <a:t> </a:t>
            </a:r>
            <a:r>
              <a:rPr lang="en-US" sz="3100" dirty="0" err="1">
                <a:solidFill>
                  <a:schemeClr val="bg1"/>
                </a:solidFill>
              </a:rPr>
              <a:t>nào</a:t>
            </a:r>
            <a:r>
              <a:rPr lang="en-US" sz="3100" dirty="0">
                <a:solidFill>
                  <a:schemeClr val="bg1"/>
                </a:solidFill>
              </a:rPr>
              <a:t> </a:t>
            </a:r>
            <a:r>
              <a:rPr lang="en-US" sz="3100" dirty="0" err="1">
                <a:solidFill>
                  <a:schemeClr val="bg1"/>
                </a:solidFill>
              </a:rPr>
              <a:t>sẽ</a:t>
            </a:r>
            <a:r>
              <a:rPr lang="en-US" sz="3100" dirty="0">
                <a:solidFill>
                  <a:schemeClr val="bg1"/>
                </a:solidFill>
              </a:rPr>
              <a:t> </a:t>
            </a:r>
            <a:r>
              <a:rPr lang="en-US" sz="3100" dirty="0" err="1">
                <a:solidFill>
                  <a:schemeClr val="bg1"/>
                </a:solidFill>
              </a:rPr>
              <a:t>làm</a:t>
            </a:r>
            <a:r>
              <a:rPr lang="en-US" sz="3100" dirty="0">
                <a:solidFill>
                  <a:schemeClr val="bg1"/>
                </a:solidFill>
              </a:rPr>
              <a:t> </a:t>
            </a:r>
            <a:r>
              <a:rPr lang="en-US" sz="3100" dirty="0" err="1">
                <a:solidFill>
                  <a:schemeClr val="bg1"/>
                </a:solidFill>
              </a:rPr>
              <a:t>tăng</a:t>
            </a:r>
            <a:r>
              <a:rPr lang="en-US" sz="3100" dirty="0">
                <a:solidFill>
                  <a:schemeClr val="bg1"/>
                </a:solidFill>
              </a:rPr>
              <a:t> </a:t>
            </a:r>
            <a:r>
              <a:rPr lang="en-US" sz="3100" dirty="0" err="1">
                <a:solidFill>
                  <a:schemeClr val="bg1"/>
                </a:solidFill>
              </a:rPr>
              <a:t>mật</a:t>
            </a:r>
            <a:r>
              <a:rPr lang="en-US" sz="3100" dirty="0">
                <a:solidFill>
                  <a:schemeClr val="bg1"/>
                </a:solidFill>
              </a:rPr>
              <a:t> độ </a:t>
            </a:r>
            <a:r>
              <a:rPr lang="en-US" sz="3100" dirty="0" err="1">
                <a:solidFill>
                  <a:schemeClr val="bg1"/>
                </a:solidFill>
              </a:rPr>
              <a:t>năng</a:t>
            </a:r>
            <a:r>
              <a:rPr lang="en-US" sz="3100" dirty="0">
                <a:solidFill>
                  <a:schemeClr val="bg1"/>
                </a:solidFill>
              </a:rPr>
              <a:t> </a:t>
            </a:r>
            <a:r>
              <a:rPr lang="en-US" sz="3100" dirty="0" err="1">
                <a:solidFill>
                  <a:schemeClr val="bg1"/>
                </a:solidFill>
              </a:rPr>
              <a:t>lượng</a:t>
            </a:r>
            <a:r>
              <a:rPr lang="en-US" sz="3100" dirty="0">
                <a:solidFill>
                  <a:schemeClr val="bg1"/>
                </a:solidFill>
              </a:rPr>
              <a:t> </a:t>
            </a:r>
            <a:r>
              <a:rPr lang="en-US" sz="3100" dirty="0" err="1">
                <a:solidFill>
                  <a:schemeClr val="bg1"/>
                </a:solidFill>
              </a:rPr>
              <a:t>từ</a:t>
            </a:r>
            <a:r>
              <a:rPr lang="en-US" sz="3100" dirty="0">
                <a:solidFill>
                  <a:schemeClr val="bg1"/>
                </a:solidFill>
              </a:rPr>
              <a:t> </a:t>
            </a:r>
            <a:r>
              <a:rPr lang="en-US" sz="3100" dirty="0" err="1">
                <a:solidFill>
                  <a:schemeClr val="bg1"/>
                </a:solidFill>
              </a:rPr>
              <a:t>trường</a:t>
            </a:r>
            <a:r>
              <a:rPr lang="en-US" sz="3100" dirty="0">
                <a:solidFill>
                  <a:schemeClr val="bg1"/>
                </a:solidFill>
              </a:rPr>
              <a:t>? (</a:t>
            </a:r>
            <a:r>
              <a:rPr lang="en-US" sz="3100" dirty="0" err="1">
                <a:solidFill>
                  <a:schemeClr val="bg1"/>
                </a:solidFill>
              </a:rPr>
              <a:t>Có</a:t>
            </a:r>
            <a:r>
              <a:rPr lang="en-US" sz="3100" dirty="0">
                <a:solidFill>
                  <a:schemeClr val="bg1"/>
                </a:solidFill>
              </a:rPr>
              <a:t> </a:t>
            </a:r>
            <a:r>
              <a:rPr lang="en-US" sz="3100" dirty="0" err="1">
                <a:solidFill>
                  <a:schemeClr val="bg1"/>
                </a:solidFill>
              </a:rPr>
              <a:t>thể</a:t>
            </a:r>
            <a:r>
              <a:rPr lang="en-US" sz="3100" dirty="0">
                <a:solidFill>
                  <a:schemeClr val="bg1"/>
                </a:solidFill>
              </a:rPr>
              <a:t> </a:t>
            </a:r>
            <a:r>
              <a:rPr lang="en-US" sz="3100" dirty="0" err="1">
                <a:solidFill>
                  <a:schemeClr val="bg1"/>
                </a:solidFill>
              </a:rPr>
              <a:t>có</a:t>
            </a:r>
            <a:r>
              <a:rPr lang="en-US" sz="3100" dirty="0">
                <a:solidFill>
                  <a:schemeClr val="bg1"/>
                </a:solidFill>
              </a:rPr>
              <a:t> </a:t>
            </a:r>
            <a:r>
              <a:rPr lang="en-US" sz="3100" dirty="0" err="1">
                <a:solidFill>
                  <a:schemeClr val="bg1"/>
                </a:solidFill>
              </a:rPr>
              <a:t>nhiều</a:t>
            </a:r>
            <a:r>
              <a:rPr lang="en-US" sz="3100" dirty="0">
                <a:solidFill>
                  <a:schemeClr val="bg1"/>
                </a:solidFill>
              </a:rPr>
              <a:t> </a:t>
            </a:r>
            <a:r>
              <a:rPr lang="en-US" sz="3100" dirty="0" err="1">
                <a:solidFill>
                  <a:schemeClr val="bg1"/>
                </a:solidFill>
              </a:rPr>
              <a:t>câu</a:t>
            </a:r>
            <a:r>
              <a:rPr lang="en-US" sz="3100" dirty="0">
                <a:solidFill>
                  <a:schemeClr val="bg1"/>
                </a:solidFill>
              </a:rPr>
              <a:t> </a:t>
            </a:r>
            <a:r>
              <a:rPr lang="en-US" sz="3100" dirty="0" err="1">
                <a:solidFill>
                  <a:schemeClr val="bg1"/>
                </a:solidFill>
              </a:rPr>
              <a:t>trả</a:t>
            </a:r>
            <a:r>
              <a:rPr lang="en-US" sz="3100" dirty="0">
                <a:solidFill>
                  <a:schemeClr val="bg1"/>
                </a:solidFill>
              </a:rPr>
              <a:t> </a:t>
            </a:r>
            <a:r>
              <a:rPr lang="en-US" sz="3100" dirty="0" err="1">
                <a:solidFill>
                  <a:schemeClr val="bg1"/>
                </a:solidFill>
              </a:rPr>
              <a:t>lời</a:t>
            </a:r>
            <a:r>
              <a:rPr lang="en-US" sz="3100" dirty="0">
                <a:solidFill>
                  <a:schemeClr val="bg1"/>
                </a:solidFill>
              </a:rPr>
              <a:t> </a:t>
            </a:r>
            <a:r>
              <a:rPr lang="en-US" sz="3100" dirty="0" err="1">
                <a:solidFill>
                  <a:schemeClr val="bg1"/>
                </a:solidFill>
              </a:rPr>
              <a:t>đúng</a:t>
            </a:r>
            <a:r>
              <a:rPr lang="en-US" sz="3100" dirty="0">
                <a:solidFill>
                  <a:schemeClr val="bg1"/>
                </a:solidFill>
              </a:rPr>
              <a:t>.)</a:t>
            </a:r>
            <a:r>
              <a:rPr lang="en-US" sz="2500" dirty="0">
                <a:solidFill>
                  <a:schemeClr val="bg1"/>
                </a:solidFill>
              </a:rPr>
              <a:t/>
            </a:r>
            <a:br>
              <a:rPr lang="en-US" sz="2500" dirty="0">
                <a:solidFill>
                  <a:schemeClr val="bg1"/>
                </a:solidFill>
              </a:rPr>
            </a:br>
            <a:r>
              <a:rPr lang="en-US" sz="2500" dirty="0"/>
              <a:t/>
            </a:r>
            <a:br>
              <a:rPr lang="en-US" sz="2500" dirty="0"/>
            </a:br>
            <a:endParaRPr lang="en-US" sz="2500" dirty="0">
              <a:solidFill>
                <a:srgbClr val="FFFFFF"/>
              </a:solidFill>
            </a:endParaRPr>
          </a:p>
        </p:txBody>
      </p:sp>
      <p:graphicFrame>
        <p:nvGraphicFramePr>
          <p:cNvPr id="5" name="Content Placeholder 2">
            <a:extLst>
              <a:ext uri="{FF2B5EF4-FFF2-40B4-BE49-F238E27FC236}">
                <a16:creationId xmlns:a16="http://schemas.microsoft.com/office/drawing/2014/main" xmlns="" id="{5ACA0BA7-3081-4F5C-82B6-AE136AB104E9}"/>
              </a:ext>
            </a:extLst>
          </p:cNvPr>
          <p:cNvGraphicFramePr>
            <a:graphicFrameLocks noGrp="1"/>
          </p:cNvGraphicFramePr>
          <p:nvPr>
            <p:ph idx="1"/>
            <p:extLst>
              <p:ext uri="{D42A27DB-BD31-4B8C-83A1-F6EECF244321}">
                <p14:modId xmlns:p14="http://schemas.microsoft.com/office/powerpoint/2010/main" val="299882619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xmlns="" id="{DC79BC3E-998A-4D22-A7F7-977B47A40EEC}"/>
              </a:ext>
            </a:extLst>
          </p:cNvPr>
          <p:cNvSpPr/>
          <p:nvPr/>
        </p:nvSpPr>
        <p:spPr>
          <a:xfrm>
            <a:off x="0" y="15720"/>
            <a:ext cx="1059906" cy="369332"/>
          </a:xfrm>
          <a:prstGeom prst="rect">
            <a:avLst/>
          </a:prstGeom>
        </p:spPr>
        <p:txBody>
          <a:bodyPr wrap="none">
            <a:spAutoFit/>
          </a:bodyPr>
          <a:lstStyle/>
          <a:p>
            <a:r>
              <a:rPr lang="en-US" dirty="0">
                <a:solidFill>
                  <a:srgbClr val="FFC000"/>
                </a:solidFill>
              </a:rPr>
              <a:t>Câu </a:t>
            </a:r>
            <a:r>
              <a:rPr lang="en-US" dirty="0" err="1">
                <a:solidFill>
                  <a:srgbClr val="FFC000"/>
                </a:solidFill>
              </a:rPr>
              <a:t>hỏi</a:t>
            </a:r>
            <a:r>
              <a:rPr lang="en-US" dirty="0">
                <a:solidFill>
                  <a:srgbClr val="FFC000"/>
                </a:solidFill>
              </a:rPr>
              <a:t> 2</a:t>
            </a:r>
            <a:endParaRPr lang="en-US" dirty="0"/>
          </a:p>
        </p:txBody>
      </p:sp>
    </p:spTree>
    <p:extLst>
      <p:ext uri="{BB962C8B-B14F-4D97-AF65-F5344CB8AC3E}">
        <p14:creationId xmlns:p14="http://schemas.microsoft.com/office/powerpoint/2010/main" val="33006212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C439FD-8D0C-49E4-BDC5-444021BA28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05B1260-B736-4E65-8D87-EF12388F4842}"/>
              </a:ext>
            </a:extLst>
          </p:cNvPr>
          <p:cNvSpPr>
            <a:spLocks noGrp="1"/>
          </p:cNvSpPr>
          <p:nvPr>
            <p:ph idx="1"/>
          </p:nvPr>
        </p:nvSpPr>
        <p:spPr/>
        <p:txBody>
          <a:bodyPr>
            <a:normAutofit/>
          </a:bodyPr>
          <a:lstStyle/>
          <a:p>
            <a:pPr fontAlgn="t"/>
            <a:r>
              <a:rPr lang="vi-VN" dirty="0"/>
              <a:t/>
            </a:r>
            <a:br>
              <a:rPr lang="vi-VN" dirty="0"/>
            </a:br>
            <a:r>
              <a:rPr lang="vi-VN" dirty="0"/>
              <a:t>(a), (d). Bởi vì mật độ năng lượng phụ thuộc vào độ lớn của từ trường, để tăng mật độ năng lượng, chúng ta phải tăng từ trường. </a:t>
            </a:r>
            <a:endParaRPr lang="en-US" dirty="0"/>
          </a:p>
        </p:txBody>
      </p:sp>
    </p:spTree>
    <p:extLst>
      <p:ext uri="{BB962C8B-B14F-4D97-AF65-F5344CB8AC3E}">
        <p14:creationId xmlns:p14="http://schemas.microsoft.com/office/powerpoint/2010/main" val="31404183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806D19-21DD-4B6E-893E-F0E2C1D35207}"/>
              </a:ext>
            </a:extLst>
          </p:cNvPr>
          <p:cNvSpPr>
            <a:spLocks noGrp="1"/>
          </p:cNvSpPr>
          <p:nvPr>
            <p:ph type="title"/>
          </p:nvPr>
        </p:nvSpPr>
        <p:spPr>
          <a:xfrm>
            <a:off x="0" y="0"/>
            <a:ext cx="10515600" cy="1325563"/>
          </a:xfrm>
        </p:spPr>
        <p:txBody>
          <a:bodyPr/>
          <a:lstStyle/>
          <a:p>
            <a:r>
              <a:rPr lang="en-US" dirty="0" err="1"/>
              <a:t>Hiện</a:t>
            </a:r>
            <a:r>
              <a:rPr lang="en-US" dirty="0"/>
              <a:t> t</a:t>
            </a:r>
            <a:r>
              <a:rPr lang="vi-VN" dirty="0"/>
              <a:t>ư</a:t>
            </a:r>
            <a:r>
              <a:rPr lang="en-US" dirty="0" err="1"/>
              <a:t>ợng</a:t>
            </a:r>
            <a:r>
              <a:rPr lang="en-US" dirty="0"/>
              <a:t> </a:t>
            </a:r>
            <a:r>
              <a:rPr lang="en-US" dirty="0" err="1"/>
              <a:t>hỗ</a:t>
            </a:r>
            <a:r>
              <a:rPr lang="en-US" dirty="0"/>
              <a:t> </a:t>
            </a:r>
            <a:r>
              <a:rPr lang="en-US" dirty="0" err="1"/>
              <a:t>cảm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BD62825F-0C51-4B86-AFD4-254D97F596B4}"/>
                  </a:ext>
                </a:extLst>
              </p:cNvPr>
              <p:cNvSpPr>
                <a:spLocks noGrp="1"/>
              </p:cNvSpPr>
              <p:nvPr>
                <p:ph idx="1"/>
              </p:nvPr>
            </p:nvSpPr>
            <p:spPr>
              <a:xfrm>
                <a:off x="240652" y="2278062"/>
                <a:ext cx="11856097" cy="4351338"/>
              </a:xfrm>
            </p:spPr>
            <p:txBody>
              <a:bodyPr>
                <a:normAutofit fontScale="92500" lnSpcReduction="10000"/>
              </a:bodyPr>
              <a:lstStyle/>
              <a:p>
                <a:r>
                  <a:rPr lang="en-US" dirty="0"/>
                  <a:t>Xét </a:t>
                </a:r>
                <a:r>
                  <a:rPr lang="en-US" dirty="0" err="1"/>
                  <a:t>hai</a:t>
                </a:r>
                <a:r>
                  <a:rPr lang="en-US" dirty="0"/>
                  <a:t> </a:t>
                </a:r>
                <a:r>
                  <a:rPr lang="en-US" dirty="0" err="1"/>
                  <a:t>mạch</a:t>
                </a:r>
                <a:r>
                  <a:rPr lang="en-US" dirty="0"/>
                  <a:t> </a:t>
                </a:r>
                <a:r>
                  <a:rPr lang="en-US" dirty="0" err="1"/>
                  <a:t>điện</a:t>
                </a:r>
                <a:r>
                  <a:rPr lang="en-US" dirty="0"/>
                  <a:t> </a:t>
                </a:r>
                <a:r>
                  <a:rPr lang="en-US" dirty="0" err="1"/>
                  <a:t>kín</a:t>
                </a:r>
                <a:r>
                  <a:rPr lang="en-US" dirty="0"/>
                  <a:t> </a:t>
                </a:r>
                <a14:m>
                  <m:oMath xmlns:m="http://schemas.openxmlformats.org/officeDocument/2006/math">
                    <m:sSub>
                      <m:sSubPr>
                        <m:ctrlPr>
                          <a:rPr lang="en-US" i="1" smtClean="0">
                            <a:latin typeface="Cambria Math"/>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oMath>
                </a14:m>
                <a:r>
                  <a:rPr lang="en-US" dirty="0"/>
                  <a:t> </a:t>
                </a:r>
                <a:r>
                  <a:rPr lang="en-US" dirty="0" err="1"/>
                  <a:t>đặt</a:t>
                </a:r>
                <a:r>
                  <a:rPr lang="en-US" dirty="0"/>
                  <a:t> </a:t>
                </a:r>
                <a:r>
                  <a:rPr lang="en-US" dirty="0" err="1"/>
                  <a:t>gần</a:t>
                </a:r>
                <a:r>
                  <a:rPr lang="en-US" dirty="0"/>
                  <a:t> </a:t>
                </a:r>
                <a:r>
                  <a:rPr lang="en-US" dirty="0" err="1"/>
                  <a:t>nhau</a:t>
                </a:r>
                <a:r>
                  <a:rPr lang="en-US" dirty="0"/>
                  <a:t>, </a:t>
                </a:r>
                <a:r>
                  <a:rPr lang="en-US" dirty="0" err="1"/>
                  <a:t>có</a:t>
                </a:r>
                <a:r>
                  <a:rPr lang="en-US" dirty="0"/>
                  <a:t> </a:t>
                </a:r>
                <a:r>
                  <a:rPr lang="en-US" dirty="0" err="1"/>
                  <a:t>dòng</a:t>
                </a:r>
                <a:r>
                  <a:rPr lang="en-US" dirty="0"/>
                  <a:t> </a:t>
                </a:r>
                <a:r>
                  <a:rPr lang="en-US" dirty="0" err="1"/>
                  <a:t>điện</a:t>
                </a:r>
                <a:r>
                  <a:rPr lang="en-US" dirty="0"/>
                  <a:t> c</a:t>
                </a:r>
                <a:r>
                  <a:rPr lang="vi-VN" dirty="0"/>
                  <a:t>ư</a:t>
                </a:r>
                <a:r>
                  <a:rPr lang="en-US" dirty="0" err="1"/>
                  <a:t>ờng</a:t>
                </a:r>
                <a:r>
                  <a:rPr lang="en-US" dirty="0"/>
                  <a:t> độ </a:t>
                </a:r>
                <a14:m>
                  <m:oMath xmlns:m="http://schemas.openxmlformats.org/officeDocument/2006/math">
                    <m:sSub>
                      <m:sSubPr>
                        <m:ctrlPr>
                          <a:rPr lang="en-US" i="1" smtClean="0">
                            <a:latin typeface="Cambria Math"/>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oMath>
                </a14:m>
                <a:r>
                  <a:rPr lang="en-US" dirty="0"/>
                  <a:t> </a:t>
                </a:r>
                <a:r>
                  <a:rPr lang="en-US" dirty="0" err="1"/>
                  <a:t>chạy</a:t>
                </a:r>
                <a:r>
                  <a:rPr lang="en-US" dirty="0"/>
                  <a:t> qua. </a:t>
                </a:r>
                <a:r>
                  <a:rPr lang="en-US" dirty="0" err="1"/>
                  <a:t>Giả</a:t>
                </a:r>
                <a:r>
                  <a:rPr lang="en-US" dirty="0"/>
                  <a:t> </a:t>
                </a:r>
                <a:r>
                  <a:rPr lang="en-US" dirty="0" err="1"/>
                  <a:t>sử</a:t>
                </a:r>
                <a:r>
                  <a:rPr lang="en-US" dirty="0"/>
                  <a:t> </a:t>
                </a:r>
                <a:r>
                  <a:rPr lang="en-US" dirty="0" err="1"/>
                  <a:t>làm</a:t>
                </a:r>
                <a:r>
                  <a:rPr lang="en-US" dirty="0"/>
                  <a:t> </a:t>
                </a:r>
                <a:r>
                  <a:rPr lang="en-US" dirty="0" err="1"/>
                  <a:t>biến</a:t>
                </a:r>
                <a:r>
                  <a:rPr lang="en-US" dirty="0"/>
                  <a:t> </a:t>
                </a:r>
                <a:r>
                  <a:rPr lang="en-US" dirty="0" err="1"/>
                  <a:t>đổi</a:t>
                </a:r>
                <a:r>
                  <a:rPr lang="en-US" dirty="0"/>
                  <a:t> </a:t>
                </a:r>
                <a14:m>
                  <m:oMath xmlns:m="http://schemas.openxmlformats.org/officeDocument/2006/math">
                    <m:sSub>
                      <m:sSubPr>
                        <m:ctrlPr>
                          <a:rPr lang="en-US" i="1">
                            <a:latin typeface="Cambria Math"/>
                          </a:rPr>
                        </m:ctrlPr>
                      </m:sSubPr>
                      <m:e>
                        <m:r>
                          <m:rPr>
                            <m:sty m:val="p"/>
                          </m:rPr>
                          <a:rPr lang="en-US" b="0" i="0" smtClean="0">
                            <a:latin typeface="Cambria Math" panose="02040503050406030204" pitchFamily="18" charset="0"/>
                          </a:rPr>
                          <m:t>i</m:t>
                        </m:r>
                      </m:e>
                      <m:sub>
                        <m:r>
                          <a:rPr lang="en-US" i="0">
                            <a:latin typeface="Cambria Math" panose="02040503050406030204" pitchFamily="18" charset="0"/>
                          </a:rPr>
                          <m:t>1</m:t>
                        </m:r>
                      </m:sub>
                    </m:sSub>
                  </m:oMath>
                </a14:m>
                <a:r>
                  <a:rPr lang="en-US" dirty="0"/>
                  <a:t> </a:t>
                </a:r>
                <a:r>
                  <a:rPr lang="en-US" dirty="0" err="1"/>
                  <a:t>chạy</a:t>
                </a:r>
                <a:r>
                  <a:rPr lang="en-US" dirty="0"/>
                  <a:t> </a:t>
                </a:r>
                <a:r>
                  <a:rPr lang="en-US" dirty="0" err="1"/>
                  <a:t>trong</a:t>
                </a:r>
                <a:r>
                  <a:rPr lang="en-US" dirty="0"/>
                  <a:t> </a:t>
                </a:r>
                <a14:m>
                  <m:oMath xmlns:m="http://schemas.openxmlformats.org/officeDocument/2006/math">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1</m:t>
                        </m:r>
                      </m:sub>
                    </m:sSub>
                  </m:oMath>
                </a14:m>
                <a:r>
                  <a:rPr lang="en-US" dirty="0"/>
                  <a:t> </a:t>
                </a:r>
                <a:r>
                  <a:rPr lang="en-US" dirty="0" err="1"/>
                  <a:t>thì</a:t>
                </a:r>
                <a:r>
                  <a:rPr lang="en-US" dirty="0"/>
                  <a:t> </a:t>
                </a:r>
                <a:r>
                  <a:rPr lang="en-US" dirty="0" err="1"/>
                  <a:t>từ</a:t>
                </a:r>
                <a:r>
                  <a:rPr lang="en-US" dirty="0"/>
                  <a:t> </a:t>
                </a:r>
                <a:r>
                  <a:rPr lang="en-US" dirty="0" err="1"/>
                  <a:t>trường</a:t>
                </a:r>
                <a:r>
                  <a:rPr lang="en-US" dirty="0"/>
                  <a:t> do </a:t>
                </a:r>
                <a:r>
                  <a:rPr lang="en-US" dirty="0" err="1"/>
                  <a:t>mạch</a:t>
                </a:r>
                <a:r>
                  <a:rPr lang="en-US" dirty="0"/>
                  <a:t> </a:t>
                </a:r>
                <a:r>
                  <a:rPr lang="en-US" dirty="0" err="1"/>
                  <a:t>đó</a:t>
                </a:r>
                <a:r>
                  <a:rPr lang="en-US" dirty="0"/>
                  <a:t> </a:t>
                </a:r>
                <a:r>
                  <a:rPr lang="en-US" dirty="0" err="1"/>
                  <a:t>sinh</a:t>
                </a:r>
                <a:r>
                  <a:rPr lang="en-US" dirty="0"/>
                  <a:t> ra </a:t>
                </a:r>
                <a:r>
                  <a:rPr lang="en-US" dirty="0" err="1"/>
                  <a:t>sẽ</a:t>
                </a:r>
                <a:r>
                  <a:rPr lang="en-US" dirty="0"/>
                  <a:t> </a:t>
                </a:r>
                <a:r>
                  <a:rPr lang="en-US" dirty="0" err="1"/>
                  <a:t>biến</a:t>
                </a:r>
                <a:r>
                  <a:rPr lang="en-US" dirty="0"/>
                  <a:t> </a:t>
                </a:r>
                <a:r>
                  <a:rPr lang="en-US" dirty="0" err="1"/>
                  <a:t>đổi</a:t>
                </a:r>
                <a:r>
                  <a:rPr lang="en-US" dirty="0"/>
                  <a:t> </a:t>
                </a:r>
                <a:r>
                  <a:rPr lang="en-US" dirty="0" err="1"/>
                  <a:t>theo.</a:t>
                </a:r>
                <a:r>
                  <a:rPr lang="en-US" dirty="0"/>
                  <a:t> </a:t>
                </a:r>
                <a:r>
                  <a:rPr lang="en-US" dirty="0" err="1"/>
                  <a:t>Kết</a:t>
                </a:r>
                <a:r>
                  <a:rPr lang="en-US" dirty="0"/>
                  <a:t> </a:t>
                </a:r>
                <a:r>
                  <a:rPr lang="en-US" dirty="0" err="1"/>
                  <a:t>quả</a:t>
                </a:r>
                <a:r>
                  <a:rPr lang="en-US" dirty="0"/>
                  <a:t> </a:t>
                </a:r>
                <a:r>
                  <a:rPr lang="en-US" dirty="0" err="1"/>
                  <a:t>là</a:t>
                </a:r>
                <a:r>
                  <a:rPr lang="en-US" dirty="0"/>
                  <a:t> </a:t>
                </a:r>
                <a:r>
                  <a:rPr lang="en-US" dirty="0" err="1"/>
                  <a:t>trong</a:t>
                </a:r>
                <a:r>
                  <a:rPr lang="en-US" dirty="0"/>
                  <a:t> </a:t>
                </a:r>
                <a:r>
                  <a:rPr lang="en-US" dirty="0" err="1"/>
                  <a:t>mạch</a:t>
                </a:r>
                <a:r>
                  <a:rPr lang="en-US" dirty="0"/>
                  <a:t> </a:t>
                </a:r>
                <a14:m>
                  <m:oMath xmlns:m="http://schemas.openxmlformats.org/officeDocument/2006/math">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2</m:t>
                        </m:r>
                      </m:sub>
                    </m:sSub>
                  </m:oMath>
                </a14:m>
                <a:r>
                  <a:rPr lang="en-US" dirty="0"/>
                  <a:t> </a:t>
                </a:r>
                <a:r>
                  <a:rPr lang="en-US" dirty="0" err="1"/>
                  <a:t>sẽ</a:t>
                </a:r>
                <a:r>
                  <a:rPr lang="en-US" dirty="0"/>
                  <a:t> </a:t>
                </a:r>
                <a:r>
                  <a:rPr lang="en-US" dirty="0" err="1"/>
                  <a:t>xuất</a:t>
                </a:r>
                <a:r>
                  <a:rPr lang="en-US" dirty="0"/>
                  <a:t> </a:t>
                </a:r>
                <a:r>
                  <a:rPr lang="en-US" dirty="0" err="1"/>
                  <a:t>hiện</a:t>
                </a:r>
                <a:r>
                  <a:rPr lang="en-US" dirty="0"/>
                  <a:t> </a:t>
                </a:r>
                <a:r>
                  <a:rPr lang="en-US" dirty="0" err="1"/>
                  <a:t>một</a:t>
                </a:r>
                <a:r>
                  <a:rPr lang="en-US" dirty="0"/>
                  <a:t> </a:t>
                </a:r>
                <a:r>
                  <a:rPr lang="en-US" dirty="0" err="1"/>
                  <a:t>dòng</a:t>
                </a:r>
                <a:r>
                  <a:rPr lang="en-US" dirty="0"/>
                  <a:t> </a:t>
                </a:r>
                <a:r>
                  <a:rPr lang="en-US" dirty="0" err="1"/>
                  <a:t>điện</a:t>
                </a:r>
                <a:r>
                  <a:rPr lang="en-US" dirty="0"/>
                  <a:t> </a:t>
                </a:r>
                <a:r>
                  <a:rPr lang="en-US" dirty="0" err="1"/>
                  <a:t>cảm</a:t>
                </a:r>
                <a:r>
                  <a:rPr lang="en-US" dirty="0"/>
                  <a:t> </a:t>
                </a:r>
                <a:r>
                  <a:rPr lang="en-US" dirty="0" err="1"/>
                  <a:t>ứng</a:t>
                </a:r>
                <a:r>
                  <a:rPr lang="en-US" dirty="0"/>
                  <a:t> </a:t>
                </a:r>
                <a:r>
                  <a:rPr lang="en-US" dirty="0" err="1"/>
                  <a:t>làm</a:t>
                </a:r>
                <a:r>
                  <a:rPr lang="en-US" dirty="0"/>
                  <a:t> </a:t>
                </a:r>
                <a:r>
                  <a:rPr lang="en-US" dirty="0" err="1"/>
                  <a:t>biến</a:t>
                </a:r>
                <a:r>
                  <a:rPr lang="en-US" dirty="0"/>
                  <a:t> </a:t>
                </a:r>
                <a:r>
                  <a:rPr lang="en-US" dirty="0" err="1"/>
                  <a:t>đổi</a:t>
                </a:r>
                <a:r>
                  <a:rPr lang="en-US" dirty="0"/>
                  <a:t> </a:t>
                </a:r>
                <a14:m>
                  <m:oMath xmlns:m="http://schemas.openxmlformats.org/officeDocument/2006/math">
                    <m:sSub>
                      <m:sSubPr>
                        <m:ctrlPr>
                          <a:rPr lang="en-US" i="1">
                            <a:latin typeface="Cambria Math"/>
                          </a:rPr>
                        </m:ctrlPr>
                      </m:sSubPr>
                      <m:e>
                        <m:r>
                          <a:rPr lang="en-US" b="0" i="1" smtClean="0">
                            <a:latin typeface="Cambria Math" panose="02040503050406030204" pitchFamily="18" charset="0"/>
                          </a:rPr>
                          <m:t>𝑖</m:t>
                        </m:r>
                      </m:e>
                      <m:sub>
                        <m:r>
                          <a:rPr lang="en-US" i="1">
                            <a:latin typeface="Cambria Math" panose="02040503050406030204" pitchFamily="18" charset="0"/>
                          </a:rPr>
                          <m:t>2</m:t>
                        </m:r>
                      </m:sub>
                    </m:sSub>
                  </m:oMath>
                </a14:m>
                <a:r>
                  <a:rPr lang="en-US" dirty="0"/>
                  <a:t>. </a:t>
                </a:r>
                <a:r>
                  <a:rPr lang="en-US" dirty="0" err="1"/>
                  <a:t>Ngược</a:t>
                </a:r>
                <a:r>
                  <a:rPr lang="en-US" dirty="0"/>
                  <a:t> </a:t>
                </a:r>
                <a:r>
                  <a:rPr lang="en-US" dirty="0" err="1"/>
                  <a:t>lại</a:t>
                </a:r>
                <a:r>
                  <a:rPr lang="en-US" dirty="0"/>
                  <a:t>, </a:t>
                </a:r>
                <a14:m>
                  <m:oMath xmlns:m="http://schemas.openxmlformats.org/officeDocument/2006/math">
                    <m:sSub>
                      <m:sSubPr>
                        <m:ctrlPr>
                          <a:rPr lang="en-US" i="1">
                            <a:latin typeface="Cambria Math"/>
                          </a:rPr>
                        </m:ctrlPr>
                      </m:sSubPr>
                      <m:e>
                        <m:r>
                          <a:rPr lang="en-US" b="0" i="1" smtClean="0">
                            <a:latin typeface="Cambria Math" panose="02040503050406030204" pitchFamily="18" charset="0"/>
                          </a:rPr>
                          <m:t>𝑖</m:t>
                        </m:r>
                      </m:e>
                      <m:sub>
                        <m:r>
                          <a:rPr lang="en-US" i="1">
                            <a:latin typeface="Cambria Math" panose="02040503050406030204" pitchFamily="18" charset="0"/>
                          </a:rPr>
                          <m:t>2</m:t>
                        </m:r>
                      </m:sub>
                    </m:sSub>
                    <m:r>
                      <a:rPr lang="en-US" i="1">
                        <a:latin typeface="Cambria Math" panose="02040503050406030204" pitchFamily="18" charset="0"/>
                      </a:rPr>
                      <m:t> </m:t>
                    </m:r>
                  </m:oMath>
                </a14:m>
                <a:r>
                  <a:rPr lang="en-US" dirty="0" err="1"/>
                  <a:t>biến</a:t>
                </a:r>
                <a:r>
                  <a:rPr lang="en-US" dirty="0"/>
                  <a:t> </a:t>
                </a:r>
                <a:r>
                  <a:rPr lang="en-US" dirty="0" err="1"/>
                  <a:t>đổi</a:t>
                </a:r>
                <a:r>
                  <a:rPr lang="en-US" dirty="0"/>
                  <a:t> </a:t>
                </a:r>
                <a:r>
                  <a:rPr lang="en-US" dirty="0" err="1"/>
                  <a:t>cũng</a:t>
                </a:r>
                <a:r>
                  <a:rPr lang="en-US" dirty="0"/>
                  <a:t> </a:t>
                </a:r>
                <a:r>
                  <a:rPr lang="en-US" dirty="0" err="1"/>
                  <a:t>làm</a:t>
                </a:r>
                <a:r>
                  <a:rPr lang="en-US" dirty="0"/>
                  <a:t> </a:t>
                </a:r>
                <a:r>
                  <a:rPr lang="en-US" dirty="0" err="1"/>
                  <a:t>cho</a:t>
                </a:r>
                <a:r>
                  <a:rPr lang="en-US" dirty="0"/>
                  <a:t> </a:t>
                </a:r>
                <a:r>
                  <a:rPr lang="en-US" dirty="0" err="1"/>
                  <a:t>từ</a:t>
                </a:r>
                <a:r>
                  <a:rPr lang="en-US" dirty="0"/>
                  <a:t> </a:t>
                </a:r>
                <a:r>
                  <a:rPr lang="en-US" dirty="0" err="1"/>
                  <a:t>thông</a:t>
                </a:r>
                <a:r>
                  <a:rPr lang="en-US" dirty="0"/>
                  <a:t> </a:t>
                </a:r>
                <a:r>
                  <a:rPr lang="en-US" dirty="0" err="1"/>
                  <a:t>của</a:t>
                </a:r>
                <a:r>
                  <a:rPr lang="en-US" dirty="0"/>
                  <a:t> </a:t>
                </a:r>
                <a:r>
                  <a:rPr lang="en-US" dirty="0" err="1"/>
                  <a:t>mạch</a:t>
                </a:r>
                <a:r>
                  <a:rPr lang="en-US" dirty="0"/>
                  <a:t> </a:t>
                </a:r>
                <a14:m>
                  <m:oMath xmlns:m="http://schemas.openxmlformats.org/officeDocument/2006/math">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2</m:t>
                        </m:r>
                      </m:sub>
                    </m:sSub>
                  </m:oMath>
                </a14:m>
                <a:r>
                  <a:rPr lang="en-US" dirty="0"/>
                  <a:t> </a:t>
                </a:r>
                <a:r>
                  <a:rPr lang="en-US" dirty="0" err="1"/>
                  <a:t>gửi</a:t>
                </a:r>
                <a:r>
                  <a:rPr lang="en-US" dirty="0"/>
                  <a:t> qua </a:t>
                </a:r>
                <a:r>
                  <a:rPr lang="en-US" dirty="0" err="1"/>
                  <a:t>mạch</a:t>
                </a:r>
                <a:r>
                  <a:rPr lang="en-US" dirty="0"/>
                  <a:t> </a:t>
                </a:r>
                <a14:m>
                  <m:oMath xmlns:m="http://schemas.openxmlformats.org/officeDocument/2006/math">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1</m:t>
                        </m:r>
                      </m:sub>
                    </m:sSub>
                  </m:oMath>
                </a14:m>
                <a:r>
                  <a:rPr lang="en-US" dirty="0"/>
                  <a:t> </a:t>
                </a:r>
                <a:r>
                  <a:rPr lang="en-US" dirty="0" err="1"/>
                  <a:t>thay</a:t>
                </a:r>
                <a:r>
                  <a:rPr lang="en-US" dirty="0"/>
                  <a:t> </a:t>
                </a:r>
                <a:r>
                  <a:rPr lang="en-US" dirty="0" err="1"/>
                  <a:t>đổi</a:t>
                </a:r>
                <a:r>
                  <a:rPr lang="en-US" dirty="0"/>
                  <a:t>, </a:t>
                </a:r>
                <a:r>
                  <a:rPr lang="en-US" dirty="0" err="1"/>
                  <a:t>trong</a:t>
                </a:r>
                <a:r>
                  <a:rPr lang="en-US" dirty="0"/>
                  <a:t> </a:t>
                </a:r>
                <a:r>
                  <a:rPr lang="en-US" dirty="0" err="1"/>
                  <a:t>mạch</a:t>
                </a:r>
                <a:r>
                  <a:rPr lang="en-US" dirty="0"/>
                  <a:t> </a:t>
                </a:r>
                <a14:m>
                  <m:oMath xmlns:m="http://schemas.openxmlformats.org/officeDocument/2006/math">
                    <m:sSub>
                      <m:sSubPr>
                        <m:ctrlPr>
                          <a:rPr lang="en-US" i="1">
                            <a:latin typeface="Cambria Math"/>
                          </a:rPr>
                        </m:ctrlPr>
                      </m:sSubPr>
                      <m:e>
                        <m:r>
                          <a:rPr lang="en-US" i="1">
                            <a:latin typeface="Cambria Math" panose="02040503050406030204" pitchFamily="18" charset="0"/>
                          </a:rPr>
                          <m:t>𝐶</m:t>
                        </m:r>
                      </m:e>
                      <m:sub>
                        <m:r>
                          <a:rPr lang="en-US" i="1">
                            <a:latin typeface="Cambria Math" panose="02040503050406030204" pitchFamily="18" charset="0"/>
                          </a:rPr>
                          <m:t>1</m:t>
                        </m:r>
                      </m:sub>
                    </m:sSub>
                  </m:oMath>
                </a14:m>
                <a:r>
                  <a:rPr lang="en-US" dirty="0"/>
                  <a:t> </a:t>
                </a:r>
                <a:r>
                  <a:rPr lang="en-US" dirty="0" err="1"/>
                  <a:t>sẽ</a:t>
                </a:r>
                <a:r>
                  <a:rPr lang="en-US" dirty="0"/>
                  <a:t> </a:t>
                </a:r>
                <a:r>
                  <a:rPr lang="en-US" dirty="0" err="1"/>
                  <a:t>xuất</a:t>
                </a:r>
                <a:r>
                  <a:rPr lang="en-US" dirty="0"/>
                  <a:t> </a:t>
                </a:r>
                <a:r>
                  <a:rPr lang="en-US" dirty="0" err="1"/>
                  <a:t>hiện</a:t>
                </a:r>
                <a:r>
                  <a:rPr lang="en-US" dirty="0"/>
                  <a:t> </a:t>
                </a:r>
                <a:r>
                  <a:rPr lang="en-US" dirty="0" err="1"/>
                  <a:t>dòng</a:t>
                </a:r>
                <a:r>
                  <a:rPr lang="en-US" dirty="0"/>
                  <a:t> </a:t>
                </a:r>
                <a:r>
                  <a:rPr lang="en-US" dirty="0" err="1"/>
                  <a:t>điện</a:t>
                </a:r>
                <a:r>
                  <a:rPr lang="en-US" dirty="0"/>
                  <a:t> </a:t>
                </a:r>
                <a:r>
                  <a:rPr lang="en-US" dirty="0" err="1"/>
                  <a:t>cảm</a:t>
                </a:r>
                <a:r>
                  <a:rPr lang="en-US" dirty="0"/>
                  <a:t> </a:t>
                </a:r>
                <a:r>
                  <a:rPr lang="en-US" dirty="0" err="1"/>
                  <a:t>ứng</a:t>
                </a:r>
                <a:r>
                  <a:rPr lang="en-US" dirty="0"/>
                  <a:t> </a:t>
                </a:r>
                <a:r>
                  <a:rPr lang="en-US" dirty="0" err="1"/>
                  <a:t>làm</a:t>
                </a:r>
                <a:r>
                  <a:rPr lang="en-US" dirty="0"/>
                  <a:t> </a:t>
                </a:r>
                <a:r>
                  <a:rPr lang="en-US" dirty="0" err="1"/>
                  <a:t>biến</a:t>
                </a:r>
                <a:r>
                  <a:rPr lang="en-US" dirty="0"/>
                  <a:t> </a:t>
                </a:r>
                <a:r>
                  <a:rPr lang="en-US" dirty="0" err="1"/>
                  <a:t>đổi</a:t>
                </a:r>
                <a:r>
                  <a:rPr lang="en-US" dirty="0"/>
                  <a:t> </a:t>
                </a:r>
                <a14:m>
                  <m:oMath xmlns:m="http://schemas.openxmlformats.org/officeDocument/2006/math">
                    <m:sSub>
                      <m:sSubPr>
                        <m:ctrlPr>
                          <a:rPr lang="en-US" i="1" smtClean="0">
                            <a:latin typeface="Cambria Math"/>
                          </a:rPr>
                        </m:ctrlPr>
                      </m:sSubPr>
                      <m:e>
                        <m:r>
                          <a:rPr lang="en-US" b="0" i="1" smtClean="0">
                            <a:latin typeface="Cambria Math" panose="02040503050406030204" pitchFamily="18" charset="0"/>
                          </a:rPr>
                          <m:t>𝑖</m:t>
                        </m:r>
                      </m:e>
                      <m:sub>
                        <m:r>
                          <a:rPr lang="en-US" i="1">
                            <a:latin typeface="Cambria Math" panose="02040503050406030204" pitchFamily="18" charset="0"/>
                          </a:rPr>
                          <m:t>1</m:t>
                        </m:r>
                      </m:sub>
                    </m:sSub>
                  </m:oMath>
                </a14:m>
                <a:r>
                  <a:rPr lang="en-US" dirty="0"/>
                  <a:t>.</a:t>
                </a:r>
              </a:p>
              <a:p>
                <a:r>
                  <a:rPr lang="en-US" dirty="0" err="1">
                    <a:solidFill>
                      <a:srgbClr val="00B050"/>
                    </a:solidFill>
                  </a:rPr>
                  <a:t>Hiện</a:t>
                </a:r>
                <a:r>
                  <a:rPr lang="en-US" dirty="0">
                    <a:solidFill>
                      <a:srgbClr val="00B050"/>
                    </a:solidFill>
                  </a:rPr>
                  <a:t> t</a:t>
                </a:r>
                <a:r>
                  <a:rPr lang="vi-VN" dirty="0">
                    <a:solidFill>
                      <a:srgbClr val="00B050"/>
                    </a:solidFill>
                  </a:rPr>
                  <a:t>ư</a:t>
                </a:r>
                <a:r>
                  <a:rPr lang="en-US" dirty="0" err="1">
                    <a:solidFill>
                      <a:srgbClr val="00B050"/>
                    </a:solidFill>
                  </a:rPr>
                  <a:t>ợng</a:t>
                </a:r>
                <a:r>
                  <a:rPr lang="en-US" dirty="0">
                    <a:solidFill>
                      <a:srgbClr val="00B050"/>
                    </a:solidFill>
                  </a:rPr>
                  <a:t> </a:t>
                </a:r>
                <a:r>
                  <a:rPr lang="en-US" dirty="0" err="1">
                    <a:solidFill>
                      <a:srgbClr val="00B050"/>
                    </a:solidFill>
                  </a:rPr>
                  <a:t>này</a:t>
                </a:r>
                <a:r>
                  <a:rPr lang="en-US" dirty="0">
                    <a:solidFill>
                      <a:srgbClr val="00B050"/>
                    </a:solidFill>
                  </a:rPr>
                  <a:t> </a:t>
                </a:r>
                <a:r>
                  <a:rPr lang="en-US" dirty="0" err="1">
                    <a:solidFill>
                      <a:srgbClr val="00B050"/>
                    </a:solidFill>
                  </a:rPr>
                  <a:t>gọi</a:t>
                </a:r>
                <a:r>
                  <a:rPr lang="en-US" dirty="0">
                    <a:solidFill>
                      <a:srgbClr val="00B050"/>
                    </a:solidFill>
                  </a:rPr>
                  <a:t> </a:t>
                </a:r>
                <a:r>
                  <a:rPr lang="en-US" dirty="0" err="1">
                    <a:solidFill>
                      <a:srgbClr val="00B050"/>
                    </a:solidFill>
                  </a:rPr>
                  <a:t>là</a:t>
                </a:r>
                <a:r>
                  <a:rPr lang="en-US" dirty="0">
                    <a:solidFill>
                      <a:srgbClr val="00B050"/>
                    </a:solidFill>
                  </a:rPr>
                  <a:t> </a:t>
                </a:r>
                <a:r>
                  <a:rPr lang="en-US" dirty="0" err="1">
                    <a:solidFill>
                      <a:srgbClr val="00B050"/>
                    </a:solidFill>
                  </a:rPr>
                  <a:t>hiện</a:t>
                </a:r>
                <a:r>
                  <a:rPr lang="en-US" dirty="0">
                    <a:solidFill>
                      <a:srgbClr val="00B050"/>
                    </a:solidFill>
                  </a:rPr>
                  <a:t> t</a:t>
                </a:r>
                <a:r>
                  <a:rPr lang="vi-VN" dirty="0">
                    <a:solidFill>
                      <a:srgbClr val="00B050"/>
                    </a:solidFill>
                  </a:rPr>
                  <a:t>ư</a:t>
                </a:r>
                <a:r>
                  <a:rPr lang="en-US" dirty="0" err="1">
                    <a:solidFill>
                      <a:srgbClr val="00B050"/>
                    </a:solidFill>
                  </a:rPr>
                  <a:t>ợng</a:t>
                </a:r>
                <a:r>
                  <a:rPr lang="en-US" dirty="0">
                    <a:solidFill>
                      <a:srgbClr val="00B050"/>
                    </a:solidFill>
                  </a:rPr>
                  <a:t> </a:t>
                </a:r>
                <a:r>
                  <a:rPr lang="en-US" dirty="0" err="1">
                    <a:solidFill>
                      <a:srgbClr val="00B050"/>
                    </a:solidFill>
                  </a:rPr>
                  <a:t>hỗ</a:t>
                </a:r>
                <a:r>
                  <a:rPr lang="en-US" dirty="0">
                    <a:solidFill>
                      <a:srgbClr val="00B050"/>
                    </a:solidFill>
                  </a:rPr>
                  <a:t> </a:t>
                </a:r>
                <a:r>
                  <a:rPr lang="en-US" dirty="0" err="1">
                    <a:solidFill>
                      <a:srgbClr val="00B050"/>
                    </a:solidFill>
                  </a:rPr>
                  <a:t>cảm</a:t>
                </a:r>
                <a:r>
                  <a:rPr lang="en-US" dirty="0">
                    <a:solidFill>
                      <a:srgbClr val="00B050"/>
                    </a:solidFill>
                  </a:rPr>
                  <a:t> </a:t>
                </a:r>
                <a:r>
                  <a:rPr lang="en-US" dirty="0" err="1">
                    <a:solidFill>
                      <a:srgbClr val="00B050"/>
                    </a:solidFill>
                  </a:rPr>
                  <a:t>và</a:t>
                </a:r>
                <a:r>
                  <a:rPr lang="en-US" dirty="0">
                    <a:solidFill>
                      <a:srgbClr val="00B050"/>
                    </a:solidFill>
                  </a:rPr>
                  <a:t> </a:t>
                </a:r>
                <a:r>
                  <a:rPr lang="en-US" dirty="0" err="1">
                    <a:solidFill>
                      <a:srgbClr val="00B050"/>
                    </a:solidFill>
                  </a:rPr>
                  <a:t>các</a:t>
                </a:r>
                <a:r>
                  <a:rPr lang="en-US" dirty="0">
                    <a:solidFill>
                      <a:srgbClr val="00B050"/>
                    </a:solidFill>
                  </a:rPr>
                  <a:t> </a:t>
                </a:r>
                <a:r>
                  <a:rPr lang="en-US" dirty="0" err="1">
                    <a:solidFill>
                      <a:srgbClr val="00B050"/>
                    </a:solidFill>
                  </a:rPr>
                  <a:t>dòng</a:t>
                </a:r>
                <a:r>
                  <a:rPr lang="en-US" dirty="0">
                    <a:solidFill>
                      <a:srgbClr val="00B050"/>
                    </a:solidFill>
                  </a:rPr>
                  <a:t> </a:t>
                </a:r>
                <a:r>
                  <a:rPr lang="en-US" dirty="0" err="1">
                    <a:solidFill>
                      <a:srgbClr val="00B050"/>
                    </a:solidFill>
                  </a:rPr>
                  <a:t>điện</a:t>
                </a:r>
                <a:r>
                  <a:rPr lang="en-US" dirty="0">
                    <a:solidFill>
                      <a:srgbClr val="00B050"/>
                    </a:solidFill>
                  </a:rPr>
                  <a:t> </a:t>
                </a:r>
                <a:r>
                  <a:rPr lang="en-US" dirty="0" err="1">
                    <a:solidFill>
                      <a:srgbClr val="00B050"/>
                    </a:solidFill>
                  </a:rPr>
                  <a:t>cảm</a:t>
                </a:r>
                <a:r>
                  <a:rPr lang="en-US" dirty="0">
                    <a:solidFill>
                      <a:srgbClr val="00B050"/>
                    </a:solidFill>
                  </a:rPr>
                  <a:t> </a:t>
                </a:r>
                <a:r>
                  <a:rPr lang="en-US" dirty="0" err="1">
                    <a:solidFill>
                      <a:srgbClr val="00B050"/>
                    </a:solidFill>
                  </a:rPr>
                  <a:t>ứng</a:t>
                </a:r>
                <a:r>
                  <a:rPr lang="en-US" dirty="0">
                    <a:solidFill>
                      <a:srgbClr val="00B050"/>
                    </a:solidFill>
                  </a:rPr>
                  <a:t> </a:t>
                </a:r>
                <a:r>
                  <a:rPr lang="en-US" dirty="0" err="1">
                    <a:solidFill>
                      <a:srgbClr val="00B050"/>
                    </a:solidFill>
                  </a:rPr>
                  <a:t>xuất</a:t>
                </a:r>
                <a:r>
                  <a:rPr lang="en-US" dirty="0">
                    <a:solidFill>
                      <a:srgbClr val="00B050"/>
                    </a:solidFill>
                  </a:rPr>
                  <a:t> </a:t>
                </a:r>
                <a:r>
                  <a:rPr lang="en-US" dirty="0" err="1">
                    <a:solidFill>
                      <a:srgbClr val="00B050"/>
                    </a:solidFill>
                  </a:rPr>
                  <a:t>hiện</a:t>
                </a:r>
                <a:r>
                  <a:rPr lang="en-US" dirty="0">
                    <a:solidFill>
                      <a:srgbClr val="00B050"/>
                    </a:solidFill>
                  </a:rPr>
                  <a:t> </a:t>
                </a:r>
                <a:r>
                  <a:rPr lang="en-US" dirty="0" err="1">
                    <a:solidFill>
                      <a:srgbClr val="00B050"/>
                    </a:solidFill>
                  </a:rPr>
                  <a:t>gọi</a:t>
                </a:r>
                <a:r>
                  <a:rPr lang="en-US" dirty="0">
                    <a:solidFill>
                      <a:srgbClr val="00B050"/>
                    </a:solidFill>
                  </a:rPr>
                  <a:t> </a:t>
                </a:r>
                <a:r>
                  <a:rPr lang="en-US" dirty="0" err="1">
                    <a:solidFill>
                      <a:srgbClr val="00B050"/>
                    </a:solidFill>
                  </a:rPr>
                  <a:t>là</a:t>
                </a:r>
                <a:r>
                  <a:rPr lang="en-US" dirty="0">
                    <a:solidFill>
                      <a:srgbClr val="00B050"/>
                    </a:solidFill>
                  </a:rPr>
                  <a:t> </a:t>
                </a:r>
                <a:r>
                  <a:rPr lang="en-US" dirty="0" err="1">
                    <a:solidFill>
                      <a:srgbClr val="00B050"/>
                    </a:solidFill>
                  </a:rPr>
                  <a:t>dòng</a:t>
                </a:r>
                <a:r>
                  <a:rPr lang="en-US" dirty="0">
                    <a:solidFill>
                      <a:srgbClr val="00B050"/>
                    </a:solidFill>
                  </a:rPr>
                  <a:t> </a:t>
                </a:r>
                <a:r>
                  <a:rPr lang="en-US" dirty="0" err="1">
                    <a:solidFill>
                      <a:srgbClr val="00B050"/>
                    </a:solidFill>
                  </a:rPr>
                  <a:t>điện</a:t>
                </a:r>
                <a:r>
                  <a:rPr lang="en-US" dirty="0">
                    <a:solidFill>
                      <a:srgbClr val="00B050"/>
                    </a:solidFill>
                  </a:rPr>
                  <a:t> </a:t>
                </a:r>
                <a:r>
                  <a:rPr lang="en-US" dirty="0" err="1">
                    <a:solidFill>
                      <a:srgbClr val="00B050"/>
                    </a:solidFill>
                  </a:rPr>
                  <a:t>hỗ</a:t>
                </a:r>
                <a:r>
                  <a:rPr lang="en-US" dirty="0">
                    <a:solidFill>
                      <a:srgbClr val="00B050"/>
                    </a:solidFill>
                  </a:rPr>
                  <a:t> </a:t>
                </a:r>
                <a:r>
                  <a:rPr lang="en-US" dirty="0" err="1">
                    <a:solidFill>
                      <a:srgbClr val="00B050"/>
                    </a:solidFill>
                  </a:rPr>
                  <a:t>cảm</a:t>
                </a:r>
                <a:r>
                  <a:rPr lang="en-US" dirty="0">
                    <a:solidFill>
                      <a:srgbClr val="00B050"/>
                    </a:solidFill>
                  </a:rPr>
                  <a:t>.</a:t>
                </a:r>
              </a:p>
              <a:p>
                <a:endParaRPr lang="en-US" dirty="0"/>
              </a:p>
            </p:txBody>
          </p:sp>
        </mc:Choice>
        <mc:Fallback xmlns="">
          <p:sp>
            <p:nvSpPr>
              <p:cNvPr id="3" name="Content Placeholder 2">
                <a:extLst>
                  <a:ext uri="{FF2B5EF4-FFF2-40B4-BE49-F238E27FC236}">
                    <a16:creationId xmlns:a16="http://schemas.microsoft.com/office/drawing/2014/main" id="{BD62825F-0C51-4B86-AFD4-254D97F596B4}"/>
                  </a:ext>
                </a:extLst>
              </p:cNvPr>
              <p:cNvSpPr>
                <a:spLocks noGrp="1" noRot="1" noChangeAspect="1" noMove="1" noResize="1" noEditPoints="1" noAdjustHandles="1" noChangeArrowheads="1" noChangeShapeType="1" noTextEdit="1"/>
              </p:cNvSpPr>
              <p:nvPr>
                <p:ph idx="1"/>
              </p:nvPr>
            </p:nvSpPr>
            <p:spPr>
              <a:xfrm>
                <a:off x="240652" y="2278062"/>
                <a:ext cx="11856097" cy="4351338"/>
              </a:xfrm>
              <a:blipFill>
                <a:blip r:embed="rId2"/>
                <a:stretch>
                  <a:fillRect l="-1594" t="-4762" r="-1645" b="-3782"/>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8AEBD7D9-82E3-4768-936D-2A16A05B53E3}"/>
              </a:ext>
            </a:extLst>
          </p:cNvPr>
          <p:cNvPicPr>
            <a:picLocks noChangeAspect="1"/>
          </p:cNvPicPr>
          <p:nvPr/>
        </p:nvPicPr>
        <p:blipFill>
          <a:blip r:embed="rId3"/>
          <a:stretch>
            <a:fillRect/>
          </a:stretch>
        </p:blipFill>
        <p:spPr>
          <a:xfrm>
            <a:off x="9551048" y="234950"/>
            <a:ext cx="2133600" cy="1590675"/>
          </a:xfrm>
          <a:prstGeom prst="rect">
            <a:avLst/>
          </a:prstGeom>
        </p:spPr>
      </p:pic>
    </p:spTree>
    <p:extLst>
      <p:ext uri="{BB962C8B-B14F-4D97-AF65-F5344CB8AC3E}">
        <p14:creationId xmlns:p14="http://schemas.microsoft.com/office/powerpoint/2010/main" val="3089164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3752464D-FBCA-4CF2-86FF-49249C88A5F6}"/>
              </a:ext>
            </a:extLst>
          </p:cNvPr>
          <p:cNvPicPr>
            <a:picLocks noGrp="1" noChangeAspect="1"/>
          </p:cNvPicPr>
          <p:nvPr>
            <p:ph idx="1"/>
          </p:nvPr>
        </p:nvPicPr>
        <p:blipFill>
          <a:blip r:embed="rId2"/>
          <a:stretch>
            <a:fillRect/>
          </a:stretch>
        </p:blipFill>
        <p:spPr>
          <a:xfrm>
            <a:off x="201793" y="1396181"/>
            <a:ext cx="11788414" cy="3401961"/>
          </a:xfrm>
          <a:prstGeom prst="rect">
            <a:avLst/>
          </a:prstGeom>
        </p:spPr>
      </p:pic>
    </p:spTree>
    <p:extLst>
      <p:ext uri="{BB962C8B-B14F-4D97-AF65-F5344CB8AC3E}">
        <p14:creationId xmlns:p14="http://schemas.microsoft.com/office/powerpoint/2010/main" val="18209260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D7249C-5FFF-4543-A03D-01CDC749C23B}"/>
              </a:ext>
            </a:extLst>
          </p:cNvPr>
          <p:cNvSpPr>
            <a:spLocks noGrp="1"/>
          </p:cNvSpPr>
          <p:nvPr>
            <p:ph type="title"/>
          </p:nvPr>
        </p:nvSpPr>
        <p:spPr>
          <a:xfrm>
            <a:off x="457201" y="365125"/>
            <a:ext cx="11439330" cy="1325563"/>
          </a:xfrm>
        </p:spPr>
        <p:txBody>
          <a:bodyPr/>
          <a:lstStyle/>
          <a:p>
            <a:r>
              <a:rPr lang="en-US" b="1" dirty="0" err="1"/>
              <a:t>Hệ</a:t>
            </a:r>
            <a:r>
              <a:rPr lang="en-US" b="1" dirty="0"/>
              <a:t> </a:t>
            </a:r>
            <a:r>
              <a:rPr lang="en-US" b="1" dirty="0" err="1"/>
              <a:t>số</a:t>
            </a:r>
            <a:r>
              <a:rPr lang="en-US" b="1" dirty="0"/>
              <a:t> </a:t>
            </a:r>
            <a:r>
              <a:rPr lang="en-US" b="1" dirty="0" err="1"/>
              <a:t>hỗ</a:t>
            </a:r>
            <a:r>
              <a:rPr lang="en-US" b="1" dirty="0"/>
              <a:t> </a:t>
            </a:r>
            <a:r>
              <a:rPr lang="en-US" b="1" dirty="0" err="1"/>
              <a:t>cảm</a:t>
            </a:r>
            <a:r>
              <a:rPr lang="en-US" dirty="0"/>
              <a:t> M</a:t>
            </a:r>
            <a:r>
              <a:rPr lang="en-US" baseline="-25000" dirty="0"/>
              <a:t>12</a:t>
            </a:r>
            <a:r>
              <a:rPr lang="en-US" dirty="0"/>
              <a:t> </a:t>
            </a:r>
            <a:r>
              <a:rPr lang="en-US" dirty="0" err="1"/>
              <a:t>của</a:t>
            </a:r>
            <a:r>
              <a:rPr lang="en-US" dirty="0"/>
              <a:t> </a:t>
            </a:r>
            <a:r>
              <a:rPr lang="en-US" dirty="0" err="1"/>
              <a:t>cuộn</a:t>
            </a:r>
            <a:r>
              <a:rPr lang="en-US" dirty="0"/>
              <a:t> 2 </a:t>
            </a:r>
            <a:r>
              <a:rPr lang="en-US" dirty="0" err="1"/>
              <a:t>liên</a:t>
            </a:r>
            <a:r>
              <a:rPr lang="en-US" dirty="0"/>
              <a:t> </a:t>
            </a:r>
            <a:r>
              <a:rPr lang="en-US" dirty="0" err="1"/>
              <a:t>quan</a:t>
            </a:r>
            <a:r>
              <a:rPr lang="en-US" dirty="0"/>
              <a:t> tới </a:t>
            </a:r>
            <a:r>
              <a:rPr lang="en-US" dirty="0" err="1"/>
              <a:t>cuộn</a:t>
            </a:r>
            <a:r>
              <a:rPr lang="en-US" dirty="0"/>
              <a:t>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65283EC1-E39E-4EDE-8C76-A74D5CA2531D}"/>
                  </a:ext>
                </a:extLst>
              </p:cNvPr>
              <p:cNvSpPr>
                <a:spLocks noGrp="1"/>
              </p:cNvSpPr>
              <p:nvPr>
                <p:ph idx="1"/>
              </p:nvPr>
            </p:nvSpPr>
            <p:spPr>
              <a:xfrm>
                <a:off x="838199" y="1825625"/>
                <a:ext cx="10731759" cy="4351338"/>
              </a:xfrm>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12</m:t>
                          </m:r>
                        </m:sub>
                      </m:sSub>
                      <m:r>
                        <a:rPr lang="en-US" b="0" i="1" smtClean="0">
                          <a:latin typeface="Cambria Math" panose="02040503050406030204" pitchFamily="18" charset="0"/>
                        </a:rPr>
                        <m:t>=</m:t>
                      </m:r>
                      <m:f>
                        <m:fPr>
                          <m:ctrlPr>
                            <a:rPr lang="en-US" b="0" i="1" smtClean="0">
                              <a:latin typeface="Cambria Math"/>
                            </a:rPr>
                          </m:ctrlPr>
                        </m:fPr>
                        <m:num>
                          <m:sSub>
                            <m:sSubPr>
                              <m:ctrlPr>
                                <a:rPr lang="en-US" b="0" i="1" smtClean="0">
                                  <a:latin typeface="Cambria Math"/>
                                </a:rPr>
                              </m:ctrlPr>
                            </m:sSubPr>
                            <m:e>
                              <m:r>
                                <a:rPr lang="en-US" b="0" i="1" smtClean="0">
                                  <a:latin typeface="Cambria Math" panose="02040503050406030204" pitchFamily="18" charset="0"/>
                                </a:rPr>
                                <m:t>𝑁</m:t>
                              </m:r>
                            </m:e>
                            <m:sub>
                              <m:r>
                                <a:rPr lang="en-US" b="0" i="1" smtClean="0">
                                  <a:latin typeface="Cambria Math" panose="02040503050406030204" pitchFamily="18" charset="0"/>
                                </a:rPr>
                                <m:t>2</m:t>
                              </m:r>
                            </m:sub>
                          </m:sSub>
                          <m:sSub>
                            <m:sSubPr>
                              <m:ctrlPr>
                                <a:rPr lang="en-US" b="0" i="1" smtClean="0">
                                  <a:latin typeface="Cambria Math"/>
                                </a:rPr>
                              </m:ctrlPr>
                            </m:sSubPr>
                            <m:e>
                              <m:r>
                                <a:rPr lang="en-US" b="0"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12</m:t>
                              </m:r>
                            </m:sub>
                          </m:sSub>
                        </m:num>
                        <m:den>
                          <m:sSub>
                            <m:sSubPr>
                              <m:ctrlPr>
                                <a:rPr lang="en-US" b="0" i="1" smtClean="0">
                                  <a:latin typeface="Cambria Math"/>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den>
                      </m:f>
                    </m:oMath>
                  </m:oMathPara>
                </a14:m>
                <a:endParaRPr lang="en-US" dirty="0"/>
              </a:p>
              <a:p>
                <a:endParaRPr lang="en-US" dirty="0"/>
              </a:p>
              <a:p>
                <a:endParaRPr lang="en-US" dirty="0"/>
              </a:p>
              <a:p>
                <a:endParaRPr lang="en-US" dirty="0"/>
              </a:p>
              <a:p>
                <a:r>
                  <a:rPr lang="en-US" dirty="0" err="1"/>
                  <a:t>Đơn</a:t>
                </a:r>
                <a:r>
                  <a:rPr lang="en-US" dirty="0"/>
                  <a:t> </a:t>
                </a:r>
                <a:r>
                  <a:rPr lang="en-US" dirty="0" err="1"/>
                  <a:t>vị</a:t>
                </a:r>
                <a:r>
                  <a:rPr lang="en-US" dirty="0"/>
                  <a:t> </a:t>
                </a:r>
                <a:r>
                  <a:rPr lang="en-US" dirty="0" err="1"/>
                  <a:t>của</a:t>
                </a:r>
                <a:r>
                  <a:rPr lang="en-US" dirty="0"/>
                  <a:t> </a:t>
                </a:r>
                <a:r>
                  <a:rPr lang="en-US" dirty="0" err="1"/>
                  <a:t>hệ</a:t>
                </a:r>
                <a:r>
                  <a:rPr lang="en-US" dirty="0"/>
                  <a:t> </a:t>
                </a:r>
                <a:r>
                  <a:rPr lang="en-US" dirty="0" err="1"/>
                  <a:t>số</a:t>
                </a:r>
                <a:r>
                  <a:rPr lang="en-US" dirty="0"/>
                  <a:t> </a:t>
                </a:r>
                <a:r>
                  <a:rPr lang="en-US" dirty="0" err="1"/>
                  <a:t>hỗ</a:t>
                </a:r>
                <a:r>
                  <a:rPr lang="en-US" dirty="0"/>
                  <a:t> </a:t>
                </a:r>
                <a:r>
                  <a:rPr lang="en-US" dirty="0" err="1"/>
                  <a:t>cảm</a:t>
                </a:r>
                <a:r>
                  <a:rPr lang="en-US" dirty="0"/>
                  <a:t> </a:t>
                </a:r>
                <a:r>
                  <a:rPr lang="en-US" dirty="0" err="1"/>
                  <a:t>là</a:t>
                </a:r>
                <a:r>
                  <a:rPr lang="en-US" dirty="0"/>
                  <a:t> Henry</a:t>
                </a:r>
              </a:p>
            </p:txBody>
          </p:sp>
        </mc:Choice>
        <mc:Fallback xmlns="">
          <p:sp>
            <p:nvSpPr>
              <p:cNvPr id="3" name="Content Placeholder 2">
                <a:extLst>
                  <a:ext uri="{FF2B5EF4-FFF2-40B4-BE49-F238E27FC236}">
                    <a16:creationId xmlns:a16="http://schemas.microsoft.com/office/drawing/2014/main" id="{65283EC1-E39E-4EDE-8C76-A74D5CA2531D}"/>
                  </a:ext>
                </a:extLst>
              </p:cNvPr>
              <p:cNvSpPr>
                <a:spLocks noGrp="1" noRot="1" noChangeAspect="1" noMove="1" noResize="1" noEditPoints="1" noAdjustHandles="1" noChangeArrowheads="1" noChangeShapeType="1" noTextEdit="1"/>
              </p:cNvSpPr>
              <p:nvPr>
                <p:ph idx="1"/>
              </p:nvPr>
            </p:nvSpPr>
            <p:spPr>
              <a:xfrm>
                <a:off x="838199" y="1825625"/>
                <a:ext cx="10731759" cy="4351338"/>
              </a:xfrm>
              <a:blipFill>
                <a:blip r:embed="rId2"/>
                <a:stretch>
                  <a:fillRect l="-1988"/>
                </a:stretch>
              </a:blipFill>
            </p:spPr>
            <p:txBody>
              <a:bodyPr/>
              <a:lstStyle/>
              <a:p>
                <a:r>
                  <a:rPr lang="en-US">
                    <a:noFill/>
                  </a:rPr>
                  <a:t> </a:t>
                </a:r>
              </a:p>
            </p:txBody>
          </p:sp>
        </mc:Fallback>
      </mc:AlternateContent>
    </p:spTree>
    <p:extLst>
      <p:ext uri="{BB962C8B-B14F-4D97-AF65-F5344CB8AC3E}">
        <p14:creationId xmlns:p14="http://schemas.microsoft.com/office/powerpoint/2010/main" val="70208668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8401AA-12B5-4A56-87DA-5CEEAD4F9466}"/>
              </a:ext>
            </a:extLst>
          </p:cNvPr>
          <p:cNvSpPr>
            <a:spLocks noGrp="1"/>
          </p:cNvSpPr>
          <p:nvPr>
            <p:ph type="title"/>
          </p:nvPr>
        </p:nvSpPr>
        <p:spPr>
          <a:xfrm>
            <a:off x="838200" y="365125"/>
            <a:ext cx="11049000" cy="1325563"/>
          </a:xfrm>
        </p:spPr>
        <p:txBody>
          <a:bodyPr>
            <a:normAutofit/>
          </a:bodyPr>
          <a:lstStyle/>
          <a:p>
            <a:r>
              <a:rPr lang="en-US" dirty="0"/>
              <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216BCCC2-83A9-41E9-A581-700DA0D8CE27}"/>
                  </a:ext>
                </a:extLst>
              </p:cNvPr>
              <p:cNvSpPr>
                <a:spLocks noGrp="1"/>
              </p:cNvSpPr>
              <p:nvPr>
                <p:ph idx="1"/>
              </p:nvPr>
            </p:nvSpPr>
            <p:spPr>
              <a:xfrm>
                <a:off x="838200" y="619432"/>
                <a:ext cx="10871718" cy="5557531"/>
              </a:xfrm>
            </p:spPr>
            <p:txBody>
              <a:bodyPr>
                <a:normAutofit/>
              </a:bodyPr>
              <a:lstStyle/>
              <a:p>
                <a:r>
                  <a:rPr lang="en-US" dirty="0">
                    <a:solidFill>
                      <a:srgbClr val="FF0000"/>
                    </a:solidFill>
                  </a:rPr>
                  <a:t>Nếu </a:t>
                </a:r>
                <a:r>
                  <a:rPr lang="en-US" dirty="0" err="1">
                    <a:solidFill>
                      <a:srgbClr val="FF0000"/>
                    </a:solidFill>
                  </a:rPr>
                  <a:t>dòng</a:t>
                </a:r>
                <a:r>
                  <a:rPr lang="en-US" dirty="0">
                    <a:solidFill>
                      <a:srgbClr val="FF0000"/>
                    </a:solidFill>
                  </a:rPr>
                  <a:t> </a:t>
                </a:r>
                <a:r>
                  <a:rPr lang="en-US" dirty="0" err="1">
                    <a:solidFill>
                      <a:srgbClr val="FF0000"/>
                    </a:solidFill>
                  </a:rPr>
                  <a:t>điện</a:t>
                </a:r>
                <a:r>
                  <a:rPr lang="en-US" dirty="0">
                    <a:solidFill>
                      <a:srgbClr val="FF0000"/>
                    </a:solidFill>
                  </a:rPr>
                  <a:t> </a:t>
                </a:r>
                <a14:m>
                  <m:oMath xmlns:m="http://schemas.openxmlformats.org/officeDocument/2006/math">
                    <m:sSub>
                      <m:sSubPr>
                        <m:ctrlPr>
                          <a:rPr lang="en-US" i="1">
                            <a:solidFill>
                              <a:srgbClr val="FF0000"/>
                            </a:solidFill>
                            <a:latin typeface="Cambria Math"/>
                          </a:rPr>
                        </m:ctrlPr>
                      </m:sSubPr>
                      <m:e>
                        <m:r>
                          <a:rPr lang="en-US" i="1">
                            <a:solidFill>
                              <a:srgbClr val="FF0000"/>
                            </a:solidFill>
                            <a:latin typeface="Cambria Math" panose="02040503050406030204" pitchFamily="18" charset="0"/>
                          </a:rPr>
                          <m:t>𝑖</m:t>
                        </m:r>
                      </m:e>
                      <m:sub>
                        <m:r>
                          <a:rPr lang="en-US" i="1">
                            <a:solidFill>
                              <a:srgbClr val="FF0000"/>
                            </a:solidFill>
                            <a:latin typeface="Cambria Math" panose="02040503050406030204" pitchFamily="18" charset="0"/>
                          </a:rPr>
                          <m:t>1</m:t>
                        </m:r>
                      </m:sub>
                    </m:sSub>
                  </m:oMath>
                </a14:m>
                <a:r>
                  <a:rPr lang="en-US" dirty="0">
                    <a:solidFill>
                      <a:srgbClr val="FF0000"/>
                    </a:solidFill>
                  </a:rPr>
                  <a:t> </a:t>
                </a:r>
                <a:r>
                  <a:rPr lang="en-US" dirty="0" err="1">
                    <a:solidFill>
                      <a:srgbClr val="FF0000"/>
                    </a:solidFill>
                  </a:rPr>
                  <a:t>thay</a:t>
                </a:r>
                <a:r>
                  <a:rPr lang="en-US" dirty="0">
                    <a:solidFill>
                      <a:srgbClr val="FF0000"/>
                    </a:solidFill>
                  </a:rPr>
                  <a:t> </a:t>
                </a:r>
                <a:r>
                  <a:rPr lang="en-US" dirty="0" err="1">
                    <a:solidFill>
                      <a:srgbClr val="FF0000"/>
                    </a:solidFill>
                  </a:rPr>
                  <a:t>đổi</a:t>
                </a:r>
                <a:r>
                  <a:rPr lang="en-US" dirty="0">
                    <a:solidFill>
                      <a:srgbClr val="FF0000"/>
                    </a:solidFill>
                  </a:rPr>
                  <a:t> </a:t>
                </a:r>
                <a:r>
                  <a:rPr lang="en-US" dirty="0" err="1">
                    <a:solidFill>
                      <a:srgbClr val="FF0000"/>
                    </a:solidFill>
                  </a:rPr>
                  <a:t>theo</a:t>
                </a:r>
                <a:r>
                  <a:rPr lang="en-US" dirty="0">
                    <a:solidFill>
                      <a:srgbClr val="FF0000"/>
                    </a:solidFill>
                  </a:rPr>
                  <a:t> </a:t>
                </a:r>
                <a:r>
                  <a:rPr lang="en-US" dirty="0" err="1">
                    <a:solidFill>
                      <a:srgbClr val="FF0000"/>
                    </a:solidFill>
                  </a:rPr>
                  <a:t>thời</a:t>
                </a:r>
                <a:r>
                  <a:rPr lang="en-US" dirty="0">
                    <a:solidFill>
                      <a:srgbClr val="FF0000"/>
                    </a:solidFill>
                  </a:rPr>
                  <a:t> </a:t>
                </a:r>
                <a:r>
                  <a:rPr lang="en-US" dirty="0" err="1">
                    <a:solidFill>
                      <a:srgbClr val="FF0000"/>
                    </a:solidFill>
                  </a:rPr>
                  <a:t>gian</a:t>
                </a:r>
                <a:r>
                  <a:rPr lang="en-US" dirty="0">
                    <a:solidFill>
                      <a:srgbClr val="FF0000"/>
                    </a:solidFill>
                  </a:rPr>
                  <a:t>, </a:t>
                </a:r>
                <a:r>
                  <a:rPr lang="en-US" dirty="0" err="1">
                    <a:solidFill>
                      <a:srgbClr val="FF0000"/>
                    </a:solidFill>
                  </a:rPr>
                  <a:t>Suất</a:t>
                </a:r>
                <a:r>
                  <a:rPr lang="en-US" dirty="0">
                    <a:solidFill>
                      <a:srgbClr val="FF0000"/>
                    </a:solidFill>
                  </a:rPr>
                  <a:t> </a:t>
                </a:r>
                <a:r>
                  <a:rPr lang="en-US" dirty="0" err="1">
                    <a:solidFill>
                      <a:srgbClr val="FF0000"/>
                    </a:solidFill>
                  </a:rPr>
                  <a:t>điện</a:t>
                </a:r>
                <a:r>
                  <a:rPr lang="en-US" dirty="0">
                    <a:solidFill>
                      <a:srgbClr val="FF0000"/>
                    </a:solidFill>
                  </a:rPr>
                  <a:t> </a:t>
                </a:r>
                <a:r>
                  <a:rPr lang="en-US" dirty="0" err="1">
                    <a:solidFill>
                      <a:srgbClr val="FF0000"/>
                    </a:solidFill>
                  </a:rPr>
                  <a:t>động</a:t>
                </a:r>
                <a:r>
                  <a:rPr lang="en-US" dirty="0">
                    <a:solidFill>
                      <a:srgbClr val="FF0000"/>
                    </a:solidFill>
                  </a:rPr>
                  <a:t> </a:t>
                </a:r>
                <a:r>
                  <a:rPr lang="en-US" dirty="0" err="1">
                    <a:solidFill>
                      <a:srgbClr val="FF0000"/>
                    </a:solidFill>
                  </a:rPr>
                  <a:t>cảm</a:t>
                </a:r>
                <a:r>
                  <a:rPr lang="en-US" dirty="0">
                    <a:solidFill>
                      <a:srgbClr val="FF0000"/>
                    </a:solidFill>
                  </a:rPr>
                  <a:t> </a:t>
                </a:r>
                <a:r>
                  <a:rPr lang="en-US" dirty="0" err="1">
                    <a:solidFill>
                      <a:srgbClr val="FF0000"/>
                    </a:solidFill>
                  </a:rPr>
                  <a:t>ứng</a:t>
                </a:r>
                <a:r>
                  <a:rPr lang="en-US" dirty="0">
                    <a:solidFill>
                      <a:srgbClr val="FF0000"/>
                    </a:solidFill>
                  </a:rPr>
                  <a:t> </a:t>
                </a:r>
                <a:r>
                  <a:rPr lang="en-US" dirty="0" err="1">
                    <a:solidFill>
                      <a:srgbClr val="FF0000"/>
                    </a:solidFill>
                  </a:rPr>
                  <a:t>gây</a:t>
                </a:r>
                <a:r>
                  <a:rPr lang="en-US" dirty="0">
                    <a:solidFill>
                      <a:srgbClr val="FF0000"/>
                    </a:solidFill>
                  </a:rPr>
                  <a:t> </a:t>
                </a:r>
                <a:r>
                  <a:rPr lang="en-US" dirty="0" err="1">
                    <a:solidFill>
                      <a:srgbClr val="FF0000"/>
                    </a:solidFill>
                  </a:rPr>
                  <a:t>bởi</a:t>
                </a:r>
                <a:r>
                  <a:rPr lang="en-US" dirty="0">
                    <a:solidFill>
                      <a:srgbClr val="FF0000"/>
                    </a:solidFill>
                  </a:rPr>
                  <a:t> </a:t>
                </a:r>
                <a:r>
                  <a:rPr lang="en-US" dirty="0" err="1">
                    <a:solidFill>
                      <a:srgbClr val="FF0000"/>
                    </a:solidFill>
                  </a:rPr>
                  <a:t>cuộn</a:t>
                </a:r>
                <a:r>
                  <a:rPr lang="en-US" dirty="0">
                    <a:solidFill>
                      <a:srgbClr val="FF0000"/>
                    </a:solidFill>
                  </a:rPr>
                  <a:t> 1 </a:t>
                </a:r>
                <a:r>
                  <a:rPr lang="en-US" dirty="0" err="1">
                    <a:solidFill>
                      <a:srgbClr val="FF0000"/>
                    </a:solidFill>
                  </a:rPr>
                  <a:t>trong</a:t>
                </a:r>
                <a:r>
                  <a:rPr lang="en-US" dirty="0">
                    <a:solidFill>
                      <a:srgbClr val="FF0000"/>
                    </a:solidFill>
                  </a:rPr>
                  <a:t> </a:t>
                </a:r>
                <a:r>
                  <a:rPr lang="en-US" dirty="0" err="1">
                    <a:solidFill>
                      <a:srgbClr val="FF0000"/>
                    </a:solidFill>
                  </a:rPr>
                  <a:t>cuộn</a:t>
                </a:r>
                <a:r>
                  <a:rPr lang="en-US" dirty="0">
                    <a:solidFill>
                      <a:srgbClr val="FF0000"/>
                    </a:solidFill>
                  </a:rPr>
                  <a:t> 2:</a:t>
                </a:r>
                <a:endParaRPr lang="en-US" i="1" dirty="0">
                  <a:solidFill>
                    <a:srgbClr val="FF0000"/>
                  </a:solidFill>
                  <a:latin typeface="Cambria Math" panose="02040503050406030204" pitchFamily="18" charset="0"/>
                </a:endParaRPr>
              </a:p>
              <a:p>
                <a14:m>
                  <m:oMath xmlns:m="http://schemas.openxmlformats.org/officeDocument/2006/math">
                    <m:sSub>
                      <m:sSubPr>
                        <m:ctrlPr>
                          <a:rPr lang="en-US" i="1" smtClean="0">
                            <a:latin typeface="Cambria Math"/>
                          </a:rPr>
                        </m:ctrlPr>
                      </m:sSubPr>
                      <m:e>
                        <m:r>
                          <a:rPr lang="en-US"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a:rPr>
                        </m:ctrlPr>
                      </m:sSubPr>
                      <m:e>
                        <m:r>
                          <a:rPr lang="en-US" b="0" i="1" smtClean="0">
                            <a:latin typeface="Cambria Math" panose="02040503050406030204" pitchFamily="18" charset="0"/>
                          </a:rPr>
                          <m:t>𝑁</m:t>
                        </m:r>
                      </m:e>
                      <m:sub>
                        <m:r>
                          <a:rPr lang="en-US" b="0" i="1" smtClean="0">
                            <a:latin typeface="Cambria Math" panose="02040503050406030204" pitchFamily="18" charset="0"/>
                          </a:rPr>
                          <m:t>2</m:t>
                        </m:r>
                      </m:sub>
                    </m:sSub>
                    <m:f>
                      <m:fPr>
                        <m:ctrlPr>
                          <a:rPr lang="en-US" i="1">
                            <a:latin typeface="Cambria Math"/>
                          </a:rPr>
                        </m:ctrlPr>
                      </m:fPr>
                      <m:num>
                        <m:r>
                          <a:rPr lang="en-US" b="0" i="1" smtClean="0">
                            <a:latin typeface="Cambria Math" panose="02040503050406030204" pitchFamily="18" charset="0"/>
                          </a:rPr>
                          <m:t>𝑑</m:t>
                        </m:r>
                        <m:sSub>
                          <m:sSubPr>
                            <m:ctrlPr>
                              <a:rPr lang="en-US" i="1">
                                <a:latin typeface="Cambria Math"/>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12</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i="1">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𝑁</m:t>
                        </m:r>
                      </m:e>
                      <m:sub>
                        <m:r>
                          <a:rPr lang="en-US" i="1">
                            <a:latin typeface="Cambria Math" panose="02040503050406030204" pitchFamily="18" charset="0"/>
                          </a:rPr>
                          <m:t>2</m:t>
                        </m:r>
                      </m:sub>
                    </m:sSub>
                    <m:f>
                      <m:fPr>
                        <m:ctrlPr>
                          <a:rPr lang="en-US" i="1">
                            <a:latin typeface="Cambria Math"/>
                          </a:rPr>
                        </m:ctrlPr>
                      </m:fPr>
                      <m:num>
                        <m:r>
                          <a:rPr lang="en-US" i="1">
                            <a:latin typeface="Cambria Math" panose="02040503050406030204" pitchFamily="18" charset="0"/>
                          </a:rPr>
                          <m:t>𝑑</m:t>
                        </m:r>
                        <m:d>
                          <m:dPr>
                            <m:ctrlPr>
                              <a:rPr lang="en-US" i="1" smtClean="0">
                                <a:latin typeface="Cambria Math"/>
                              </a:rPr>
                            </m:ctrlPr>
                          </m:dPr>
                          <m:e>
                            <m:f>
                              <m:fPr>
                                <m:ctrlPr>
                                  <a:rPr lang="en-US" i="1" smtClean="0">
                                    <a:latin typeface="Cambria Math"/>
                                  </a:rPr>
                                </m:ctrlPr>
                              </m:fPr>
                              <m:num>
                                <m:sSub>
                                  <m:sSubPr>
                                    <m:ctrlPr>
                                      <a:rPr lang="en-US" i="1">
                                        <a:latin typeface="Cambria Math"/>
                                      </a:rPr>
                                    </m:ctrlPr>
                                  </m:sSubPr>
                                  <m:e>
                                    <m:r>
                                      <a:rPr lang="en-US" i="1">
                                        <a:latin typeface="Cambria Math" panose="02040503050406030204" pitchFamily="18" charset="0"/>
                                      </a:rPr>
                                      <m:t>𝑀</m:t>
                                    </m:r>
                                  </m:e>
                                  <m:sub>
                                    <m:r>
                                      <a:rPr lang="en-US" i="1">
                                        <a:latin typeface="Cambria Math" panose="02040503050406030204" pitchFamily="18" charset="0"/>
                                      </a:rPr>
                                      <m:t>12</m:t>
                                    </m:r>
                                  </m:sub>
                                </m:sSub>
                              </m:num>
                              <m:den>
                                <m:sSub>
                                  <m:sSubPr>
                                    <m:ctrlPr>
                                      <a:rPr lang="en-US" i="1" smtClean="0">
                                        <a:latin typeface="Cambria Math"/>
                                      </a:rPr>
                                    </m:ctrlPr>
                                  </m:sSubPr>
                                  <m:e>
                                    <m:r>
                                      <a:rPr lang="en-US" b="0" i="1" smtClean="0">
                                        <a:latin typeface="Cambria Math" panose="02040503050406030204" pitchFamily="18" charset="0"/>
                                      </a:rPr>
                                      <m:t>𝑁</m:t>
                                    </m:r>
                                  </m:e>
                                  <m:sub>
                                    <m:r>
                                      <a:rPr lang="en-US" b="0" i="1" smtClean="0">
                                        <a:latin typeface="Cambria Math" panose="02040503050406030204" pitchFamily="18" charset="0"/>
                                      </a:rPr>
                                      <m:t>2</m:t>
                                    </m:r>
                                  </m:sub>
                                </m:sSub>
                              </m:den>
                            </m:f>
                            <m:sSub>
                              <m:sSubPr>
                                <m:ctrlPr>
                                  <a:rPr lang="en-US" i="1" smtClean="0">
                                    <a:latin typeface="Cambria Math"/>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e>
                        </m:d>
                      </m:num>
                      <m:den>
                        <m:r>
                          <a:rPr lang="en-US" i="1">
                            <a:latin typeface="Cambria Math" panose="02040503050406030204" pitchFamily="18" charset="0"/>
                          </a:rPr>
                          <m:t>𝑑𝑡</m:t>
                        </m:r>
                      </m:den>
                    </m:f>
                    <m:r>
                      <a:rPr lang="en-US" b="0" i="1" smtClean="0">
                        <a:latin typeface="Cambria Math" panose="02040503050406030204" pitchFamily="18" charset="0"/>
                      </a:rPr>
                      <m:t>=</m:t>
                    </m:r>
                  </m:oMath>
                </a14:m>
                <a:r>
                  <a:rPr lang="en-US" dirty="0"/>
                  <a:t> </a:t>
                </a:r>
                <a14:m>
                  <m:oMath xmlns:m="http://schemas.openxmlformats.org/officeDocument/2006/math">
                    <m:r>
                      <a:rPr lang="en-US" b="0" i="0" smtClean="0">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𝑀</m:t>
                        </m:r>
                      </m:e>
                      <m:sub>
                        <m:r>
                          <a:rPr lang="en-US" i="1">
                            <a:latin typeface="Cambria Math" panose="02040503050406030204" pitchFamily="18" charset="0"/>
                          </a:rPr>
                          <m:t>12</m:t>
                        </m:r>
                      </m:sub>
                    </m:sSub>
                  </m:oMath>
                </a14:m>
                <a:r>
                  <a:rPr lang="en-US" dirty="0"/>
                  <a:t> </a:t>
                </a:r>
                <a14:m>
                  <m:oMath xmlns:m="http://schemas.openxmlformats.org/officeDocument/2006/math">
                    <m:f>
                      <m:fPr>
                        <m:ctrlPr>
                          <a:rPr lang="en-US" i="1">
                            <a:latin typeface="Cambria Math"/>
                          </a:rPr>
                        </m:ctrlPr>
                      </m:fPr>
                      <m:num>
                        <m:r>
                          <a:rPr lang="en-US" i="1">
                            <a:latin typeface="Cambria Math" panose="02040503050406030204" pitchFamily="18" charset="0"/>
                          </a:rPr>
                          <m:t>𝑑</m:t>
                        </m:r>
                        <m:d>
                          <m:dPr>
                            <m:ctrlPr>
                              <a:rPr lang="en-US" i="1">
                                <a:latin typeface="Cambria Math"/>
                              </a:rPr>
                            </m:ctrlPr>
                          </m:dPr>
                          <m:e>
                            <m:sSub>
                              <m:sSubPr>
                                <m:ctrlPr>
                                  <a:rPr lang="en-US" i="1">
                                    <a:latin typeface="Cambria Math"/>
                                  </a:rPr>
                                </m:ctrlPr>
                              </m:sSubPr>
                              <m:e>
                                <m:r>
                                  <a:rPr lang="en-US" i="1">
                                    <a:latin typeface="Cambria Math" panose="02040503050406030204" pitchFamily="18" charset="0"/>
                                  </a:rPr>
                                  <m:t>𝑖</m:t>
                                </m:r>
                              </m:e>
                              <m:sub>
                                <m:r>
                                  <a:rPr lang="en-US" i="1">
                                    <a:latin typeface="Cambria Math" panose="02040503050406030204" pitchFamily="18" charset="0"/>
                                  </a:rPr>
                                  <m:t>1</m:t>
                                </m:r>
                              </m:sub>
                            </m:sSub>
                          </m:e>
                        </m:d>
                      </m:num>
                      <m:den>
                        <m:r>
                          <a:rPr lang="en-US" i="1">
                            <a:latin typeface="Cambria Math" panose="02040503050406030204" pitchFamily="18" charset="0"/>
                          </a:rPr>
                          <m:t>𝑑𝑡</m:t>
                        </m:r>
                      </m:den>
                    </m:f>
                  </m:oMath>
                </a14:m>
                <a:endParaRPr lang="en-US" dirty="0"/>
              </a:p>
              <a:p>
                <a:r>
                  <a:rPr lang="en-US" dirty="0">
                    <a:solidFill>
                      <a:srgbClr val="FF0000"/>
                    </a:solidFill>
                  </a:rPr>
                  <a:t>Nếu </a:t>
                </a:r>
                <a:r>
                  <a:rPr lang="en-US" dirty="0" err="1">
                    <a:solidFill>
                      <a:srgbClr val="FF0000"/>
                    </a:solidFill>
                  </a:rPr>
                  <a:t>dòng</a:t>
                </a:r>
                <a:r>
                  <a:rPr lang="en-US" dirty="0">
                    <a:solidFill>
                      <a:srgbClr val="FF0000"/>
                    </a:solidFill>
                  </a:rPr>
                  <a:t> </a:t>
                </a:r>
                <a:r>
                  <a:rPr lang="en-US" dirty="0" err="1">
                    <a:solidFill>
                      <a:srgbClr val="FF0000"/>
                    </a:solidFill>
                  </a:rPr>
                  <a:t>điện</a:t>
                </a:r>
                <a:r>
                  <a:rPr lang="en-US" dirty="0">
                    <a:solidFill>
                      <a:srgbClr val="FF0000"/>
                    </a:solidFill>
                  </a:rPr>
                  <a:t> </a:t>
                </a:r>
                <a14:m>
                  <m:oMath xmlns:m="http://schemas.openxmlformats.org/officeDocument/2006/math">
                    <m:sSub>
                      <m:sSubPr>
                        <m:ctrlPr>
                          <a:rPr lang="en-US" i="1">
                            <a:solidFill>
                              <a:srgbClr val="FF0000"/>
                            </a:solidFill>
                            <a:latin typeface="Cambria Math"/>
                          </a:rPr>
                        </m:ctrlPr>
                      </m:sSubPr>
                      <m:e>
                        <m:r>
                          <a:rPr lang="en-US" i="1">
                            <a:solidFill>
                              <a:srgbClr val="FF0000"/>
                            </a:solidFill>
                            <a:latin typeface="Cambria Math" panose="02040503050406030204" pitchFamily="18" charset="0"/>
                          </a:rPr>
                          <m:t>𝑖</m:t>
                        </m:r>
                      </m:e>
                      <m:sub>
                        <m:r>
                          <a:rPr lang="en-US" i="1">
                            <a:solidFill>
                              <a:srgbClr val="FF0000"/>
                            </a:solidFill>
                            <a:latin typeface="Cambria Math" panose="02040503050406030204" pitchFamily="18" charset="0"/>
                          </a:rPr>
                          <m:t>2</m:t>
                        </m:r>
                      </m:sub>
                    </m:sSub>
                  </m:oMath>
                </a14:m>
                <a:r>
                  <a:rPr lang="en-US" dirty="0">
                    <a:solidFill>
                      <a:srgbClr val="FF0000"/>
                    </a:solidFill>
                  </a:rPr>
                  <a:t> </a:t>
                </a:r>
                <a:r>
                  <a:rPr lang="en-US" dirty="0" err="1">
                    <a:solidFill>
                      <a:srgbClr val="FF0000"/>
                    </a:solidFill>
                  </a:rPr>
                  <a:t>thay</a:t>
                </a:r>
                <a:r>
                  <a:rPr lang="en-US" dirty="0">
                    <a:solidFill>
                      <a:srgbClr val="FF0000"/>
                    </a:solidFill>
                  </a:rPr>
                  <a:t> </a:t>
                </a:r>
                <a:r>
                  <a:rPr lang="en-US" dirty="0" err="1">
                    <a:solidFill>
                      <a:srgbClr val="FF0000"/>
                    </a:solidFill>
                  </a:rPr>
                  <a:t>đổi</a:t>
                </a:r>
                <a:r>
                  <a:rPr lang="en-US" dirty="0">
                    <a:solidFill>
                      <a:srgbClr val="FF0000"/>
                    </a:solidFill>
                  </a:rPr>
                  <a:t> </a:t>
                </a:r>
                <a:r>
                  <a:rPr lang="en-US" dirty="0" err="1">
                    <a:solidFill>
                      <a:srgbClr val="FF0000"/>
                    </a:solidFill>
                  </a:rPr>
                  <a:t>theo</a:t>
                </a:r>
                <a:r>
                  <a:rPr lang="en-US" dirty="0">
                    <a:solidFill>
                      <a:srgbClr val="FF0000"/>
                    </a:solidFill>
                  </a:rPr>
                  <a:t> </a:t>
                </a:r>
                <a:r>
                  <a:rPr lang="en-US" dirty="0" err="1">
                    <a:solidFill>
                      <a:srgbClr val="FF0000"/>
                    </a:solidFill>
                  </a:rPr>
                  <a:t>thời</a:t>
                </a:r>
                <a:r>
                  <a:rPr lang="en-US" dirty="0">
                    <a:solidFill>
                      <a:srgbClr val="FF0000"/>
                    </a:solidFill>
                  </a:rPr>
                  <a:t> </a:t>
                </a:r>
                <a:r>
                  <a:rPr lang="en-US" dirty="0" err="1">
                    <a:solidFill>
                      <a:srgbClr val="FF0000"/>
                    </a:solidFill>
                  </a:rPr>
                  <a:t>gian</a:t>
                </a:r>
                <a:r>
                  <a:rPr lang="en-US" dirty="0">
                    <a:solidFill>
                      <a:srgbClr val="FF0000"/>
                    </a:solidFill>
                  </a:rPr>
                  <a:t>, </a:t>
                </a:r>
                <a:r>
                  <a:rPr lang="en-US" dirty="0" err="1">
                    <a:solidFill>
                      <a:srgbClr val="FF0000"/>
                    </a:solidFill>
                  </a:rPr>
                  <a:t>suất</a:t>
                </a:r>
                <a:r>
                  <a:rPr lang="en-US" dirty="0">
                    <a:solidFill>
                      <a:srgbClr val="FF0000"/>
                    </a:solidFill>
                  </a:rPr>
                  <a:t> </a:t>
                </a:r>
                <a:r>
                  <a:rPr lang="en-US" dirty="0" err="1">
                    <a:solidFill>
                      <a:srgbClr val="FF0000"/>
                    </a:solidFill>
                  </a:rPr>
                  <a:t>điện</a:t>
                </a:r>
                <a:r>
                  <a:rPr lang="en-US" dirty="0">
                    <a:solidFill>
                      <a:srgbClr val="FF0000"/>
                    </a:solidFill>
                  </a:rPr>
                  <a:t> </a:t>
                </a:r>
                <a:r>
                  <a:rPr lang="en-US" dirty="0" err="1">
                    <a:solidFill>
                      <a:srgbClr val="FF0000"/>
                    </a:solidFill>
                  </a:rPr>
                  <a:t>động</a:t>
                </a:r>
                <a:r>
                  <a:rPr lang="en-US" dirty="0">
                    <a:solidFill>
                      <a:srgbClr val="FF0000"/>
                    </a:solidFill>
                  </a:rPr>
                  <a:t> </a:t>
                </a:r>
                <a:r>
                  <a:rPr lang="en-US" dirty="0" err="1">
                    <a:solidFill>
                      <a:srgbClr val="FF0000"/>
                    </a:solidFill>
                  </a:rPr>
                  <a:t>gây</a:t>
                </a:r>
                <a:r>
                  <a:rPr lang="en-US" dirty="0">
                    <a:solidFill>
                      <a:srgbClr val="FF0000"/>
                    </a:solidFill>
                  </a:rPr>
                  <a:t> </a:t>
                </a:r>
                <a:r>
                  <a:rPr lang="en-US" dirty="0" err="1">
                    <a:solidFill>
                      <a:srgbClr val="FF0000"/>
                    </a:solidFill>
                  </a:rPr>
                  <a:t>bởi</a:t>
                </a:r>
                <a:r>
                  <a:rPr lang="en-US" dirty="0">
                    <a:solidFill>
                      <a:srgbClr val="FF0000"/>
                    </a:solidFill>
                  </a:rPr>
                  <a:t> </a:t>
                </a:r>
                <a:r>
                  <a:rPr lang="en-US" dirty="0" err="1">
                    <a:solidFill>
                      <a:srgbClr val="FF0000"/>
                    </a:solidFill>
                  </a:rPr>
                  <a:t>cuộn</a:t>
                </a:r>
                <a:r>
                  <a:rPr lang="en-US" dirty="0">
                    <a:solidFill>
                      <a:srgbClr val="FF0000"/>
                    </a:solidFill>
                  </a:rPr>
                  <a:t> 2 </a:t>
                </a:r>
                <a:r>
                  <a:rPr lang="en-US" dirty="0" err="1">
                    <a:solidFill>
                      <a:srgbClr val="FF0000"/>
                    </a:solidFill>
                  </a:rPr>
                  <a:t>trong</a:t>
                </a:r>
                <a:r>
                  <a:rPr lang="en-US" dirty="0">
                    <a:solidFill>
                      <a:srgbClr val="FF0000"/>
                    </a:solidFill>
                  </a:rPr>
                  <a:t> </a:t>
                </a:r>
                <a:r>
                  <a:rPr lang="en-US" dirty="0" err="1">
                    <a:solidFill>
                      <a:srgbClr val="FF0000"/>
                    </a:solidFill>
                  </a:rPr>
                  <a:t>cuộn</a:t>
                </a:r>
                <a:r>
                  <a:rPr lang="en-US" dirty="0">
                    <a:solidFill>
                      <a:srgbClr val="FF0000"/>
                    </a:solidFill>
                  </a:rPr>
                  <a:t> 1:</a:t>
                </a:r>
              </a:p>
              <a:p>
                <a14:m>
                  <m:oMath xmlns:m="http://schemas.openxmlformats.org/officeDocument/2006/math">
                    <m:sSub>
                      <m:sSubPr>
                        <m:ctrlPr>
                          <a:rPr lang="en-US" i="1">
                            <a:latin typeface="Cambria Math"/>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rPr>
                      <m:t>=</m:t>
                    </m:r>
                    <m:r>
                      <a:rPr lang="en-US">
                        <a:latin typeface="Cambria Math" panose="02040503050406030204" pitchFamily="18" charset="0"/>
                      </a:rPr>
                      <m:t>−</m:t>
                    </m:r>
                    <m:sSub>
                      <m:sSubPr>
                        <m:ctrlPr>
                          <a:rPr lang="en-US" i="1">
                            <a:latin typeface="Cambria Math"/>
                          </a:rPr>
                        </m:ctrlPr>
                      </m:sSubPr>
                      <m:e>
                        <m:r>
                          <a:rPr lang="en-US" i="1">
                            <a:latin typeface="Cambria Math" panose="02040503050406030204" pitchFamily="18" charset="0"/>
                          </a:rPr>
                          <m:t>𝑀</m:t>
                        </m:r>
                      </m:e>
                      <m:sub>
                        <m:r>
                          <a:rPr lang="en-US" i="1">
                            <a:latin typeface="Cambria Math" panose="02040503050406030204" pitchFamily="18" charset="0"/>
                          </a:rPr>
                          <m:t>21</m:t>
                        </m:r>
                      </m:sub>
                    </m:sSub>
                  </m:oMath>
                </a14:m>
                <a:r>
                  <a:rPr lang="en-US" dirty="0"/>
                  <a:t> </a:t>
                </a:r>
                <a14:m>
                  <m:oMath xmlns:m="http://schemas.openxmlformats.org/officeDocument/2006/math">
                    <m:f>
                      <m:fPr>
                        <m:ctrlPr>
                          <a:rPr lang="en-US" i="1">
                            <a:latin typeface="Cambria Math"/>
                          </a:rPr>
                        </m:ctrlPr>
                      </m:fPr>
                      <m:num>
                        <m:r>
                          <a:rPr lang="en-US" i="1">
                            <a:latin typeface="Cambria Math" panose="02040503050406030204" pitchFamily="18" charset="0"/>
                          </a:rPr>
                          <m:t>𝑑</m:t>
                        </m:r>
                        <m:d>
                          <m:dPr>
                            <m:ctrlPr>
                              <a:rPr lang="en-US" i="1">
                                <a:latin typeface="Cambria Math"/>
                              </a:rPr>
                            </m:ctrlPr>
                          </m:dPr>
                          <m:e>
                            <m:sSub>
                              <m:sSubPr>
                                <m:ctrlPr>
                                  <a:rPr lang="en-US" i="1">
                                    <a:latin typeface="Cambria Math"/>
                                  </a:rPr>
                                </m:ctrlPr>
                              </m:sSubPr>
                              <m:e>
                                <m:r>
                                  <a:rPr lang="en-US" i="1">
                                    <a:latin typeface="Cambria Math" panose="02040503050406030204" pitchFamily="18" charset="0"/>
                                  </a:rPr>
                                  <m:t>𝑖</m:t>
                                </m:r>
                              </m:e>
                              <m:sub>
                                <m:r>
                                  <a:rPr lang="en-US" i="1">
                                    <a:latin typeface="Cambria Math" panose="02040503050406030204" pitchFamily="18" charset="0"/>
                                  </a:rPr>
                                  <m:t>2</m:t>
                                </m:r>
                              </m:sub>
                            </m:sSub>
                          </m:e>
                        </m:d>
                      </m:num>
                      <m:den>
                        <m:r>
                          <a:rPr lang="en-US" i="1">
                            <a:latin typeface="Cambria Math" panose="02040503050406030204" pitchFamily="18" charset="0"/>
                          </a:rPr>
                          <m:t>𝑑𝑡</m:t>
                        </m:r>
                      </m:den>
                    </m:f>
                  </m:oMath>
                </a14:m>
                <a:r>
                  <a:rPr lang="en-US" dirty="0"/>
                  <a:t> </a:t>
                </a:r>
              </a:p>
            </p:txBody>
          </p:sp>
        </mc:Choice>
        <mc:Fallback xmlns="">
          <p:sp>
            <p:nvSpPr>
              <p:cNvPr id="3" name="Content Placeholder 2">
                <a:extLst>
                  <a:ext uri="{FF2B5EF4-FFF2-40B4-BE49-F238E27FC236}">
                    <a16:creationId xmlns:a16="http://schemas.microsoft.com/office/drawing/2014/main" id="{216BCCC2-83A9-41E9-A581-700DA0D8CE27}"/>
                  </a:ext>
                </a:extLst>
              </p:cNvPr>
              <p:cNvSpPr>
                <a:spLocks noGrp="1" noRot="1" noChangeAspect="1" noMove="1" noResize="1" noEditPoints="1" noAdjustHandles="1" noChangeArrowheads="1" noChangeShapeType="1" noTextEdit="1"/>
              </p:cNvSpPr>
              <p:nvPr>
                <p:ph idx="1"/>
              </p:nvPr>
            </p:nvSpPr>
            <p:spPr>
              <a:xfrm>
                <a:off x="838200" y="619432"/>
                <a:ext cx="10871718" cy="5557531"/>
              </a:xfrm>
              <a:blipFill>
                <a:blip r:embed="rId2"/>
                <a:stretch>
                  <a:fillRect l="-2019" t="-3074" r="-1963"/>
                </a:stretch>
              </a:blipFill>
            </p:spPr>
            <p:txBody>
              <a:bodyPr/>
              <a:lstStyle/>
              <a:p>
                <a:r>
                  <a:rPr lang="en-US">
                    <a:noFill/>
                  </a:rPr>
                  <a:t> </a:t>
                </a:r>
              </a:p>
            </p:txBody>
          </p:sp>
        </mc:Fallback>
      </mc:AlternateContent>
    </p:spTree>
    <p:extLst>
      <p:ext uri="{BB962C8B-B14F-4D97-AF65-F5344CB8AC3E}">
        <p14:creationId xmlns:p14="http://schemas.microsoft.com/office/powerpoint/2010/main" val="36572620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A9171B0-95CE-43EC-94AF-3B063189FA5A}"/>
              </a:ext>
            </a:extLst>
          </p:cNvPr>
          <p:cNvSpPr>
            <a:spLocks noGrp="1"/>
          </p:cNvSpPr>
          <p:nvPr>
            <p:ph idx="1"/>
          </p:nvPr>
        </p:nvSpPr>
        <p:spPr>
          <a:xfrm>
            <a:off x="912845" y="1806963"/>
            <a:ext cx="6635620" cy="4351338"/>
          </a:xfrm>
        </p:spPr>
        <p:txBody>
          <a:bodyPr>
            <a:normAutofit fontScale="92500" lnSpcReduction="10000"/>
          </a:bodyPr>
          <a:lstStyle/>
          <a:p>
            <a:r>
              <a:rPr lang="en-US" dirty="0" err="1"/>
              <a:t>Trên</a:t>
            </a:r>
            <a:r>
              <a:rPr lang="en-US" dirty="0"/>
              <a:t> </a:t>
            </a:r>
            <a:r>
              <a:rPr lang="en-US" dirty="0" err="1"/>
              <a:t>hình</a:t>
            </a:r>
            <a:r>
              <a:rPr lang="en-US" dirty="0"/>
              <a:t>, di </a:t>
            </a:r>
            <a:r>
              <a:rPr lang="en-US" dirty="0" err="1"/>
              <a:t>chuyển</a:t>
            </a:r>
            <a:r>
              <a:rPr lang="en-US" dirty="0"/>
              <a:t> </a:t>
            </a:r>
            <a:r>
              <a:rPr lang="en-US" dirty="0" err="1"/>
              <a:t>cuộn</a:t>
            </a:r>
            <a:r>
              <a:rPr lang="en-US" dirty="0"/>
              <a:t> </a:t>
            </a:r>
            <a:r>
              <a:rPr lang="en-US" dirty="0" err="1"/>
              <a:t>dây</a:t>
            </a:r>
            <a:r>
              <a:rPr lang="en-US" dirty="0"/>
              <a:t> 1 </a:t>
            </a:r>
            <a:r>
              <a:rPr lang="en-US" dirty="0" err="1"/>
              <a:t>lại</a:t>
            </a:r>
            <a:r>
              <a:rPr lang="en-US" dirty="0"/>
              <a:t> </a:t>
            </a:r>
            <a:r>
              <a:rPr lang="en-US" dirty="0" err="1"/>
              <a:t>gần</a:t>
            </a:r>
            <a:r>
              <a:rPr lang="en-US" dirty="0"/>
              <a:t> </a:t>
            </a:r>
            <a:r>
              <a:rPr lang="en-US" dirty="0" err="1"/>
              <a:t>cuộn</a:t>
            </a:r>
            <a:r>
              <a:rPr lang="en-US" dirty="0"/>
              <a:t> 2. </a:t>
            </a:r>
            <a:r>
              <a:rPr lang="en-US" dirty="0" err="1"/>
              <a:t>Sự</a:t>
            </a:r>
            <a:r>
              <a:rPr lang="en-US" dirty="0"/>
              <a:t> </a:t>
            </a:r>
            <a:r>
              <a:rPr lang="en-US" dirty="0" err="1"/>
              <a:t>định</a:t>
            </a:r>
            <a:r>
              <a:rPr lang="en-US" dirty="0"/>
              <a:t> </a:t>
            </a:r>
            <a:r>
              <a:rPr lang="en-US" dirty="0" err="1"/>
              <a:t>hướng</a:t>
            </a:r>
            <a:r>
              <a:rPr lang="en-US" dirty="0"/>
              <a:t> </a:t>
            </a:r>
            <a:r>
              <a:rPr lang="en-US" dirty="0" err="1"/>
              <a:t>của</a:t>
            </a:r>
            <a:r>
              <a:rPr lang="en-US" dirty="0"/>
              <a:t> </a:t>
            </a:r>
            <a:r>
              <a:rPr lang="en-US" dirty="0" err="1"/>
              <a:t>các</a:t>
            </a:r>
            <a:r>
              <a:rPr lang="en-US" dirty="0"/>
              <a:t> </a:t>
            </a:r>
            <a:r>
              <a:rPr lang="en-US" dirty="0" err="1"/>
              <a:t>cuộn</a:t>
            </a:r>
            <a:r>
              <a:rPr lang="en-US" dirty="0"/>
              <a:t> </a:t>
            </a:r>
            <a:r>
              <a:rPr lang="en-US" dirty="0" err="1"/>
              <a:t>dây</a:t>
            </a:r>
            <a:r>
              <a:rPr lang="en-US" dirty="0"/>
              <a:t> </a:t>
            </a:r>
            <a:r>
              <a:rPr lang="en-US" dirty="0" err="1"/>
              <a:t>vẫn</a:t>
            </a:r>
            <a:r>
              <a:rPr lang="en-US" dirty="0"/>
              <a:t> </a:t>
            </a:r>
            <a:r>
              <a:rPr lang="en-US" dirty="0" err="1"/>
              <a:t>giữ</a:t>
            </a:r>
            <a:r>
              <a:rPr lang="en-US" dirty="0"/>
              <a:t> </a:t>
            </a:r>
            <a:r>
              <a:rPr lang="en-US" dirty="0" err="1"/>
              <a:t>như</a:t>
            </a:r>
            <a:r>
              <a:rPr lang="en-US" dirty="0"/>
              <a:t> </a:t>
            </a:r>
            <a:r>
              <a:rPr lang="en-US" dirty="0" err="1"/>
              <a:t>cũ</a:t>
            </a:r>
            <a:r>
              <a:rPr lang="en-US" dirty="0"/>
              <a:t>. </a:t>
            </a:r>
            <a:r>
              <a:rPr lang="en-US" dirty="0" err="1"/>
              <a:t>Sự</a:t>
            </a:r>
            <a:r>
              <a:rPr lang="en-US" dirty="0"/>
              <a:t> di </a:t>
            </a:r>
            <a:r>
              <a:rPr lang="en-US" dirty="0" err="1"/>
              <a:t>chuyển</a:t>
            </a:r>
            <a:r>
              <a:rPr lang="en-US" dirty="0"/>
              <a:t> </a:t>
            </a:r>
            <a:r>
              <a:rPr lang="en-US" dirty="0" err="1"/>
              <a:t>này</a:t>
            </a:r>
            <a:r>
              <a:rPr lang="en-US" dirty="0"/>
              <a:t> </a:t>
            </a:r>
            <a:r>
              <a:rPr lang="en-US" dirty="0" err="1"/>
              <a:t>sẽ</a:t>
            </a:r>
            <a:r>
              <a:rPr lang="en-US" dirty="0"/>
              <a:t> </a:t>
            </a:r>
            <a:r>
              <a:rPr lang="en-US" dirty="0" err="1"/>
              <a:t>làm</a:t>
            </a:r>
            <a:r>
              <a:rPr lang="en-US" dirty="0"/>
              <a:t> </a:t>
            </a:r>
            <a:r>
              <a:rPr lang="en-US" dirty="0" err="1"/>
              <a:t>cho</a:t>
            </a:r>
            <a:r>
              <a:rPr lang="en-US" dirty="0"/>
              <a:t> </a:t>
            </a:r>
            <a:r>
              <a:rPr lang="en-US" dirty="0" err="1"/>
              <a:t>hệ</a:t>
            </a:r>
            <a:r>
              <a:rPr lang="en-US" dirty="0"/>
              <a:t> </a:t>
            </a:r>
            <a:r>
              <a:rPr lang="en-US" dirty="0" err="1"/>
              <a:t>số</a:t>
            </a:r>
            <a:r>
              <a:rPr lang="en-US" dirty="0"/>
              <a:t> </a:t>
            </a:r>
            <a:r>
              <a:rPr lang="en-US" dirty="0" err="1"/>
              <a:t>tự</a:t>
            </a:r>
            <a:r>
              <a:rPr lang="en-US" dirty="0"/>
              <a:t> </a:t>
            </a:r>
            <a:r>
              <a:rPr lang="en-US" dirty="0" err="1"/>
              <a:t>cảm</a:t>
            </a:r>
            <a:r>
              <a:rPr lang="en-US" dirty="0"/>
              <a:t> </a:t>
            </a:r>
            <a:r>
              <a:rPr lang="en-US" dirty="0" err="1"/>
              <a:t>giữa</a:t>
            </a:r>
            <a:r>
              <a:rPr lang="en-US" dirty="0"/>
              <a:t> 2 </a:t>
            </a:r>
            <a:r>
              <a:rPr lang="en-US" dirty="0" err="1"/>
              <a:t>cuộn</a:t>
            </a:r>
            <a:r>
              <a:rPr lang="en-US" dirty="0"/>
              <a:t> </a:t>
            </a:r>
            <a:r>
              <a:rPr lang="en-US" dirty="0" err="1"/>
              <a:t>dây</a:t>
            </a:r>
            <a:r>
              <a:rPr lang="en-US" dirty="0"/>
              <a:t> </a:t>
            </a:r>
          </a:p>
          <a:p>
            <a:pPr marL="742950" indent="-742950">
              <a:buAutoNum type="alphaLcParenBoth"/>
            </a:pPr>
            <a:r>
              <a:rPr lang="en-US" dirty="0" err="1"/>
              <a:t>tăng</a:t>
            </a:r>
            <a:r>
              <a:rPr lang="en-US" dirty="0"/>
              <a:t> </a:t>
            </a:r>
          </a:p>
          <a:p>
            <a:pPr marL="742950" indent="-742950">
              <a:buAutoNum type="alphaLcParenBoth"/>
            </a:pPr>
            <a:r>
              <a:rPr lang="en-US" dirty="0" err="1"/>
              <a:t>giảm</a:t>
            </a:r>
            <a:r>
              <a:rPr lang="en-US" dirty="0"/>
              <a:t> </a:t>
            </a:r>
          </a:p>
          <a:p>
            <a:pPr marL="742950" indent="-742950">
              <a:buAutoNum type="alphaLcParenBoth"/>
            </a:pPr>
            <a:r>
              <a:rPr lang="en-US" dirty="0" err="1"/>
              <a:t>không</a:t>
            </a:r>
            <a:r>
              <a:rPr lang="en-US" dirty="0"/>
              <a:t> </a:t>
            </a:r>
            <a:r>
              <a:rPr lang="en-US" dirty="0" err="1"/>
              <a:t>thay</a:t>
            </a:r>
            <a:r>
              <a:rPr lang="en-US" dirty="0"/>
              <a:t> </a:t>
            </a:r>
            <a:r>
              <a:rPr lang="en-US" dirty="0" err="1"/>
              <a:t>đổi</a:t>
            </a:r>
            <a:r>
              <a:rPr lang="en-US" dirty="0"/>
              <a:t>.</a:t>
            </a:r>
          </a:p>
          <a:p>
            <a:endParaRPr lang="en-US" dirty="0"/>
          </a:p>
        </p:txBody>
      </p:sp>
      <p:pic>
        <p:nvPicPr>
          <p:cNvPr id="4" name="Picture 3">
            <a:extLst>
              <a:ext uri="{FF2B5EF4-FFF2-40B4-BE49-F238E27FC236}">
                <a16:creationId xmlns:a16="http://schemas.microsoft.com/office/drawing/2014/main" xmlns="" id="{24DAF1B1-2D91-46CB-9EB7-037D85AB8D3B}"/>
              </a:ext>
            </a:extLst>
          </p:cNvPr>
          <p:cNvPicPr>
            <a:picLocks noChangeAspect="1"/>
          </p:cNvPicPr>
          <p:nvPr/>
        </p:nvPicPr>
        <p:blipFill>
          <a:blip r:embed="rId2"/>
          <a:stretch>
            <a:fillRect/>
          </a:stretch>
        </p:blipFill>
        <p:spPr>
          <a:xfrm>
            <a:off x="8098972" y="357862"/>
            <a:ext cx="3594580" cy="5391872"/>
          </a:xfrm>
          <a:prstGeom prst="rect">
            <a:avLst/>
          </a:prstGeom>
        </p:spPr>
      </p:pic>
      <p:sp>
        <p:nvSpPr>
          <p:cNvPr id="5" name="Title 1">
            <a:extLst>
              <a:ext uri="{FF2B5EF4-FFF2-40B4-BE49-F238E27FC236}">
                <a16:creationId xmlns:a16="http://schemas.microsoft.com/office/drawing/2014/main" xmlns="" id="{CE0731F8-E4B9-4332-BED8-7B920D463BCF}"/>
              </a:ext>
            </a:extLst>
          </p:cNvPr>
          <p:cNvSpPr>
            <a:spLocks noGrp="1"/>
          </p:cNvSpPr>
          <p:nvPr>
            <p:ph type="title"/>
          </p:nvPr>
        </p:nvSpPr>
        <p:spPr>
          <a:xfrm>
            <a:off x="838200" y="365125"/>
            <a:ext cx="7260772" cy="1325563"/>
          </a:xfrm>
        </p:spPr>
        <p:txBody>
          <a:bodyPr/>
          <a:lstStyle/>
          <a:p>
            <a:r>
              <a:rPr lang="en-US" dirty="0">
                <a:solidFill>
                  <a:srgbClr val="FFC000"/>
                </a:solidFill>
              </a:rPr>
              <a:t>Câu </a:t>
            </a:r>
            <a:r>
              <a:rPr lang="en-US" dirty="0" err="1">
                <a:solidFill>
                  <a:srgbClr val="FFC000"/>
                </a:solidFill>
              </a:rPr>
              <a:t>hỏi</a:t>
            </a:r>
            <a:r>
              <a:rPr lang="en-US" dirty="0">
                <a:solidFill>
                  <a:srgbClr val="FFC000"/>
                </a:solidFill>
              </a:rPr>
              <a:t> 3</a:t>
            </a:r>
            <a:endParaRPr lang="en-US" dirty="0"/>
          </a:p>
        </p:txBody>
      </p:sp>
    </p:spTree>
    <p:extLst>
      <p:ext uri="{BB962C8B-B14F-4D97-AF65-F5344CB8AC3E}">
        <p14:creationId xmlns:p14="http://schemas.microsoft.com/office/powerpoint/2010/main" val="21868912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5F104F-5E3C-4122-999D-A95F58BF6FB1}"/>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D26FF951-85C6-4BAB-B900-B84A1F2D5833}"/>
                  </a:ext>
                </a:extLst>
              </p:cNvPr>
              <p:cNvSpPr>
                <a:spLocks noGrp="1"/>
              </p:cNvSpPr>
              <p:nvPr>
                <p:ph idx="1"/>
              </p:nvPr>
            </p:nvSpPr>
            <p:spPr>
              <a:xfrm>
                <a:off x="838200" y="1825625"/>
                <a:ext cx="5955890" cy="4351338"/>
              </a:xfrm>
            </p:spPr>
            <p:txBody>
              <a:bodyPr/>
              <a:lstStyle/>
              <a:p>
                <a14:m>
                  <m:oMath xmlns:m="http://schemas.openxmlformats.org/officeDocument/2006/math">
                    <m:sSub>
                      <m:sSubPr>
                        <m:ctrlPr>
                          <a:rPr lang="en-US" i="1">
                            <a:latin typeface="Cambria Math"/>
                          </a:rPr>
                        </m:ctrlPr>
                      </m:sSubPr>
                      <m:e>
                        <m:r>
                          <a:rPr lang="en-US" i="1">
                            <a:latin typeface="Cambria Math" panose="02040503050406030204" pitchFamily="18" charset="0"/>
                          </a:rPr>
                          <m:t>𝑀</m:t>
                        </m:r>
                      </m:e>
                      <m:sub>
                        <m:r>
                          <a:rPr lang="en-US" i="1">
                            <a:latin typeface="Cambria Math" panose="02040503050406030204" pitchFamily="18" charset="0"/>
                          </a:rPr>
                          <m:t>12</m:t>
                        </m:r>
                      </m:sub>
                    </m:sSub>
                    <m:r>
                      <a:rPr lang="en-US" i="1">
                        <a:latin typeface="Cambria Math" panose="02040503050406030204" pitchFamily="18" charset="0"/>
                      </a:rPr>
                      <m:t>=</m:t>
                    </m:r>
                    <m:f>
                      <m:fPr>
                        <m:ctrlPr>
                          <a:rPr lang="en-US" i="1">
                            <a:latin typeface="Cambria Math"/>
                          </a:rPr>
                        </m:ctrlPr>
                      </m:fPr>
                      <m:num>
                        <m:sSub>
                          <m:sSubPr>
                            <m:ctrlPr>
                              <a:rPr lang="en-US" i="1">
                                <a:latin typeface="Cambria Math"/>
                              </a:rPr>
                            </m:ctrlPr>
                          </m:sSubPr>
                          <m:e>
                            <m:r>
                              <a:rPr lang="en-US" i="1">
                                <a:latin typeface="Cambria Math" panose="02040503050406030204" pitchFamily="18" charset="0"/>
                              </a:rPr>
                              <m:t>𝑁</m:t>
                            </m:r>
                          </m:e>
                          <m:sub>
                            <m:r>
                              <a:rPr lang="en-US" i="1">
                                <a:latin typeface="Cambria Math" panose="02040503050406030204" pitchFamily="18" charset="0"/>
                              </a:rPr>
                              <m:t>2</m:t>
                            </m:r>
                          </m:sub>
                        </m:sSub>
                        <m:sSub>
                          <m:sSubPr>
                            <m:ctrlPr>
                              <a:rPr lang="en-US" i="1">
                                <a:latin typeface="Cambria Math"/>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12</m:t>
                            </m:r>
                          </m:sub>
                        </m:sSub>
                      </m:num>
                      <m:den>
                        <m:sSub>
                          <m:sSubPr>
                            <m:ctrlPr>
                              <a:rPr lang="en-US" i="1">
                                <a:latin typeface="Cambria Math"/>
                              </a:rPr>
                            </m:ctrlPr>
                          </m:sSubPr>
                          <m:e>
                            <m:r>
                              <a:rPr lang="en-US" i="1">
                                <a:latin typeface="Cambria Math" panose="02040503050406030204" pitchFamily="18" charset="0"/>
                              </a:rPr>
                              <m:t>𝑖</m:t>
                            </m:r>
                          </m:e>
                          <m:sub>
                            <m:r>
                              <a:rPr lang="en-US" i="1">
                                <a:latin typeface="Cambria Math" panose="02040503050406030204" pitchFamily="18" charset="0"/>
                              </a:rPr>
                              <m:t>1</m:t>
                            </m:r>
                          </m:sub>
                        </m:sSub>
                      </m:den>
                    </m:f>
                  </m:oMath>
                </a14:m>
                <a:r>
                  <a:rPr lang="en-US" dirty="0"/>
                  <a:t> </a:t>
                </a:r>
                <a:r>
                  <a:rPr lang="en-US" dirty="0" err="1"/>
                  <a:t>tăng</a:t>
                </a:r>
                <a:r>
                  <a:rPr lang="en-US" dirty="0"/>
                  <a:t> do </a:t>
                </a:r>
                <a:r>
                  <a:rPr lang="en-US" dirty="0" err="1"/>
                  <a:t>từ</a:t>
                </a:r>
                <a:r>
                  <a:rPr lang="en-US" dirty="0"/>
                  <a:t> </a:t>
                </a:r>
                <a:r>
                  <a:rPr lang="en-US" dirty="0" err="1"/>
                  <a:t>thông</a:t>
                </a:r>
                <a:r>
                  <a:rPr lang="en-US" dirty="0"/>
                  <a:t> qua </a:t>
                </a:r>
                <a:r>
                  <a:rPr lang="en-US" dirty="0" err="1"/>
                  <a:t>cuộn</a:t>
                </a:r>
                <a:r>
                  <a:rPr lang="en-US" dirty="0"/>
                  <a:t> 2 </a:t>
                </a:r>
                <a:r>
                  <a:rPr lang="en-US" dirty="0" err="1"/>
                  <a:t>tăng</a:t>
                </a:r>
                <a:r>
                  <a:rPr lang="en-US" dirty="0"/>
                  <a:t>.</a:t>
                </a:r>
              </a:p>
            </p:txBody>
          </p:sp>
        </mc:Choice>
        <mc:Fallback xmlns="">
          <p:sp>
            <p:nvSpPr>
              <p:cNvPr id="3" name="Content Placeholder 2">
                <a:extLst>
                  <a:ext uri="{FF2B5EF4-FFF2-40B4-BE49-F238E27FC236}">
                    <a16:creationId xmlns:a16="http://schemas.microsoft.com/office/drawing/2014/main" id="{D26FF951-85C6-4BAB-B900-B84A1F2D5833}"/>
                  </a:ext>
                </a:extLst>
              </p:cNvPr>
              <p:cNvSpPr>
                <a:spLocks noGrp="1" noRot="1" noChangeAspect="1" noMove="1" noResize="1" noEditPoints="1" noAdjustHandles="1" noChangeArrowheads="1" noChangeShapeType="1" noTextEdit="1"/>
              </p:cNvSpPr>
              <p:nvPr>
                <p:ph idx="1"/>
              </p:nvPr>
            </p:nvSpPr>
            <p:spPr>
              <a:xfrm>
                <a:off x="838200" y="1825625"/>
                <a:ext cx="5955890" cy="4351338"/>
              </a:xfrm>
              <a:blipFill>
                <a:blip r:embed="rId3"/>
                <a:stretch>
                  <a:fillRect l="-3685" t="-840" r="-3582"/>
                </a:stretch>
              </a:blipFill>
            </p:spPr>
            <p:txBody>
              <a:bodyPr/>
              <a:lstStyle/>
              <a:p>
                <a:r>
                  <a:rPr lang="en-US">
                    <a:noFill/>
                  </a:rPr>
                  <a:t> </a:t>
                </a:r>
              </a:p>
            </p:txBody>
          </p:sp>
        </mc:Fallback>
      </mc:AlternateContent>
      <p:graphicFrame>
        <p:nvGraphicFramePr>
          <p:cNvPr id="4" name="TPChart">
            <a:extLst>
              <a:ext uri="{FF2B5EF4-FFF2-40B4-BE49-F238E27FC236}">
                <a16:creationId xmlns:a16="http://schemas.microsoft.com/office/drawing/2014/main" xmlns="" id="{32DC7BE4-74F3-489D-BEB6-9D6055139717}"/>
              </a:ext>
            </a:extLst>
          </p:cNvPr>
          <p:cNvGraphicFramePr>
            <a:graphicFrameLocks noChangeAspect="1"/>
          </p:cNvGraphicFramePr>
          <p:nvPr>
            <p:extLst>
              <p:ext uri="{D42A27DB-BD31-4B8C-83A1-F6EECF244321}">
                <p14:modId xmlns:p14="http://schemas.microsoft.com/office/powerpoint/2010/main" val="2508064979"/>
              </p:ext>
            </p:extLst>
          </p:nvPr>
        </p:nvGraphicFramePr>
        <p:xfrm>
          <a:off x="6985000" y="1825625"/>
          <a:ext cx="5207000" cy="4953000"/>
        </p:xfrm>
        <a:graphic>
          <a:graphicData uri="http://schemas.openxmlformats.org/presentationml/2006/ole">
            <mc:AlternateContent xmlns:mc="http://schemas.openxmlformats.org/markup-compatibility/2006">
              <mc:Choice xmlns:v="urn:schemas-microsoft-com:vml" Requires="v">
                <p:oleObj spid="_x0000_s3102" name="Chart" r:id="rId4" imgW="5210556" imgH="4953435" progId="MSGraph.Chart.8">
                  <p:embed followColorScheme="full"/>
                </p:oleObj>
              </mc:Choice>
              <mc:Fallback>
                <p:oleObj name="Chart" r:id="rId4" imgW="5210556" imgH="4953435" progId="MSGraph.Chart.8">
                  <p:embed followColorScheme="full"/>
                  <p:pic>
                    <p:nvPicPr>
                      <p:cNvPr id="30746" name="TPChart">
                        <a:extLst>
                          <a:ext uri="{FF2B5EF4-FFF2-40B4-BE49-F238E27FC236}">
                            <a16:creationId xmlns:a16="http://schemas.microsoft.com/office/drawing/2014/main" xmlns="" id="{C2A12DB7-EDCE-4F0B-A34D-3C0BE27ED4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5000" y="1825625"/>
                        <a:ext cx="5207000" cy="495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5912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4" grpId="0" 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B212A9-CAFA-44E9-AF8A-CC070A767086}"/>
              </a:ext>
            </a:extLst>
          </p:cNvPr>
          <p:cNvSpPr>
            <a:spLocks noGrp="1"/>
          </p:cNvSpPr>
          <p:nvPr>
            <p:ph type="title"/>
          </p:nvPr>
        </p:nvSpPr>
        <p:spPr/>
        <p:txBody>
          <a:bodyPr/>
          <a:lstStyle/>
          <a:p>
            <a:r>
              <a:rPr lang="en-US" dirty="0" err="1">
                <a:solidFill>
                  <a:srgbClr val="FFC000"/>
                </a:solidFill>
              </a:rPr>
              <a:t>Bài</a:t>
            </a:r>
            <a:r>
              <a:rPr lang="en-US" dirty="0">
                <a:solidFill>
                  <a:srgbClr val="FFC000"/>
                </a:solidFill>
              </a:rPr>
              <a:t> </a:t>
            </a:r>
            <a:r>
              <a:rPr lang="en-US" dirty="0" err="1">
                <a:solidFill>
                  <a:srgbClr val="FFC000"/>
                </a:solidFill>
              </a:rPr>
              <a:t>tập</a:t>
            </a:r>
            <a:r>
              <a:rPr lang="en-US" dirty="0">
                <a:solidFill>
                  <a:srgbClr val="FFC000"/>
                </a:solidFill>
              </a:rPr>
              <a:t> 4</a:t>
            </a:r>
          </a:p>
        </p:txBody>
      </p:sp>
      <p:sp>
        <p:nvSpPr>
          <p:cNvPr id="3" name="Content Placeholder 2">
            <a:extLst>
              <a:ext uri="{FF2B5EF4-FFF2-40B4-BE49-F238E27FC236}">
                <a16:creationId xmlns:a16="http://schemas.microsoft.com/office/drawing/2014/main" xmlns="" id="{7E68A882-9830-4EFD-8D94-FB5A271F3FC9}"/>
              </a:ext>
            </a:extLst>
          </p:cNvPr>
          <p:cNvSpPr>
            <a:spLocks noGrp="1"/>
          </p:cNvSpPr>
          <p:nvPr>
            <p:ph idx="1"/>
          </p:nvPr>
        </p:nvSpPr>
        <p:spPr/>
        <p:txBody>
          <a:bodyPr/>
          <a:lstStyle/>
          <a:p>
            <a:r>
              <a:rPr lang="fr-FR" dirty="0" err="1"/>
              <a:t>Một</a:t>
            </a:r>
            <a:r>
              <a:rPr lang="fr-FR" dirty="0"/>
              <a:t> </a:t>
            </a:r>
            <a:r>
              <a:rPr lang="fr-FR" dirty="0" err="1"/>
              <a:t>suất</a:t>
            </a:r>
            <a:r>
              <a:rPr lang="fr-FR" dirty="0"/>
              <a:t> </a:t>
            </a:r>
            <a:r>
              <a:rPr lang="fr-FR" dirty="0" err="1"/>
              <a:t>điện</a:t>
            </a:r>
            <a:r>
              <a:rPr lang="fr-FR" dirty="0"/>
              <a:t> </a:t>
            </a:r>
            <a:r>
              <a:rPr lang="fr-FR" dirty="0" err="1"/>
              <a:t>động</a:t>
            </a:r>
            <a:r>
              <a:rPr lang="fr-FR" dirty="0"/>
              <a:t> </a:t>
            </a:r>
            <a:r>
              <a:rPr lang="fr-FR" dirty="0" err="1"/>
              <a:t>bằng</a:t>
            </a:r>
            <a:r>
              <a:rPr lang="fr-FR" dirty="0"/>
              <a:t> 96,0 mV </a:t>
            </a:r>
            <a:r>
              <a:rPr lang="fr-FR" dirty="0" err="1"/>
              <a:t>được</a:t>
            </a:r>
            <a:r>
              <a:rPr lang="fr-FR" dirty="0"/>
              <a:t> </a:t>
            </a:r>
            <a:r>
              <a:rPr lang="fr-FR" dirty="0" err="1"/>
              <a:t>sinh</a:t>
            </a:r>
            <a:r>
              <a:rPr lang="fr-FR" dirty="0"/>
              <a:t> ra </a:t>
            </a:r>
            <a:r>
              <a:rPr lang="fr-FR" dirty="0" err="1"/>
              <a:t>bên</a:t>
            </a:r>
            <a:r>
              <a:rPr lang="fr-FR" dirty="0"/>
              <a:t> </a:t>
            </a:r>
            <a:r>
              <a:rPr lang="fr-FR" dirty="0" err="1"/>
              <a:t>trong</a:t>
            </a:r>
            <a:r>
              <a:rPr lang="fr-FR" dirty="0"/>
              <a:t> </a:t>
            </a:r>
            <a:r>
              <a:rPr lang="fr-FR" dirty="0" err="1"/>
              <a:t>một</a:t>
            </a:r>
            <a:r>
              <a:rPr lang="fr-FR" dirty="0"/>
              <a:t> </a:t>
            </a:r>
            <a:r>
              <a:rPr lang="fr-FR" dirty="0" err="1"/>
              <a:t>cuộn</a:t>
            </a:r>
            <a:r>
              <a:rPr lang="fr-FR" dirty="0"/>
              <a:t> </a:t>
            </a:r>
            <a:r>
              <a:rPr lang="fr-FR" dirty="0" err="1"/>
              <a:t>dây</a:t>
            </a:r>
            <a:r>
              <a:rPr lang="fr-FR" dirty="0"/>
              <a:t> khi </a:t>
            </a:r>
            <a:r>
              <a:rPr lang="fr-FR" dirty="0" err="1"/>
              <a:t>dòng</a:t>
            </a:r>
            <a:r>
              <a:rPr lang="fr-FR" dirty="0"/>
              <a:t> </a:t>
            </a:r>
            <a:r>
              <a:rPr lang="fr-FR" dirty="0" err="1"/>
              <a:t>điện</a:t>
            </a:r>
            <a:r>
              <a:rPr lang="fr-FR" dirty="0"/>
              <a:t> </a:t>
            </a:r>
            <a:r>
              <a:rPr lang="fr-FR" dirty="0" err="1"/>
              <a:t>trong</a:t>
            </a:r>
            <a:r>
              <a:rPr lang="fr-FR" dirty="0"/>
              <a:t> </a:t>
            </a:r>
            <a:r>
              <a:rPr lang="fr-FR" dirty="0" err="1"/>
              <a:t>cuộn</a:t>
            </a:r>
            <a:r>
              <a:rPr lang="fr-FR" dirty="0"/>
              <a:t> </a:t>
            </a:r>
            <a:r>
              <a:rPr lang="fr-FR" dirty="0" err="1"/>
              <a:t>dây</a:t>
            </a:r>
            <a:r>
              <a:rPr lang="fr-FR" dirty="0"/>
              <a:t> </a:t>
            </a:r>
            <a:r>
              <a:rPr lang="fr-FR" dirty="0" err="1"/>
              <a:t>bên</a:t>
            </a:r>
            <a:r>
              <a:rPr lang="fr-FR" dirty="0"/>
              <a:t> </a:t>
            </a:r>
            <a:r>
              <a:rPr lang="fr-FR" dirty="0" err="1"/>
              <a:t>cạnh</a:t>
            </a:r>
            <a:r>
              <a:rPr lang="fr-FR" dirty="0"/>
              <a:t> </a:t>
            </a:r>
            <a:r>
              <a:rPr lang="fr-FR" dirty="0" err="1"/>
              <a:t>đang</a:t>
            </a:r>
            <a:r>
              <a:rPr lang="fr-FR" dirty="0"/>
              <a:t> </a:t>
            </a:r>
            <a:r>
              <a:rPr lang="fr-FR" dirty="0" err="1"/>
              <a:t>tăng</a:t>
            </a:r>
            <a:r>
              <a:rPr lang="fr-FR" dirty="0"/>
              <a:t> </a:t>
            </a:r>
            <a:r>
              <a:rPr lang="fr-FR" dirty="0" err="1"/>
              <a:t>với</a:t>
            </a:r>
            <a:r>
              <a:rPr lang="fr-FR" dirty="0"/>
              <a:t> </a:t>
            </a:r>
            <a:r>
              <a:rPr lang="fr-FR" dirty="0" err="1"/>
              <a:t>tốc</a:t>
            </a:r>
            <a:r>
              <a:rPr lang="fr-FR" dirty="0"/>
              <a:t> </a:t>
            </a:r>
            <a:r>
              <a:rPr lang="fr-FR" dirty="0" err="1"/>
              <a:t>độ</a:t>
            </a:r>
            <a:r>
              <a:rPr lang="fr-FR" dirty="0"/>
              <a:t> 1,2 A/s. </a:t>
            </a:r>
          </a:p>
          <a:p>
            <a:r>
              <a:rPr lang="fr-FR" dirty="0" err="1"/>
              <a:t>Hỏi</a:t>
            </a:r>
            <a:r>
              <a:rPr lang="fr-FR" dirty="0"/>
              <a:t> </a:t>
            </a:r>
            <a:r>
              <a:rPr lang="fr-FR" dirty="0" err="1"/>
              <a:t>hệ</a:t>
            </a:r>
            <a:r>
              <a:rPr lang="fr-FR" dirty="0"/>
              <a:t> </a:t>
            </a:r>
            <a:r>
              <a:rPr lang="fr-FR" dirty="0" err="1"/>
              <a:t>số</a:t>
            </a:r>
            <a:r>
              <a:rPr lang="fr-FR" dirty="0"/>
              <a:t> </a:t>
            </a:r>
            <a:r>
              <a:rPr lang="fr-FR" dirty="0" err="1"/>
              <a:t>hỗ</a:t>
            </a:r>
            <a:r>
              <a:rPr lang="fr-FR" dirty="0"/>
              <a:t> </a:t>
            </a:r>
            <a:r>
              <a:rPr lang="fr-FR" dirty="0" err="1"/>
              <a:t>cảm</a:t>
            </a:r>
            <a:r>
              <a:rPr lang="fr-FR" dirty="0"/>
              <a:t> </a:t>
            </a:r>
            <a:r>
              <a:rPr lang="fr-FR" dirty="0" err="1"/>
              <a:t>của</a:t>
            </a:r>
            <a:r>
              <a:rPr lang="fr-FR" dirty="0"/>
              <a:t> 2 </a:t>
            </a:r>
            <a:r>
              <a:rPr lang="fr-FR" dirty="0" err="1"/>
              <a:t>cuộn</a:t>
            </a:r>
            <a:r>
              <a:rPr lang="fr-FR" dirty="0"/>
              <a:t> </a:t>
            </a:r>
            <a:r>
              <a:rPr lang="fr-FR" dirty="0" err="1"/>
              <a:t>dây</a:t>
            </a:r>
            <a:r>
              <a:rPr lang="fr-FR" dirty="0"/>
              <a:t> </a:t>
            </a:r>
            <a:r>
              <a:rPr lang="fr-FR" dirty="0" err="1"/>
              <a:t>này</a:t>
            </a:r>
            <a:r>
              <a:rPr lang="fr-FR" dirty="0"/>
              <a:t>?</a:t>
            </a:r>
            <a:endParaRPr lang="en-US" dirty="0"/>
          </a:p>
          <a:p>
            <a:endParaRPr lang="en-US" dirty="0"/>
          </a:p>
        </p:txBody>
      </p:sp>
    </p:spTree>
    <p:extLst>
      <p:ext uri="{BB962C8B-B14F-4D97-AF65-F5344CB8AC3E}">
        <p14:creationId xmlns:p14="http://schemas.microsoft.com/office/powerpoint/2010/main" val="311534347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70888-9CA5-4C59-9E5B-8F753A29E5C5}"/>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xmlns="" id="{E49ADBD7-7C1E-467F-895E-A370B6758FC5}"/>
              </a:ext>
            </a:extLst>
          </p:cNvPr>
          <p:cNvPicPr>
            <a:picLocks noGrp="1" noChangeAspect="1"/>
          </p:cNvPicPr>
          <p:nvPr>
            <p:ph idx="1"/>
          </p:nvPr>
        </p:nvPicPr>
        <p:blipFill>
          <a:blip r:embed="rId2"/>
          <a:stretch>
            <a:fillRect/>
          </a:stretch>
        </p:blipFill>
        <p:spPr>
          <a:xfrm>
            <a:off x="922615" y="2348641"/>
            <a:ext cx="10715912" cy="2960778"/>
          </a:xfrm>
          <a:prstGeom prst="rect">
            <a:avLst/>
          </a:prstGeom>
        </p:spPr>
      </p:pic>
    </p:spTree>
    <p:extLst>
      <p:ext uri="{BB962C8B-B14F-4D97-AF65-F5344CB8AC3E}">
        <p14:creationId xmlns:p14="http://schemas.microsoft.com/office/powerpoint/2010/main" val="6906299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32E5F0-D056-41C0-8A46-C59AB8DCD0E6}"/>
              </a:ext>
            </a:extLst>
          </p:cNvPr>
          <p:cNvSpPr>
            <a:spLocks noGrp="1"/>
          </p:cNvSpPr>
          <p:nvPr>
            <p:ph type="title"/>
          </p:nvPr>
        </p:nvSpPr>
        <p:spPr/>
        <p:txBody>
          <a:bodyPr/>
          <a:lstStyle/>
          <a:p>
            <a:r>
              <a:rPr lang="en-US" b="1" dirty="0" err="1">
                <a:effectLst>
                  <a:glow>
                    <a:srgbClr val="000000"/>
                  </a:glow>
                  <a:outerShdw sx="0" sy="0">
                    <a:srgbClr val="000000"/>
                  </a:outerShdw>
                  <a:reflection stA="0" endPos="0" fadeDir="0" sx="0" sy="0"/>
                </a:effectLst>
              </a:rPr>
              <a:t>Các</a:t>
            </a:r>
            <a:r>
              <a:rPr lang="en-US" b="1" dirty="0">
                <a:effectLst>
                  <a:glow>
                    <a:srgbClr val="000000"/>
                  </a:glow>
                  <a:outerShdw sx="0" sy="0">
                    <a:srgbClr val="000000"/>
                  </a:outerShdw>
                  <a:reflection stA="0" endPos="0" fadeDir="0" sx="0" sy="0"/>
                </a:effectLst>
              </a:rPr>
              <a:t> </a:t>
            </a:r>
            <a:r>
              <a:rPr lang="en-US" b="1" dirty="0" err="1">
                <a:effectLst>
                  <a:glow>
                    <a:srgbClr val="000000"/>
                  </a:glow>
                  <a:outerShdw sx="0" sy="0">
                    <a:srgbClr val="000000"/>
                  </a:outerShdw>
                  <a:reflection stA="0" endPos="0" fadeDir="0" sx="0" sy="0"/>
                </a:effectLst>
              </a:rPr>
              <a:t>dao</a:t>
            </a:r>
            <a:r>
              <a:rPr lang="en-US" b="1" dirty="0">
                <a:effectLst>
                  <a:glow>
                    <a:srgbClr val="000000"/>
                  </a:glow>
                  <a:outerShdw sx="0" sy="0">
                    <a:srgbClr val="000000"/>
                  </a:outerShdw>
                  <a:reflection stA="0" endPos="0" fadeDir="0" sx="0" sy="0"/>
                </a:effectLst>
              </a:rPr>
              <a:t> </a:t>
            </a:r>
            <a:r>
              <a:rPr lang="en-US" b="1" dirty="0" err="1">
                <a:effectLst>
                  <a:glow>
                    <a:srgbClr val="000000"/>
                  </a:glow>
                  <a:outerShdw sx="0" sy="0">
                    <a:srgbClr val="000000"/>
                  </a:outerShdw>
                  <a:reflection stA="0" endPos="0" fadeDir="0" sx="0" sy="0"/>
                </a:effectLst>
              </a:rPr>
              <a:t>động</a:t>
            </a:r>
            <a:r>
              <a:rPr lang="en-US" b="1" dirty="0">
                <a:effectLst>
                  <a:glow>
                    <a:srgbClr val="000000"/>
                  </a:glow>
                  <a:outerShdw sx="0" sy="0">
                    <a:srgbClr val="000000"/>
                  </a:outerShdw>
                  <a:reflection stA="0" endPos="0" fadeDir="0" sx="0" sy="0"/>
                </a:effectLst>
              </a:rPr>
              <a:t> </a:t>
            </a:r>
            <a:r>
              <a:rPr lang="en-US" b="1" dirty="0" err="1">
                <a:effectLst>
                  <a:glow>
                    <a:srgbClr val="000000"/>
                  </a:glow>
                  <a:outerShdw sx="0" sy="0">
                    <a:srgbClr val="000000"/>
                  </a:outerShdw>
                  <a:reflection stA="0" endPos="0" fadeDir="0" sx="0" sy="0"/>
                </a:effectLst>
              </a:rPr>
              <a:t>trong</a:t>
            </a:r>
            <a:r>
              <a:rPr lang="en-US" b="1" dirty="0">
                <a:effectLst>
                  <a:glow>
                    <a:srgbClr val="000000"/>
                  </a:glow>
                  <a:outerShdw sx="0" sy="0">
                    <a:srgbClr val="000000"/>
                  </a:outerShdw>
                  <a:reflection stA="0" endPos="0" fadeDir="0" sx="0" sy="0"/>
                </a:effectLst>
              </a:rPr>
              <a:t> </a:t>
            </a:r>
            <a:r>
              <a:rPr lang="en-US" b="1" dirty="0" err="1">
                <a:effectLst>
                  <a:glow>
                    <a:srgbClr val="000000"/>
                  </a:glow>
                  <a:outerShdw sx="0" sy="0">
                    <a:srgbClr val="000000"/>
                  </a:outerShdw>
                  <a:reflection stA="0" endPos="0" fadeDir="0" sx="0" sy="0"/>
                </a:effectLst>
              </a:rPr>
              <a:t>mạch</a:t>
            </a:r>
            <a:r>
              <a:rPr lang="en-US" b="1" dirty="0">
                <a:effectLst>
                  <a:glow>
                    <a:srgbClr val="000000"/>
                  </a:glow>
                  <a:outerShdw sx="0" sy="0">
                    <a:srgbClr val="000000"/>
                  </a:outerShdw>
                  <a:reflection stA="0" endPos="0" fadeDir="0" sx="0" sy="0"/>
                </a:effectLst>
              </a:rPr>
              <a:t> LC</a:t>
            </a:r>
            <a:br>
              <a:rPr lang="en-US" b="1" dirty="0">
                <a:effectLst>
                  <a:glow>
                    <a:srgbClr val="000000"/>
                  </a:glow>
                  <a:outerShdw sx="0" sy="0">
                    <a:srgbClr val="000000"/>
                  </a:outerShdw>
                  <a:reflection stA="0" endPos="0" fadeDir="0" sx="0" sy="0"/>
                </a:effectLst>
              </a:rPr>
            </a:br>
            <a:endParaRPr lang="en-US" dirty="0"/>
          </a:p>
        </p:txBody>
      </p:sp>
      <p:pic>
        <p:nvPicPr>
          <p:cNvPr id="4" name="Picture 3">
            <a:extLst>
              <a:ext uri="{FF2B5EF4-FFF2-40B4-BE49-F238E27FC236}">
                <a16:creationId xmlns:a16="http://schemas.microsoft.com/office/drawing/2014/main" xmlns="" id="{C86919F4-E51F-4A29-88B6-8B390E1BF527}"/>
              </a:ext>
            </a:extLst>
          </p:cNvPr>
          <p:cNvPicPr>
            <a:picLocks noChangeAspect="1"/>
          </p:cNvPicPr>
          <p:nvPr/>
        </p:nvPicPr>
        <p:blipFill>
          <a:blip r:embed="rId2"/>
          <a:stretch>
            <a:fillRect/>
          </a:stretch>
        </p:blipFill>
        <p:spPr>
          <a:xfrm>
            <a:off x="838200" y="1690688"/>
            <a:ext cx="3193432" cy="2638716"/>
          </a:xfrm>
          <a:prstGeom prst="rect">
            <a:avLst/>
          </a:prstGeom>
        </p:spPr>
      </p:pic>
      <p:sp>
        <p:nvSpPr>
          <p:cNvPr id="5" name="Content Placeholder 2">
            <a:extLst>
              <a:ext uri="{FF2B5EF4-FFF2-40B4-BE49-F238E27FC236}">
                <a16:creationId xmlns:a16="http://schemas.microsoft.com/office/drawing/2014/main" xmlns="" id="{845EFA84-67FE-4CD3-9250-5BC4225BB9D3}"/>
              </a:ext>
            </a:extLst>
          </p:cNvPr>
          <p:cNvSpPr>
            <a:spLocks noGrp="1"/>
          </p:cNvSpPr>
          <p:nvPr>
            <p:ph idx="1"/>
          </p:nvPr>
        </p:nvSpPr>
        <p:spPr>
          <a:xfrm>
            <a:off x="4862776" y="1690688"/>
            <a:ext cx="6595188" cy="4351338"/>
          </a:xfrm>
        </p:spPr>
        <p:txBody>
          <a:bodyPr>
            <a:normAutofit/>
          </a:bodyPr>
          <a:lstStyle/>
          <a:p>
            <a:r>
              <a:rPr lang="vi-VN" dirty="0"/>
              <a:t>   ▪ Nếu điện trở của mạch rất nhỏ, coi như bằng không, bỏ qua hao phí năng lượng → mạch dao động lí tưởng </a:t>
            </a:r>
            <a:endParaRPr lang="en-US" dirty="0"/>
          </a:p>
          <a:p>
            <a:r>
              <a:rPr lang="vi-VN" dirty="0"/>
              <a:t/>
            </a:r>
            <a:br>
              <a:rPr lang="vi-VN" dirty="0"/>
            </a:br>
            <a:endParaRPr lang="en-US" dirty="0"/>
          </a:p>
        </p:txBody>
      </p:sp>
    </p:spTree>
    <p:extLst>
      <p:ext uri="{BB962C8B-B14F-4D97-AF65-F5344CB8AC3E}">
        <p14:creationId xmlns:p14="http://schemas.microsoft.com/office/powerpoint/2010/main" val="22877873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xmlns="" id="{2A505C8C-41FC-44FF-9A63-72D849D330BC}"/>
                  </a:ext>
                </a:extLst>
              </p:cNvPr>
              <p:cNvSpPr>
                <a:spLocks noGrp="1"/>
              </p:cNvSpPr>
              <p:nvPr>
                <p:ph idx="1"/>
              </p:nvPr>
            </p:nvSpPr>
            <p:spPr>
              <a:xfrm>
                <a:off x="376083" y="301625"/>
                <a:ext cx="3812459" cy="6118840"/>
              </a:xfrm>
            </p:spPr>
            <p:txBody>
              <a:bodyPr>
                <a:normAutofit fontScale="70000" lnSpcReduction="20000"/>
              </a:bodyPr>
              <a:lstStyle/>
              <a:p>
                <a:r>
                  <a:rPr lang="vi-VN" dirty="0"/>
                  <a:t>▪ Ban đầu </a:t>
                </a:r>
                <a:r>
                  <a:rPr lang="en-US" dirty="0" err="1"/>
                  <a:t>tụ</a:t>
                </a:r>
                <a:r>
                  <a:rPr lang="en-US" dirty="0"/>
                  <a:t> </a:t>
                </a:r>
                <a:r>
                  <a:rPr lang="vi-VN" dirty="0"/>
                  <a:t>tích điện đến giá trị cực đại </a:t>
                </a:r>
                <a14:m>
                  <m:oMath xmlns:m="http://schemas.openxmlformats.org/officeDocument/2006/math">
                    <m:sSub>
                      <m:sSubPr>
                        <m:ctrlPr>
                          <a:rPr lang="vi-VN" i="1">
                            <a:latin typeface="Cambria Math"/>
                          </a:rPr>
                        </m:ctrlPr>
                      </m:sSubPr>
                      <m:e>
                        <m:r>
                          <a:rPr lang="en-US" i="1">
                            <a:latin typeface="Cambria Math" panose="02040503050406030204" pitchFamily="18" charset="0"/>
                          </a:rPr>
                          <m:t> </m:t>
                        </m:r>
                        <m:r>
                          <a:rPr lang="en-US" i="1">
                            <a:latin typeface="Cambria Math" panose="02040503050406030204" pitchFamily="18" charset="0"/>
                          </a:rPr>
                          <m:t>𝑄</m:t>
                        </m:r>
                      </m:e>
                      <m:sub>
                        <m:r>
                          <a:rPr lang="en-US" i="1">
                            <a:latin typeface="Cambria Math" panose="02040503050406030204" pitchFamily="18" charset="0"/>
                          </a:rPr>
                          <m:t>𝑚𝑎𝑥</m:t>
                        </m:r>
                      </m:sub>
                    </m:sSub>
                  </m:oMath>
                </a14:m>
                <a:r>
                  <a:rPr lang="en-US" dirty="0"/>
                  <a:t>(</a:t>
                </a:r>
                <a14:m>
                  <m:oMath xmlns:m="http://schemas.openxmlformats.org/officeDocument/2006/math">
                    <m:sSub>
                      <m:sSubPr>
                        <m:ctrlPr>
                          <a:rPr lang="vi-VN" i="1">
                            <a:latin typeface="Cambria Math"/>
                          </a:rPr>
                        </m:ctrlPr>
                      </m:sSubPr>
                      <m:e>
                        <m:r>
                          <a:rPr lang="en-US" i="1">
                            <a:latin typeface="Cambria Math" panose="02040503050406030204" pitchFamily="18" charset="0"/>
                          </a:rPr>
                          <m:t> </m:t>
                        </m:r>
                        <m:r>
                          <a:rPr lang="en-US" i="1">
                            <a:latin typeface="Cambria Math" panose="02040503050406030204" pitchFamily="18" charset="0"/>
                          </a:rPr>
                          <m:t>𝑄</m:t>
                        </m:r>
                      </m:e>
                      <m:sub>
                        <m:r>
                          <a:rPr lang="en-US" b="0" i="1" smtClean="0">
                            <a:latin typeface="Cambria Math" panose="02040503050406030204" pitchFamily="18" charset="0"/>
                          </a:rPr>
                          <m:t>0</m:t>
                        </m:r>
                      </m:sub>
                    </m:sSub>
                  </m:oMath>
                </a14:m>
                <a:r>
                  <a:rPr lang="en-US" dirty="0"/>
                  <a:t>)</a:t>
                </a:r>
                <a:r>
                  <a:rPr lang="vi-VN" dirty="0"/>
                  <a:t>, sau đó tụ phóng điện trong mạch </a:t>
                </a:r>
                <a:r>
                  <a:rPr lang="en-US" dirty="0" err="1"/>
                  <a:t>và</a:t>
                </a:r>
                <a:r>
                  <a:rPr lang="en-US" dirty="0"/>
                  <a:t> </a:t>
                </a:r>
                <a:r>
                  <a:rPr lang="en-US" dirty="0" err="1"/>
                  <a:t>có</a:t>
                </a:r>
                <a:r>
                  <a:rPr lang="en-US" dirty="0"/>
                  <a:t> </a:t>
                </a:r>
                <a:r>
                  <a:rPr lang="en-US" dirty="0" err="1"/>
                  <a:t>dòng</a:t>
                </a:r>
                <a:r>
                  <a:rPr lang="en-US" dirty="0"/>
                  <a:t> </a:t>
                </a:r>
                <a:r>
                  <a:rPr lang="en-US" dirty="0" err="1"/>
                  <a:t>điện</a:t>
                </a:r>
                <a:r>
                  <a:rPr lang="en-US" dirty="0"/>
                  <a:t> qua </a:t>
                </a:r>
                <a:r>
                  <a:rPr lang="en-US" dirty="0" err="1"/>
                  <a:t>cuộn</a:t>
                </a:r>
                <a:r>
                  <a:rPr lang="en-US" dirty="0"/>
                  <a:t> </a:t>
                </a:r>
                <a:r>
                  <a:rPr lang="en-US" dirty="0" err="1"/>
                  <a:t>cảm</a:t>
                </a:r>
                <a:r>
                  <a:rPr lang="en-US" dirty="0"/>
                  <a:t>. </a:t>
                </a:r>
                <a:r>
                  <a:rPr lang="en-US" dirty="0" err="1"/>
                  <a:t>Cuộn</a:t>
                </a:r>
                <a:r>
                  <a:rPr lang="en-US" dirty="0"/>
                  <a:t> </a:t>
                </a:r>
                <a:r>
                  <a:rPr lang="en-US" dirty="0" err="1"/>
                  <a:t>cảm</a:t>
                </a:r>
                <a:r>
                  <a:rPr lang="en-US" dirty="0"/>
                  <a:t>, </a:t>
                </a:r>
                <a:r>
                  <a:rPr lang="en-US" dirty="0" err="1"/>
                  <a:t>cảm</a:t>
                </a:r>
                <a:r>
                  <a:rPr lang="en-US" dirty="0"/>
                  <a:t> </a:t>
                </a:r>
                <a:r>
                  <a:rPr lang="en-US" dirty="0" err="1"/>
                  <a:t>ứng</a:t>
                </a:r>
                <a:r>
                  <a:rPr lang="en-US" dirty="0"/>
                  <a:t> </a:t>
                </a:r>
                <a:r>
                  <a:rPr lang="en-US" dirty="0" err="1"/>
                  <a:t>điện</a:t>
                </a:r>
                <a:r>
                  <a:rPr lang="en-US" dirty="0"/>
                  <a:t> do </a:t>
                </a:r>
                <a:r>
                  <a:rPr lang="en-US" dirty="0" err="1"/>
                  <a:t>tụ</a:t>
                </a:r>
                <a:r>
                  <a:rPr lang="en-US" dirty="0"/>
                  <a:t> </a:t>
                </a:r>
                <a:r>
                  <a:rPr lang="en-US" dirty="0" err="1"/>
                  <a:t>điện</a:t>
                </a:r>
                <a:r>
                  <a:rPr lang="en-US" dirty="0"/>
                  <a:t> </a:t>
                </a:r>
                <a:r>
                  <a:rPr lang="en-US" dirty="0" err="1"/>
                  <a:t>phóng</a:t>
                </a:r>
                <a:r>
                  <a:rPr lang="en-US" dirty="0"/>
                  <a:t> ra quay </a:t>
                </a:r>
                <a:r>
                  <a:rPr lang="en-US" dirty="0" err="1"/>
                  <a:t>về</a:t>
                </a:r>
                <a:r>
                  <a:rPr lang="en-US" dirty="0"/>
                  <a:t> </a:t>
                </a:r>
                <a:r>
                  <a:rPr lang="en-US" dirty="0" err="1"/>
                  <a:t>nạp</a:t>
                </a:r>
                <a:r>
                  <a:rPr lang="en-US" dirty="0"/>
                  <a:t> </a:t>
                </a:r>
                <a:r>
                  <a:rPr lang="en-US" dirty="0" err="1"/>
                  <a:t>điện</a:t>
                </a:r>
                <a:r>
                  <a:rPr lang="en-US" dirty="0"/>
                  <a:t> </a:t>
                </a:r>
                <a:r>
                  <a:rPr lang="en-US" dirty="0" err="1"/>
                  <a:t>cho</a:t>
                </a:r>
                <a:r>
                  <a:rPr lang="en-US" dirty="0"/>
                  <a:t> </a:t>
                </a:r>
                <a:r>
                  <a:rPr lang="en-US" dirty="0" err="1"/>
                  <a:t>tụ</a:t>
                </a:r>
                <a:r>
                  <a:rPr lang="en-US" dirty="0"/>
                  <a:t> </a:t>
                </a:r>
                <a:r>
                  <a:rPr lang="en-US" dirty="0" err="1"/>
                  <a:t>điện</a:t>
                </a:r>
                <a:r>
                  <a:rPr lang="en-US" dirty="0"/>
                  <a:t>, </a:t>
                </a:r>
                <a:r>
                  <a:rPr lang="en-US" dirty="0" err="1"/>
                  <a:t>tuy</a:t>
                </a:r>
                <a:r>
                  <a:rPr lang="en-US" dirty="0"/>
                  <a:t> </a:t>
                </a:r>
                <a:r>
                  <a:rPr lang="en-US" dirty="0" err="1"/>
                  <a:t>nhiên</a:t>
                </a:r>
                <a:r>
                  <a:rPr lang="en-US" dirty="0"/>
                  <a:t> </a:t>
                </a:r>
                <a:r>
                  <a:rPr lang="en-US" dirty="0" err="1"/>
                  <a:t>dòng</a:t>
                </a:r>
                <a:r>
                  <a:rPr lang="en-US" dirty="0"/>
                  <a:t> </a:t>
                </a:r>
                <a:r>
                  <a:rPr lang="en-US" dirty="0" err="1"/>
                  <a:t>điện</a:t>
                </a:r>
                <a:r>
                  <a:rPr lang="en-US" dirty="0"/>
                  <a:t> </a:t>
                </a:r>
                <a:r>
                  <a:rPr lang="en-US" dirty="0" err="1"/>
                  <a:t>này</a:t>
                </a:r>
                <a:r>
                  <a:rPr lang="en-US" dirty="0"/>
                  <a:t> </a:t>
                </a:r>
                <a:r>
                  <a:rPr lang="en-US" dirty="0" err="1"/>
                  <a:t>trái</a:t>
                </a:r>
                <a:r>
                  <a:rPr lang="en-US" dirty="0"/>
                  <a:t> </a:t>
                </a:r>
                <a:r>
                  <a:rPr lang="en-US" dirty="0" err="1"/>
                  <a:t>dấu</a:t>
                </a:r>
                <a:r>
                  <a:rPr lang="en-US" dirty="0"/>
                  <a:t> </a:t>
                </a:r>
                <a:r>
                  <a:rPr lang="en-US" dirty="0" err="1"/>
                  <a:t>với</a:t>
                </a:r>
                <a:r>
                  <a:rPr lang="en-US" dirty="0"/>
                  <a:t> </a:t>
                </a:r>
                <a:r>
                  <a:rPr lang="en-US" dirty="0" err="1"/>
                  <a:t>dòng</a:t>
                </a:r>
                <a:r>
                  <a:rPr lang="en-US" dirty="0"/>
                  <a:t> </a:t>
                </a:r>
                <a:r>
                  <a:rPr lang="en-US" dirty="0" err="1"/>
                  <a:t>điện</a:t>
                </a:r>
                <a:r>
                  <a:rPr lang="en-US" dirty="0"/>
                  <a:t> ban </a:t>
                </a:r>
                <a:r>
                  <a:rPr lang="en-US" dirty="0" err="1"/>
                  <a:t>đầu</a:t>
                </a:r>
                <a:r>
                  <a:rPr lang="en-US" dirty="0"/>
                  <a:t> </a:t>
                </a:r>
                <a:r>
                  <a:rPr lang="en-US" dirty="0" err="1"/>
                  <a:t>mà</a:t>
                </a:r>
                <a:r>
                  <a:rPr lang="en-US" dirty="0"/>
                  <a:t> </a:t>
                </a:r>
                <a:r>
                  <a:rPr lang="en-US" dirty="0" err="1"/>
                  <a:t>tụ</a:t>
                </a:r>
                <a:r>
                  <a:rPr lang="en-US" dirty="0"/>
                  <a:t> </a:t>
                </a:r>
                <a:r>
                  <a:rPr lang="en-US" dirty="0" err="1"/>
                  <a:t>điện</a:t>
                </a:r>
                <a:r>
                  <a:rPr lang="en-US" dirty="0"/>
                  <a:t> </a:t>
                </a:r>
                <a:r>
                  <a:rPr lang="en-US" dirty="0" err="1"/>
                  <a:t>phóng</a:t>
                </a:r>
                <a:r>
                  <a:rPr lang="en-US" dirty="0"/>
                  <a:t> ra, </a:t>
                </a:r>
                <a:r>
                  <a:rPr lang="en-US" dirty="0" err="1"/>
                  <a:t>điều</a:t>
                </a:r>
                <a:r>
                  <a:rPr lang="en-US" dirty="0"/>
                  <a:t> </a:t>
                </a:r>
                <a:r>
                  <a:rPr lang="en-US" dirty="0" err="1"/>
                  <a:t>này</a:t>
                </a:r>
                <a:r>
                  <a:rPr lang="en-US" dirty="0"/>
                  <a:t> </a:t>
                </a:r>
                <a:r>
                  <a:rPr lang="en-US" dirty="0" err="1"/>
                  <a:t>tạo</a:t>
                </a:r>
                <a:r>
                  <a:rPr lang="en-US" dirty="0"/>
                  <a:t> ra </a:t>
                </a:r>
                <a:r>
                  <a:rPr lang="en-US" dirty="0" err="1"/>
                  <a:t>một</a:t>
                </a:r>
                <a:r>
                  <a:rPr lang="en-US" dirty="0"/>
                  <a:t> </a:t>
                </a:r>
                <a:r>
                  <a:rPr lang="en-US" dirty="0" err="1"/>
                  <a:t>dòng</a:t>
                </a:r>
                <a:r>
                  <a:rPr lang="en-US" dirty="0"/>
                  <a:t> </a:t>
                </a:r>
                <a:r>
                  <a:rPr lang="en-US" dirty="0" err="1"/>
                  <a:t>điện</a:t>
                </a:r>
                <a:r>
                  <a:rPr lang="en-US" dirty="0"/>
                  <a:t> </a:t>
                </a:r>
                <a:r>
                  <a:rPr lang="en-US" dirty="0" err="1"/>
                  <a:t>xoay</a:t>
                </a:r>
                <a:r>
                  <a:rPr lang="en-US" dirty="0"/>
                  <a:t> </a:t>
                </a:r>
                <a:r>
                  <a:rPr lang="en-US" dirty="0" err="1"/>
                  <a:t>chiều</a:t>
                </a:r>
                <a:r>
                  <a:rPr lang="en-US" dirty="0"/>
                  <a:t> </a:t>
                </a:r>
                <a:r>
                  <a:rPr lang="en-US" dirty="0" err="1"/>
                  <a:t>trong</a:t>
                </a:r>
                <a:r>
                  <a:rPr lang="en-US" dirty="0"/>
                  <a:t> </a:t>
                </a:r>
                <a:r>
                  <a:rPr lang="en-US" dirty="0" err="1"/>
                  <a:t>mạch</a:t>
                </a:r>
                <a:endParaRPr lang="en-US" dirty="0"/>
              </a:p>
              <a:p>
                <a:r>
                  <a:rPr lang="en-US" dirty="0"/>
                  <a:t>Nếu </a:t>
                </a:r>
                <a:r>
                  <a:rPr lang="en-US" dirty="0" err="1"/>
                  <a:t>Điện</a:t>
                </a:r>
                <a:r>
                  <a:rPr lang="en-US" dirty="0"/>
                  <a:t> </a:t>
                </a:r>
                <a:r>
                  <a:rPr lang="en-US" dirty="0" err="1"/>
                  <a:t>trở</a:t>
                </a:r>
                <a:r>
                  <a:rPr lang="en-US" dirty="0"/>
                  <a:t> </a:t>
                </a:r>
                <a:r>
                  <a:rPr lang="en-US" dirty="0" err="1"/>
                  <a:t>trong</a:t>
                </a:r>
                <a:r>
                  <a:rPr lang="en-US" dirty="0"/>
                  <a:t> </a:t>
                </a:r>
                <a:r>
                  <a:rPr lang="en-US" dirty="0" err="1"/>
                  <a:t>khung</a:t>
                </a:r>
                <a:r>
                  <a:rPr lang="en-US" dirty="0"/>
                  <a:t> </a:t>
                </a:r>
                <a:r>
                  <a:rPr lang="en-US" dirty="0" err="1"/>
                  <a:t>dao</a:t>
                </a:r>
                <a:r>
                  <a:rPr lang="en-US" dirty="0"/>
                  <a:t> </a:t>
                </a:r>
                <a:r>
                  <a:rPr lang="en-US" dirty="0" err="1"/>
                  <a:t>động</a:t>
                </a:r>
                <a:r>
                  <a:rPr lang="en-US" dirty="0"/>
                  <a:t> </a:t>
                </a:r>
                <a:r>
                  <a:rPr lang="en-US" dirty="0" err="1"/>
                  <a:t>này</a:t>
                </a:r>
                <a:r>
                  <a:rPr lang="en-US" dirty="0"/>
                  <a:t> </a:t>
                </a:r>
                <a:r>
                  <a:rPr lang="en-US" dirty="0" err="1"/>
                  <a:t>bằng</a:t>
                </a:r>
                <a:r>
                  <a:rPr lang="en-US" dirty="0"/>
                  <a:t> 0 </a:t>
                </a:r>
                <a:r>
                  <a:rPr lang="en-US" dirty="0" err="1"/>
                  <a:t>thì</a:t>
                </a:r>
                <a:r>
                  <a:rPr lang="en-US" dirty="0"/>
                  <a:t> </a:t>
                </a:r>
                <a:r>
                  <a:rPr lang="en-US" dirty="0" err="1"/>
                  <a:t>dao</a:t>
                </a:r>
                <a:r>
                  <a:rPr lang="en-US" dirty="0"/>
                  <a:t> </a:t>
                </a:r>
                <a:r>
                  <a:rPr lang="en-US" dirty="0" err="1"/>
                  <a:t>động</a:t>
                </a:r>
                <a:r>
                  <a:rPr lang="en-US" dirty="0"/>
                  <a:t> </a:t>
                </a:r>
                <a:r>
                  <a:rPr lang="en-US" dirty="0" err="1"/>
                  <a:t>điện</a:t>
                </a:r>
                <a:r>
                  <a:rPr lang="en-US" dirty="0"/>
                  <a:t> </a:t>
                </a:r>
                <a:r>
                  <a:rPr lang="en-US" dirty="0" err="1"/>
                  <a:t>sẽ</a:t>
                </a:r>
                <a:r>
                  <a:rPr lang="en-US" dirty="0"/>
                  <a:t> </a:t>
                </a:r>
                <a:r>
                  <a:rPr lang="en-US" dirty="0" err="1"/>
                  <a:t>duy</a:t>
                </a:r>
                <a:r>
                  <a:rPr lang="en-US" dirty="0"/>
                  <a:t> </a:t>
                </a:r>
                <a:r>
                  <a:rPr lang="en-US" dirty="0" err="1"/>
                  <a:t>trì</a:t>
                </a:r>
                <a:r>
                  <a:rPr lang="en-US" dirty="0"/>
                  <a:t> </a:t>
                </a:r>
                <a:r>
                  <a:rPr lang="en-US" dirty="0" err="1"/>
                  <a:t>mãi</a:t>
                </a:r>
                <a:r>
                  <a:rPr lang="en-US" dirty="0"/>
                  <a:t>.</a:t>
                </a:r>
              </a:p>
              <a:p>
                <a:endParaRPr lang="en-US" dirty="0"/>
              </a:p>
            </p:txBody>
          </p:sp>
        </mc:Choice>
        <mc:Fallback xmlns="">
          <p:sp>
            <p:nvSpPr>
              <p:cNvPr id="4" name="Content Placeholder 3">
                <a:extLst>
                  <a:ext uri="{FF2B5EF4-FFF2-40B4-BE49-F238E27FC236}">
                    <a16:creationId xmlns:a16="http://schemas.microsoft.com/office/drawing/2014/main" id="{2A505C8C-41FC-44FF-9A63-72D849D330BC}"/>
                  </a:ext>
                </a:extLst>
              </p:cNvPr>
              <p:cNvSpPr>
                <a:spLocks noGrp="1" noRot="1" noChangeAspect="1" noMove="1" noResize="1" noEditPoints="1" noAdjustHandles="1" noChangeArrowheads="1" noChangeShapeType="1" noTextEdit="1"/>
              </p:cNvSpPr>
              <p:nvPr>
                <p:ph idx="1"/>
              </p:nvPr>
            </p:nvSpPr>
            <p:spPr>
              <a:xfrm>
                <a:off x="376083" y="301625"/>
                <a:ext cx="3812459" cy="6118840"/>
              </a:xfrm>
              <a:blipFill>
                <a:blip r:embed="rId2"/>
                <a:stretch>
                  <a:fillRect l="-3360" t="-2888" r="-320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xmlns="" id="{3406432C-6980-4609-934A-6EAA4C54907D}"/>
              </a:ext>
            </a:extLst>
          </p:cNvPr>
          <p:cNvPicPr>
            <a:picLocks noChangeAspect="1"/>
          </p:cNvPicPr>
          <p:nvPr/>
        </p:nvPicPr>
        <p:blipFill>
          <a:blip r:embed="rId3"/>
          <a:stretch>
            <a:fillRect/>
          </a:stretch>
        </p:blipFill>
        <p:spPr>
          <a:xfrm>
            <a:off x="7815066" y="460813"/>
            <a:ext cx="3883489" cy="3194581"/>
          </a:xfrm>
          <a:prstGeom prst="rect">
            <a:avLst/>
          </a:prstGeom>
        </p:spPr>
      </p:pic>
      <p:pic>
        <p:nvPicPr>
          <p:cNvPr id="6" name="Picture 5">
            <a:extLst>
              <a:ext uri="{FF2B5EF4-FFF2-40B4-BE49-F238E27FC236}">
                <a16:creationId xmlns:a16="http://schemas.microsoft.com/office/drawing/2014/main" xmlns="" id="{2DD9E25B-2953-4505-BED3-55124C931E03}"/>
              </a:ext>
            </a:extLst>
          </p:cNvPr>
          <p:cNvPicPr>
            <a:picLocks noChangeAspect="1"/>
          </p:cNvPicPr>
          <p:nvPr/>
        </p:nvPicPr>
        <p:blipFill>
          <a:blip r:embed="rId4"/>
          <a:stretch>
            <a:fillRect/>
          </a:stretch>
        </p:blipFill>
        <p:spPr>
          <a:xfrm>
            <a:off x="4770642" y="381153"/>
            <a:ext cx="2867025" cy="5191125"/>
          </a:xfrm>
          <a:prstGeom prst="rect">
            <a:avLst/>
          </a:prstGeom>
        </p:spPr>
      </p:pic>
    </p:spTree>
    <p:extLst>
      <p:ext uri="{BB962C8B-B14F-4D97-AF65-F5344CB8AC3E}">
        <p14:creationId xmlns:p14="http://schemas.microsoft.com/office/powerpoint/2010/main" val="373929557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1FF38134-1F87-4271-BCF0-776B27BEECD2}"/>
              </a:ext>
            </a:extLst>
          </p:cNvPr>
          <p:cNvPicPr>
            <a:picLocks noGrp="1" noChangeAspect="1"/>
          </p:cNvPicPr>
          <p:nvPr>
            <p:ph idx="1"/>
          </p:nvPr>
        </p:nvPicPr>
        <p:blipFill>
          <a:blip r:embed="rId2"/>
          <a:stretch>
            <a:fillRect/>
          </a:stretch>
        </p:blipFill>
        <p:spPr>
          <a:xfrm>
            <a:off x="1001636" y="580103"/>
            <a:ext cx="10561868" cy="5034910"/>
          </a:xfrm>
          <a:prstGeom prst="rect">
            <a:avLst/>
          </a:prstGeom>
        </p:spPr>
      </p:pic>
    </p:spTree>
    <p:extLst>
      <p:ext uri="{BB962C8B-B14F-4D97-AF65-F5344CB8AC3E}">
        <p14:creationId xmlns:p14="http://schemas.microsoft.com/office/powerpoint/2010/main" val="1205065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7F442F-B138-4C9E-949B-2167FEB448BC}"/>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0C4879E7-3F10-4EC0-B28C-16DB2AFF79CD}"/>
                  </a:ext>
                </a:extLst>
              </p:cNvPr>
              <p:cNvSpPr>
                <a:spLocks noGrp="1"/>
              </p:cNvSpPr>
              <p:nvPr>
                <p:ph idx="1"/>
              </p:nvPr>
            </p:nvSpPr>
            <p:spPr/>
            <p:txBody>
              <a:bodyPr>
                <a:normAutofit/>
              </a:bodyPr>
              <a:lstStyle/>
              <a:p>
                <a:r>
                  <a:rPr lang="en-US" b="1" dirty="0"/>
                  <a:t>Năng </a:t>
                </a:r>
                <a:r>
                  <a:rPr lang="en-US" b="1" dirty="0" err="1"/>
                  <a:t>lượng</a:t>
                </a:r>
                <a:r>
                  <a:rPr lang="en-US" b="1" dirty="0"/>
                  <a:t> </a:t>
                </a:r>
                <a:r>
                  <a:rPr lang="en-US" b="1" dirty="0" err="1"/>
                  <a:t>toàn</a:t>
                </a:r>
                <a:r>
                  <a:rPr lang="en-US" b="1" dirty="0"/>
                  <a:t> </a:t>
                </a:r>
                <a:r>
                  <a:rPr lang="en-US" b="1" dirty="0" err="1"/>
                  <a:t>phần</a:t>
                </a:r>
                <a:r>
                  <a:rPr lang="en-US" dirty="0"/>
                  <a:t> </a:t>
                </a:r>
                <a:r>
                  <a:rPr lang="en-US" dirty="0" err="1"/>
                  <a:t>được</a:t>
                </a:r>
                <a:r>
                  <a:rPr lang="en-US" dirty="0"/>
                  <a:t> </a:t>
                </a:r>
                <a:r>
                  <a:rPr lang="en-US" dirty="0" err="1"/>
                  <a:t>tích</a:t>
                </a:r>
                <a:r>
                  <a:rPr lang="en-US" dirty="0"/>
                  <a:t> </a:t>
                </a:r>
                <a:r>
                  <a:rPr lang="en-US" dirty="0" err="1"/>
                  <a:t>trữ</a:t>
                </a:r>
                <a:r>
                  <a:rPr lang="en-US" dirty="0"/>
                  <a:t> </a:t>
                </a:r>
                <a:r>
                  <a:rPr lang="en-US" dirty="0" err="1"/>
                  <a:t>trong</a:t>
                </a:r>
                <a:r>
                  <a:rPr lang="en-US" dirty="0"/>
                  <a:t> </a:t>
                </a:r>
                <a:r>
                  <a:rPr lang="en-US" dirty="0" err="1"/>
                  <a:t>mạch</a:t>
                </a:r>
                <a:r>
                  <a:rPr lang="en-US" dirty="0"/>
                  <a:t> LC</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sSub>
                        <m:sSubPr>
                          <m:ctrlPr>
                            <a:rPr lang="en-US" b="0" i="1" smtClean="0">
                              <a:latin typeface="Cambria Math"/>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𝐸</m:t>
                          </m:r>
                        </m:sub>
                      </m:sSub>
                      <m:r>
                        <a:rPr lang="en-US" b="0" i="1" smtClean="0">
                          <a:latin typeface="Cambria Math" panose="02040503050406030204" pitchFamily="18" charset="0"/>
                        </a:rPr>
                        <m:t>+</m:t>
                      </m:r>
                      <m:sSub>
                        <m:sSubPr>
                          <m:ctrlPr>
                            <a:rPr lang="en-US" b="0" i="1" smtClean="0">
                              <a:latin typeface="Cambria Math"/>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𝐵</m:t>
                          </m:r>
                        </m:sub>
                      </m:sSub>
                      <m:r>
                        <a:rPr lang="en-US" b="0" i="1" smtClean="0">
                          <a:latin typeface="Cambria Math" panose="02040503050406030204" pitchFamily="18" charset="0"/>
                        </a:rPr>
                        <m:t>=</m:t>
                      </m:r>
                      <m:f>
                        <m:fPr>
                          <m:ctrlPr>
                            <a:rPr lang="en-US" b="0" i="1" smtClean="0">
                              <a:latin typeface="Cambria Math"/>
                            </a:rPr>
                          </m:ctrlPr>
                        </m:fPr>
                        <m:num>
                          <m:sSup>
                            <m:sSupPr>
                              <m:ctrlPr>
                                <a:rPr lang="en-US" b="0" i="1" smtClean="0">
                                  <a:latin typeface="Cambria Math"/>
                                </a:rPr>
                              </m:ctrlPr>
                            </m:sSupPr>
                            <m:e>
                              <m:r>
                                <a:rPr lang="en-US" b="0" i="1" smtClean="0">
                                  <a:latin typeface="Cambria Math" panose="02040503050406030204" pitchFamily="18" charset="0"/>
                                </a:rPr>
                                <m:t>𝑞</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r>
                            <a:rPr lang="en-US" b="0" i="1" smtClean="0">
                              <a:latin typeface="Cambria Math" panose="02040503050406030204" pitchFamily="18" charset="0"/>
                            </a:rPr>
                            <m:t>𝐶</m:t>
                          </m:r>
                        </m:den>
                      </m:f>
                      <m:r>
                        <a:rPr lang="en-US" b="0" i="1" smtClean="0">
                          <a:latin typeface="Cambria Math" panose="02040503050406030204" pitchFamily="18" charset="0"/>
                        </a:rPr>
                        <m:t>+</m:t>
                      </m:r>
                      <m:f>
                        <m:fPr>
                          <m:ctrlPr>
                            <a:rPr lang="en-US" b="0" i="1" smtClean="0">
                              <a:latin typeface="Cambria Math"/>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𝐿</m:t>
                      </m:r>
                      <m:sSup>
                        <m:sSupPr>
                          <m:ctrlPr>
                            <a:rPr lang="en-US" b="0" i="1" smtClean="0">
                              <a:latin typeface="Cambria Math"/>
                            </a:rPr>
                          </m:ctrlPr>
                        </m:sSupPr>
                        <m:e>
                          <m:r>
                            <a:rPr lang="en-US" b="0" i="1" smtClean="0">
                              <a:latin typeface="Cambria Math" panose="02040503050406030204" pitchFamily="18" charset="0"/>
                            </a:rPr>
                            <m:t>𝑖</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a:rPr>
                          </m:ctrlPr>
                        </m:fPr>
                        <m:num>
                          <m:sSubSup>
                            <m:sSubSupPr>
                              <m:ctrlPr>
                                <a:rPr lang="en-US" b="0" i="1" smtClean="0">
                                  <a:latin typeface="Cambria Math"/>
                                </a:rPr>
                              </m:ctrlPr>
                            </m:sSubSupPr>
                            <m:e>
                              <m:r>
                                <a:rPr lang="en-US" b="0" i="1" smtClean="0">
                                  <a:latin typeface="Cambria Math" panose="02040503050406030204" pitchFamily="18" charset="0"/>
                                </a:rPr>
                                <m:t>𝑄</m:t>
                              </m:r>
                            </m:e>
                            <m:sub>
                              <m:r>
                                <a:rPr lang="en-US" b="0" i="1" smtClean="0">
                                  <a:latin typeface="Cambria Math" panose="02040503050406030204" pitchFamily="18" charset="0"/>
                                </a:rPr>
                                <m:t>𝑚𝑎𝑥</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r>
                            <a:rPr lang="en-US" b="0" i="1" smtClean="0">
                              <a:latin typeface="Cambria Math" panose="02040503050406030204" pitchFamily="18" charset="0"/>
                            </a:rPr>
                            <m:t>𝐶</m:t>
                          </m:r>
                        </m:den>
                      </m:f>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0C4879E7-3F10-4EC0-B28C-16DB2AFF79CD}"/>
                  </a:ext>
                </a:extLst>
              </p:cNvPr>
              <p:cNvSpPr>
                <a:spLocks noGrp="1" noRot="1" noChangeAspect="1" noMove="1" noResize="1" noEditPoints="1" noAdjustHandles="1" noChangeArrowheads="1" noChangeShapeType="1" noTextEdit="1"/>
              </p:cNvSpPr>
              <p:nvPr>
                <p:ph idx="1"/>
              </p:nvPr>
            </p:nvSpPr>
            <p:spPr>
              <a:blipFill>
                <a:blip r:embed="rId2"/>
                <a:stretch>
                  <a:fillRect l="-2087" t="-3922" r="-2029"/>
                </a:stretch>
              </a:blipFill>
            </p:spPr>
            <p:txBody>
              <a:bodyPr/>
              <a:lstStyle/>
              <a:p>
                <a:r>
                  <a:rPr lang="en-US">
                    <a:noFill/>
                  </a:rPr>
                  <a:t> </a:t>
                </a:r>
              </a:p>
            </p:txBody>
          </p:sp>
        </mc:Fallback>
      </mc:AlternateContent>
    </p:spTree>
    <p:extLst>
      <p:ext uri="{BB962C8B-B14F-4D97-AF65-F5344CB8AC3E}">
        <p14:creationId xmlns:p14="http://schemas.microsoft.com/office/powerpoint/2010/main" val="25947204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283E121D-CD55-4554-88B2-733F62998DE7}"/>
              </a:ext>
            </a:extLst>
          </p:cNvPr>
          <p:cNvPicPr>
            <a:picLocks noGrp="1" noChangeAspect="1"/>
          </p:cNvPicPr>
          <p:nvPr>
            <p:ph idx="1"/>
          </p:nvPr>
        </p:nvPicPr>
        <p:blipFill>
          <a:blip r:embed="rId2"/>
          <a:stretch>
            <a:fillRect/>
          </a:stretch>
        </p:blipFill>
        <p:spPr>
          <a:xfrm>
            <a:off x="274192" y="1465288"/>
            <a:ext cx="10978923" cy="2113654"/>
          </a:xfrm>
          <a:prstGeom prst="rect">
            <a:avLst/>
          </a:prstGeom>
        </p:spPr>
      </p:pic>
    </p:spTree>
    <p:extLst>
      <p:ext uri="{BB962C8B-B14F-4D97-AF65-F5344CB8AC3E}">
        <p14:creationId xmlns:p14="http://schemas.microsoft.com/office/powerpoint/2010/main" val="16684719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98B48E-45C7-4171-9B02-23EE32F96C17}"/>
              </a:ext>
            </a:extLst>
          </p:cNvPr>
          <p:cNvSpPr>
            <a:spLocks noGrp="1"/>
          </p:cNvSpPr>
          <p:nvPr>
            <p:ph type="title"/>
          </p:nvPr>
        </p:nvSpPr>
        <p:spPr/>
        <p:txBody>
          <a:bodyPr/>
          <a:lstStyle/>
          <a:p>
            <a:r>
              <a:rPr lang="en-US" dirty="0">
                <a:solidFill>
                  <a:srgbClr val="FFC000"/>
                </a:solidFill>
              </a:rPr>
              <a:t>Câu </a:t>
            </a:r>
            <a:r>
              <a:rPr lang="en-US" dirty="0" err="1">
                <a:solidFill>
                  <a:srgbClr val="FFC000"/>
                </a:solidFill>
              </a:rPr>
              <a:t>hỏi</a:t>
            </a:r>
            <a:r>
              <a:rPr lang="en-US" dirty="0">
                <a:solidFill>
                  <a:srgbClr val="FFC000"/>
                </a:solidFill>
              </a:rPr>
              <a:t> 4</a:t>
            </a:r>
            <a:endParaRPr lang="en-US" dirty="0"/>
          </a:p>
        </p:txBody>
      </p:sp>
      <p:sp>
        <p:nvSpPr>
          <p:cNvPr id="3" name="Content Placeholder 2">
            <a:extLst>
              <a:ext uri="{FF2B5EF4-FFF2-40B4-BE49-F238E27FC236}">
                <a16:creationId xmlns:a16="http://schemas.microsoft.com/office/drawing/2014/main" xmlns="" id="{7551C177-784A-4406-9941-380AC2E3CA88}"/>
              </a:ext>
            </a:extLst>
          </p:cNvPr>
          <p:cNvSpPr>
            <a:spLocks noGrp="1"/>
          </p:cNvSpPr>
          <p:nvPr>
            <p:ph idx="1"/>
          </p:nvPr>
        </p:nvSpPr>
        <p:spPr/>
        <p:txBody>
          <a:bodyPr>
            <a:normAutofit lnSpcReduction="10000"/>
          </a:bodyPr>
          <a:lstStyle/>
          <a:p>
            <a:r>
              <a:rPr lang="en-US" dirty="0" err="1"/>
              <a:t>Tại</a:t>
            </a:r>
            <a:r>
              <a:rPr lang="en-US" dirty="0"/>
              <a:t> </a:t>
            </a:r>
            <a:r>
              <a:rPr lang="en-US" dirty="0" err="1"/>
              <a:t>một</a:t>
            </a:r>
            <a:r>
              <a:rPr lang="en-US" dirty="0"/>
              <a:t> </a:t>
            </a:r>
            <a:r>
              <a:rPr lang="en-US" dirty="0" err="1"/>
              <a:t>thời</a:t>
            </a:r>
            <a:r>
              <a:rPr lang="en-US" dirty="0"/>
              <a:t> </a:t>
            </a:r>
            <a:r>
              <a:rPr lang="en-US" dirty="0" err="1"/>
              <a:t>điểm</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mạch</a:t>
            </a:r>
            <a:r>
              <a:rPr lang="en-US" dirty="0"/>
              <a:t> LC </a:t>
            </a:r>
            <a:r>
              <a:rPr lang="en-US" dirty="0" err="1"/>
              <a:t>dao</a:t>
            </a:r>
            <a:r>
              <a:rPr lang="en-US" dirty="0"/>
              <a:t> </a:t>
            </a:r>
            <a:r>
              <a:rPr lang="en-US" dirty="0" err="1"/>
              <a:t>động</a:t>
            </a:r>
            <a:r>
              <a:rPr lang="en-US" dirty="0"/>
              <a:t>, </a:t>
            </a:r>
            <a:r>
              <a:rPr lang="en-US" dirty="0" err="1"/>
              <a:t>dòng</a:t>
            </a:r>
            <a:r>
              <a:rPr lang="en-US" dirty="0"/>
              <a:t> </a:t>
            </a:r>
            <a:r>
              <a:rPr lang="en-US" dirty="0" err="1"/>
              <a:t>điện</a:t>
            </a:r>
            <a:r>
              <a:rPr lang="en-US" dirty="0"/>
              <a:t> </a:t>
            </a:r>
            <a:r>
              <a:rPr lang="en-US" dirty="0" err="1"/>
              <a:t>đạt</a:t>
            </a:r>
            <a:r>
              <a:rPr lang="en-US" dirty="0"/>
              <a:t> </a:t>
            </a:r>
            <a:r>
              <a:rPr lang="en-US" dirty="0" err="1"/>
              <a:t>giá</a:t>
            </a:r>
            <a:r>
              <a:rPr lang="en-US" dirty="0"/>
              <a:t> </a:t>
            </a:r>
            <a:r>
              <a:rPr lang="en-US" dirty="0" err="1"/>
              <a:t>trị</a:t>
            </a:r>
            <a:r>
              <a:rPr lang="en-US" dirty="0"/>
              <a:t> </a:t>
            </a:r>
            <a:r>
              <a:rPr lang="en-US" dirty="0" err="1"/>
              <a:t>cực</a:t>
            </a:r>
            <a:r>
              <a:rPr lang="en-US" dirty="0"/>
              <a:t> </a:t>
            </a:r>
            <a:r>
              <a:rPr lang="en-US" dirty="0" err="1"/>
              <a:t>đại</a:t>
            </a:r>
            <a:r>
              <a:rPr lang="en-US" dirty="0"/>
              <a:t>. </a:t>
            </a:r>
            <a:r>
              <a:rPr lang="en-US" dirty="0" err="1"/>
              <a:t>Tại</a:t>
            </a:r>
            <a:r>
              <a:rPr lang="en-US" dirty="0"/>
              <a:t> </a:t>
            </a:r>
            <a:r>
              <a:rPr lang="en-US" dirty="0" err="1"/>
              <a:t>thời</a:t>
            </a:r>
            <a:r>
              <a:rPr lang="en-US" dirty="0"/>
              <a:t> </a:t>
            </a:r>
            <a:r>
              <a:rPr lang="en-US" dirty="0" err="1"/>
              <a:t>điểm</a:t>
            </a:r>
            <a:r>
              <a:rPr lang="en-US" dirty="0"/>
              <a:t> </a:t>
            </a:r>
            <a:r>
              <a:rPr lang="en-US" dirty="0" err="1"/>
              <a:t>này</a:t>
            </a:r>
            <a:r>
              <a:rPr lang="en-US" dirty="0"/>
              <a:t> </a:t>
            </a:r>
            <a:r>
              <a:rPr lang="en-US" dirty="0" err="1"/>
              <a:t>thì</a:t>
            </a:r>
            <a:r>
              <a:rPr lang="en-US" dirty="0"/>
              <a:t> </a:t>
            </a:r>
            <a:r>
              <a:rPr lang="en-US" dirty="0" err="1"/>
              <a:t>điều</a:t>
            </a:r>
            <a:r>
              <a:rPr lang="en-US" dirty="0"/>
              <a:t> </a:t>
            </a:r>
            <a:r>
              <a:rPr lang="en-US" dirty="0" err="1"/>
              <a:t>gì</a:t>
            </a:r>
            <a:r>
              <a:rPr lang="en-US" dirty="0"/>
              <a:t> </a:t>
            </a:r>
            <a:r>
              <a:rPr lang="en-US" dirty="0" err="1"/>
              <a:t>xảy</a:t>
            </a:r>
            <a:r>
              <a:rPr lang="en-US" dirty="0"/>
              <a:t> ra </a:t>
            </a:r>
            <a:r>
              <a:rPr lang="en-US" dirty="0" err="1"/>
              <a:t>với</a:t>
            </a:r>
            <a:r>
              <a:rPr lang="en-US" dirty="0"/>
              <a:t> </a:t>
            </a:r>
            <a:r>
              <a:rPr lang="en-US" dirty="0" err="1"/>
              <a:t>điện</a:t>
            </a:r>
            <a:r>
              <a:rPr lang="en-US" dirty="0"/>
              <a:t> </a:t>
            </a:r>
            <a:r>
              <a:rPr lang="en-US" dirty="0" err="1"/>
              <a:t>áp</a:t>
            </a:r>
            <a:r>
              <a:rPr lang="en-US" dirty="0"/>
              <a:t> qua </a:t>
            </a:r>
            <a:r>
              <a:rPr lang="en-US" dirty="0" err="1"/>
              <a:t>tụ</a:t>
            </a:r>
            <a:r>
              <a:rPr lang="en-US" dirty="0"/>
              <a:t> </a:t>
            </a:r>
            <a:r>
              <a:rPr lang="en-US" dirty="0" err="1"/>
              <a:t>điện</a:t>
            </a:r>
            <a:r>
              <a:rPr lang="en-US" dirty="0"/>
              <a:t>? </a:t>
            </a:r>
          </a:p>
          <a:p>
            <a:pPr marL="742950" indent="-742950">
              <a:buAutoNum type="alphaLcParenBoth"/>
            </a:pPr>
            <a:r>
              <a:rPr lang="en-US" dirty="0" err="1"/>
              <a:t>Nó</a:t>
            </a:r>
            <a:r>
              <a:rPr lang="en-US" dirty="0"/>
              <a:t> </a:t>
            </a:r>
            <a:r>
              <a:rPr lang="en-US" dirty="0" err="1"/>
              <a:t>khác</a:t>
            </a:r>
            <a:r>
              <a:rPr lang="en-US" dirty="0"/>
              <a:t> </a:t>
            </a:r>
            <a:r>
              <a:rPr lang="en-US" dirty="0" err="1"/>
              <a:t>điện</a:t>
            </a:r>
            <a:r>
              <a:rPr lang="en-US" dirty="0"/>
              <a:t> </a:t>
            </a:r>
            <a:r>
              <a:rPr lang="en-US" dirty="0" err="1"/>
              <a:t>áp</a:t>
            </a:r>
            <a:r>
              <a:rPr lang="en-US" dirty="0"/>
              <a:t> qua </a:t>
            </a:r>
            <a:r>
              <a:rPr lang="en-US" dirty="0" err="1"/>
              <a:t>cuộn</a:t>
            </a:r>
            <a:r>
              <a:rPr lang="en-US" dirty="0"/>
              <a:t> </a:t>
            </a:r>
            <a:r>
              <a:rPr lang="en-US" dirty="0" err="1"/>
              <a:t>cảm</a:t>
            </a:r>
            <a:r>
              <a:rPr lang="en-US" dirty="0"/>
              <a:t>. </a:t>
            </a:r>
          </a:p>
          <a:p>
            <a:pPr marL="742950" indent="-742950">
              <a:buAutoNum type="alphaLcParenBoth"/>
            </a:pPr>
            <a:r>
              <a:rPr lang="en-US" dirty="0" err="1"/>
              <a:t>Nó</a:t>
            </a:r>
            <a:r>
              <a:rPr lang="en-US" dirty="0"/>
              <a:t> </a:t>
            </a:r>
            <a:r>
              <a:rPr lang="en-US" dirty="0" err="1"/>
              <a:t>bằng</a:t>
            </a:r>
            <a:r>
              <a:rPr lang="en-US" dirty="0"/>
              <a:t> 0. </a:t>
            </a:r>
          </a:p>
          <a:p>
            <a:pPr marL="742950" indent="-742950">
              <a:buAutoNum type="alphaLcParenBoth"/>
            </a:pPr>
            <a:r>
              <a:rPr lang="en-US" dirty="0" err="1"/>
              <a:t>Nó</a:t>
            </a:r>
            <a:r>
              <a:rPr lang="en-US" dirty="0"/>
              <a:t> </a:t>
            </a:r>
            <a:r>
              <a:rPr lang="en-US" dirty="0" err="1"/>
              <a:t>đạt</a:t>
            </a:r>
            <a:r>
              <a:rPr lang="en-US" dirty="0"/>
              <a:t> </a:t>
            </a:r>
            <a:r>
              <a:rPr lang="en-US" dirty="0" err="1"/>
              <a:t>giá</a:t>
            </a:r>
            <a:r>
              <a:rPr lang="en-US" dirty="0"/>
              <a:t> </a:t>
            </a:r>
            <a:r>
              <a:rPr lang="en-US" dirty="0" err="1"/>
              <a:t>trị</a:t>
            </a:r>
            <a:r>
              <a:rPr lang="en-US" dirty="0"/>
              <a:t> </a:t>
            </a:r>
            <a:r>
              <a:rPr lang="en-US" dirty="0" err="1"/>
              <a:t>cực</a:t>
            </a:r>
            <a:r>
              <a:rPr lang="en-US" dirty="0"/>
              <a:t> </a:t>
            </a:r>
            <a:r>
              <a:rPr lang="en-US" dirty="0" err="1"/>
              <a:t>đại</a:t>
            </a:r>
            <a:r>
              <a:rPr lang="en-US" dirty="0"/>
              <a:t>. </a:t>
            </a:r>
          </a:p>
          <a:p>
            <a:pPr marL="742950" indent="-742950">
              <a:buAutoNum type="alphaLcParenBoth"/>
            </a:pPr>
            <a:r>
              <a:rPr lang="en-US" dirty="0" err="1"/>
              <a:t>Không</a:t>
            </a:r>
            <a:r>
              <a:rPr lang="en-US" dirty="0"/>
              <a:t> </a:t>
            </a:r>
            <a:r>
              <a:rPr lang="en-US" dirty="0" err="1"/>
              <a:t>thể</a:t>
            </a:r>
            <a:r>
              <a:rPr lang="en-US" dirty="0"/>
              <a:t> </a:t>
            </a:r>
            <a:r>
              <a:rPr lang="en-US" dirty="0" err="1"/>
              <a:t>xác</a:t>
            </a:r>
            <a:r>
              <a:rPr lang="en-US" dirty="0"/>
              <a:t> </a:t>
            </a:r>
            <a:r>
              <a:rPr lang="en-US" dirty="0" err="1"/>
              <a:t>định</a:t>
            </a:r>
            <a:r>
              <a:rPr lang="en-US" dirty="0"/>
              <a:t> </a:t>
            </a:r>
            <a:r>
              <a:rPr lang="en-US" dirty="0" err="1"/>
              <a:t>được</a:t>
            </a:r>
            <a:endParaRPr lang="en-US" dirty="0"/>
          </a:p>
        </p:txBody>
      </p:sp>
    </p:spTree>
    <p:extLst>
      <p:ext uri="{BB962C8B-B14F-4D97-AF65-F5344CB8AC3E}">
        <p14:creationId xmlns:p14="http://schemas.microsoft.com/office/powerpoint/2010/main" val="6460502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42A7B0-69CF-47BD-8060-4222BD99DC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2106E453-7450-49EA-B85D-A99360B26479}"/>
              </a:ext>
            </a:extLst>
          </p:cNvPr>
          <p:cNvSpPr>
            <a:spLocks noGrp="1"/>
          </p:cNvSpPr>
          <p:nvPr>
            <p:ph idx="1"/>
          </p:nvPr>
        </p:nvSpPr>
        <p:spPr/>
        <p:txBody>
          <a:bodyPr/>
          <a:lstStyle/>
          <a:p>
            <a:r>
              <a:rPr lang="en-US" altLang="en-US" dirty="0"/>
              <a:t>(b). If the current is at its maximum value, the charge on the capacitor is zero</a:t>
            </a:r>
            <a:endParaRPr lang="en-US" dirty="0"/>
          </a:p>
        </p:txBody>
      </p:sp>
    </p:spTree>
    <p:extLst>
      <p:ext uri="{BB962C8B-B14F-4D97-AF65-F5344CB8AC3E}">
        <p14:creationId xmlns:p14="http://schemas.microsoft.com/office/powerpoint/2010/main" val="13850052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268098-B6B7-4521-8171-00EEC7BB50CD}"/>
              </a:ext>
            </a:extLst>
          </p:cNvPr>
          <p:cNvSpPr>
            <a:spLocks noGrp="1"/>
          </p:cNvSpPr>
          <p:nvPr>
            <p:ph type="title"/>
          </p:nvPr>
        </p:nvSpPr>
        <p:spPr/>
        <p:txBody>
          <a:bodyPr/>
          <a:lstStyle/>
          <a:p>
            <a:r>
              <a:rPr lang="en-US" dirty="0">
                <a:solidFill>
                  <a:srgbClr val="FFC000"/>
                </a:solidFill>
              </a:rPr>
              <a:t>Câu </a:t>
            </a:r>
            <a:r>
              <a:rPr lang="en-US" dirty="0" err="1">
                <a:solidFill>
                  <a:srgbClr val="FFC000"/>
                </a:solidFill>
              </a:rPr>
              <a:t>hỏi</a:t>
            </a:r>
            <a:r>
              <a:rPr lang="en-US" dirty="0">
                <a:solidFill>
                  <a:srgbClr val="FFC000"/>
                </a:solidFill>
              </a:rPr>
              <a:t> 5</a:t>
            </a:r>
            <a:endParaRPr lang="en-US" dirty="0"/>
          </a:p>
        </p:txBody>
      </p:sp>
      <p:sp>
        <p:nvSpPr>
          <p:cNvPr id="3" name="Content Placeholder 2">
            <a:extLst>
              <a:ext uri="{FF2B5EF4-FFF2-40B4-BE49-F238E27FC236}">
                <a16:creationId xmlns:a16="http://schemas.microsoft.com/office/drawing/2014/main" xmlns="" id="{396EA525-C2F9-4D57-9485-F54446B4FC88}"/>
              </a:ext>
            </a:extLst>
          </p:cNvPr>
          <p:cNvSpPr>
            <a:spLocks noGrp="1"/>
          </p:cNvSpPr>
          <p:nvPr>
            <p:ph idx="1"/>
          </p:nvPr>
        </p:nvSpPr>
        <p:spPr/>
        <p:txBody>
          <a:bodyPr>
            <a:normAutofit fontScale="92500" lnSpcReduction="10000"/>
          </a:bodyPr>
          <a:lstStyle/>
          <a:p>
            <a:r>
              <a:rPr lang="en-US" dirty="0" err="1"/>
              <a:t>Tại</a:t>
            </a:r>
            <a:r>
              <a:rPr lang="en-US" dirty="0"/>
              <a:t> </a:t>
            </a:r>
            <a:r>
              <a:rPr lang="en-US" dirty="0" err="1"/>
              <a:t>một</a:t>
            </a:r>
            <a:r>
              <a:rPr lang="en-US" dirty="0"/>
              <a:t> </a:t>
            </a:r>
            <a:r>
              <a:rPr lang="en-US" dirty="0" err="1"/>
              <a:t>thời</a:t>
            </a:r>
            <a:r>
              <a:rPr lang="en-US" dirty="0"/>
              <a:t> </a:t>
            </a:r>
            <a:r>
              <a:rPr lang="en-US" dirty="0" err="1"/>
              <a:t>điểm</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mạch</a:t>
            </a:r>
            <a:r>
              <a:rPr lang="en-US" dirty="0"/>
              <a:t> LC </a:t>
            </a:r>
            <a:r>
              <a:rPr lang="en-US" dirty="0" err="1"/>
              <a:t>dao</a:t>
            </a:r>
            <a:r>
              <a:rPr lang="en-US" dirty="0"/>
              <a:t> </a:t>
            </a:r>
            <a:r>
              <a:rPr lang="en-US" dirty="0" err="1"/>
              <a:t>động</a:t>
            </a:r>
            <a:r>
              <a:rPr lang="en-US" dirty="0"/>
              <a:t>, </a:t>
            </a:r>
            <a:r>
              <a:rPr lang="en-US" dirty="0" err="1"/>
              <a:t>dòng</a:t>
            </a:r>
            <a:r>
              <a:rPr lang="en-US" dirty="0"/>
              <a:t> </a:t>
            </a:r>
            <a:r>
              <a:rPr lang="en-US" dirty="0" err="1"/>
              <a:t>điện</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tức</a:t>
            </a:r>
            <a:r>
              <a:rPr lang="en-US" dirty="0"/>
              <a:t> </a:t>
            </a:r>
            <a:r>
              <a:rPr lang="en-US" dirty="0" err="1"/>
              <a:t>thời</a:t>
            </a:r>
            <a:r>
              <a:rPr lang="en-US" dirty="0"/>
              <a:t> </a:t>
            </a:r>
            <a:r>
              <a:rPr lang="en-US" dirty="0" err="1"/>
              <a:t>bằng</a:t>
            </a:r>
            <a:r>
              <a:rPr lang="en-US" dirty="0"/>
              <a:t> 0. </a:t>
            </a:r>
            <a:r>
              <a:rPr lang="en-US" dirty="0" err="1"/>
              <a:t>Tại</a:t>
            </a:r>
            <a:r>
              <a:rPr lang="en-US" dirty="0"/>
              <a:t> </a:t>
            </a:r>
            <a:r>
              <a:rPr lang="en-US" dirty="0" err="1"/>
              <a:t>thời</a:t>
            </a:r>
            <a:r>
              <a:rPr lang="en-US" dirty="0"/>
              <a:t> </a:t>
            </a:r>
            <a:r>
              <a:rPr lang="en-US" dirty="0" err="1"/>
              <a:t>điểm</a:t>
            </a:r>
            <a:r>
              <a:rPr lang="en-US" dirty="0"/>
              <a:t> </a:t>
            </a:r>
            <a:r>
              <a:rPr lang="en-US" dirty="0" err="1"/>
              <a:t>này</a:t>
            </a:r>
            <a:r>
              <a:rPr lang="en-US" dirty="0"/>
              <a:t> </a:t>
            </a:r>
            <a:r>
              <a:rPr lang="en-US" dirty="0" err="1"/>
              <a:t>thì</a:t>
            </a:r>
            <a:r>
              <a:rPr lang="en-US" dirty="0"/>
              <a:t> </a:t>
            </a:r>
            <a:r>
              <a:rPr lang="en-US" dirty="0" err="1"/>
              <a:t>điều</a:t>
            </a:r>
            <a:r>
              <a:rPr lang="en-US" dirty="0"/>
              <a:t> </a:t>
            </a:r>
            <a:r>
              <a:rPr lang="en-US" dirty="0" err="1"/>
              <a:t>gì</a:t>
            </a:r>
            <a:r>
              <a:rPr lang="en-US" dirty="0"/>
              <a:t> </a:t>
            </a:r>
            <a:r>
              <a:rPr lang="en-US" dirty="0" err="1"/>
              <a:t>xảy</a:t>
            </a:r>
            <a:r>
              <a:rPr lang="en-US" dirty="0"/>
              <a:t> ra </a:t>
            </a:r>
            <a:r>
              <a:rPr lang="en-US" dirty="0" err="1"/>
              <a:t>với</a:t>
            </a:r>
            <a:r>
              <a:rPr lang="en-US" dirty="0"/>
              <a:t> độ </a:t>
            </a:r>
            <a:r>
              <a:rPr lang="en-US" dirty="0" err="1"/>
              <a:t>lớn</a:t>
            </a:r>
            <a:r>
              <a:rPr lang="en-US" dirty="0"/>
              <a:t> </a:t>
            </a:r>
            <a:r>
              <a:rPr lang="en-US" dirty="0" err="1"/>
              <a:t>của</a:t>
            </a:r>
            <a:r>
              <a:rPr lang="en-US" dirty="0"/>
              <a:t> </a:t>
            </a:r>
            <a:r>
              <a:rPr lang="en-US" dirty="0" err="1"/>
              <a:t>điện</a:t>
            </a:r>
            <a:r>
              <a:rPr lang="en-US" dirty="0"/>
              <a:t> </a:t>
            </a:r>
            <a:r>
              <a:rPr lang="en-US" dirty="0" err="1"/>
              <a:t>áp</a:t>
            </a:r>
            <a:r>
              <a:rPr lang="en-US" dirty="0"/>
              <a:t> qua </a:t>
            </a:r>
            <a:r>
              <a:rPr lang="en-US" dirty="0" err="1"/>
              <a:t>tụ</a:t>
            </a:r>
            <a:r>
              <a:rPr lang="en-US" dirty="0"/>
              <a:t> </a:t>
            </a:r>
            <a:r>
              <a:rPr lang="en-US" dirty="0" err="1"/>
              <a:t>điện</a:t>
            </a:r>
            <a:r>
              <a:rPr lang="en-US" dirty="0"/>
              <a:t>? </a:t>
            </a:r>
          </a:p>
          <a:p>
            <a:pPr marL="742950" indent="-742950">
              <a:buAutoNum type="alphaLcParenBoth"/>
            </a:pPr>
            <a:r>
              <a:rPr lang="en-US" dirty="0" err="1"/>
              <a:t>Nó</a:t>
            </a:r>
            <a:r>
              <a:rPr lang="en-US" dirty="0"/>
              <a:t> </a:t>
            </a:r>
            <a:r>
              <a:rPr lang="en-US" dirty="0" err="1"/>
              <a:t>khác</a:t>
            </a:r>
            <a:r>
              <a:rPr lang="en-US" dirty="0"/>
              <a:t> </a:t>
            </a:r>
            <a:r>
              <a:rPr lang="en-US" dirty="0" err="1"/>
              <a:t>điện</a:t>
            </a:r>
            <a:r>
              <a:rPr lang="en-US" dirty="0"/>
              <a:t> </a:t>
            </a:r>
            <a:r>
              <a:rPr lang="en-US" dirty="0" err="1"/>
              <a:t>áp</a:t>
            </a:r>
            <a:r>
              <a:rPr lang="en-US" dirty="0"/>
              <a:t> qua </a:t>
            </a:r>
            <a:r>
              <a:rPr lang="en-US" dirty="0" err="1"/>
              <a:t>cuộn</a:t>
            </a:r>
            <a:r>
              <a:rPr lang="en-US" dirty="0"/>
              <a:t> </a:t>
            </a:r>
            <a:r>
              <a:rPr lang="en-US" dirty="0" err="1"/>
              <a:t>cảm</a:t>
            </a:r>
            <a:r>
              <a:rPr lang="en-US" dirty="0"/>
              <a:t>. </a:t>
            </a:r>
          </a:p>
          <a:p>
            <a:pPr marL="742950" indent="-742950">
              <a:buAutoNum type="alphaLcParenBoth"/>
            </a:pPr>
            <a:r>
              <a:rPr lang="en-US" dirty="0" err="1"/>
              <a:t>Nó</a:t>
            </a:r>
            <a:r>
              <a:rPr lang="en-US" dirty="0"/>
              <a:t> </a:t>
            </a:r>
            <a:r>
              <a:rPr lang="en-US" dirty="0" err="1"/>
              <a:t>bằng</a:t>
            </a:r>
            <a:r>
              <a:rPr lang="en-US" dirty="0"/>
              <a:t> 0. </a:t>
            </a:r>
          </a:p>
          <a:p>
            <a:pPr marL="742950" indent="-742950">
              <a:buAutoNum type="alphaLcParenBoth"/>
            </a:pPr>
            <a:r>
              <a:rPr lang="en-US" dirty="0" err="1"/>
              <a:t>Nó</a:t>
            </a:r>
            <a:r>
              <a:rPr lang="en-US" dirty="0"/>
              <a:t> </a:t>
            </a:r>
            <a:r>
              <a:rPr lang="en-US" dirty="0" err="1"/>
              <a:t>đạt</a:t>
            </a:r>
            <a:r>
              <a:rPr lang="en-US" dirty="0"/>
              <a:t> </a:t>
            </a:r>
            <a:r>
              <a:rPr lang="en-US" dirty="0" err="1"/>
              <a:t>giá</a:t>
            </a:r>
            <a:r>
              <a:rPr lang="en-US" dirty="0"/>
              <a:t> </a:t>
            </a:r>
            <a:r>
              <a:rPr lang="en-US" dirty="0" err="1"/>
              <a:t>trị</a:t>
            </a:r>
            <a:r>
              <a:rPr lang="en-US" dirty="0"/>
              <a:t> </a:t>
            </a:r>
            <a:r>
              <a:rPr lang="en-US" dirty="0" err="1"/>
              <a:t>cực</a:t>
            </a:r>
            <a:r>
              <a:rPr lang="en-US" dirty="0"/>
              <a:t> </a:t>
            </a:r>
            <a:r>
              <a:rPr lang="en-US" dirty="0" err="1"/>
              <a:t>đại</a:t>
            </a:r>
            <a:r>
              <a:rPr lang="en-US" dirty="0"/>
              <a:t>. </a:t>
            </a:r>
          </a:p>
          <a:p>
            <a:pPr marL="742950" indent="-742950">
              <a:buAutoNum type="alphaLcParenBoth"/>
            </a:pPr>
            <a:r>
              <a:rPr lang="en-US" dirty="0" err="1"/>
              <a:t>Không</a:t>
            </a:r>
            <a:r>
              <a:rPr lang="en-US" dirty="0"/>
              <a:t> </a:t>
            </a:r>
            <a:r>
              <a:rPr lang="en-US" dirty="0" err="1"/>
              <a:t>thể</a:t>
            </a:r>
            <a:r>
              <a:rPr lang="en-US" dirty="0"/>
              <a:t> </a:t>
            </a:r>
            <a:r>
              <a:rPr lang="en-US" dirty="0" err="1"/>
              <a:t>xác</a:t>
            </a:r>
            <a:r>
              <a:rPr lang="en-US" dirty="0"/>
              <a:t> </a:t>
            </a:r>
            <a:r>
              <a:rPr lang="en-US" dirty="0" err="1"/>
              <a:t>định</a:t>
            </a:r>
            <a:r>
              <a:rPr lang="en-US" dirty="0"/>
              <a:t> </a:t>
            </a:r>
            <a:r>
              <a:rPr lang="en-US" dirty="0" err="1"/>
              <a:t>được</a:t>
            </a:r>
            <a:r>
              <a:rPr lang="en-US" dirty="0"/>
              <a:t>.</a:t>
            </a:r>
          </a:p>
          <a:p>
            <a:r>
              <a:rPr lang="en-US" dirty="0"/>
              <a:t> </a:t>
            </a:r>
          </a:p>
          <a:p>
            <a:endParaRPr lang="en-US" dirty="0"/>
          </a:p>
        </p:txBody>
      </p:sp>
    </p:spTree>
    <p:extLst>
      <p:ext uri="{BB962C8B-B14F-4D97-AF65-F5344CB8AC3E}">
        <p14:creationId xmlns:p14="http://schemas.microsoft.com/office/powerpoint/2010/main" val="22033161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D1E3B9-4106-4887-8AAA-40FC125A51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79461A02-F430-478E-9F8D-8361ECF1040D}"/>
              </a:ext>
            </a:extLst>
          </p:cNvPr>
          <p:cNvSpPr>
            <a:spLocks noGrp="1"/>
          </p:cNvSpPr>
          <p:nvPr>
            <p:ph idx="1"/>
          </p:nvPr>
        </p:nvSpPr>
        <p:spPr/>
        <p:txBody>
          <a:bodyPr/>
          <a:lstStyle/>
          <a:p>
            <a:r>
              <a:rPr lang="en-US" altLang="en-US" dirty="0"/>
              <a:t>(c). If the current is zero, this is the instant at which the capacitor is fully charged and the current is about to reverse direction.</a:t>
            </a:r>
            <a:endParaRPr lang="en-US" dirty="0"/>
          </a:p>
        </p:txBody>
      </p:sp>
    </p:spTree>
    <p:extLst>
      <p:ext uri="{BB962C8B-B14F-4D97-AF65-F5344CB8AC3E}">
        <p14:creationId xmlns:p14="http://schemas.microsoft.com/office/powerpoint/2010/main" val="16003237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8E9BDE-5758-4E7C-AE10-5B03A690BDC5}"/>
              </a:ext>
            </a:extLst>
          </p:cNvPr>
          <p:cNvSpPr>
            <a:spLocks noGrp="1"/>
          </p:cNvSpPr>
          <p:nvPr>
            <p:ph type="title"/>
          </p:nvPr>
        </p:nvSpPr>
        <p:spPr/>
        <p:txBody>
          <a:bodyPr/>
          <a:lstStyle/>
          <a:p>
            <a:r>
              <a:rPr lang="en-US" b="1" dirty="0">
                <a:effectLst>
                  <a:glow>
                    <a:srgbClr val="000000"/>
                  </a:glow>
                  <a:outerShdw sx="0" sy="0">
                    <a:srgbClr val="000000"/>
                  </a:outerShdw>
                  <a:reflection stA="0" endPos="0" fadeDir="0" sx="0" sy="0"/>
                </a:effectLst>
              </a:rPr>
              <a:t>Mạch RLC</a:t>
            </a:r>
            <a:br>
              <a:rPr lang="en-US" b="1" dirty="0">
                <a:effectLst>
                  <a:glow>
                    <a:srgbClr val="000000"/>
                  </a:glow>
                  <a:outerShdw sx="0" sy="0">
                    <a:srgbClr val="000000"/>
                  </a:outerShdw>
                  <a:reflection stA="0" endPos="0" fadeDir="0" sx="0" sy="0"/>
                </a:effectLst>
              </a:rPr>
            </a:br>
            <a:endParaRPr lang="en-US" dirty="0"/>
          </a:p>
        </p:txBody>
      </p:sp>
      <p:sp>
        <p:nvSpPr>
          <p:cNvPr id="3" name="Content Placeholder 2">
            <a:extLst>
              <a:ext uri="{FF2B5EF4-FFF2-40B4-BE49-F238E27FC236}">
                <a16:creationId xmlns:a16="http://schemas.microsoft.com/office/drawing/2014/main" xmlns="" id="{0C58BB4B-D548-4039-8A54-2F560595ED59}"/>
              </a:ext>
            </a:extLst>
          </p:cNvPr>
          <p:cNvSpPr>
            <a:spLocks noGrp="1"/>
          </p:cNvSpPr>
          <p:nvPr>
            <p:ph idx="1"/>
          </p:nvPr>
        </p:nvSpPr>
        <p:spPr/>
        <p:txBody>
          <a:bodyPr>
            <a:normAutofit/>
          </a:bodyPr>
          <a:lstStyle/>
          <a:p>
            <a:r>
              <a:rPr lang="vi-VN" b="1" dirty="0"/>
              <a:t>Mạch điện RLC</a:t>
            </a:r>
            <a:r>
              <a:rPr lang="vi-VN" dirty="0"/>
              <a:t> là một </a:t>
            </a:r>
            <a:r>
              <a:rPr lang="vi-VN" dirty="0">
                <a:hlinkClick r:id="rId2"/>
              </a:rPr>
              <a:t>mạch điện</a:t>
            </a:r>
            <a:r>
              <a:rPr lang="vi-VN" dirty="0"/>
              <a:t> gồm một </a:t>
            </a:r>
            <a:r>
              <a:rPr lang="vi-VN" dirty="0">
                <a:hlinkClick r:id="rId3"/>
              </a:rPr>
              <a:t>điện trở</a:t>
            </a:r>
            <a:r>
              <a:rPr lang="vi-VN" dirty="0"/>
              <a:t>, một </a:t>
            </a:r>
            <a:r>
              <a:rPr lang="vi-VN" dirty="0">
                <a:hlinkClick r:id="rId4"/>
              </a:rPr>
              <a:t>cuộn cảm</a:t>
            </a:r>
            <a:r>
              <a:rPr lang="vi-VN" dirty="0"/>
              <a:t> và một </a:t>
            </a:r>
            <a:r>
              <a:rPr lang="vi-VN" dirty="0">
                <a:hlinkClick r:id="rId5" tooltip="Tụ điện"/>
              </a:rPr>
              <a:t>tụ điện</a:t>
            </a:r>
            <a:r>
              <a:rPr lang="vi-VN" dirty="0"/>
              <a:t>, mắc nối tiếp hoặc song song. Mạch tạo thành một </a:t>
            </a:r>
            <a:r>
              <a:rPr lang="vi-VN" dirty="0">
                <a:hlinkClick r:id="rId6" tooltip="Dao động điều hòa"/>
              </a:rPr>
              <a:t>dao động điều hòa</a:t>
            </a:r>
            <a:r>
              <a:rPr lang="vi-VN" dirty="0"/>
              <a:t> cho dòng điện và cộng hưởng giống như mạch LC. Điểm khác biệt chính là có điện trở sẽ làm </a:t>
            </a:r>
            <a:r>
              <a:rPr lang="vi-VN" dirty="0">
                <a:solidFill>
                  <a:srgbClr val="00B050"/>
                </a:solidFill>
              </a:rPr>
              <a:t>tắt dần dao động </a:t>
            </a:r>
            <a:r>
              <a:rPr lang="vi-VN" dirty="0"/>
              <a:t>nếu như mạch không có nguồn nuôi. </a:t>
            </a:r>
            <a:endParaRPr lang="en-US" dirty="0"/>
          </a:p>
        </p:txBody>
      </p:sp>
    </p:spTree>
    <p:extLst>
      <p:ext uri="{BB962C8B-B14F-4D97-AF65-F5344CB8AC3E}">
        <p14:creationId xmlns:p14="http://schemas.microsoft.com/office/powerpoint/2010/main" val="9916326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6065C2-A693-4358-8CF0-E8F5772F69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8E574CD4-F811-4D5E-A02D-22CFA54C393A}"/>
              </a:ext>
            </a:extLst>
          </p:cNvPr>
          <p:cNvSpPr>
            <a:spLocks noGrp="1"/>
          </p:cNvSpPr>
          <p:nvPr>
            <p:ph idx="1"/>
          </p:nvPr>
        </p:nvSpPr>
        <p:spPr/>
        <p:txBody>
          <a:bodyPr>
            <a:normAutofit fontScale="92500" lnSpcReduction="20000"/>
          </a:bodyPr>
          <a:lstStyle/>
          <a:p>
            <a:r>
              <a:rPr lang="vi-VN" dirty="0"/>
              <a:t>Mạch RLC có nhiều ứng dụng. Chúng được sử dụng trong nhiều loại mạch dao động khác nhau. Một ứng dụng quan trọng là mạch điều chỉnh, chẳng hạn như trong các bộ thu phát </a:t>
            </a:r>
            <a:r>
              <a:rPr lang="vi-VN" dirty="0">
                <a:hlinkClick r:id="rId2" tooltip="Radio"/>
              </a:rPr>
              <a:t>radio</a:t>
            </a:r>
            <a:r>
              <a:rPr lang="vi-VN" dirty="0"/>
              <a:t> hoặc </a:t>
            </a:r>
            <a:r>
              <a:rPr lang="vi-VN" dirty="0">
                <a:hlinkClick r:id="rId3" tooltip="Truyền hình"/>
              </a:rPr>
              <a:t>truyền hình</a:t>
            </a:r>
            <a:r>
              <a:rPr lang="vi-VN" dirty="0"/>
              <a:t> (rà đài), được sử dụng để lựa chọn một dải tần hẹp của sóng vô tuyến từ môi trường xung quanh. Mạch RLC có thể được sử dụng như một bộ lọc thông dải (band-pass), bộ lọc chặn dải (band-stop), bộ lọc thông thấp hay bộ lọc thông cao. Ứng dụng trong mạch điều chỉnh là một ví dụ của bộ lộc thông dải..</a:t>
            </a:r>
          </a:p>
          <a:p>
            <a:endParaRPr lang="en-US" dirty="0"/>
          </a:p>
        </p:txBody>
      </p:sp>
    </p:spTree>
    <p:extLst>
      <p:ext uri="{BB962C8B-B14F-4D97-AF65-F5344CB8AC3E}">
        <p14:creationId xmlns:p14="http://schemas.microsoft.com/office/powerpoint/2010/main" val="1795715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9937E4-34FB-45F3-8E47-40654CD6C0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39900D4-00E0-4C97-B0D9-A2F316A2B8C5}"/>
              </a:ext>
            </a:extLst>
          </p:cNvPr>
          <p:cNvSpPr>
            <a:spLocks noGrp="1"/>
          </p:cNvSpPr>
          <p:nvPr>
            <p:ph idx="1"/>
          </p:nvPr>
        </p:nvSpPr>
        <p:spPr/>
        <p:txBody>
          <a:bodyPr>
            <a:normAutofit fontScale="92500" lnSpcReduction="10000"/>
          </a:bodyPr>
          <a:lstStyle/>
          <a:p>
            <a:r>
              <a:rPr lang="en-US" dirty="0">
                <a:hlinkClick r:id="rId2"/>
              </a:rPr>
              <a:t>http://vietsciences2.free.fr/giaokhoa/vatly/dienquangdaicuong/chuong15hientuongcamungtu.htm</a:t>
            </a:r>
            <a:endParaRPr lang="en-US" dirty="0">
              <a:hlinkClick r:id="rId3"/>
            </a:endParaRPr>
          </a:p>
          <a:p>
            <a:r>
              <a:rPr lang="en-US" dirty="0">
                <a:hlinkClick r:id="rId3"/>
              </a:rPr>
              <a:t>http://m.congnghegi.com/ly-thuyet-mach-dao-dong-lc-dao-dong-dien-tu-vat-ly-12-38-1962.html</a:t>
            </a:r>
            <a:endParaRPr lang="en-US" dirty="0"/>
          </a:p>
          <a:p>
            <a:r>
              <a:rPr lang="en-US" dirty="0">
                <a:hlinkClick r:id="rId4"/>
              </a:rPr>
              <a:t>https://vungoi.vn/lop-12/chi-tiet-ly-thuyet-mach-dao-dong-lc-cac-dai-luong-dac-trung-5af3eae91261631175a05da7.html</a:t>
            </a:r>
            <a:endParaRPr lang="en-US" dirty="0"/>
          </a:p>
          <a:p>
            <a:r>
              <a:rPr lang="en-US" dirty="0">
                <a:hlinkClick r:id="rId5"/>
              </a:rPr>
              <a:t>http://www.vatlyphothong.net/mach-dao-dong-lc.html</a:t>
            </a:r>
            <a:endParaRPr lang="en-US" dirty="0"/>
          </a:p>
        </p:txBody>
      </p:sp>
    </p:spTree>
    <p:extLst>
      <p:ext uri="{BB962C8B-B14F-4D97-AF65-F5344CB8AC3E}">
        <p14:creationId xmlns:p14="http://schemas.microsoft.com/office/powerpoint/2010/main" val="16027082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CDB35D-FA3E-48B4-A2C8-B5B104EFDF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14BDFA64-3FD7-4151-933C-7F8C7BC850F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77625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6488</TotalTime>
  <Words>2204</Words>
  <Application>Microsoft Office PowerPoint</Application>
  <PresentationFormat>Custom</PresentationFormat>
  <Paragraphs>133</Paragraphs>
  <Slides>51</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51</vt:i4>
      </vt:variant>
    </vt:vector>
  </HeadingPairs>
  <TitlesOfParts>
    <vt:vector size="54" baseType="lpstr">
      <vt:lpstr>Office Theme</vt:lpstr>
      <vt:lpstr>Bitmap Image</vt:lpstr>
      <vt:lpstr>Chart</vt:lpstr>
      <vt:lpstr>Độ tự cảm </vt:lpstr>
      <vt:lpstr>Từ trương của cuộn dây Toroid</vt:lpstr>
      <vt:lpstr>PowerPoint Presentation</vt:lpstr>
      <vt:lpstr>Từ trường của ống dây Solenoid </vt:lpstr>
      <vt:lpstr>PowerPoint Presentation</vt:lpstr>
      <vt:lpstr>Hiện tượng tự cảm </vt:lpstr>
      <vt:lpstr>Suất điện động tự cảm</vt:lpstr>
      <vt:lpstr>PowerPoint Presentation</vt:lpstr>
      <vt:lpstr>Giả sử rằng từ thông qua các vòng dây là như nhau và L là độ tự cảm của cả cuộn dây. </vt:lpstr>
      <vt:lpstr>Độ tự cảm của Solenoid  </vt:lpstr>
      <vt:lpstr>Câu hỏi 1</vt:lpstr>
      <vt:lpstr>Trả lời: (d), (e). </vt:lpstr>
      <vt:lpstr>Bài tập 1</vt:lpstr>
      <vt:lpstr>PowerPoint Presentation</vt:lpstr>
      <vt:lpstr>Bài tập 2</vt:lpstr>
      <vt:lpstr>PowerPoint Presentation</vt:lpstr>
      <vt:lpstr>Các mạch RL </vt:lpstr>
      <vt:lpstr>Nếu mạch điện chứa cuộn dây thì độ tự cảm của cuộn dây ngăn không cho dòng điện trong mạch tăng hoặc giảm một cách tức thời</vt:lpstr>
      <vt:lpstr>PowerPoint Presentation</vt:lpstr>
      <vt:lpstr>PowerPoint Presentation</vt:lpstr>
      <vt:lpstr>PowerPoint Presentation</vt:lpstr>
      <vt:lpstr>PowerPoint Presentation</vt:lpstr>
      <vt:lpstr>đồ thị của dòng điện theo thời gian trong mạch RL</vt:lpstr>
      <vt:lpstr>PowerPoint Presentation</vt:lpstr>
      <vt:lpstr>Bài tập 3</vt:lpstr>
      <vt:lpstr>PowerPoint Presentation</vt:lpstr>
      <vt:lpstr>Năng lượng từ trường</vt:lpstr>
      <vt:lpstr>Mật độ năng lượng từ trường: </vt:lpstr>
      <vt:lpstr>Giả sử bạn đang thực hiện một thí nghiệm trong đó yêu cầu mật độ năng lượng từ trường bên trong một solenoid càng lớn càng tốt. Solenoid rất dài và mang dòng điện. Sự điều chỉnh nào sẽ làm tăng mật độ năng lượng từ trường? (Có thể có nhiều câu trả lời đúng.)  </vt:lpstr>
      <vt:lpstr>PowerPoint Presentation</vt:lpstr>
      <vt:lpstr>Hiện tượng hỗ cảm</vt:lpstr>
      <vt:lpstr>PowerPoint Presentation</vt:lpstr>
      <vt:lpstr>Hệ số hỗ cảm M12 của cuộn 2 liên quan tới cuộn 1</vt:lpstr>
      <vt:lpstr> </vt:lpstr>
      <vt:lpstr>Câu hỏi 3</vt:lpstr>
      <vt:lpstr>PowerPoint Presentation</vt:lpstr>
      <vt:lpstr>Bài tập 4</vt:lpstr>
      <vt:lpstr>PowerPoint Presentation</vt:lpstr>
      <vt:lpstr>Các dao động trong mạch LC </vt:lpstr>
      <vt:lpstr>PowerPoint Presentation</vt:lpstr>
      <vt:lpstr>PowerPoint Presentation</vt:lpstr>
      <vt:lpstr>PowerPoint Presentation</vt:lpstr>
      <vt:lpstr>PowerPoint Presentation</vt:lpstr>
      <vt:lpstr>Câu hỏi 4</vt:lpstr>
      <vt:lpstr>PowerPoint Presentation</vt:lpstr>
      <vt:lpstr>Câu hỏi 5</vt:lpstr>
      <vt:lpstr>PowerPoint Presentation</vt:lpstr>
      <vt:lpstr>Mạch RLC </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Độ tự cảm </dc:title>
  <dc:creator>Thanh</dc:creator>
  <cp:lastModifiedBy>alpha</cp:lastModifiedBy>
  <cp:revision>66</cp:revision>
  <dcterms:created xsi:type="dcterms:W3CDTF">2019-04-08T02:57:16Z</dcterms:created>
  <dcterms:modified xsi:type="dcterms:W3CDTF">2021-05-24T06:02:55Z</dcterms:modified>
</cp:coreProperties>
</file>