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6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B2573-B469-422F-9311-2941AB1D8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81E50-8F02-44BC-A716-20B167ACC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6694B-A6A9-4698-A7C0-F36D16F4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96427-463F-4B4F-98C6-01A2303C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16E77-43A3-4D40-ABC5-112B66E5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1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B8F1-783F-4FE4-813E-B566AEEB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40873-C24F-4D4C-8392-C2107BF49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1B2C7-06C4-4B0D-B6BA-6561C4460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41125-72E1-466F-A688-EA5D1C19C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CA98C-AB8A-430C-8DC6-655A4DD6A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1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9A61-F428-41E1-9CFF-49A54716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A582E-B2D5-4EC4-8D7E-BA2312F02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EE4A5-F788-43F0-BF96-AB392716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B7CDA-4F78-4E76-92D6-09FA4903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85A4-DA96-4AA1-AB42-C7ADE58C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81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4910-697E-4CA9-BDFE-1DB725AAA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3D16A-BE04-49C2-BED7-66D7E6BA0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B2ABF-1B15-424E-A945-3F30DE0BE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21EF5-3451-41C2-915D-EEF49A40D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60D69-1B35-4156-AF49-0DCE5817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2E76C-D421-42CE-8F25-B4AA575E3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01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260B-DA3D-4B1C-A47C-70F68BBB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D4CBC-86DC-412A-91A6-54789A916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33748-C8FF-4EA2-A7B8-C49C5D6EC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413FF8-71FF-472C-BC64-F031384EF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E1864-98D0-4F78-8B2B-107EC9D8C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70194-AE08-4C40-BEA4-D0B1DCBD0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C9049-229C-4446-91ED-BA5FA6DC9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CE981-5CE5-4636-80C8-F370DFDA4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4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B271-CCBE-4632-A785-52269DF5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9DBA5-5894-4B50-A9B2-82E1973AE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EBD67-C327-4ED4-8092-C609D7A7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63EA0-9017-457A-98EC-D484BCA7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96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23717-C910-453A-BED7-CA1C3A0A5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50BA58-A5B4-4D28-823E-A704FE3F2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A1FFB-58EB-4C2D-BB70-A0DF157C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33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46A0-83EB-46CF-9ACF-E5F97C94D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F7CA0-5586-41D1-BAD3-52E17B5A7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E175A-DD60-4C7D-847E-E60246648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682A3-0BFB-4F81-BCBF-A8BC7BD3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899C-90FD-4D2C-BCB0-DB7E656C5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5ADA4-96A1-4913-8F19-FC8AC97A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5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CCE5-A1A5-4D48-893A-EAEBC033C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69276-253D-4602-B85A-2B7650FD16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D7ABA-1BFD-4262-991D-EB348C3A1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B18CE-4740-442A-BA1F-B6AAA94E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DF551-1A2C-4B79-B756-E92ED0D4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A3CE4-CB9C-4938-9C15-17E3EA7C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0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35F7-DC85-45B8-B1B5-B52EFBDD4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91D3E-BDB0-4C49-9019-79D4395EA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35878-80AD-411A-8B2F-20087A464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6569-57BB-4665-8DF8-BEEAA3B8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63BBB-A41C-438B-A2F8-7F646C6A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77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DA645-A822-437C-AB62-282859A00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41550-C8FE-44F3-B507-D6E556416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2007B-B206-4FE4-AC84-C4604D5CE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25B8B-D5B7-40FD-8FA3-986FDFCD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9B2C6-AA84-4DDC-AD5E-F057B5A9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09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847CB-5DF5-4745-A85C-FC27944B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BA063-BFB5-4A72-A6B8-363E97189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1DB38-FB34-4080-90D1-8752F8AF1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7F678-D56B-4C9B-A9CA-64E05B9EC118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9CA08-38B4-4739-8937-488AB586EE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0D449-7688-4561-A4AB-2B638F8B9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6DBB7-202B-4901-BD4A-A45D50D70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92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C6D81D-8ECF-4254-BD58-0F41F8FC5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77729"/>
            <a:ext cx="9144000" cy="2780071"/>
          </a:xfrm>
        </p:spPr>
        <p:txBody>
          <a:bodyPr/>
          <a:lstStyle/>
          <a:p>
            <a:pPr algn="l"/>
            <a:r>
              <a:rPr lang="en-US" b="1">
                <a:solidFill>
                  <a:srgbClr val="00B0F0"/>
                </a:solidFill>
              </a:rPr>
              <a:t>7.6. First-order differential equations</a:t>
            </a:r>
          </a:p>
          <a:p>
            <a:pPr algn="l"/>
            <a:r>
              <a:rPr lang="en-US" b="1">
                <a:solidFill>
                  <a:srgbClr val="00B0F0"/>
                </a:solidFill>
              </a:rPr>
              <a:t>7.7. Improper Integrals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FEE23B-B643-4B5C-9694-DC6124459954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12668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METHODS OF INTEGRATION</a:t>
            </a:r>
          </a:p>
        </p:txBody>
      </p:sp>
    </p:spTree>
    <p:extLst>
      <p:ext uri="{BB962C8B-B14F-4D97-AF65-F5344CB8AC3E}">
        <p14:creationId xmlns:p14="http://schemas.microsoft.com/office/powerpoint/2010/main" val="1409863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A3B7D-4B77-4808-B70C-3EC63B5CC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</a:rPr>
              <a:t>7.6. First-order differential equations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6C84C58-2970-4289-AF85-8703ACA1830D}"/>
                  </a:ext>
                </a:extLst>
              </p:cNvPr>
              <p:cNvSpPr/>
              <p:nvPr/>
            </p:nvSpPr>
            <p:spPr>
              <a:xfrm>
                <a:off x="838199" y="1188544"/>
                <a:ext cx="5257801" cy="40389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>
                    <a:solidFill>
                      <a:srgbClr val="231F20"/>
                    </a:solidFill>
                    <a:latin typeface="TimesLTStd-Roman"/>
                  </a:rPr>
                  <a:t>A first-order </a:t>
                </a:r>
                <a:r>
                  <a:rPr lang="en-US" sz="2400" b="1">
                    <a:solidFill>
                      <a:srgbClr val="231F20"/>
                    </a:solidFill>
                    <a:latin typeface="TimesLTStd-Bold"/>
                  </a:rPr>
                  <a:t>linear </a:t>
                </a:r>
                <a:r>
                  <a:rPr lang="en-US" sz="2400">
                    <a:solidFill>
                      <a:srgbClr val="231F20"/>
                    </a:solidFill>
                    <a:latin typeface="TimesLTStd-Roman"/>
                  </a:rPr>
                  <a:t>differential equation is one of the form: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/>
                  <a:t> </a:t>
                </a:r>
              </a:p>
              <a:p>
                <a:pPr algn="just"/>
                <a:r>
                  <a:rPr lang="en-US" sz="2400"/>
                  <a:t>where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i="1"/>
                  <a:t> </a:t>
                </a:r>
                <a:r>
                  <a:rPr lang="en-US" sz="2400"/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i="1"/>
                  <a:t> </a:t>
                </a:r>
                <a:r>
                  <a:rPr lang="en-US" sz="2400"/>
                  <a:t>are continuous functions on a given interval. </a:t>
                </a:r>
              </a:p>
              <a:p>
                <a:pPr algn="just"/>
                <a:r>
                  <a:rPr lang="en-US" sz="2400" b="1"/>
                  <a:t>Example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40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sz="240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400" b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𝑑𝑟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6C84C58-2970-4289-AF85-8703ACA183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188544"/>
                <a:ext cx="5257801" cy="4038926"/>
              </a:xfrm>
              <a:prstGeom prst="rect">
                <a:avLst/>
              </a:prstGeom>
              <a:blipFill>
                <a:blip r:embed="rId2"/>
                <a:stretch>
                  <a:fillRect l="-1738" t="-1207" r="-1738" b="-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1FD1F4-1591-46D1-8ACF-B6757A1360A8}"/>
                  </a:ext>
                </a:extLst>
              </p:cNvPr>
              <p:cNvSpPr txBox="1"/>
              <p:nvPr/>
            </p:nvSpPr>
            <p:spPr>
              <a:xfrm>
                <a:off x="6095999" y="1188544"/>
                <a:ext cx="5982393" cy="5179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How to solve: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/>
                  <a:t>Multiply both sides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sup>
                    </m:sSup>
                  </m:oMath>
                </a14:m>
                <a:endParaRPr lang="en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nary>
                                    <m:naryPr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e>
                                  </m:nary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nary>
                                    <m:naryPr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e>
                                  </m:nary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groupChr>
                        </m:e>
                        <m:lim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lim>
                      </m:limLow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/>
              </a:p>
              <a:p>
                <a:r>
                  <a:rPr lang="en-US" sz="2400"/>
                  <a:t>The equation becomes: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/>
              </a:p>
              <a:p>
                <a:r>
                  <a:rPr lang="en-US" sz="2400"/>
                  <a:t>2. Integrate both sides: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400"/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/>
              </a:p>
              <a:p>
                <a:r>
                  <a:rPr lang="en-US" sz="2400"/>
                  <a:t>So the solution would be: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400"/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1FD1F4-1591-46D1-8ACF-B6757A136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1188544"/>
                <a:ext cx="5982393" cy="5179238"/>
              </a:xfrm>
              <a:prstGeom prst="rect">
                <a:avLst/>
              </a:prstGeom>
              <a:blipFill>
                <a:blip r:embed="rId3"/>
                <a:stretch>
                  <a:fillRect l="-1631" t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921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AB192-D997-49BF-90F1-5A8372BCDAB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16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7.6. First-order differential equations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2D936D5-7501-410F-BBCD-E2A67AFE8C09}"/>
                  </a:ext>
                </a:extLst>
              </p:cNvPr>
              <p:cNvSpPr/>
              <p:nvPr/>
            </p:nvSpPr>
            <p:spPr>
              <a:xfrm>
                <a:off x="838200" y="1504170"/>
                <a:ext cx="242039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1.  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2D936D5-7501-410F-BBCD-E2A67AFE8C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04170"/>
                <a:ext cx="2420390" cy="461665"/>
              </a:xfrm>
              <a:prstGeom prst="rect">
                <a:avLst/>
              </a:prstGeom>
              <a:blipFill>
                <a:blip r:embed="rId2"/>
                <a:stretch>
                  <a:fillRect l="-252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0F0AFE4-2A74-40EC-8B2D-6F8491B76EE0}"/>
              </a:ext>
            </a:extLst>
          </p:cNvPr>
          <p:cNvSpPr/>
          <p:nvPr/>
        </p:nvSpPr>
        <p:spPr>
          <a:xfrm>
            <a:off x="838200" y="998470"/>
            <a:ext cx="1269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/>
              <a:t>Example</a:t>
            </a:r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31C7F0-EA40-40E1-82E1-DDBA0CC66A34}"/>
                  </a:ext>
                </a:extLst>
              </p:cNvPr>
              <p:cNvSpPr/>
              <p:nvPr/>
            </p:nvSpPr>
            <p:spPr>
              <a:xfrm>
                <a:off x="7306192" y="1504170"/>
                <a:ext cx="4047608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/>
                  <a:t> 2.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=60,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31C7F0-EA40-40E1-82E1-DDBA0CC66A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192" y="1504170"/>
                <a:ext cx="4047608" cy="624273"/>
              </a:xfrm>
              <a:prstGeom prst="rect">
                <a:avLst/>
              </a:prstGeom>
              <a:blipFill>
                <a:blip r:embed="rId3"/>
                <a:stretch>
                  <a:fillRect l="-753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50C3204-5459-4946-B86C-CBE04A082C99}"/>
                  </a:ext>
                </a:extLst>
              </p:cNvPr>
              <p:cNvSpPr/>
              <p:nvPr/>
            </p:nvSpPr>
            <p:spPr>
              <a:xfrm>
                <a:off x="838200" y="3116863"/>
                <a:ext cx="4526280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/>
                  <a:t>3.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50C3204-5459-4946-B86C-CBE04A082C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16863"/>
                <a:ext cx="4526280" cy="624273"/>
              </a:xfrm>
              <a:prstGeom prst="rect">
                <a:avLst/>
              </a:prstGeom>
              <a:blipFill>
                <a:blip r:embed="rId4"/>
                <a:stretch>
                  <a:fillRect l="-2156" b="-8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E7C0FA-0DF6-40AD-9BD6-74BF863B6B23}"/>
                  </a:ext>
                </a:extLst>
              </p:cNvPr>
              <p:cNvSpPr/>
              <p:nvPr/>
            </p:nvSpPr>
            <p:spPr>
              <a:xfrm>
                <a:off x="7306192" y="3116863"/>
                <a:ext cx="2758576" cy="6242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/>
                  <a:t>4.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𝑑𝑟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E7C0FA-0DF6-40AD-9BD6-74BF863B6B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192" y="3116863"/>
                <a:ext cx="2758576" cy="624273"/>
              </a:xfrm>
              <a:prstGeom prst="rect">
                <a:avLst/>
              </a:prstGeom>
              <a:blipFill>
                <a:blip r:embed="rId5"/>
                <a:stretch>
                  <a:fillRect l="-3540" b="-8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18BD36-AEA1-41BB-B2F6-B94F4AEE8E63}"/>
                  </a:ext>
                </a:extLst>
              </p:cNvPr>
              <p:cNvSpPr/>
              <p:nvPr/>
            </p:nvSpPr>
            <p:spPr>
              <a:xfrm>
                <a:off x="838200" y="4892164"/>
                <a:ext cx="3256936" cy="8661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 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18BD36-AEA1-41BB-B2F6-B94F4AEE8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92164"/>
                <a:ext cx="3256936" cy="8661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47CEAE8-1C0B-458C-BD26-F35C2EDB9F0B}"/>
                  </a:ext>
                </a:extLst>
              </p:cNvPr>
              <p:cNvSpPr/>
              <p:nvPr/>
            </p:nvSpPr>
            <p:spPr>
              <a:xfrm>
                <a:off x="7306192" y="4892164"/>
                <a:ext cx="2447408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/>
                  <a:t>6.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47CEAE8-1C0B-458C-BD26-F35C2EDB9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192" y="4892164"/>
                <a:ext cx="2447408" cy="624273"/>
              </a:xfrm>
              <a:prstGeom prst="rect">
                <a:avLst/>
              </a:prstGeom>
              <a:blipFill>
                <a:blip r:embed="rId7"/>
                <a:stretch>
                  <a:fillRect l="-3990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89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CEEC-51A8-42EE-9A58-5715EFFE1D5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16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7.6. First-order differential equations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0627EC-5AA2-4361-8FDE-E42B955B1B9D}"/>
                  </a:ext>
                </a:extLst>
              </p:cNvPr>
              <p:cNvSpPr/>
              <p:nvPr/>
            </p:nvSpPr>
            <p:spPr>
              <a:xfrm>
                <a:off x="838200" y="998470"/>
                <a:ext cx="11006667" cy="53741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b="1"/>
                  <a:t>Modeling Logistic Growth</a:t>
                </a:r>
              </a:p>
              <a:p>
                <a:r>
                  <a:rPr lang="en-US" sz="3200"/>
                  <a:t>Suppose the population of a colony of living organisms (humans, bacteria, etc.) is a function of time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b="0"/>
              </a:p>
              <a:p>
                <a:r>
                  <a:rPr lang="en-US" sz="3200"/>
                  <a:t>When the population is small: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𝑑𝑄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𝑘𝑄</m:t>
                      </m:r>
                    </m:oMath>
                  </m:oMathPara>
                </a14:m>
                <a:endParaRPr lang="en-US" sz="3200"/>
              </a:p>
              <a:p>
                <a:r>
                  <a:rPr lang="en-US" sz="3200"/>
                  <a:t>where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200"/>
                  <a:t> is a constant. This is called </a:t>
                </a:r>
                <a:r>
                  <a:rPr lang="en-US" sz="3200" b="1"/>
                  <a:t>exponential growth</a:t>
                </a:r>
                <a:r>
                  <a:rPr lang="en-US" sz="3200"/>
                  <a:t>.</a:t>
                </a:r>
              </a:p>
              <a:p>
                <a:r>
                  <a:rPr lang="en-US" sz="3200" b="1"/>
                  <a:t>Solution.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𝑘𝑡</m:t>
                        </m:r>
                      </m:sup>
                    </m:sSup>
                  </m:oMath>
                </a14:m>
                <a:r>
                  <a:rPr lang="en-US" sz="3200"/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/>
                  <a:t> is the initial population.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 b="0"/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&gt;0:</m:t>
                    </m:r>
                  </m:oMath>
                </a14:m>
                <a:r>
                  <a:rPr lang="en-US" sz="3200"/>
                  <a:t> Uninhibited growth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/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&lt;0:</m:t>
                    </m:r>
                  </m:oMath>
                </a14:m>
                <a:r>
                  <a:rPr lang="en-US" sz="3200"/>
                  <a:t> Uninhibited decay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0627EC-5AA2-4361-8FDE-E42B955B1B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98470"/>
                <a:ext cx="11006667" cy="5374100"/>
              </a:xfrm>
              <a:prstGeom prst="rect">
                <a:avLst/>
              </a:prstGeom>
              <a:blipFill>
                <a:blip r:embed="rId2"/>
                <a:stretch>
                  <a:fillRect l="-1496" t="-1476" r="-609" b="-3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10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CEEC-51A8-42EE-9A58-5715EFFE1D5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16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7.6. First-order differential equations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0627EC-5AA2-4361-8FDE-E42B955B1B9D}"/>
                  </a:ext>
                </a:extLst>
              </p:cNvPr>
              <p:cNvSpPr/>
              <p:nvPr/>
            </p:nvSpPr>
            <p:spPr>
              <a:xfrm>
                <a:off x="838200" y="998470"/>
                <a:ext cx="11006667" cy="360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b="1"/>
                  <a:t>Modeling Logistic Growth</a:t>
                </a:r>
              </a:p>
              <a:p>
                <a:r>
                  <a:rPr lang="en-US" sz="3200"/>
                  <a:t>In practice, when the population has </a:t>
                </a:r>
                <a:r>
                  <a:rPr lang="en-US" sz="3200" b="1"/>
                  <a:t>carrying capacity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32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𝑑𝑄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)         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𝑘𝑄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/>
              </a:p>
              <a:p>
                <a:r>
                  <a:rPr lang="en-US" sz="3200"/>
                  <a:t>This is called </a:t>
                </a:r>
                <a:r>
                  <a:rPr lang="en-US" sz="3200" b="1"/>
                  <a:t>logistic equation</a:t>
                </a:r>
                <a:r>
                  <a:rPr lang="en-US" sz="3200"/>
                  <a:t>.</a:t>
                </a:r>
              </a:p>
              <a:p>
                <a:r>
                  <a:rPr lang="en-US" sz="3200" b="1"/>
                  <a:t>Solution.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𝐵𝑘𝑡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3200"/>
                  <a:t>, with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/>
                  <a:t> is arbitrary constant.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30627EC-5AA2-4361-8FDE-E42B955B1B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98470"/>
                <a:ext cx="11006667" cy="3602396"/>
              </a:xfrm>
              <a:prstGeom prst="rect">
                <a:avLst/>
              </a:prstGeom>
              <a:blipFill>
                <a:blip r:embed="rId2"/>
                <a:stretch>
                  <a:fillRect l="-1440" t="-2200" b="-1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76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F35560-1A44-4EF0-8985-9F5B6C6AE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85750"/>
            <a:ext cx="95250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83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E0C642-9D32-4A85-80AB-4B6F469F7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2" y="666750"/>
            <a:ext cx="9286875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19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11BF5-6664-4D8F-85EC-D436EE180F8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16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7.6. First-order differential equations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7D9A2F0-744D-42D0-B1DB-1BB4625329DC}"/>
                  </a:ext>
                </a:extLst>
              </p:cNvPr>
              <p:cNvSpPr/>
              <p:nvPr/>
            </p:nvSpPr>
            <p:spPr>
              <a:xfrm>
                <a:off x="206477" y="983411"/>
                <a:ext cx="6243484" cy="58019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1. Năm 2018, tổng sản phẩm quốc nội (GDP) của Việt Nam đạt khoảng 210 tỷ đô la với mức tăng trưởng trong năm này là 7.02%. Hãy ước đoán GDP của nước ta năm 2025 nếu mức tăng trưởng này được giữ nguyên ở những năm tiếp theo. </a:t>
                </a:r>
              </a:p>
              <a:p>
                <a:pPr algn="just"/>
                <a:endParaRPr lang="en-US" sz="240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/>
                <a:r>
                  <a:rPr lang="en-US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2. Tốc độ thay đổi nhiệt độ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𝑇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 của một vật thể theo thời gian tỷ lệ với hiệu giữa nhiệt độ của vật thể đó với nhiệt độ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 của không khí xung quanh, nghĩa là</a:t>
                </a:r>
              </a:p>
              <a:p>
                <a:pPr algn="ctr"/>
                <a:r>
                  <a:rPr lang="en-US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𝑑𝑇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𝑑𝑡</m:t>
                        </m:r>
                      </m:den>
                    </m:f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𝑇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</a:p>
              <a:p>
                <a:pPr algn="just"/>
                <a:r>
                  <a:rPr lang="en-US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Đặt một ấm n</a:t>
                </a:r>
                <a:r>
                  <a:rPr lang="vi-VN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ư</a:t>
                </a:r>
                <a:r>
                  <a:rPr lang="en-US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ớc sôi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(100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𝑜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𝐶</m:t>
                    </m:r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 trong không khí có nhiệt độ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30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𝑜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𝐶</m:t>
                    </m:r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 và 25 phút sau nhiệt độ của ấm nước là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60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𝑜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𝐶</m:t>
                    </m:r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ea typeface="Calibri" panose="020F0502020204030204" pitchFamily="34" charset="0"/>
                  </a:rPr>
                  <a:t> Mấy phút nữa thì nhiệt độ của ấm nước là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40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𝑜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𝐶</m:t>
                    </m:r>
                    <m:r>
                      <a:rPr lang="en-US" sz="24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?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7D9A2F0-744D-42D0-B1DB-1BB4625329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77" y="983411"/>
                <a:ext cx="6243484" cy="5801909"/>
              </a:xfrm>
              <a:prstGeom prst="rect">
                <a:avLst/>
              </a:prstGeom>
              <a:blipFill>
                <a:blip r:embed="rId2"/>
                <a:stretch>
                  <a:fillRect l="-1563" t="-840" r="-1465" b="-1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80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11BF5-6664-4D8F-85EC-D436EE180F8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16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7.6. First-order differential equations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C6F991-B52A-42B3-B4EC-079AE25E7D55}"/>
                  </a:ext>
                </a:extLst>
              </p:cNvPr>
              <p:cNvSpPr txBox="1"/>
              <p:nvPr/>
            </p:nvSpPr>
            <p:spPr>
              <a:xfrm>
                <a:off x="452281" y="1081548"/>
                <a:ext cx="5458690" cy="5425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Một tin lan truyền trên Facebook lúc 0 giờ, và đến 10 giờ thì có 100 ng</a:t>
                </a:r>
                <a:r>
                  <a:rPr lang="vi-V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ời nhận đ</a:t>
                </a:r>
                <a:r>
                  <a:rPr lang="vi-V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ợc tin này. Hãy xác định số ng</a:t>
                </a:r>
                <a:r>
                  <a:rPr lang="vi-V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ời nhận đ</a:t>
                </a:r>
                <a:r>
                  <a:rPr lang="vi-V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ợc tin này sau 24 giờ, biết số ng</a:t>
                </a:r>
                <a:r>
                  <a:rPr lang="vi-V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ời nhận đ</a:t>
                </a:r>
                <a:r>
                  <a:rPr lang="vi-V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ợc tin này có tốc độ (ng</a:t>
                </a:r>
                <a:r>
                  <a:rPr lang="vi-V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ời/giờ) tại thời điểm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tỷ lệ với số người nhận được tin này tại thời điểm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cộng với 10.</a:t>
                </a:r>
              </a:p>
              <a:p>
                <a:pPr algn="just"/>
                <a:endParaRPr 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Trong mạch điện </a:t>
                </a:r>
                <a:r>
                  <a:rPr lang="en-US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RL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(gồm một cuộn cảm </a:t>
                </a:r>
                <a:r>
                  <a:rPr lang="en-US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mắc nối tiếp với một điện trở </a:t>
                </a:r>
                <a:r>
                  <a:rPr lang="en-US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c</a:t>
                </a:r>
                <a:r>
                  <a:rPr lang="vi-V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ờng độ dòng điện tại thời điểm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thỏa mãn phương trình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func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Biết rằng tại thời điểm ban đầu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hãy tìm cường độ dòng điện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tại thời điểm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C6F991-B52A-42B3-B4EC-079AE25E7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81" y="1081548"/>
                <a:ext cx="5458690" cy="5425588"/>
              </a:xfrm>
              <a:prstGeom prst="rect">
                <a:avLst/>
              </a:prstGeom>
              <a:blipFill>
                <a:blip r:embed="rId2"/>
                <a:stretch>
                  <a:fillRect l="-1674" t="-899" r="-1674" b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8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7BC27-D3DF-427D-A2E2-0698047D3F7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16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7.6. First-order differential equations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2E1240-E414-42DE-A8BB-FB18397C5E0C}"/>
              </a:ext>
            </a:extLst>
          </p:cNvPr>
          <p:cNvSpPr/>
          <p:nvPr/>
        </p:nvSpPr>
        <p:spPr>
          <a:xfrm>
            <a:off x="838201" y="998470"/>
            <a:ext cx="52578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/>
              <a:t>Modeling Dilution</a:t>
            </a:r>
          </a:p>
          <a:p>
            <a:pPr algn="just"/>
            <a:r>
              <a:rPr lang="en-US" sz="2400"/>
              <a:t>A tank contains 20 lb of salt dissolved in 50 gal of water. Suppose 3 gal of brine containing 2 lb of dissolved salt per gallon runs into the tank every</a:t>
            </a:r>
            <a:br>
              <a:rPr lang="en-US" sz="2400"/>
            </a:br>
            <a:r>
              <a:rPr lang="en-US" sz="2400"/>
              <a:t>minute and that the mixture (kept uniform by stirring) runs out of tank at rate of 2 gal/min. Find the amount of salt in the tank at any time </a:t>
            </a:r>
            <a:r>
              <a:rPr lang="en-US" sz="2400" i="1"/>
              <a:t>t</a:t>
            </a:r>
            <a:r>
              <a:rPr lang="en-US" sz="2400"/>
              <a:t>. How much salt is in the tank at the end of one hour?</a:t>
            </a:r>
          </a:p>
          <a:p>
            <a:pPr algn="just"/>
            <a:endParaRPr lang="en-US" sz="2400"/>
          </a:p>
          <a:p>
            <a:pPr algn="just"/>
            <a:r>
              <a:rPr lang="en-US" b="1"/>
              <a:t>Solution.</a:t>
            </a:r>
            <a:r>
              <a:rPr lang="en-US"/>
              <a:t> Let </a:t>
            </a:r>
            <a:r>
              <a:rPr lang="en-US" i="1">
                <a:solidFill>
                  <a:srgbClr val="00B0F0"/>
                </a:solidFill>
              </a:rPr>
              <a:t>S</a:t>
            </a:r>
            <a:r>
              <a:rPr lang="en-US">
                <a:solidFill>
                  <a:srgbClr val="00B0F0"/>
                </a:solidFill>
              </a:rPr>
              <a:t>(</a:t>
            </a:r>
            <a:r>
              <a:rPr lang="en-US" i="1">
                <a:solidFill>
                  <a:srgbClr val="00B0F0"/>
                </a:solidFill>
              </a:rPr>
              <a:t>t</a:t>
            </a:r>
            <a:r>
              <a:rPr lang="en-US">
                <a:solidFill>
                  <a:srgbClr val="00B0F0"/>
                </a:solidFill>
              </a:rPr>
              <a:t>)</a:t>
            </a:r>
            <a:r>
              <a:rPr lang="en-US"/>
              <a:t> denote the amount of salt in the tank. Each minute 3 gal of brine flows into the tank and each gallon contains 2 lb of salt, thus, the inflow rate is 6 lb/min.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6F47BF-358F-414B-8C1D-4BA5C966DF78}"/>
                  </a:ext>
                </a:extLst>
              </p:cNvPr>
              <p:cNvSpPr txBox="1"/>
              <p:nvPr/>
            </p:nvSpPr>
            <p:spPr>
              <a:xfrm>
                <a:off x="6390967" y="1209368"/>
                <a:ext cx="5604387" cy="5444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time </a:t>
                </a:r>
                <a:r>
                  <a:rPr lang="en-US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there are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50+(3−2)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i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gallons of water in the tank 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lb of salt, yields the concentration of salt in the water at time </a:t>
                </a:r>
                <a:r>
                  <a:rPr lang="en-US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</a:p>
              <a:p>
                <a:pPr algn="ctr"/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50+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𝑙𝑏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𝑔𝑎𝑙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outflow rate of salt is</a:t>
                </a:r>
              </a:p>
              <a:p>
                <a:pPr algn="ctr"/>
                <a:r>
                  <a:rPr lang="en-US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50+</m:t>
                        </m:r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𝑙𝑏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𝑔𝑎𝑙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𝑔𝑎𝑙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den>
                        </m:f>
                      </m:e>
                    </m:d>
                    <m:r>
                      <a:rPr lang="en-US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50+</m:t>
                        </m:r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𝑙𝑏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den>
                        </m:f>
                      </m:e>
                    </m:d>
                  </m:oMath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net rate of change of salt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</a:p>
              <a:p>
                <a:pPr algn="ctr"/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𝑑𝑆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=6−</m:t>
                    </m:r>
                    <m:f>
                      <m:f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50+</m:t>
                        </m:r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the first-order linear differential equation with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)=2/(50+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); 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)=6.</m:t>
                    </m:r>
                  </m:oMath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Solving the above equation </a:t>
                </a:r>
              </a:p>
              <a:p>
                <a:pPr algn="ctr"/>
                <a:r>
                  <a:rPr lang="en-US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50+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50+</m:t>
                                </m:r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(0)=20</m:t>
                    </m:r>
                  </m:oMath>
                </a14:m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=−200000</m:t>
                    </m:r>
                  </m:oMath>
                </a14:m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 solution is</a:t>
                </a:r>
              </a:p>
              <a:p>
                <a:pPr algn="ctr"/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50+</m:t>
                        </m:r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200000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50+</m:t>
                                </m:r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the end of one hour, the tank contains  </a:t>
                </a:r>
              </a:p>
              <a:p>
                <a:pPr algn="ctr"/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50+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</m:d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200000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50+</m:t>
                                </m:r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≈203.471 (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𝑙𝑏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6F47BF-358F-414B-8C1D-4BA5C966D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967" y="1209368"/>
                <a:ext cx="5604387" cy="5444952"/>
              </a:xfrm>
              <a:prstGeom prst="rect">
                <a:avLst/>
              </a:prstGeom>
              <a:blipFill>
                <a:blip r:embed="rId2"/>
                <a:stretch>
                  <a:fillRect l="-870" t="-559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40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2D61-2588-4848-9BE2-E68171CF67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16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7.6. First-order differential equations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E3068-027C-453E-B13D-EBC95AF73E58}"/>
              </a:ext>
            </a:extLst>
          </p:cNvPr>
          <p:cNvSpPr txBox="1"/>
          <p:nvPr/>
        </p:nvSpPr>
        <p:spPr>
          <a:xfrm>
            <a:off x="304801" y="1081548"/>
            <a:ext cx="61353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Một thùng chứa 10 pound (lb) muối hòa tan trong 30 galon (gal) nước. Giả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có 2 gal dung dịch chứa 1 lb muối trong mỗi gal chảy vào thùng mỗi phút, và dung dịch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sau khi trộn đều được cho chảy ra với cùng tốc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ộ (2gal/phút).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9913" lvl="1" indent="-225425" algn="just">
              <a:buFont typeface="+mj-lt"/>
              <a:buAutoNum type="alphaLcPeriod"/>
            </a:pP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Tìm lượng muối trong thùng tại thời điểm </a:t>
            </a:r>
            <a:r>
              <a:rPr lang="vi-V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9913" lvl="1" indent="-225425" algn="just">
              <a:buFont typeface="+mj-lt"/>
              <a:buAutoNum type="alphaL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Bao lâu thì trong thùng còn 15 lb muối?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Trong bài trên, giả sử thùng có thể tích 100 gal và tốc độ chảy ra là 1 gal/phút.</a:t>
            </a: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a. Sau bao lâu thì thùng đầy?</a:t>
            </a: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b. Có bao nhiêu muối khi thùng đầy?</a:t>
            </a:r>
          </a:p>
        </p:txBody>
      </p:sp>
    </p:spTree>
    <p:extLst>
      <p:ext uri="{BB962C8B-B14F-4D97-AF65-F5344CB8AC3E}">
        <p14:creationId xmlns:p14="http://schemas.microsoft.com/office/powerpoint/2010/main" val="121871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2D61-2588-4848-9BE2-E68171CF67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16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7.6. First-order differential equations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866426-4BEE-4B05-BEA8-E19E6079224C}"/>
              </a:ext>
            </a:extLst>
          </p:cNvPr>
          <p:cNvSpPr/>
          <p:nvPr/>
        </p:nvSpPr>
        <p:spPr>
          <a:xfrm>
            <a:off x="324464" y="1028343"/>
            <a:ext cx="5899355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4488" indent="-344488" algn="just">
              <a:buFont typeface="+mj-lt"/>
              <a:buAutoNum type="arabicPeriod" startAt="3"/>
            </a:pP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Một thùng chứa </a:t>
            </a:r>
            <a:r>
              <a:rPr lang="vi-V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lít nước nhiễm mặn với nồng độ muối là 1500 mg/lít. Để xác định </a:t>
            </a:r>
            <a:r>
              <a:rPr lang="vi-V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và</a:t>
            </a:r>
            <a:b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giảm nồng độ muối trong thùng, người ta bơm nước tinh khiết vào thùng với tốc độ 10</a:t>
            </a:r>
            <a:b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lít/phút và hỗn hợp này (đã được khuấy đều) chảy ra ngoài thùng cũng với tốc độ 10 lít/phút.</a:t>
            </a:r>
            <a:b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Sau 5 phút, người ta đo được nồng độ muối trong thùng là 1430 mg/lít. Hãy xác định </a:t>
            </a:r>
            <a:r>
              <a:rPr lang="vi-V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và</a:t>
            </a:r>
            <a:b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xem phải mất bao lâu (kể từ khi cho nước tinh khiết chảy vào trong thùng) để nồng độ muối</a:t>
            </a:r>
            <a:b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trong thùng là 500 mg/lít.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 startAt="3"/>
            </a:pP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Một thùng chứa 400 lít dung dịch clo với nồng độ 0.05 gam/lít. Để giảm nồng độ clo trong thùng, người ta bơm nước tinh khiết vào thùng với tốc độ 4 lít/giây, dung dịch này được khuấy đều và chảy ra khỏi thùng với cùng tốc độ 4 lít/giây. Hỏi sau bao lâu thì nồng độ clo trong thùng là 0.01 gam/lít.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5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682D-A09D-43F9-B30A-6F283B4C1CC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16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B0F0"/>
                </a:solidFill>
              </a:rPr>
              <a:t>7.6. First-order differential equations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28736-9AA8-4BD0-B6DC-9D06343EE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071" y="967865"/>
            <a:ext cx="2718005" cy="15959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F7BB21-BC61-4BE7-A409-30C9C9921909}"/>
                  </a:ext>
                </a:extLst>
              </p:cNvPr>
              <p:cNvSpPr txBox="1"/>
              <p:nvPr/>
            </p:nvSpPr>
            <p:spPr>
              <a:xfrm>
                <a:off x="438149" y="2472076"/>
                <a:ext cx="5657851" cy="4228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/>
                  <a:t>An electromotive force (usually a battery or generator) produces a voltage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/>
                  <a:t> volts (V) and a current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/>
                  <a:t> amperes (A). The circuit also contains a resistor with a resistance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/>
                  <a:t> ohms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/>
                  <a:t>) and an inductor with an inductance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/>
                  <a:t> henries (H).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/>
                  <a:t>Ohm’s law gives the drop in vontage due to resistor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𝑅𝐼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/>
                  <a:t>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/>
                  <a:t>The vontage drop due to the inductor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/>
                  <a:t>.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/>
                  <a:t>One of Kirchoff’s law say that the sum of the vontage drop equals to the supplied votage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/>
                  <a:t> Thus 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F7BB21-BC61-4BE7-A409-30C9C9921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49" y="2472076"/>
                <a:ext cx="5657851" cy="4228978"/>
              </a:xfrm>
              <a:prstGeom prst="rect">
                <a:avLst/>
              </a:prstGeom>
              <a:blipFill>
                <a:blip r:embed="rId3"/>
                <a:stretch>
                  <a:fillRect l="-1185" t="-866" r="-1078" b="-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549344-D35B-4513-8BA9-9435A89A1EB8}"/>
                  </a:ext>
                </a:extLst>
              </p:cNvPr>
              <p:cNvSpPr txBox="1"/>
              <p:nvPr/>
            </p:nvSpPr>
            <p:spPr>
              <a:xfrm>
                <a:off x="6204155" y="1081548"/>
                <a:ext cx="5860026" cy="5084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b="1"/>
                  <a:t>Example.</a:t>
                </a:r>
                <a:r>
                  <a:rPr lang="en-US" sz="2000"/>
                  <a:t> Suppose that in the simple circuit of Figure 4 the resistance is 12 V and the inductance is 4 H. If a battery gives a constant voltage of 60 V and the switch is closed when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US" sz="2000"/>
                  <a:t>so the current starts with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/>
                  <a:t>, find (a)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/>
                  <a:t>, (b) the current after 1 second, and (c) the limiting value of the current. </a:t>
                </a:r>
              </a:p>
              <a:p>
                <a:r>
                  <a:rPr lang="en-US" sz="2000" b="1"/>
                  <a:t>Solution.</a:t>
                </a:r>
                <a:r>
                  <a:rPr lang="en-US" sz="2000"/>
                  <a:t> If we put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4, 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/>
                  <a:t>, and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lang="en-US" sz="2000"/>
                  <a:t> in Equation 7, we obtain the initial-value problem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4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=60,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/>
              </a:p>
              <a:p>
                <a:r>
                  <a:rPr lang="en-US" sz="2000"/>
                  <a:t>Solve this equation,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/>
              </a:p>
              <a:p>
                <a:r>
                  <a:rPr lang="en-US" sz="2000"/>
                  <a:t>After 1 second the current is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=5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×1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≈4.75</m:t>
                    </m:r>
                  </m:oMath>
                </a14:m>
                <a:r>
                  <a:rPr lang="en-US" sz="2000"/>
                  <a:t> (A)</a:t>
                </a:r>
              </a:p>
              <a:p>
                <a:pPr/>
                <a:r>
                  <a:rPr lang="en-US" sz="2000"/>
                  <a:t>The limiting value of the current is given by</a:t>
                </a:r>
                <a:br>
                  <a:rPr lang="en-US" sz="200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20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en-US" sz="2000" i="1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br>
                  <a:rPr lang="en-US" sz="2000"/>
                </a:br>
                <a:endParaRPr lang="en-US" sz="20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549344-D35B-4513-8BA9-9435A89A1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55" y="1081548"/>
                <a:ext cx="5860026" cy="5084662"/>
              </a:xfrm>
              <a:prstGeom prst="rect">
                <a:avLst/>
              </a:prstGeom>
              <a:blipFill>
                <a:blip r:embed="rId4"/>
                <a:stretch>
                  <a:fillRect l="-1145" t="-599" r="-1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253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5F01-F103-4C3A-9176-F99B876B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27" y="183899"/>
            <a:ext cx="10515600" cy="1173124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7.7. Improper Integrals</a:t>
            </a:r>
            <a:br>
              <a:rPr lang="en-US" b="1">
                <a:solidFill>
                  <a:srgbClr val="00B0F0"/>
                </a:solidFill>
              </a:rPr>
            </a:br>
            <a:r>
              <a:rPr lang="en-US" b="1">
                <a:solidFill>
                  <a:srgbClr val="00B0F0"/>
                </a:solidFill>
              </a:rPr>
              <a:t>        </a:t>
            </a:r>
            <a:r>
              <a:rPr lang="en-US" b="1">
                <a:solidFill>
                  <a:srgbClr val="C00000"/>
                </a:solidFill>
              </a:rPr>
              <a:t>Type 1:</a:t>
            </a:r>
            <a:r>
              <a:rPr lang="en-US" b="1">
                <a:solidFill>
                  <a:srgbClr val="00B0F0"/>
                </a:solidFill>
              </a:rPr>
              <a:t> Infinite Intervals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1D8FE9-ABF2-4EA5-87F2-0BAD304D3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39" y="1509918"/>
            <a:ext cx="3662795" cy="2078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F6FFE4-2720-4507-B824-6F51F841F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39" y="3871448"/>
            <a:ext cx="2260023" cy="1766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7D5D05-CD77-4582-804B-F9623086E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3" y="3871448"/>
            <a:ext cx="2337955" cy="16885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B60C68-CBD3-43BE-87BC-6CDEE6B0B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3245" y="3863171"/>
            <a:ext cx="3030682" cy="1714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99C987-0356-4B49-A49E-2441299669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5744" y="3871830"/>
            <a:ext cx="3073977" cy="17058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B1282F-31DA-4F5F-83FD-3A2BB10B0649}"/>
                  </a:ext>
                </a:extLst>
              </p:cNvPr>
              <p:cNvSpPr txBox="1"/>
              <p:nvPr/>
            </p:nvSpPr>
            <p:spPr>
              <a:xfrm>
                <a:off x="4188542" y="1509918"/>
                <a:ext cx="5801032" cy="1030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B1282F-31DA-4F5F-83FD-3A2BB10B0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542" y="1509918"/>
                <a:ext cx="5801032" cy="10306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2E96B5-CB8A-4A21-BFF2-BCDD30C299F7}"/>
                  </a:ext>
                </a:extLst>
              </p:cNvPr>
              <p:cNvSpPr txBox="1"/>
              <p:nvPr/>
            </p:nvSpPr>
            <p:spPr>
              <a:xfrm>
                <a:off x="5079995" y="2549009"/>
                <a:ext cx="4018125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func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2E96B5-CB8A-4A21-BFF2-BCDD30C29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995" y="2549009"/>
                <a:ext cx="4018125" cy="9221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CC5844-3167-43BD-A05B-1041B918B0AC}"/>
                  </a:ext>
                </a:extLst>
              </p:cNvPr>
              <p:cNvSpPr txBox="1"/>
              <p:nvPr/>
            </p:nvSpPr>
            <p:spPr>
              <a:xfrm>
                <a:off x="2748116" y="5846959"/>
                <a:ext cx="6695767" cy="915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CC5844-3167-43BD-A05B-1041B918B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116" y="5846959"/>
                <a:ext cx="6695767" cy="9159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469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6465F-335C-4B4E-B110-AE3E5B742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8" y="983226"/>
            <a:ext cx="7871844" cy="54406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1BA4BB-4EEE-4EB6-B064-393951C4B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81" y="340090"/>
            <a:ext cx="2602281" cy="2114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7A68A3-FBD2-4D9A-AF1B-3E507C8A0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287" y="2606387"/>
            <a:ext cx="2595775" cy="20558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D06401E-0272-4D51-A3FE-55EA0539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8" y="188147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7.7. Improper Integrals (Type 1)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0BE2F1-2A96-4F6B-8022-1CA277064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5705" y="4904534"/>
            <a:ext cx="3255821" cy="155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42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3559EB-35DF-45AA-A67C-08065866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8" y="188147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7.7. Improper Integrals (Type 1)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AB7B02-B005-4DFE-8C96-9253C170C041}"/>
                  </a:ext>
                </a:extLst>
              </p:cNvPr>
              <p:cNvSpPr txBox="1"/>
              <p:nvPr/>
            </p:nvSpPr>
            <p:spPr>
              <a:xfrm>
                <a:off x="442453" y="1168308"/>
                <a:ext cx="2379406" cy="591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 1.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AB7B02-B005-4DFE-8C96-9253C170C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3" y="1168308"/>
                <a:ext cx="2379406" cy="591637"/>
              </a:xfrm>
              <a:prstGeom prst="rect">
                <a:avLst/>
              </a:prstGeom>
              <a:blipFill>
                <a:blip r:embed="rId2"/>
                <a:stretch>
                  <a:fillRect l="-1282" b="-15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8F570C3-1619-4428-B4FA-A9E5CA4E7A56}"/>
              </a:ext>
            </a:extLst>
          </p:cNvPr>
          <p:cNvSpPr txBox="1"/>
          <p:nvPr/>
        </p:nvSpPr>
        <p:spPr>
          <a:xfrm>
            <a:off x="442452" y="751302"/>
            <a:ext cx="2836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Example.</a:t>
            </a:r>
            <a:r>
              <a:rPr lang="en-US" sz="2400"/>
              <a:t> Evaluate: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8C59AB-B5EA-47A9-855B-B44BE93F4EE2}"/>
                  </a:ext>
                </a:extLst>
              </p:cNvPr>
              <p:cNvSpPr txBox="1"/>
              <p:nvPr/>
            </p:nvSpPr>
            <p:spPr>
              <a:xfrm>
                <a:off x="6189412" y="1168308"/>
                <a:ext cx="2379406" cy="613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 2.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8C59AB-B5EA-47A9-855B-B44BE93F4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412" y="1168308"/>
                <a:ext cx="2379406" cy="613886"/>
              </a:xfrm>
              <a:prstGeom prst="rect">
                <a:avLst/>
              </a:prstGeom>
              <a:blipFill>
                <a:blip r:embed="rId3"/>
                <a:stretch>
                  <a:fillRect l="-1023" b="-1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154A5B-9163-4DC4-B44C-4A7CD7F52048}"/>
                  </a:ext>
                </a:extLst>
              </p:cNvPr>
              <p:cNvSpPr txBox="1"/>
              <p:nvPr/>
            </p:nvSpPr>
            <p:spPr>
              <a:xfrm>
                <a:off x="442452" y="3705898"/>
                <a:ext cx="9448800" cy="615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Example.</a:t>
                </a:r>
                <a:r>
                  <a:rPr lang="en-US" sz="2400"/>
                  <a:t> For what values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/>
                  <a:t> is the integral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/>
                  <a:t> convergent?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154A5B-9163-4DC4-B44C-4A7CD7F52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2" y="3705898"/>
                <a:ext cx="9448800" cy="615874"/>
              </a:xfrm>
              <a:prstGeom prst="rect">
                <a:avLst/>
              </a:prstGeom>
              <a:blipFill>
                <a:blip r:embed="rId4"/>
                <a:stretch>
                  <a:fillRect l="-1032"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9D067BA-4E10-486C-B3D1-E1965D9F2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4201" y="751302"/>
            <a:ext cx="3084354" cy="1316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3FDF60-DB0C-40F1-9013-0488FE7AB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8851" y="1212967"/>
            <a:ext cx="3333750" cy="723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9B6A49-9650-4377-8BBE-186223F2FA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364" y="5703840"/>
            <a:ext cx="9213273" cy="101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71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8967-A3E2-4DD8-B46C-71C1ACA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77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7.7. Improper Integrals (Type 1)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A31466C-779A-4B1F-941D-91B7800F331A}"/>
                  </a:ext>
                </a:extLst>
              </p:cNvPr>
              <p:cNvSpPr/>
              <p:nvPr/>
            </p:nvSpPr>
            <p:spPr>
              <a:xfrm>
                <a:off x="838200" y="884904"/>
                <a:ext cx="10515600" cy="7063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AutoNum type="arabicPeriod"/>
                </a:pPr>
                <a:r>
                  <a:rPr lang="en-US" sz="2400">
                    <a:cs typeface="Times New Roman" panose="02020603050405020304" pitchFamily="18" charset="0"/>
                  </a:rPr>
                  <a:t> a.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1.01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b.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num>
                          <m:den>
                            <m:rad>
                              <m:ra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g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c.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+5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A31466C-779A-4B1F-941D-91B7800F33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84904"/>
                <a:ext cx="10515600" cy="706347"/>
              </a:xfrm>
              <a:prstGeom prst="rect">
                <a:avLst/>
              </a:prstGeom>
              <a:blipFill>
                <a:blip r:embed="rId2"/>
                <a:stretch>
                  <a:fillRect l="-928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4B3BE37-563F-4B71-A0E8-CABEE2EF42FB}"/>
                  </a:ext>
                </a:extLst>
              </p:cNvPr>
              <p:cNvSpPr/>
              <p:nvPr/>
            </p:nvSpPr>
            <p:spPr>
              <a:xfrm>
                <a:off x="838200" y="4350775"/>
                <a:ext cx="10515600" cy="6622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+mj-lt"/>
                  <a:buAutoNum type="arabicPeriod" startAt="2"/>
                </a:pPr>
                <a:r>
                  <a:rPr lang="en-US" sz="2400">
                    <a:cs typeface="Times New Roman" panose="02020603050405020304" pitchFamily="18" charset="0"/>
                  </a:rPr>
                  <a:t>a.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−4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+10</m:t>
                            </m:r>
                          </m:den>
                        </m:f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b.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10−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c.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</m:e>
                                    </m:func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den>
                        </m:f>
                      </m:e>
                    </m:nary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4B3BE37-563F-4B71-A0E8-CABEE2EF4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50775"/>
                <a:ext cx="10515600" cy="662233"/>
              </a:xfrm>
              <a:prstGeom prst="rect">
                <a:avLst/>
              </a:prstGeom>
              <a:blipFill>
                <a:blip r:embed="rId3"/>
                <a:stretch>
                  <a:fillRect l="-928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8838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22A098E-DC9F-4DAD-BF96-7B888BB9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27" y="183899"/>
            <a:ext cx="10515600" cy="1173124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7.7. Improper Integrals</a:t>
            </a:r>
            <a:br>
              <a:rPr lang="en-US" b="1">
                <a:solidFill>
                  <a:srgbClr val="00B0F0"/>
                </a:solidFill>
              </a:rPr>
            </a:br>
            <a:r>
              <a:rPr lang="en-US" b="1">
                <a:solidFill>
                  <a:srgbClr val="00B0F0"/>
                </a:solidFill>
              </a:rPr>
              <a:t>        </a:t>
            </a:r>
            <a:r>
              <a:rPr lang="en-US" b="1">
                <a:solidFill>
                  <a:srgbClr val="C00000"/>
                </a:solidFill>
              </a:rPr>
              <a:t>Type 2:</a:t>
            </a:r>
            <a:r>
              <a:rPr lang="en-US" b="1">
                <a:solidFill>
                  <a:srgbClr val="00B0F0"/>
                </a:solidFill>
              </a:rPr>
              <a:t> Discontinuous Integrands</a:t>
            </a:r>
            <a:r>
              <a:rPr lang="en-US">
                <a:solidFill>
                  <a:srgbClr val="00B0F0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CDA36-975D-4949-8295-DEF087604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57" y="1284960"/>
            <a:ext cx="2751913" cy="15743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3F4AF8-3934-46C8-808E-D0DB66783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57" y="2965892"/>
            <a:ext cx="2569753" cy="1893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2512EA-5545-4495-8E40-7E1EBA816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56" y="4965603"/>
            <a:ext cx="2569753" cy="1834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7CDE40-9069-408A-B7DD-C1EE1B9A3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638" y="1284960"/>
            <a:ext cx="7893735" cy="544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20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D01F3B-02AD-44B6-B0B9-A64158FC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8" y="188147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7.7. Improper Integrals (Type 2)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9AA264-8EE9-43CD-9634-0DE919F8A611}"/>
                  </a:ext>
                </a:extLst>
              </p:cNvPr>
              <p:cNvSpPr txBox="1"/>
              <p:nvPr/>
            </p:nvSpPr>
            <p:spPr>
              <a:xfrm>
                <a:off x="442453" y="1168308"/>
                <a:ext cx="1720648" cy="663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 1.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9AA264-8EE9-43CD-9634-0DE919F8A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3" y="1168308"/>
                <a:ext cx="1720648" cy="663451"/>
              </a:xfrm>
              <a:prstGeom prst="rect">
                <a:avLst/>
              </a:prstGeom>
              <a:blipFill>
                <a:blip r:embed="rId2"/>
                <a:stretch>
                  <a:fillRect l="-1773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8ADD439-4A62-4718-A948-AA26D8CA682D}"/>
              </a:ext>
            </a:extLst>
          </p:cNvPr>
          <p:cNvSpPr txBox="1"/>
          <p:nvPr/>
        </p:nvSpPr>
        <p:spPr>
          <a:xfrm>
            <a:off x="442452" y="751302"/>
            <a:ext cx="2836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Example.</a:t>
            </a:r>
            <a:r>
              <a:rPr lang="en-US" sz="2400"/>
              <a:t> Evaluate: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AD9A37-4544-407D-ABEC-92D7E83F6B6B}"/>
                  </a:ext>
                </a:extLst>
              </p:cNvPr>
              <p:cNvSpPr txBox="1"/>
              <p:nvPr/>
            </p:nvSpPr>
            <p:spPr>
              <a:xfrm>
                <a:off x="5028586" y="1207486"/>
                <a:ext cx="1640760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 2.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nary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AD9A37-4544-407D-ABEC-92D7E83F6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586" y="1207486"/>
                <a:ext cx="1640760" cy="624273"/>
              </a:xfrm>
              <a:prstGeom prst="rect">
                <a:avLst/>
              </a:prstGeom>
              <a:blipFill>
                <a:blip r:embed="rId3"/>
                <a:stretch>
                  <a:fillRect l="-1859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C3BBC7-C089-41A8-BBFF-FDB45FBB9823}"/>
                  </a:ext>
                </a:extLst>
              </p:cNvPr>
              <p:cNvSpPr txBox="1"/>
              <p:nvPr/>
            </p:nvSpPr>
            <p:spPr>
              <a:xfrm>
                <a:off x="9534831" y="1168308"/>
                <a:ext cx="2379406" cy="593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 3.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C3BBC7-C089-41A8-BBFF-FDB45FBB9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4831" y="1168308"/>
                <a:ext cx="2379406" cy="593176"/>
              </a:xfrm>
              <a:prstGeom prst="rect">
                <a:avLst/>
              </a:prstGeom>
              <a:blipFill>
                <a:blip r:embed="rId4"/>
                <a:stretch>
                  <a:fillRect l="-1026" b="-14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FC10FE5-A31A-4A23-8C10-382027078C1E}"/>
                  </a:ext>
                </a:extLst>
              </p:cNvPr>
              <p:cNvSpPr/>
              <p:nvPr/>
            </p:nvSpPr>
            <p:spPr>
              <a:xfrm>
                <a:off x="632950" y="4480733"/>
                <a:ext cx="2051258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lang="en-US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FC10FE5-A31A-4A23-8C10-382027078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50" y="4480733"/>
                <a:ext cx="2051258" cy="624273"/>
              </a:xfrm>
              <a:prstGeom prst="rect">
                <a:avLst/>
              </a:prstGeom>
              <a:blipFill>
                <a:blip r:embed="rId5"/>
                <a:stretch>
                  <a:fillRect l="-4762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BF1C59-902F-4862-9F65-AA6A7DD89CE9}"/>
                  </a:ext>
                </a:extLst>
              </p:cNvPr>
              <p:cNvSpPr txBox="1"/>
              <p:nvPr/>
            </p:nvSpPr>
            <p:spPr>
              <a:xfrm>
                <a:off x="5924550" y="4529143"/>
                <a:ext cx="3205316" cy="593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6.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BF1C59-902F-4862-9F65-AA6A7DD89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550" y="4529143"/>
                <a:ext cx="3205316" cy="593945"/>
              </a:xfrm>
              <a:prstGeom prst="rect">
                <a:avLst/>
              </a:prstGeom>
              <a:blipFill>
                <a:blip r:embed="rId6"/>
                <a:stretch>
                  <a:fillRect l="-3042" b="-15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35144C-52EF-4FBE-AF9B-87D7313B0137}"/>
                  </a:ext>
                </a:extLst>
              </p:cNvPr>
              <p:cNvSpPr txBox="1"/>
              <p:nvPr/>
            </p:nvSpPr>
            <p:spPr>
              <a:xfrm>
                <a:off x="3279059" y="4480733"/>
                <a:ext cx="1912373" cy="69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num>
                          <m:den>
                            <m:rad>
                              <m:ra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g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35144C-52EF-4FBE-AF9B-87D7313B0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59" y="4480733"/>
                <a:ext cx="1912373" cy="690767"/>
              </a:xfrm>
              <a:prstGeom prst="rect">
                <a:avLst/>
              </a:prstGeom>
              <a:blipFill>
                <a:blip r:embed="rId7"/>
                <a:stretch>
                  <a:fillRect l="-5096" b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EB4B46-23C5-427D-B072-FFDF30EA8100}"/>
                  </a:ext>
                </a:extLst>
              </p:cNvPr>
              <p:cNvSpPr txBox="1"/>
              <p:nvPr/>
            </p:nvSpPr>
            <p:spPr>
              <a:xfrm>
                <a:off x="9356622" y="4480733"/>
                <a:ext cx="2519512" cy="743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num>
                          <m:den>
                            <m:rad>
                              <m:ra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deg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1−2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EB4B46-23C5-427D-B072-FFDF30EA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622" y="4480733"/>
                <a:ext cx="2519512" cy="743089"/>
              </a:xfrm>
              <a:prstGeom prst="rect">
                <a:avLst/>
              </a:prstGeom>
              <a:blipFill>
                <a:blip r:embed="rId8"/>
                <a:stretch>
                  <a:fillRect l="-3874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47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2" grpId="0"/>
      <p:bldP spid="3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865CC08-F9D9-4FC1-96D4-3E0AB381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8" y="188147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7.7. Improper Integrals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CF9E7E-9CDA-4444-AB7C-72236744C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202" y="806248"/>
            <a:ext cx="7944020" cy="16172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21E7BA-AB2E-4F69-A993-D7E55BA8B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71" y="806248"/>
            <a:ext cx="3266839" cy="19522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1C21B5-1C32-4298-973B-59D6536367FD}"/>
                  </a:ext>
                </a:extLst>
              </p:cNvPr>
              <p:cNvSpPr txBox="1"/>
              <p:nvPr/>
            </p:nvSpPr>
            <p:spPr>
              <a:xfrm>
                <a:off x="688257" y="2821862"/>
                <a:ext cx="6135329" cy="573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Example. </a:t>
                </a:r>
                <a:r>
                  <a:rPr lang="en-US" sz="2400"/>
                  <a:t>Show that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/>
                  <a:t> convergent. </a:t>
                </a:r>
                <a:endParaRPr lang="en-US" sz="2400" b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1C21B5-1C32-4298-973B-59D653636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2821862"/>
                <a:ext cx="6135329" cy="573042"/>
              </a:xfrm>
              <a:prstGeom prst="rect">
                <a:avLst/>
              </a:prstGeom>
              <a:blipFill>
                <a:blip r:embed="rId4"/>
                <a:stretch>
                  <a:fillRect l="-1590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8AFFB1D-0621-4A64-AF34-164321D5EBE7}"/>
                  </a:ext>
                </a:extLst>
              </p:cNvPr>
              <p:cNvSpPr txBox="1"/>
              <p:nvPr/>
            </p:nvSpPr>
            <p:spPr>
              <a:xfrm>
                <a:off x="688257" y="4952625"/>
                <a:ext cx="11287433" cy="1074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Example. Determine whether the integral is convergent or divergent</a:t>
                </a:r>
                <a:r>
                  <a:rPr lang="en-US" sz="2400"/>
                  <a:t>. </a:t>
                </a:r>
              </a:p>
              <a:p>
                <a:r>
                  <a:rPr lang="en-US" sz="2400" b="1"/>
                  <a:t>1.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 b="1"/>
                  <a:t>		</a:t>
                </a:r>
                <a:r>
                  <a:rPr lang="en-US" sz="2400"/>
                  <a:t> </a:t>
                </a:r>
                <a:r>
                  <a:rPr lang="en-US" sz="2400" b="1"/>
                  <a:t>2.</a:t>
                </a: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 b="1"/>
                  <a:t>		3.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 b="1"/>
                  <a:t>	4.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 b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8AFFB1D-0621-4A64-AF34-164321D5E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57" y="4952625"/>
                <a:ext cx="11287433" cy="1074268"/>
              </a:xfrm>
              <a:prstGeom prst="rect">
                <a:avLst/>
              </a:prstGeom>
              <a:blipFill>
                <a:blip r:embed="rId5"/>
                <a:stretch>
                  <a:fillRect l="-864" t="-4520" b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6522-2BA9-4026-9E3F-34EDB9FBD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</a:rPr>
              <a:t>Exercises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89E535-4DEF-4062-B7E9-64D87E2927D4}"/>
                  </a:ext>
                </a:extLst>
              </p:cNvPr>
              <p:cNvSpPr txBox="1"/>
              <p:nvPr/>
            </p:nvSpPr>
            <p:spPr>
              <a:xfrm>
                <a:off x="405579" y="934066"/>
                <a:ext cx="3370007" cy="3748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2400"/>
                  <a:t>Tính các tích phân sau</a:t>
                </a:r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rad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1)</m:t>
                            </m:r>
                          </m:den>
                        </m:f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89E535-4DEF-4062-B7E9-64D87E292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79" y="934066"/>
                <a:ext cx="3370007" cy="3748975"/>
              </a:xfrm>
              <a:prstGeom prst="rect">
                <a:avLst/>
              </a:prstGeom>
              <a:blipFill>
                <a:blip r:embed="rId2"/>
                <a:stretch>
                  <a:fillRect l="-2899" t="-1463" b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E5F4A3D-DA7C-45ED-827E-27B82275D649}"/>
                  </a:ext>
                </a:extLst>
              </p:cNvPr>
              <p:cNvSpPr txBox="1"/>
              <p:nvPr/>
            </p:nvSpPr>
            <p:spPr>
              <a:xfrm>
                <a:off x="6096000" y="934066"/>
                <a:ext cx="4945626" cy="4735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2"/>
                </a:pPr>
                <a:r>
                  <a:rPr lang="en-US" sz="2400"/>
                  <a:t>Khảo sát sự hội tụ của các tích phân</a:t>
                </a:r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+6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+8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+7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√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2+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+1)(</m:t>
                            </m:r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sz="240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rad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400"/>
              </a:p>
              <a:p>
                <a:pPr marL="800100" lvl="1" indent="-342900">
                  <a:buFont typeface="+mj-lt"/>
                  <a:buAutoNum type="alphaLcPeriod"/>
                </a:pPr>
                <a:endParaRPr lang="en-US" sz="240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E5F4A3D-DA7C-45ED-827E-27B82275D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934066"/>
                <a:ext cx="4945626" cy="4735335"/>
              </a:xfrm>
              <a:prstGeom prst="rect">
                <a:avLst/>
              </a:prstGeom>
              <a:blipFill>
                <a:blip r:embed="rId3"/>
                <a:stretch>
                  <a:fillRect l="-1973" t="-1158" r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790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2004</TotalTime>
  <Words>1801</Words>
  <Application>Microsoft Office PowerPoint</Application>
  <PresentationFormat>Widescreen</PresentationFormat>
  <Paragraphs>136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Times New Roman</vt:lpstr>
      <vt:lpstr>TimesLTStd-Bold</vt:lpstr>
      <vt:lpstr>TimesLTStd-Roman</vt:lpstr>
      <vt:lpstr>Office Theme</vt:lpstr>
      <vt:lpstr>PowerPoint Presentation</vt:lpstr>
      <vt:lpstr>7.6. First-order differential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7.7. Improper Integrals         Type 1: Infinite Intervals</vt:lpstr>
      <vt:lpstr>7.7. Improper Integrals (Type 1)</vt:lpstr>
      <vt:lpstr>7.7. Improper Integrals (Type 1)</vt:lpstr>
      <vt:lpstr>7.7. Improper Integrals (Type 1)</vt:lpstr>
      <vt:lpstr>7.7. Improper Integrals         Type 2: Discontinuous Integrands </vt:lpstr>
      <vt:lpstr>7.7. Improper Integrals (Type 2)</vt:lpstr>
      <vt:lpstr>7.7. Improper Integrals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Duc Dung Banh</dc:creator>
  <cp:lastModifiedBy>Duc Dung Banh</cp:lastModifiedBy>
  <cp:revision>104</cp:revision>
  <dcterms:created xsi:type="dcterms:W3CDTF">2020-04-12T13:01:50Z</dcterms:created>
  <dcterms:modified xsi:type="dcterms:W3CDTF">2020-05-05T08:46:07Z</dcterms:modified>
</cp:coreProperties>
</file>