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7" d="100"/>
          <a:sy n="57" d="100"/>
        </p:scale>
        <p:origin x="56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42E92-15DA-4BE0-8C69-D877E6A9B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3167B8-E59B-4B73-9424-5140B42876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9BE3D-BAED-4591-99AC-8C54A2A11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51A7B-67B1-45C0-810F-09DBF56C7EA5}" type="datetimeFigureOut">
              <a:rPr lang="en-US" smtClean="0"/>
              <a:t>3/7/2020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48267-AD4E-4A96-89A4-1BD9E18D0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B0EDC-4B13-416B-B7C5-B1FD4B5D5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24C45-C7E8-4959-920F-0145090FA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971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ACAD-07B1-4678-9DB7-54DFEC31D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7614E-0797-49D2-8C0C-DB6DC2814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DE3F4-CEEA-44C2-974B-E24B102CC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51A7B-67B1-45C0-810F-09DBF56C7EA5}" type="datetimeFigureOut">
              <a:rPr lang="en-US" smtClean="0"/>
              <a:t>3/7/2020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06793-A1D1-4C52-9F9E-374F19602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67620-763B-4419-AB5F-DA22F9395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24C45-C7E8-4959-920F-0145090FA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768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9E4F9-DB3B-4CCE-8907-4B2328FFA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BC1E8E-A8E4-47AD-94D1-DD0A0BC05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DB1A0-4DA3-442B-86C1-CA9A4FE7D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51A7B-67B1-45C0-810F-09DBF56C7EA5}" type="datetimeFigureOut">
              <a:rPr lang="en-US" smtClean="0"/>
              <a:t>3/7/2020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21A79-F399-438C-B7D4-D5A978FD9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98D99-8FF6-4675-8F6C-F1F65B262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24C45-C7E8-4959-920F-0145090FA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996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C59F6-84A4-4E65-AD31-1C4AD4FE7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098AB-C356-41E5-9FEE-1CFA48FD8B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30032F-FD2E-40D8-A104-967137E47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BB12C6-2928-4A3E-B059-9A7B4C996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51A7B-67B1-45C0-810F-09DBF56C7EA5}" type="datetimeFigureOut">
              <a:rPr lang="en-US" smtClean="0"/>
              <a:t>3/7/2020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8D92D7-4A21-4E78-8FAD-0A8AF6D24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E514C3-2371-48FC-A2DA-8020590F6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24C45-C7E8-4959-920F-0145090FA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434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129F8-AFFC-4BC3-A28E-60ABD97C1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AAB5E-95B4-4D04-963C-F438AEFDE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F21F8A-128C-4A25-9080-945AFA8135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90178D-FECC-49BB-A5EF-7D49ACDE28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9167CB-F8F9-438F-96D7-A9C197B39B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06027D-C9DF-432E-BEC8-754EB3694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51A7B-67B1-45C0-810F-09DBF56C7EA5}" type="datetimeFigureOut">
              <a:rPr lang="en-US" smtClean="0"/>
              <a:t>3/7/2020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77B614-8263-46B3-BE83-F6F53C38F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4E1C9B-183F-479A-95B3-04A41DBE5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24C45-C7E8-4959-920F-0145090FA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953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BE4CC-3F1A-4308-9CF3-9FCA75445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2F198A-88E5-4716-BFF0-261E1CDFE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51A7B-67B1-45C0-810F-09DBF56C7EA5}" type="datetimeFigureOut">
              <a:rPr lang="en-US" smtClean="0"/>
              <a:t>3/7/2020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AA9117-660D-4EBA-A3D6-E35FBC9C8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7F1BE1-0368-48D6-B814-E0FE0A18D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24C45-C7E8-4959-920F-0145090FA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553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0450A2-AC20-49A3-946D-5B33652BA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51A7B-67B1-45C0-810F-09DBF56C7EA5}" type="datetimeFigureOut">
              <a:rPr lang="en-US" smtClean="0"/>
              <a:t>3/7/2020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CDE089-1342-47A5-80F8-A9EF2C339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B468C4-491F-46D6-8D0B-CF99CC4CD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24C45-C7E8-4959-920F-0145090FA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580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450E7-582C-45C8-96C7-9F3D9A808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8C960-FEF7-4F44-9247-2F0A217B3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17E0B3-78A8-4F8A-A69E-D23ED3E5B1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654ADD-9DC0-4B35-8158-631AFA8D0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51A7B-67B1-45C0-810F-09DBF56C7EA5}" type="datetimeFigureOut">
              <a:rPr lang="en-US" smtClean="0"/>
              <a:t>3/7/2020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CD272A-7898-4B17-B2A5-449D933CF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5EE935-45DD-47B1-B259-C7EF9306D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24C45-C7E8-4959-920F-0145090FA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440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C6503-C1E8-4C97-ABC1-BEB886192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BC1FDB-2775-40C0-924E-B60AD0142B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B29D8D-0E69-4A1B-A557-4D3B302476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12CF8A-B3F3-4C8F-ACB0-0697D558A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51A7B-67B1-45C0-810F-09DBF56C7EA5}" type="datetimeFigureOut">
              <a:rPr lang="en-US" smtClean="0"/>
              <a:t>3/7/2020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097A8F-8DD4-4B06-B415-6C54C18EF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9A8DB3-2970-4628-ADBC-0C31AEE3B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24C45-C7E8-4959-920F-0145090FA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103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49AE8-62EB-480C-A723-CFB8F7D61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3A2CEB-F1FD-49F8-8D50-F2F67F5510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5C217-BDDD-4701-B13E-8DE3E4DD1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51A7B-67B1-45C0-810F-09DBF56C7EA5}" type="datetimeFigureOut">
              <a:rPr lang="en-US" smtClean="0"/>
              <a:t>3/7/2020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4967D-3C8B-4840-AB8B-A9F971919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01FC4-8869-450B-84D1-C30D82889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24C45-C7E8-4959-920F-0145090FA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440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B947F3-CEDB-495F-ABBA-974FCDD9FD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FED17F-FD08-4FF2-8A23-09C4952A05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8B03D7-FDA6-4FD3-B446-799DE8EBF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51A7B-67B1-45C0-810F-09DBF56C7EA5}" type="datetimeFigureOut">
              <a:rPr lang="en-US" smtClean="0"/>
              <a:t>3/7/2020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7F554-49EB-4A72-8DBF-B85A51933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5C959-146C-461A-9336-E026F5414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24C45-C7E8-4959-920F-0145090FA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332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8E39DF-E374-4500-9B29-D1D952F6F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9E3077-A08D-47F3-A6EA-9F89B5B9C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4C73B-B430-4B21-94AB-B2BB4A0A73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351A7B-67B1-45C0-810F-09DBF56C7EA5}" type="datetimeFigureOut">
              <a:rPr lang="en-US" smtClean="0"/>
              <a:t>3/7/2020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44210-A4E9-44D2-AE6D-FE02E22AFB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16966F-EDA8-4FA1-A53C-B16010154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024C45-C7E8-4959-920F-0145090FA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950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A8F34-973E-42D2-BFD8-E71F95202F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1">
                <a:solidFill>
                  <a:srgbClr val="00B0F0"/>
                </a:solidFill>
                <a:latin typeface="Palatino Linotype" panose="02040502050505030304" pitchFamily="18" charset="0"/>
              </a:rPr>
              <a:t>APPLICATIONS TO PHYSICS AND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6C2AAC-1D5F-41C5-9BC6-1573D8952B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148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80BC6-C8EC-4FC5-8678-A2F8CA714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8816"/>
            <a:ext cx="10515600" cy="785249"/>
          </a:xfrm>
        </p:spPr>
        <p:txBody>
          <a:bodyPr/>
          <a:lstStyle/>
          <a:p>
            <a:r>
              <a:rPr lang="en-US" b="1">
                <a:solidFill>
                  <a:srgbClr val="00B0F0"/>
                </a:solidFill>
                <a:latin typeface="Palatino Linotype" panose="02040502050505030304" pitchFamily="18" charset="0"/>
                <a:cs typeface="Times New Roman" panose="02020603050405020304" pitchFamily="18" charset="0"/>
              </a:rPr>
              <a:t>Work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07F2640-115E-49D3-BF33-433EB11DEA9F}"/>
                  </a:ext>
                </a:extLst>
              </p:cNvPr>
              <p:cNvSpPr txBox="1"/>
              <p:nvPr/>
            </p:nvSpPr>
            <p:spPr>
              <a:xfrm>
                <a:off x="904567" y="932497"/>
                <a:ext cx="5191433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>
                    <a:latin typeface="Palatino Linotype" panose="02040502050505030304" pitchFamily="18" charset="0"/>
                    <a:cs typeface="Times New Roman" panose="02020603050405020304" pitchFamily="18" charset="0"/>
                  </a:rPr>
                  <a:t>If a constant force of magnitude </a:t>
                </a:r>
                <a:r>
                  <a:rPr lang="en-US" sz="2400" i="1">
                    <a:latin typeface="Palatino Linotype" panose="0204050205050503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sz="2400">
                    <a:latin typeface="Palatino Linotype" panose="02040502050505030304" pitchFamily="18" charset="0"/>
                    <a:cs typeface="Times New Roman" panose="02020603050405020304" pitchFamily="18" charset="0"/>
                  </a:rPr>
                  <a:t> is applied to an object through a distance </a:t>
                </a:r>
                <a:r>
                  <a:rPr lang="en-US" sz="2400" i="1">
                    <a:latin typeface="Palatino Linotype" panose="0204050205050503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sz="2400">
                    <a:latin typeface="Palatino Linotype" panose="02040502050505030304" pitchFamily="18" charset="0"/>
                    <a:cs typeface="Times New Roman" panose="02020603050405020304" pitchFamily="18" charset="0"/>
                  </a:rPr>
                  <a:t>, it performs work measured by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𝐹𝑑</m:t>
                      </m:r>
                    </m:oMath>
                  </m:oMathPara>
                </a14:m>
                <a:endParaRPr lang="en-US" sz="2400" b="0">
                  <a:latin typeface="Palatino Linotype" panose="0204050205050503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𝑤𝑜𝑟𝑘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𝑓𝑜𝑟𝑐𝑒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𝑑𝑖𝑠𝑡𝑎𝑛𝑐𝑒</m:t>
                          </m:r>
                        </m:e>
                      </m:d>
                    </m:oMath>
                  </m:oMathPara>
                </a14:m>
                <a:endParaRPr lang="en-US" sz="2400">
                  <a:latin typeface="Palatino Linotype" panose="0204050205050503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07F2640-115E-49D3-BF33-433EB11DE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567" y="932497"/>
                <a:ext cx="5191433" cy="2308324"/>
              </a:xfrm>
              <a:prstGeom prst="rect">
                <a:avLst/>
              </a:prstGeom>
              <a:blipFill>
                <a:blip r:embed="rId2"/>
                <a:stretch>
                  <a:fillRect l="-1761" t="-2111" r="-1761" b="-2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48135BDC-D2C1-4447-B396-91C6D2FE74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585152"/>
              </p:ext>
            </p:extLst>
          </p:nvPr>
        </p:nvGraphicFramePr>
        <p:xfrm>
          <a:off x="6689757" y="849621"/>
          <a:ext cx="4386898" cy="2039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0893">
                  <a:extLst>
                    <a:ext uri="{9D8B030D-6E8A-4147-A177-3AD203B41FA5}">
                      <a16:colId xmlns:a16="http://schemas.microsoft.com/office/drawing/2014/main" val="3499364950"/>
                    </a:ext>
                  </a:extLst>
                </a:gridCol>
                <a:gridCol w="1142746">
                  <a:extLst>
                    <a:ext uri="{9D8B030D-6E8A-4147-A177-3AD203B41FA5}">
                      <a16:colId xmlns:a16="http://schemas.microsoft.com/office/drawing/2014/main" val="3081988720"/>
                    </a:ext>
                  </a:extLst>
                </a:gridCol>
                <a:gridCol w="1406779">
                  <a:extLst>
                    <a:ext uri="{9D8B030D-6E8A-4147-A177-3AD203B41FA5}">
                      <a16:colId xmlns:a16="http://schemas.microsoft.com/office/drawing/2014/main" val="3383187821"/>
                    </a:ext>
                  </a:extLst>
                </a:gridCol>
                <a:gridCol w="1046480">
                  <a:extLst>
                    <a:ext uri="{9D8B030D-6E8A-4147-A177-3AD203B41FA5}">
                      <a16:colId xmlns:a16="http://schemas.microsoft.com/office/drawing/2014/main" val="581597442"/>
                    </a:ext>
                  </a:extLst>
                </a:gridCol>
              </a:tblGrid>
              <a:tr h="407924">
                <a:tc gridSpan="4">
                  <a:txBody>
                    <a:bodyPr/>
                    <a:lstStyle/>
                    <a:p>
                      <a:r>
                        <a:rPr lang="en-US" sz="2000"/>
                        <a:t>Common units of Work and Force</a:t>
                      </a:r>
                    </a:p>
                  </a:txBody>
                  <a:tcPr marT="50292" marB="50292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5543473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pPr algn="ctr"/>
                      <a:r>
                        <a:rPr lang="en-US" sz="2000" b="1"/>
                        <a:t>Mass</a:t>
                      </a:r>
                    </a:p>
                  </a:txBody>
                  <a:tcPr marT="50292" marB="50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/>
                        <a:t>Distance</a:t>
                      </a:r>
                    </a:p>
                  </a:txBody>
                  <a:tcPr marT="50292" marB="50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/>
                        <a:t>Force</a:t>
                      </a:r>
                    </a:p>
                  </a:txBody>
                  <a:tcPr marT="50292" marB="50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/>
                        <a:t>Work</a:t>
                      </a:r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3593952261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kg</a:t>
                      </a:r>
                    </a:p>
                  </a:txBody>
                  <a:tcPr marT="50292" marB="50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m</a:t>
                      </a:r>
                    </a:p>
                  </a:txBody>
                  <a:tcPr marT="50292" marB="50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newton (N)</a:t>
                      </a:r>
                    </a:p>
                  </a:txBody>
                  <a:tcPr marT="50292" marB="50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joule (J)</a:t>
                      </a:r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682253675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g</a:t>
                      </a:r>
                    </a:p>
                  </a:txBody>
                  <a:tcPr marT="50292" marB="50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cm</a:t>
                      </a:r>
                    </a:p>
                  </a:txBody>
                  <a:tcPr marT="50292" marB="50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dyne (dyn)</a:t>
                      </a:r>
                    </a:p>
                  </a:txBody>
                  <a:tcPr marT="50292" marB="50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erg</a:t>
                      </a:r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2999830662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slug</a:t>
                      </a:r>
                    </a:p>
                  </a:txBody>
                  <a:tcPr marT="50292" marB="50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ft</a:t>
                      </a:r>
                    </a:p>
                  </a:txBody>
                  <a:tcPr marT="50292" marB="50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Pound (lb)</a:t>
                      </a:r>
                    </a:p>
                  </a:txBody>
                  <a:tcPr marT="50292" marB="50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ft-lb</a:t>
                      </a:r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1549474570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5B19CA63-2610-44FD-A514-92AB7BAB9FDF}"/>
              </a:ext>
            </a:extLst>
          </p:cNvPr>
          <p:cNvSpPr/>
          <p:nvPr/>
        </p:nvSpPr>
        <p:spPr>
          <a:xfrm>
            <a:off x="904567" y="3223884"/>
            <a:ext cx="519143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>
                <a:latin typeface="Palatino Linotype" panose="02040502050505030304" pitchFamily="18" charset="0"/>
                <a:cs typeface="Times New Roman" panose="02020603050405020304" pitchFamily="18" charset="0"/>
              </a:rPr>
              <a:t>Suppose a continuous function </a:t>
            </a:r>
            <a:r>
              <a:rPr lang="en-US" sz="2400" i="1">
                <a:latin typeface="Palatino Linotype" panose="02040502050505030304" pitchFamily="18" charset="0"/>
                <a:cs typeface="Times New Roman" panose="02020603050405020304" pitchFamily="18" charset="0"/>
              </a:rPr>
              <a:t>F</a:t>
            </a:r>
            <a:r>
              <a:rPr lang="en-US" sz="2400">
                <a:latin typeface="Palatino Linotype" panose="02040502050505030304" pitchFamily="18" charset="0"/>
                <a:cs typeface="Times New Roman" panose="02020603050405020304" pitchFamily="18" charset="0"/>
              </a:rPr>
              <a:t> is a variable force acts on an object moving along the x-axis from </a:t>
            </a:r>
            <a:r>
              <a:rPr lang="en-US" sz="2400" i="1">
                <a:latin typeface="Palatino Linotype" panose="02040502050505030304" pitchFamily="18" charset="0"/>
                <a:cs typeface="Times New Roman" panose="02020603050405020304" pitchFamily="18" charset="0"/>
              </a:rPr>
              <a:t>x</a:t>
            </a:r>
            <a:r>
              <a:rPr lang="en-US" sz="2400">
                <a:latin typeface="Palatino Linotype" panose="0204050205050503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i="1">
                <a:latin typeface="Palatino Linotype" panose="02040502050505030304" pitchFamily="18" charset="0"/>
                <a:cs typeface="Times New Roman" panose="02020603050405020304" pitchFamily="18" charset="0"/>
              </a:rPr>
              <a:t>a</a:t>
            </a:r>
            <a:r>
              <a:rPr lang="en-US" sz="2400">
                <a:latin typeface="Palatino Linotype" panose="02040502050505030304" pitchFamily="18" charset="0"/>
                <a:cs typeface="Times New Roman" panose="02020603050405020304" pitchFamily="18" charset="0"/>
              </a:rPr>
              <a:t> to </a:t>
            </a:r>
            <a:r>
              <a:rPr lang="en-US" sz="2400" i="1">
                <a:latin typeface="Palatino Linotype" panose="02040502050505030304" pitchFamily="18" charset="0"/>
                <a:cs typeface="Times New Roman" panose="02020603050405020304" pitchFamily="18" charset="0"/>
              </a:rPr>
              <a:t>x</a:t>
            </a:r>
            <a:r>
              <a:rPr lang="en-US" sz="2400">
                <a:latin typeface="Palatino Linotype" panose="0204050205050503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i="1">
                <a:latin typeface="Palatino Linotype" panose="02040502050505030304" pitchFamily="18" charset="0"/>
                <a:cs typeface="Times New Roman" panose="02020603050405020304" pitchFamily="18" charset="0"/>
              </a:rPr>
              <a:t> b</a:t>
            </a:r>
            <a:r>
              <a:rPr lang="en-US" sz="2400">
                <a:latin typeface="Palatino Linotype" panose="0204050205050503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C94449-BAC7-4459-8E46-043C679BF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567" y="4815963"/>
            <a:ext cx="5191433" cy="129785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FBD09F-A41D-4537-886A-68CDAC909BAC}"/>
                  </a:ext>
                </a:extLst>
              </p:cNvPr>
              <p:cNvSpPr txBox="1"/>
              <p:nvPr/>
            </p:nvSpPr>
            <p:spPr>
              <a:xfrm>
                <a:off x="6135328" y="3092146"/>
                <a:ext cx="4965291" cy="11005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≈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</m:d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>
                  <a:latin typeface="Palatino Linotype" panose="0204050205050503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FBD09F-A41D-4537-886A-68CDAC909B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5328" y="3092146"/>
                <a:ext cx="4965291" cy="11005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21EBA07-5F2B-4308-BDDE-E2DD4F15DCE4}"/>
                  </a:ext>
                </a:extLst>
              </p:cNvPr>
              <p:cNvSpPr txBox="1"/>
              <p:nvPr/>
            </p:nvSpPr>
            <p:spPr>
              <a:xfrm>
                <a:off x="6162367" y="4262177"/>
                <a:ext cx="5321710" cy="2220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func>
                                <m:func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fNam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→0</m:t>
                                  </m:r>
                                </m:e>
                              </m:func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</m:oMath>
                  </m:oMathPara>
                </a14:m>
                <a:endParaRPr lang="en-US" sz="2400" b="0">
                  <a:latin typeface="Palatino Linotype" panose="02040502050505030304" pitchFamily="18" charset="0"/>
                  <a:cs typeface="Times New Roman" panose="020206030504050203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>
                  <a:latin typeface="Palatino Linotype" panose="0204050205050503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21EBA07-5F2B-4308-BDDE-E2DD4F15D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2367" y="4262177"/>
                <a:ext cx="5321710" cy="22208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9784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99C65-31B9-4D77-9EE4-E3A7CC678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445" y="365126"/>
            <a:ext cx="11189109" cy="500114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00B0F0"/>
                </a:solidFill>
                <a:latin typeface="Palatino Linotype" panose="02040502050505030304" pitchFamily="18" charset="0"/>
              </a:rPr>
              <a:t>EXAMPLES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D92DFD-D58D-4E7D-AAF4-FA336270073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01445" y="930893"/>
                <a:ext cx="5594554" cy="2756204"/>
              </a:xfrm>
            </p:spPr>
            <p:txBody>
              <a:bodyPr>
                <a:normAutofit lnSpcReduction="10000"/>
              </a:bodyPr>
              <a:lstStyle/>
              <a:p>
                <a:pPr marL="0" indent="0" algn="just">
                  <a:buNone/>
                </a:pPr>
                <a:r>
                  <a:rPr lang="en-US" sz="2400">
                    <a:latin typeface="Palatino Linotype" panose="02040502050505030304" pitchFamily="18" charset="0"/>
                  </a:rPr>
                  <a:t>1. When a particle is located a distance </a:t>
                </a:r>
                <a:r>
                  <a:rPr lang="en-US" sz="2400" i="1">
                    <a:latin typeface="Palatino Linotype" panose="02040502050505030304" pitchFamily="18" charset="0"/>
                  </a:rPr>
                  <a:t>x </a:t>
                </a:r>
                <a:r>
                  <a:rPr lang="en-US" sz="2400">
                    <a:latin typeface="Palatino Linotype" panose="02040502050505030304" pitchFamily="18" charset="0"/>
                  </a:rPr>
                  <a:t>feet from the origin, a force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i="1">
                    <a:latin typeface="Palatino Linotype" panose="02040502050505030304" pitchFamily="18" charset="0"/>
                  </a:rPr>
                  <a:t> </a:t>
                </a:r>
                <a:r>
                  <a:rPr lang="en-US" sz="2400">
                    <a:latin typeface="Palatino Linotype" panose="02040502050505030304" pitchFamily="18" charset="0"/>
                  </a:rPr>
                  <a:t>pounds acts on it. How much work is done in moving it from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>
                    <a:latin typeface="Palatino Linotype" panose="02040502050505030304" pitchFamily="18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sz="2400">
                    <a:latin typeface="Palatino Linotype" panose="02040502050505030304" pitchFamily="18" charset="0"/>
                  </a:rPr>
                  <a:t>?</a:t>
                </a:r>
              </a:p>
              <a:p>
                <a:pPr marL="0" indent="0">
                  <a:buNone/>
                </a:pPr>
                <a:endParaRPr lang="en-US" sz="2400" b="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2400">
                  <a:latin typeface="Palatino Linotype" panose="0204050205050503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D92DFD-D58D-4E7D-AAF4-FA33627007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01445" y="930893"/>
                <a:ext cx="5594554" cy="2756204"/>
              </a:xfrm>
              <a:blipFill>
                <a:blip r:embed="rId2"/>
                <a:stretch>
                  <a:fillRect l="-1634" t="-4204" r="-1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C649889-A2E3-497D-BCF2-8CFB25ED1BD2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01445" y="4008390"/>
                <a:ext cx="5594555" cy="2028617"/>
              </a:xfrm>
            </p:spPr>
            <p:txBody>
              <a:bodyPr>
                <a:normAutofit lnSpcReduction="10000"/>
              </a:bodyPr>
              <a:lstStyle/>
              <a:p>
                <a:pPr marL="0" indent="0" algn="just">
                  <a:buNone/>
                </a:pPr>
                <a:r>
                  <a:rPr lang="en-US" sz="2400" b="1">
                    <a:latin typeface="Palatino Linotype" panose="02040502050505030304" pitchFamily="18" charset="0"/>
                  </a:rPr>
                  <a:t>Hooke’s Law: </a:t>
                </a:r>
                <a:r>
                  <a:rPr lang="en-US" sz="2400">
                    <a:latin typeface="Palatino Linotype" panose="02040502050505030304" pitchFamily="18" charset="0"/>
                  </a:rPr>
                  <a:t>The force required to maintain a spring stretched </a:t>
                </a:r>
                <a:r>
                  <a:rPr lang="en-US" sz="2400" i="1">
                    <a:latin typeface="Palatino Linotype" panose="02040502050505030304" pitchFamily="18" charset="0"/>
                  </a:rPr>
                  <a:t>x </a:t>
                </a:r>
                <a:r>
                  <a:rPr lang="en-US" sz="2400">
                    <a:latin typeface="Palatino Linotype" panose="02040502050505030304" pitchFamily="18" charset="0"/>
                  </a:rPr>
                  <a:t>units beyond its natural length is proportional to </a:t>
                </a:r>
                <a:r>
                  <a:rPr lang="en-US" sz="2400" i="1">
                    <a:latin typeface="Palatino Linotype" panose="02040502050505030304" pitchFamily="18" charset="0"/>
                  </a:rPr>
                  <a:t>x</a:t>
                </a:r>
                <a:r>
                  <a:rPr lang="en-US" sz="2400">
                    <a:latin typeface="Palatino Linotype" panose="0204050205050503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>
                    <a:latin typeface="Palatino Linotype" panose="0204050205050503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smtClean="0">
                        <a:latin typeface="Palatino Linotype" panose="02040502050505030304" pitchFamily="18" charset="0"/>
                      </a:rPr>
                      <m:t>where</m:t>
                    </m:r>
                    <m:r>
                      <m:rPr>
                        <m:nor/>
                      </m:rPr>
                      <a:rPr lang="en-US" sz="2400" smtClean="0">
                        <a:latin typeface="Palatino Linotype" panose="0204050205050503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i="1" smtClean="0">
                        <a:latin typeface="Palatino Linotype" panose="02040502050505030304" pitchFamily="18" charset="0"/>
                      </a:rPr>
                      <m:t>k</m:t>
                    </m:r>
                    <m:r>
                      <m:rPr>
                        <m:nor/>
                      </m:rPr>
                      <a:rPr lang="en-US" sz="2400" i="1" smtClean="0">
                        <a:latin typeface="Palatino Linotype" panose="0204050205050503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smtClean="0">
                        <a:latin typeface="Palatino Linotype" panose="02040502050505030304" pitchFamily="18" charset="0"/>
                      </a:rPr>
                      <m:t>is</m:t>
                    </m:r>
                    <m:r>
                      <m:rPr>
                        <m:nor/>
                      </m:rPr>
                      <a:rPr lang="en-US" sz="2400" smtClean="0">
                        <a:latin typeface="Palatino Linotype" panose="0204050205050503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smtClean="0">
                        <a:latin typeface="Palatino Linotype" panose="020405020505050303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US" sz="2400" smtClean="0">
                        <a:latin typeface="Palatino Linotype" panose="0204050205050503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smtClean="0">
                        <a:latin typeface="Palatino Linotype" panose="02040502050505030304" pitchFamily="18" charset="0"/>
                      </a:rPr>
                      <m:t>positive</m:t>
                    </m:r>
                    <m:r>
                      <m:rPr>
                        <m:nor/>
                      </m:rPr>
                      <a:rPr lang="en-US" sz="2400" smtClean="0">
                        <a:latin typeface="Palatino Linotype" panose="0204050205050503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smtClean="0">
                        <a:latin typeface="Palatino Linotype" panose="02040502050505030304" pitchFamily="18" charset="0"/>
                      </a:rPr>
                      <m:t>constant</m:t>
                    </m:r>
                    <m:r>
                      <m:rPr>
                        <m:nor/>
                      </m:rPr>
                      <a:rPr lang="en-US" sz="2400" smtClean="0">
                        <a:latin typeface="Palatino Linotype" panose="0204050205050503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smtClean="0">
                        <a:latin typeface="Palatino Linotype" panose="02040502050505030304" pitchFamily="18" charset="0"/>
                      </a:rPr>
                      <m:t>called</m:t>
                    </m:r>
                    <m:r>
                      <m:rPr>
                        <m:nor/>
                      </m:rPr>
                      <a:rPr lang="en-US" sz="2400" smtClean="0">
                        <a:latin typeface="Palatino Linotype" panose="0204050205050503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smtClean="0">
                        <a:latin typeface="Palatino Linotype" panose="02040502050505030304" pitchFamily="18" charset="0"/>
                      </a:rPr>
                      <m:t>the</m:t>
                    </m:r>
                    <m:r>
                      <m:rPr>
                        <m:nor/>
                      </m:rPr>
                      <a:rPr lang="en-US" sz="2400" smtClean="0">
                        <a:latin typeface="Palatino Linotype" panose="0204050205050503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b="1" smtClean="0">
                        <a:latin typeface="Palatino Linotype" panose="02040502050505030304" pitchFamily="18" charset="0"/>
                      </a:rPr>
                      <m:t>spring</m:t>
                    </m:r>
                    <m:r>
                      <m:rPr>
                        <m:nor/>
                      </m:rPr>
                      <a:rPr lang="en-US" sz="2400" b="1" smtClean="0">
                        <a:latin typeface="Palatino Linotype" panose="0204050205050503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b="1" smtClean="0">
                        <a:latin typeface="Palatino Linotype" panose="02040502050505030304" pitchFamily="18" charset="0"/>
                      </a:rPr>
                      <m:t>constant</m:t>
                    </m:r>
                    <m:r>
                      <m:rPr>
                        <m:nor/>
                      </m:rPr>
                      <a:rPr lang="en-US" sz="2400" b="0" i="0" smtClean="0">
                        <a:latin typeface="Palatino Linotype" panose="02040502050505030304" pitchFamily="18" charset="0"/>
                      </a:rPr>
                      <m:t>.</m:t>
                    </m:r>
                  </m:oMath>
                </a14:m>
                <a:endParaRPr lang="en-US" sz="2400">
                  <a:latin typeface="Palatino Linotype" panose="02040502050505030304" pitchFamily="18" charset="0"/>
                </a:endParaRP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C649889-A2E3-497D-BCF2-8CFB25ED1B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01445" y="4008390"/>
                <a:ext cx="5594555" cy="2028617"/>
              </a:xfrm>
              <a:blipFill>
                <a:blip r:embed="rId3"/>
                <a:stretch>
                  <a:fillRect l="-1634" t="-5723" r="-1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3">
                <a:extLst>
                  <a:ext uri="{FF2B5EF4-FFF2-40B4-BE49-F238E27FC236}">
                    <a16:creationId xmlns:a16="http://schemas.microsoft.com/office/drawing/2014/main" id="{8F25083B-C6ED-4E21-9D7C-00ECC08B982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5999" y="930893"/>
                <a:ext cx="5594555" cy="202861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None/>
                </a:pPr>
                <a:r>
                  <a:rPr lang="en-US" sz="2400">
                    <a:latin typeface="Palatino Linotype" panose="02040502050505030304" pitchFamily="18" charset="0"/>
                  </a:rPr>
                  <a:t>2. A force of 40 N is required to hold a spring that has been stretched from</a:t>
                </a:r>
                <a:br>
                  <a:rPr lang="en-US" sz="2400">
                    <a:latin typeface="Palatino Linotype" panose="02040502050505030304" pitchFamily="18" charset="0"/>
                  </a:rPr>
                </a:br>
                <a:r>
                  <a:rPr lang="en-US" sz="2400">
                    <a:latin typeface="Palatino Linotype" panose="02040502050505030304" pitchFamily="18" charset="0"/>
                  </a:rPr>
                  <a:t>its natural length of 10 cm to a length of 15 cm. How much work is done in stretching the spring from 15 cm to </a:t>
                </a:r>
              </a:p>
              <a:p>
                <a:pPr marL="0" indent="0">
                  <a:buNone/>
                </a:pPr>
                <a:r>
                  <a:rPr lang="en-US" sz="2400">
                    <a:latin typeface="Palatino Linotype" panose="02040502050505030304" pitchFamily="18" charset="0"/>
                  </a:rPr>
                  <a:t>18 cm? </a:t>
                </a:r>
              </a:p>
              <a:p>
                <a:pPr marL="0" indent="0">
                  <a:buNone/>
                </a:pPr>
                <a:endParaRPr lang="en-US" sz="1200">
                  <a:latin typeface="Palatino Linotype" panose="02040502050505030304" pitchFamily="18" charset="0"/>
                </a:endParaRPr>
              </a:p>
              <a:p>
                <a:r>
                  <a:rPr lang="en-US" sz="2400" b="0">
                    <a:latin typeface="Palatino Linotype" panose="02040502050505030304" pitchFamily="18" charset="0"/>
                  </a:rPr>
                  <a:t>Hoole’s Law: 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𝑘𝑥</m:t>
                    </m:r>
                  </m:oMath>
                </a14:m>
                <a:endParaRPr lang="en-US" sz="2400" b="0">
                  <a:latin typeface="Palatino Linotype" panose="02040502050505030304" pitchFamily="18" charset="0"/>
                </a:endParaRPr>
              </a:p>
              <a:p>
                <a:r>
                  <a:rPr lang="en-US" sz="2400">
                    <a:latin typeface="Palatino Linotype" panose="02040502050505030304" pitchFamily="18" charset="0"/>
                  </a:rPr>
                  <a:t>5cm = 0.05m,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0.05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=40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=800</m:t>
                    </m:r>
                  </m:oMath>
                </a14:m>
                <a:endParaRPr lang="en-US" sz="2400" b="0">
                  <a:latin typeface="Palatino Linotype" panose="020405020505050303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=800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400" b="0">
                  <a:latin typeface="Palatino Linotype" panose="0204050205050503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</m:oMath>
                </a14:m>
                <a:endParaRPr lang="en-US" sz="2400">
                  <a:latin typeface="Palatino Linotype" panose="02040502050505030304" pitchFamily="18" charset="0"/>
                </a:endParaRPr>
              </a:p>
              <a:p>
                <a:pPr marL="0" indent="0">
                  <a:buNone/>
                </a:pPr>
                <a:r>
                  <a:rPr lang="en-US" sz="2400" b="0"/>
                  <a:t>	=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0.05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0.08</m:t>
                        </m:r>
                      </m:sup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800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sz="2400" b="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b="0"/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800</m:t>
                            </m:r>
                            <m:f>
                              <m:f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0.05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0.08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=1.56(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US" sz="2400">
                    <a:latin typeface="Palatino Linotype" panose="02040502050505030304" pitchFamily="18" charset="0"/>
                  </a:rPr>
                </a:br>
                <a:endParaRPr lang="en-US" sz="2400">
                  <a:latin typeface="Palatino Linotype" panose="02040502050505030304" pitchFamily="18" charset="0"/>
                </a:endParaRPr>
              </a:p>
            </p:txBody>
          </p:sp>
        </mc:Choice>
        <mc:Fallback>
          <p:sp>
            <p:nvSpPr>
              <p:cNvPr id="6" name="Content Placeholder 3">
                <a:extLst>
                  <a:ext uri="{FF2B5EF4-FFF2-40B4-BE49-F238E27FC236}">
                    <a16:creationId xmlns:a16="http://schemas.microsoft.com/office/drawing/2014/main" id="{8F25083B-C6ED-4E21-9D7C-00ECC08B9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930893"/>
                <a:ext cx="5594555" cy="2028617"/>
              </a:xfrm>
              <a:prstGeom prst="rect">
                <a:avLst/>
              </a:prstGeom>
              <a:blipFill>
                <a:blip r:embed="rId4"/>
                <a:stretch>
                  <a:fillRect l="-1634" t="-4217" r="-1634" b="-1867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43BC2DD-E042-4FC6-A1E7-2CCD6D468AA4}"/>
              </a:ext>
            </a:extLst>
          </p:cNvPr>
          <p:cNvCxnSpPr>
            <a:cxnSpLocks/>
            <a:stCxn id="2" idx="2"/>
          </p:cNvCxnSpPr>
          <p:nvPr/>
        </p:nvCxnSpPr>
        <p:spPr>
          <a:xfrm flipH="1">
            <a:off x="6076336" y="865240"/>
            <a:ext cx="19664" cy="533891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608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83680-39D2-4ECD-A4D0-1C65494C4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720" y="155698"/>
            <a:ext cx="11485880" cy="587534"/>
          </a:xfrm>
        </p:spPr>
        <p:txBody>
          <a:bodyPr>
            <a:normAutofit/>
          </a:bodyPr>
          <a:lstStyle/>
          <a:p>
            <a:pPr algn="ctr"/>
            <a:r>
              <a:rPr lang="en-US" sz="3200" b="1">
                <a:solidFill>
                  <a:srgbClr val="00B0F0"/>
                </a:solidFill>
                <a:latin typeface="Palatino Linotype" panose="02040502050505030304" pitchFamily="18" charset="0"/>
              </a:rPr>
              <a:t>MODELING:</a:t>
            </a:r>
            <a:r>
              <a:rPr lang="en-US" sz="3200" b="1">
                <a:latin typeface="Palatino Linotype" panose="02040502050505030304" pitchFamily="18" charset="0"/>
              </a:rPr>
              <a:t> </a:t>
            </a:r>
            <a:r>
              <a:rPr lang="en-US" sz="3200" b="1">
                <a:solidFill>
                  <a:srgbClr val="FF0000"/>
                </a:solidFill>
                <a:latin typeface="Palatino Linotype" panose="02040502050505030304" pitchFamily="18" charset="0"/>
              </a:rPr>
              <a:t>PUMPING WATER OUT OF TANK</a:t>
            </a:r>
            <a:endParaRPr lang="en-US" sz="3200" b="1">
              <a:solidFill>
                <a:srgbClr val="FF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E0B764-A1DC-41FC-96BA-E0EC4A7D70A6}"/>
              </a:ext>
            </a:extLst>
          </p:cNvPr>
          <p:cNvSpPr/>
          <p:nvPr/>
        </p:nvSpPr>
        <p:spPr>
          <a:xfrm>
            <a:off x="614680" y="732157"/>
            <a:ext cx="497332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>
                <a:latin typeface="Palatino Linotype" panose="02040502050505030304" pitchFamily="18" charset="0"/>
              </a:rPr>
              <a:t>A tank has the shape of an inverted circular cone with height 10 m and base radius 4 m. It is flled with water to a height of 8 m. Find the work required to empty the tank by pumping all of the water to the top of the tank. (The density of water is 1000kg/m</a:t>
            </a:r>
            <a:r>
              <a:rPr lang="en-US" sz="2400" baseline="30000">
                <a:latin typeface="Palatino Linotype" panose="02040502050505030304" pitchFamily="18" charset="0"/>
              </a:rPr>
              <a:t>3</a:t>
            </a:r>
            <a:r>
              <a:rPr lang="en-US" sz="2400">
                <a:latin typeface="Palatino Linotype" panose="02040502050505030304" pitchFamily="18" charset="0"/>
              </a:rPr>
              <a:t>.)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767C3F-CD60-415D-B6E3-CE52ED27C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640" y="4129202"/>
            <a:ext cx="2664131" cy="26991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AF4892-42B9-481C-A249-197C4874F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6095" y="4365175"/>
            <a:ext cx="1983554" cy="21865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3DE44C8-51C3-4E44-864A-0FF70737C143}"/>
                  </a:ext>
                </a:extLst>
              </p:cNvPr>
              <p:cNvSpPr txBox="1"/>
              <p:nvPr/>
            </p:nvSpPr>
            <p:spPr>
              <a:xfrm>
                <a:off x="5612868" y="848915"/>
                <a:ext cx="6507356" cy="5692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4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  <m:nary>
                      <m:naryPr>
                        <m:chr m:val="∑"/>
                        <m:ctrlP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24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4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sz="2400" i="1">
                    <a:solidFill>
                      <a:srgbClr val="00B0F0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/>
                <a:endParaRPr lang="en-US" sz="2400" b="0" i="1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nary>
                      <m:naryPr>
                        <m:chr m:val="∑"/>
                        <m:ctrlP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sSubSup>
                          <m:sSubSupPr>
                            <m:ctrlPr>
                              <a:rPr lang="en-US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nary>
                    <m:r>
                      <a:rPr lang="en-US" sz="24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                        </m:t>
                    </m:r>
                    <m:d>
                      <m:d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r>
                  <a:rPr lang="en-US" sz="2400" b="0" i="1">
                    <a:solidFill>
                      <a:srgbClr val="00B0F0"/>
                    </a:solidFill>
                    <a:latin typeface="Cambria Math" panose="02040503050406030204" pitchFamily="18" charset="0"/>
                  </a:rPr>
                  <a:t>	</a:t>
                </a:r>
              </a:p>
              <a:p>
                <a:pPr/>
                <a:endParaRPr lang="en-US" sz="2400" i="1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1000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sSubSup>
                          <m:sSubSupPr>
                            <m:ctrlPr>
                              <a:rPr lang="en-US" sz="24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4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sz="2400" i="1">
                    <a:solidFill>
                      <a:srgbClr val="00B0F0"/>
                    </a:solidFill>
                    <a:latin typeface="Cambria Math" panose="02040503050406030204" pitchFamily="18" charset="0"/>
                  </a:rPr>
                  <a:t>	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  (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sSubSup>
                      <m:sSubSup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i="1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pPr/>
                <a:endParaRPr lang="en-US" sz="2400" i="1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24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1000</m:t>
                        </m:r>
                        <m:r>
                          <a:rPr lang="en-US" sz="24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24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4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sz="2400"/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(10−</m:t>
                    </m:r>
                    <m:sSubSup>
                      <m:sSubSup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40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)</a:t>
                </a:r>
                <a:endParaRPr lang="en-US" sz="240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pPr/>
                <a:endParaRPr lang="en-US" sz="2400"/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4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1000 </m:t>
                        </m:r>
                        <m: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sSubSup>
                          <m:sSubSupPr>
                            <m:ctrlPr>
                              <a:rPr lang="en-US" sz="240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4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f>
                          <m:fPr>
                            <m:ctrlPr>
                              <a:rPr lang="en-US" sz="24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  <m: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10−</m:t>
                                </m:r>
                                <m:sSubSup>
                                  <m:sSubSupPr>
                                    <m:ctrlPr>
                                      <a:rPr lang="en-US" sz="2400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sz="24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400"/>
                  <a:t>  </a:t>
                </a:r>
                <a:endParaRPr lang="en-US" sz="2400" b="0" i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endParaRPr lang="en-US" sz="2400" b="0" i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4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1568</m:t>
                        </m:r>
                        <m: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sSubSup>
                          <m:sSubSupPr>
                            <m:ctrlPr>
                              <a:rPr lang="en-US" sz="240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4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10−</m:t>
                                </m:r>
                                <m:sSubSup>
                                  <m:sSubSupPr>
                                    <m:ctrlPr>
                                      <a:rPr lang="en-US" sz="2400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sz="24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400"/>
                  <a:t>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=9.8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/>
                  <a:t>	</a:t>
                </a:r>
                <a:r>
                  <a:rPr lang="en-US" sz="2400">
                    <a:solidFill>
                      <a:srgbClr val="00B0F0"/>
                    </a:solidFill>
                  </a:rPr>
                  <a:t> </a:t>
                </a:r>
                <a:endParaRPr lang="en-US" sz="240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  <m:e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1568</m:t>
                          </m:r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10−</m:t>
                                  </m:r>
                                  <m: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≈3.4×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nary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3DE44C8-51C3-4E44-864A-0FF70737C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2868" y="848915"/>
                <a:ext cx="6507356" cy="5692777"/>
              </a:xfrm>
              <a:prstGeom prst="rect">
                <a:avLst/>
              </a:prstGeom>
              <a:blipFill>
                <a:blip r:embed="rId4"/>
                <a:stretch>
                  <a:fillRect l="-2530" t="-10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8670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BB89A-4BF3-444D-8719-3B3B8A313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6862"/>
            <a:ext cx="10515600" cy="55910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>
                <a:solidFill>
                  <a:srgbClr val="00B0F0"/>
                </a:solidFill>
                <a:latin typeface="Palatino Linotype" panose="02040502050505030304" pitchFamily="18" charset="0"/>
              </a:rPr>
              <a:t>MODELING: </a:t>
            </a:r>
            <a:r>
              <a:rPr lang="en-US" sz="3600" b="1">
                <a:solidFill>
                  <a:srgbClr val="FF0000"/>
                </a:solidFill>
                <a:latin typeface="Palatino Linotype" panose="02040502050505030304" pitchFamily="18" charset="0"/>
              </a:rPr>
              <a:t>FLUID PRESSURE AND FORCE</a:t>
            </a:r>
            <a:endParaRPr lang="en-US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F6C4BB-25D3-4880-830B-26B94D6A5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29" y="2524273"/>
            <a:ext cx="3104535" cy="160601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9702C81-0BFD-41D0-A95A-8C5A31963255}"/>
                  </a:ext>
                </a:extLst>
              </p:cNvPr>
              <p:cNvSpPr txBox="1"/>
              <p:nvPr/>
            </p:nvSpPr>
            <p:spPr>
              <a:xfrm>
                <a:off x="877529" y="936859"/>
                <a:ext cx="5161935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>
                    <a:latin typeface="Palatino Linotype" panose="02040502050505030304" pitchFamily="18" charset="0"/>
                  </a:rPr>
                  <a:t>A thin horizontal plate with area </a:t>
                </a:r>
                <a:r>
                  <a:rPr lang="en-US" sz="2400" i="1">
                    <a:latin typeface="Palatino Linotype" panose="02040502050505030304" pitchFamily="18" charset="0"/>
                  </a:rPr>
                  <a:t>A </a:t>
                </a:r>
                <a:r>
                  <a:rPr lang="en-US" sz="2400">
                    <a:latin typeface="Palatino Linotype" panose="02040502050505030304" pitchFamily="18" charset="0"/>
                  </a:rPr>
                  <a:t>(m</a:t>
                </a:r>
                <a:r>
                  <a:rPr lang="en-US" sz="2400" baseline="30000">
                    <a:latin typeface="Palatino Linotype" panose="02040502050505030304" pitchFamily="18" charset="0"/>
                  </a:rPr>
                  <a:t>2</a:t>
                </a:r>
                <a:r>
                  <a:rPr lang="en-US" sz="2400">
                    <a:latin typeface="Palatino Linotype" panose="02040502050505030304" pitchFamily="18" charset="0"/>
                  </a:rPr>
                  <a:t>) is submerged in a ﬂuid of density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kg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400" b="0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400">
                    <a:latin typeface="Palatino Linotype" panose="02040502050505030304" pitchFamily="18" charset="0"/>
                  </a:rPr>
                  <a:t>) at a depth </a:t>
                </a:r>
                <a:r>
                  <a:rPr lang="en-US" sz="2400" i="1">
                    <a:latin typeface="Palatino Linotype" panose="02040502050505030304" pitchFamily="18" charset="0"/>
                  </a:rPr>
                  <a:t>d </a:t>
                </a:r>
                <a:r>
                  <a:rPr lang="en-US" sz="2400">
                    <a:latin typeface="Palatino Linotype" panose="02040502050505030304" pitchFamily="18" charset="0"/>
                  </a:rPr>
                  <a:t>(m) below the surface of the ﬂuid. 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9702C81-0BFD-41D0-A95A-8C5A319632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29" y="936859"/>
                <a:ext cx="5161935" cy="1569660"/>
              </a:xfrm>
              <a:prstGeom prst="rect">
                <a:avLst/>
              </a:prstGeom>
              <a:blipFill>
                <a:blip r:embed="rId3"/>
                <a:stretch>
                  <a:fillRect l="-1889" t="-3113" r="-1771" b="-8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2C462A3-FF27-469F-ACA9-F0EDACBC7E43}"/>
                  </a:ext>
                </a:extLst>
              </p:cNvPr>
              <p:cNvSpPr txBox="1"/>
              <p:nvPr/>
            </p:nvSpPr>
            <p:spPr>
              <a:xfrm>
                <a:off x="884903" y="4493343"/>
                <a:ext cx="5154561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400">
                    <a:latin typeface="Palatino Linotype" panose="02040502050505030304" pitchFamily="18" charset="0"/>
                  </a:defRPr>
                </a:lvl1pPr>
              </a:lstStyle>
              <a:p>
                <a:r>
                  <a:rPr lang="en-US"/>
                  <a:t>The force exerted by the ﬂuid on the plate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/>
                      <m:t>𝐹</m:t>
                    </m:r>
                    <m:r>
                      <a:rPr lang="en-US"/>
                      <m:t>=</m:t>
                    </m:r>
                    <m:r>
                      <a:rPr lang="en-US"/>
                      <m:t>𝑚𝑔</m:t>
                    </m:r>
                    <m:r>
                      <a:rPr lang="en-US"/>
                      <m:t>=</m:t>
                    </m:r>
                    <m:r>
                      <a:rPr lang="en-US"/>
                      <m:t>𝜌</m:t>
                    </m:r>
                    <m:r>
                      <a:rPr lang="en-US"/>
                      <m:t>𝑔𝐴𝑑</m:t>
                    </m:r>
                  </m:oMath>
                </a14:m>
                <a:r>
                  <a:rPr lang="en-US"/>
                  <a:t> (N)</a:t>
                </a:r>
              </a:p>
              <a:p>
                <a:pPr algn="just"/>
                <a:r>
                  <a:rPr lang="en-US"/>
                  <a:t>This force is called </a:t>
                </a:r>
                <a:r>
                  <a:rPr lang="en-US" b="1"/>
                  <a:t>fluid force</a:t>
                </a:r>
                <a:r>
                  <a:rPr lang="en-US"/>
                  <a:t> or </a:t>
                </a:r>
                <a:r>
                  <a:rPr lang="en-US" b="1"/>
                  <a:t>hydrostatic force.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2C462A3-FF27-469F-ACA9-F0EDACBC7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03" y="4493343"/>
                <a:ext cx="5154561" cy="1938992"/>
              </a:xfrm>
              <a:prstGeom prst="rect">
                <a:avLst/>
              </a:prstGeom>
              <a:blipFill>
                <a:blip r:embed="rId4"/>
                <a:stretch>
                  <a:fillRect l="-1773" t="-2516" r="-1773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FC11898-5A35-40FD-A1E1-658CB54F2F6D}"/>
                  </a:ext>
                </a:extLst>
              </p:cNvPr>
              <p:cNvSpPr/>
              <p:nvPr/>
            </p:nvSpPr>
            <p:spPr>
              <a:xfrm>
                <a:off x="3982064" y="3340566"/>
                <a:ext cx="2293961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𝐴𝑑</m:t>
                      </m:r>
                    </m:oMath>
                  </m:oMathPara>
                </a14:m>
                <a:endParaRPr lang="en-US" sz="240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𝐴𝑑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FC11898-5A35-40FD-A1E1-658CB54F2F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064" y="3340566"/>
                <a:ext cx="2293961" cy="830997"/>
              </a:xfrm>
              <a:prstGeom prst="rect">
                <a:avLst/>
              </a:prstGeom>
              <a:blipFill>
                <a:blip r:embed="rId5"/>
                <a:stretch>
                  <a:fillRect l="-531" b="-9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B9A1938-9294-4F53-B6B9-3A283920D6F8}"/>
                  </a:ext>
                </a:extLst>
              </p:cNvPr>
              <p:cNvSpPr txBox="1"/>
              <p:nvPr/>
            </p:nvSpPr>
            <p:spPr>
              <a:xfrm>
                <a:off x="6276025" y="4978843"/>
                <a:ext cx="5518352" cy="1569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>
                    <a:latin typeface="Palatino Linotype" panose="02040502050505030304" pitchFamily="18" charset="0"/>
                  </a:rPr>
                  <a:t>Example 1.</a:t>
                </a:r>
                <a:r>
                  <a:rPr lang="en-US" sz="2400">
                    <a:latin typeface="Palatino Linotype" panose="02040502050505030304" pitchFamily="18" charset="0"/>
                  </a:rPr>
                  <a:t> The pressure at the bottom of a swimming pool 2m deep is 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=1000×9.8×2</m:t>
                      </m:r>
                    </m:oMath>
                  </m:oMathPara>
                </a14:m>
                <a:endParaRPr lang="en-US" sz="2400" b="0" i="1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=19,600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Pa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=19.6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kPa</m:t>
                      </m:r>
                    </m:oMath>
                  </m:oMathPara>
                </a14:m>
                <a:br>
                  <a:rPr lang="en-US" sz="2400">
                    <a:latin typeface="Palatino Linotype" panose="02040502050505030304" pitchFamily="18" charset="0"/>
                  </a:rPr>
                </a:br>
                <a:endParaRPr lang="en-US" sz="2400">
                  <a:latin typeface="Palatino Linotype" panose="020405020505050303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B9A1938-9294-4F53-B6B9-3A283920D6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6025" y="4978843"/>
                <a:ext cx="5518352" cy="1569725"/>
              </a:xfrm>
              <a:prstGeom prst="rect">
                <a:avLst/>
              </a:prstGeom>
              <a:blipFill>
                <a:blip r:embed="rId6"/>
                <a:stretch>
                  <a:fillRect l="-1768" t="-3113" r="-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62B5822-2C27-40E0-8B15-F41F9FE4F5E9}"/>
                  </a:ext>
                </a:extLst>
              </p:cNvPr>
              <p:cNvSpPr txBox="1"/>
              <p:nvPr/>
            </p:nvSpPr>
            <p:spPr>
              <a:xfrm>
                <a:off x="6199239" y="959695"/>
                <a:ext cx="5363496" cy="24615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400">
                    <a:latin typeface="Palatino Linotype" panose="02040502050505030304" pitchFamily="18" charset="0"/>
                  </a:defRPr>
                </a:lvl1pPr>
              </a:lstStyle>
              <a:p>
                <a:r>
                  <a:rPr lang="en-US"/>
                  <a:t>The </a:t>
                </a:r>
                <a:r>
                  <a:rPr lang="en-US" b="1"/>
                  <a:t>pressure</a:t>
                </a:r>
                <a:r>
                  <a:rPr lang="en-US"/>
                  <a:t> </a:t>
                </a:r>
                <a:r>
                  <a:rPr lang="en-US" i="1"/>
                  <a:t>P</a:t>
                </a:r>
                <a:r>
                  <a:rPr lang="en-US"/>
                  <a:t> on the plate is defined to be the force per unit area: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𝑔𝑑</m:t>
                    </m:r>
                  </m:oMath>
                </a14:m>
                <a:r>
                  <a:rPr lang="en-US"/>
                  <a:t> (1 N/m</a:t>
                </a:r>
                <a:r>
                  <a:rPr lang="en-US" baseline="30000"/>
                  <a:t>2</a:t>
                </a:r>
                <a:r>
                  <a:rPr lang="en-US"/>
                  <a:t> = 1 Pa)</a:t>
                </a:r>
              </a:p>
              <a:p>
                <a:pPr algn="just"/>
                <a:r>
                  <a:rPr lang="en-US" b="1"/>
                  <a:t>Pascal’s Principle:</a:t>
                </a:r>
                <a:r>
                  <a:rPr lang="en-US"/>
                  <a:t> </a:t>
                </a:r>
                <a:r>
                  <a:rPr lang="en-US" i="1">
                    <a:solidFill>
                      <a:srgbClr val="0070C0"/>
                    </a:solidFill>
                  </a:rPr>
                  <a:t>At any point in a liquid the pressure is the same in all directions.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62B5822-2C27-40E0-8B15-F41F9FE4F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9239" y="959695"/>
                <a:ext cx="5363496" cy="2461508"/>
              </a:xfrm>
              <a:prstGeom prst="rect">
                <a:avLst/>
              </a:prstGeom>
              <a:blipFill>
                <a:blip r:embed="rId7"/>
                <a:stretch>
                  <a:fillRect l="-1818" t="-1980" r="-1705" b="-4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F55E1661-713D-450B-8230-81470EF196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9338" y="3444308"/>
            <a:ext cx="5470724" cy="156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957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A1381-8BDA-4EC1-992C-BA26F1AFF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69" y="365126"/>
            <a:ext cx="10983952" cy="515820"/>
          </a:xfrm>
        </p:spPr>
        <p:txBody>
          <a:bodyPr>
            <a:noAutofit/>
          </a:bodyPr>
          <a:lstStyle/>
          <a:p>
            <a:pPr algn="ctr"/>
            <a:r>
              <a:rPr lang="en-US" sz="3200" b="1">
                <a:solidFill>
                  <a:srgbClr val="FF0000"/>
                </a:solidFill>
                <a:latin typeface="Palatino Linotype" panose="02040502050505030304" pitchFamily="18" charset="0"/>
              </a:rPr>
              <a:t>FLUID FORCE ON A VERTICAL SURFACE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617FA4-F70D-48BD-B4BD-A356D8C035D9}"/>
              </a:ext>
            </a:extLst>
          </p:cNvPr>
          <p:cNvSpPr txBox="1"/>
          <p:nvPr/>
        </p:nvSpPr>
        <p:spPr>
          <a:xfrm>
            <a:off x="6281855" y="1167748"/>
            <a:ext cx="556074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>
                <a:latin typeface="Palatino Linotype" panose="02040502050505030304" pitchFamily="18" charset="0"/>
              </a:rPr>
              <a:t>Example 2.</a:t>
            </a:r>
            <a:r>
              <a:rPr lang="en-US" sz="2400">
                <a:latin typeface="Palatino Linotype" panose="02040502050505030304" pitchFamily="18" charset="0"/>
              </a:rPr>
              <a:t> A dam has the shape of the trapezoid. The height is 20 m and the width is 50 m at the top and 30 m at the bottom. Find the force on the dam due to hydrostatic pressure if the water level is 4m from the top of the dam.</a:t>
            </a:r>
          </a:p>
          <a:p>
            <a:endParaRPr lang="en-US" sz="2400">
              <a:latin typeface="Palatino Linotype" panose="0204050205050503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8D9E79-EC68-412A-AC57-EE5E4CC0F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159" y="2177850"/>
            <a:ext cx="1954666" cy="20808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9A5E12-C46E-4011-874A-500DCB6BF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7427" y="2752655"/>
            <a:ext cx="1401341" cy="150606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A72AF6-B5B7-4CC5-945E-0C71C66C457D}"/>
                  </a:ext>
                </a:extLst>
              </p:cNvPr>
              <p:cNvSpPr txBox="1"/>
              <p:nvPr/>
            </p:nvSpPr>
            <p:spPr>
              <a:xfrm>
                <a:off x="624469" y="4371211"/>
                <a:ext cx="5356303" cy="20380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:r>
                  <a:rPr lang="en-US" sz="2400" b="0">
                    <a:latin typeface="Palatino Linotype" panose="020405020505050303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en-US" sz="2400" b="0">
                    <a:latin typeface="Palatino Linotype" panose="02040502050505030304" pitchFamily="18" charset="0"/>
                  </a:rPr>
                  <a:t> be the length of a typical approximating trip at the depth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400" b="0">
                    <a:latin typeface="Palatino Linotype" panose="02040502050505030304" pitchFamily="18" charset="0"/>
                  </a:rPr>
                  <a:t>.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400" b="0" i="1">
                    <a:latin typeface="Palatino Linotype" panose="02040502050505030304" pitchFamily="18" charset="0"/>
                  </a:rPr>
                  <a:t> </a:t>
                </a:r>
                <a:r>
                  <a:rPr lang="en-US" sz="2400">
                    <a:latin typeface="Palatino Linotype" panose="0204050205050503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𝑔h𝐿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b="0" i="1">
                  <a:latin typeface="Palatino Linotype" panose="02040502050505030304" pitchFamily="18" charset="0"/>
                </a:endParaRPr>
              </a:p>
              <a:p>
                <a:pPr marL="0" lvl="1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24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𝑔h𝐿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𝑑h</m:t>
                          </m:r>
                        </m:e>
                      </m:nary>
                      <m:r>
                        <a:rPr lang="en-US" sz="24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h𝐿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𝑑h</m:t>
                          </m:r>
                        </m:e>
                      </m:nary>
                    </m:oMath>
                  </m:oMathPara>
                </a14:m>
                <a:endParaRPr lang="en-US" sz="2400" i="1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A72AF6-B5B7-4CC5-945E-0C71C66C4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469" y="4371211"/>
                <a:ext cx="5356303" cy="2038058"/>
              </a:xfrm>
              <a:prstGeom prst="rect">
                <a:avLst/>
              </a:prstGeom>
              <a:blipFill>
                <a:blip r:embed="rId4"/>
                <a:stretch>
                  <a:fillRect l="-1706" t="-2395" r="-1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A0B3B63D-58C1-4DD7-9892-3E60C863BF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5879" y="3570016"/>
            <a:ext cx="4214188" cy="212023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A40BD0E-465F-4636-9C0E-D20D69EDA68B}"/>
                  </a:ext>
                </a:extLst>
              </p:cNvPr>
              <p:cNvSpPr txBox="1"/>
              <p:nvPr/>
            </p:nvSpPr>
            <p:spPr>
              <a:xfrm>
                <a:off x="535259" y="1167748"/>
                <a:ext cx="535630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latin typeface="Palatino Linotype" panose="02040502050505030304" pitchFamily="18" charset="0"/>
                  </a:rPr>
                  <a:t>A plate is submerged vertically in a fluid of weight density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400">
                    <a:latin typeface="Palatino Linotype" panose="0204050205050503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A40BD0E-465F-4636-9C0E-D20D69EDA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259" y="1167748"/>
                <a:ext cx="5356303" cy="830997"/>
              </a:xfrm>
              <a:prstGeom prst="rect">
                <a:avLst/>
              </a:prstGeom>
              <a:blipFill>
                <a:blip r:embed="rId6"/>
                <a:stretch>
                  <a:fillRect l="-1822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0476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2C8436E-832B-4F77-8950-AA6C494479D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56775" y="1402244"/>
            <a:ext cx="3402592" cy="226093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36C0DE7-69FD-4CA3-8CFA-C74837EDA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68" y="365125"/>
            <a:ext cx="10972800" cy="727695"/>
          </a:xfrm>
        </p:spPr>
        <p:txBody>
          <a:bodyPr>
            <a:noAutofit/>
          </a:bodyPr>
          <a:lstStyle/>
          <a:p>
            <a:pPr algn="ctr"/>
            <a:r>
              <a:rPr lang="en-US" sz="3200" b="1">
                <a:solidFill>
                  <a:srgbClr val="FF0000"/>
                </a:solidFill>
                <a:latin typeface="Palatino Linotype" panose="02040502050505030304" pitchFamily="18" charset="0"/>
              </a:rPr>
              <a:t>FLUID FORCE ON A VERTICAL SURFACE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91E3FA-6830-4E4B-9729-86DF56F1C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049" y="1608469"/>
            <a:ext cx="2218176" cy="184848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29918B8-C560-4E0F-957A-3251FAE53EA2}"/>
                  </a:ext>
                </a:extLst>
              </p:cNvPr>
              <p:cNvSpPr txBox="1"/>
              <p:nvPr/>
            </p:nvSpPr>
            <p:spPr>
              <a:xfrm>
                <a:off x="389827" y="4137103"/>
                <a:ext cx="5601439" cy="21667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b="0">
                    <a:latin typeface="Palatino Linotype" panose="02040502050505030304" pitchFamily="18" charset="0"/>
                  </a:rPr>
                  <a:t>From (b):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16−</m:t>
                        </m:r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endParaRPr lang="en-US" sz="2400">
                  <a:latin typeface="Palatino Linotype" panose="0204050205050503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>
                    <a:latin typeface="Palatino Linotype" panose="02040502050505030304" pitchFamily="18" charset="0"/>
                  </a:rPr>
                  <a:t>The width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>
                    <a:latin typeface="Palatino Linotype" panose="02040502050505030304" pitchFamily="18" charset="0"/>
                  </a:rPr>
                  <a:t> of the </a:t>
                </a:r>
                <a:r>
                  <a:rPr lang="en-US" sz="2400" i="1">
                    <a:latin typeface="Palatino Linotype" panose="02040502050505030304" pitchFamily="18" charset="0"/>
                  </a:rPr>
                  <a:t>i</a:t>
                </a:r>
                <a:r>
                  <a:rPr lang="en-US" sz="2400">
                    <a:latin typeface="Palatino Linotype" panose="02040502050505030304" pitchFamily="18" charset="0"/>
                  </a:rPr>
                  <a:t>th horizontal trip: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15+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=…=46−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2400">
                  <a:latin typeface="Palatino Linotype" panose="02040502050505030304" pitchFamily="18" charset="0"/>
                </a:endParaRPr>
              </a:p>
              <a:p>
                <a:endParaRPr lang="en-US" sz="2400">
                  <a:latin typeface="Palatino Linotype" panose="02040502050505030304" pitchFamily="18" charset="0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29918B8-C560-4E0F-957A-3251FAE53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27" y="4137103"/>
                <a:ext cx="5601439" cy="2166747"/>
              </a:xfrm>
              <a:prstGeom prst="rect">
                <a:avLst/>
              </a:prstGeom>
              <a:blipFill>
                <a:blip r:embed="rId4"/>
                <a:stretch>
                  <a:fillRect l="-15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ontent Placeholder 17">
                <a:extLst>
                  <a:ext uri="{FF2B5EF4-FFF2-40B4-BE49-F238E27FC236}">
                    <a16:creationId xmlns:a16="http://schemas.microsoft.com/office/drawing/2014/main" id="{3DB716A5-7DBB-4BE4-A28F-FCD0160186B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991266" y="1405048"/>
                <a:ext cx="5943600" cy="5140712"/>
              </a:xfrm>
            </p:spPr>
            <p:txBody>
              <a:bodyPr>
                <a:noAutofit/>
              </a:bodyPr>
              <a:lstStyle/>
              <a:p>
                <a:pPr marL="285750" indent="-285750"/>
                <a:r>
                  <a:rPr lang="en-US" sz="2400">
                    <a:latin typeface="Palatino Linotype" panose="02040502050505030304" pitchFamily="18" charset="0"/>
                  </a:rPr>
                  <a:t>The area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>
                    <a:latin typeface="Palatino Linotype" panose="02040502050505030304" pitchFamily="18" charset="0"/>
                  </a:rPr>
                  <a:t> of the </a:t>
                </a:r>
                <a:r>
                  <a:rPr lang="en-US" sz="2400" i="1">
                    <a:latin typeface="Palatino Linotype" panose="02040502050505030304" pitchFamily="18" charset="0"/>
                  </a:rPr>
                  <a:t>i</a:t>
                </a:r>
                <a:r>
                  <a:rPr lang="en-US" sz="2400">
                    <a:latin typeface="Palatino Linotype" panose="02040502050505030304" pitchFamily="18" charset="0"/>
                  </a:rPr>
                  <a:t>th horizontal trip: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46−</m:t>
                          </m:r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</m:d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>
                  <a:latin typeface="Palatino Linotype" panose="02040502050505030304" pitchFamily="18" charset="0"/>
                </a:endParaRPr>
              </a:p>
              <a:p>
                <a:pPr marL="285750" indent="-285750"/>
                <a:endParaRPr lang="en-US" sz="2400">
                  <a:latin typeface="Palatino Linotype" panose="02040502050505030304" pitchFamily="18" charset="0"/>
                </a:endParaRPr>
              </a:p>
              <a:p>
                <a:pPr marL="285750" indent="-285750"/>
                <a:r>
                  <a:rPr lang="en-US" sz="2400">
                    <a:latin typeface="Palatino Linotype" panose="02040502050505030304" pitchFamily="18" charset="0"/>
                  </a:rPr>
                  <a:t>The force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>
                    <a:latin typeface="Palatino Linotype" panose="02040502050505030304" pitchFamily="18" charset="0"/>
                  </a:rPr>
                  <a:t> on the </a:t>
                </a:r>
                <a:r>
                  <a:rPr lang="en-US" sz="2400" i="1">
                    <a:latin typeface="Palatino Linotype" panose="02040502050505030304" pitchFamily="18" charset="0"/>
                  </a:rPr>
                  <a:t>i</a:t>
                </a:r>
                <a:r>
                  <a:rPr lang="en-US" sz="2400">
                    <a:latin typeface="Palatino Linotype" panose="02040502050505030304" pitchFamily="18" charset="0"/>
                  </a:rPr>
                  <a:t>th horizontal trip: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=1000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𝑔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46−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</m:d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i="1">
                  <a:latin typeface="Palatino Linotype" panose="02040502050505030304" pitchFamily="18" charset="0"/>
                </a:endParaRPr>
              </a:p>
              <a:p>
                <a:pPr marL="0" indent="0">
                  <a:buNone/>
                </a:pPr>
                <a:endParaRPr lang="en-US" sz="2400" i="1">
                  <a:latin typeface="Palatino Linotype" panose="02040502050505030304" pitchFamily="18" charset="0"/>
                </a:endParaRPr>
              </a:p>
              <a:p>
                <a:pPr marL="342900" indent="-342900"/>
                <a:r>
                  <a:rPr lang="en-US" sz="2400">
                    <a:latin typeface="Palatino Linotype" panose="02040502050505030304" pitchFamily="18" charset="0"/>
                  </a:rPr>
                  <a:t>The force on the dam: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fNam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→0</m:t>
                                  </m:r>
                                </m:e>
                              </m:func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1000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46−</m:t>
                                  </m:r>
                                  <m:sSubSup>
                                    <m:sSub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</m:oMath>
                  </m:oMathPara>
                </a14:m>
                <a:endParaRPr lang="en-US" sz="2400">
                  <a:latin typeface="Palatino Linotype" panose="0204050205050503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sup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𝑔𝑥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46−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18" name="Content Placeholder 17">
                <a:extLst>
                  <a:ext uri="{FF2B5EF4-FFF2-40B4-BE49-F238E27FC236}">
                    <a16:creationId xmlns:a16="http://schemas.microsoft.com/office/drawing/2014/main" id="{3DB716A5-7DBB-4BE4-A28F-FCD0160186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991266" y="1405048"/>
                <a:ext cx="5943600" cy="5140712"/>
              </a:xfrm>
              <a:blipFill>
                <a:blip r:embed="rId5"/>
                <a:stretch>
                  <a:fillRect l="-1436" t="-16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9273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D36AE-8501-4E6D-99DA-3B06EEDD8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341" y="387427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00B0F0"/>
                </a:solidFill>
                <a:latin typeface="Palatino Linotype" panose="02040502050505030304" pitchFamily="18" charset="0"/>
              </a:rPr>
              <a:t>EXAMPLES</a:t>
            </a:r>
            <a:endParaRPr lang="en-US"/>
          </a:p>
        </p:txBody>
      </p:sp>
      <p:sp>
        <p:nvSpPr>
          <p:cNvPr id="3" name="Content Placeholder 14">
            <a:extLst>
              <a:ext uri="{FF2B5EF4-FFF2-40B4-BE49-F238E27FC236}">
                <a16:creationId xmlns:a16="http://schemas.microsoft.com/office/drawing/2014/main" id="{2BE3E3D5-A437-4E15-8FC4-F8F0103C2966}"/>
              </a:ext>
            </a:extLst>
          </p:cNvPr>
          <p:cNvSpPr txBox="1">
            <a:spLocks/>
          </p:cNvSpPr>
          <p:nvPr/>
        </p:nvSpPr>
        <p:spPr>
          <a:xfrm>
            <a:off x="265080" y="1130815"/>
            <a:ext cx="11677876" cy="553761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US" sz="2400" b="1">
                <a:latin typeface="Palatino Linotype" panose="02040502050505030304" pitchFamily="18" charset="0"/>
              </a:rPr>
              <a:t>Example 3. </a:t>
            </a:r>
            <a:r>
              <a:rPr lang="en-US" sz="2400">
                <a:latin typeface="Palatino Linotype" panose="02040502050505030304" pitchFamily="18" charset="0"/>
              </a:rPr>
              <a:t>A vertical plate is submerged (or partially submerged) in water and has the indicated shape. Explain how to approximate the hydrostatic force against one side of the plate by a Riemann sum. Then express the force as an integral and evaluate it.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sz="2400">
                <a:latin typeface="Palatino Linotype" panose="02040502050505030304" pitchFamily="18" charset="0"/>
              </a:rPr>
              <a:t> </a:t>
            </a:r>
            <a:br>
              <a:rPr lang="en-US" sz="2400">
                <a:latin typeface="Palatino Linotype" panose="02040502050505030304" pitchFamily="18" charset="0"/>
              </a:rPr>
            </a:br>
            <a:br>
              <a:rPr lang="en-US" sz="2400"/>
            </a:br>
            <a:endParaRPr lang="en-US" sz="2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CA7ACC-6031-4A3F-A435-343C7503D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80" y="2741226"/>
            <a:ext cx="2552700" cy="1943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651F350-2A85-4F96-B34C-2942AE07B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2660" y="2788851"/>
            <a:ext cx="2543175" cy="1895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B59E6C-962D-4184-A65B-B4A88055E5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107" y="3026976"/>
            <a:ext cx="2628900" cy="16573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A7A294-C234-4397-80F6-17F0038F28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1280" y="2941251"/>
            <a:ext cx="2571750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202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EB818-42FC-4E33-85EA-9980BEBAE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38286"/>
            <a:ext cx="10515600" cy="560426"/>
          </a:xfrm>
        </p:spPr>
        <p:txBody>
          <a:bodyPr>
            <a:noAutofit/>
          </a:bodyPr>
          <a:lstStyle/>
          <a:p>
            <a:r>
              <a:rPr lang="en-US" sz="3600" b="1">
                <a:solidFill>
                  <a:srgbClr val="00B0F0"/>
                </a:solidFill>
                <a:latin typeface="Palatino Linotype" panose="02040502050505030304" pitchFamily="18" charset="0"/>
              </a:rPr>
              <a:t>EXERCISES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5F9C445-6DA1-4116-96E7-DED9E5293FD2}"/>
              </a:ext>
            </a:extLst>
          </p:cNvPr>
          <p:cNvSpPr txBox="1">
            <a:spLocks/>
          </p:cNvSpPr>
          <p:nvPr/>
        </p:nvSpPr>
        <p:spPr>
          <a:xfrm>
            <a:off x="6250256" y="1190005"/>
            <a:ext cx="5425068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US" sz="2400" b="1">
                <a:latin typeface="Palatino Linotype" panose="02040502050505030304" pitchFamily="18" charset="0"/>
              </a:rPr>
              <a:t>2. </a:t>
            </a:r>
            <a:r>
              <a:rPr lang="en-US" sz="2400">
                <a:latin typeface="Palatino Linotype" panose="02040502050505030304" pitchFamily="18" charset="0"/>
              </a:rPr>
              <a:t>Find the hydrostatic force on one end of a cylindrical drum with radius 3 ft if the drum is submerged in water 10 ft deep.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sz="2400">
                <a:latin typeface="Palatino Linotype" panose="02040502050505030304" pitchFamily="18" charset="0"/>
              </a:rPr>
              <a:t> </a:t>
            </a:r>
            <a:br>
              <a:rPr lang="en-US" sz="2400">
                <a:latin typeface="Palatino Linotype" panose="02040502050505030304" pitchFamily="18" charset="0"/>
              </a:rPr>
            </a:br>
            <a:endParaRPr lang="en-US" sz="2400">
              <a:latin typeface="Palatino Linotype" panose="0204050205050503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F181C2-9072-44F9-98E0-D58A5AFBF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000" y="2533017"/>
            <a:ext cx="3365076" cy="31095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2EA62CE-7B6F-480A-81A8-26808244A776}"/>
              </a:ext>
            </a:extLst>
          </p:cNvPr>
          <p:cNvSpPr txBox="1"/>
          <p:nvPr/>
        </p:nvSpPr>
        <p:spPr>
          <a:xfrm>
            <a:off x="1014760" y="1115123"/>
            <a:ext cx="508123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1</a:t>
            </a:r>
            <a:r>
              <a:rPr lang="en-US" sz="2400" b="1">
                <a:latin typeface="Palatino Linotype" panose="02040502050505030304" pitchFamily="18" charset="0"/>
              </a:rPr>
              <a:t>.</a:t>
            </a:r>
            <a:r>
              <a:rPr lang="en-US" sz="2400">
                <a:latin typeface="Palatino Linotype" panose="02040502050505030304" pitchFamily="18" charset="0"/>
              </a:rPr>
              <a:t> Suppose that 2J of work is needed to stretch a spring from its natural length of 30 cm to a length of 42 cm.</a:t>
            </a:r>
            <a:br>
              <a:rPr lang="en-US" sz="2400">
                <a:latin typeface="Palatino Linotype" panose="02040502050505030304" pitchFamily="18" charset="0"/>
              </a:rPr>
            </a:br>
            <a:endParaRPr lang="en-US" sz="2400">
              <a:latin typeface="Palatino Linotype" panose="02040502050505030304" pitchFamily="18" charset="0"/>
            </a:endParaRPr>
          </a:p>
          <a:p>
            <a:pPr marL="457200" indent="-457200">
              <a:buFont typeface="+mj-lt"/>
              <a:buAutoNum type="alphaLcPeriod"/>
            </a:pPr>
            <a:r>
              <a:rPr lang="en-US" sz="2400">
                <a:latin typeface="Palatino Linotype" panose="02040502050505030304" pitchFamily="18" charset="0"/>
              </a:rPr>
              <a:t>How much work is needed to stretch the spring from 35 cm to 40 cm?</a:t>
            </a:r>
          </a:p>
          <a:p>
            <a:pPr marL="457200" indent="-457200">
              <a:buFont typeface="+mj-lt"/>
              <a:buAutoNum type="alphaLcPeriod"/>
            </a:pPr>
            <a:r>
              <a:rPr lang="en-US" sz="2400">
                <a:latin typeface="Palatino Linotype" panose="02040502050505030304" pitchFamily="18" charset="0"/>
              </a:rPr>
              <a:t>How far beyond its natural length will a force of 30 N keep the spring stretched? </a:t>
            </a:r>
            <a:br>
              <a:rPr lang="en-US" sz="2400">
                <a:latin typeface="Palatino Linotype" panose="02040502050505030304" pitchFamily="18" charset="0"/>
              </a:rPr>
            </a:br>
            <a:endParaRPr lang="en-US" sz="240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186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1766</TotalTime>
  <Words>890</Words>
  <Application>Microsoft Office PowerPoint</Application>
  <PresentationFormat>Widescreen</PresentationFormat>
  <Paragraphs>94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Palatino Linotype</vt:lpstr>
      <vt:lpstr>Office Theme</vt:lpstr>
      <vt:lpstr>APPLICATIONS TO PHYSICS AND ENGINEERING</vt:lpstr>
      <vt:lpstr>Work</vt:lpstr>
      <vt:lpstr>EXAMPLES</vt:lpstr>
      <vt:lpstr>MODELING: PUMPING WATER OUT OF TANK</vt:lpstr>
      <vt:lpstr>MODELING: FLUID PRESSURE AND FORCE</vt:lpstr>
      <vt:lpstr>FLUID FORCE ON A VERTICAL SURFACE</vt:lpstr>
      <vt:lpstr>FLUID FORCE ON A VERTICAL SURFACE</vt:lpstr>
      <vt:lpstr>EXAMPLES</vt:lpstr>
      <vt:lpstr>EXERCISES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APPLICATIONS TO PHYSICS AND ENGINEERING</dc:title>
  <dc:creator>Duc Dung Banh</dc:creator>
  <cp:lastModifiedBy>Duc Dung Banh</cp:lastModifiedBy>
  <cp:revision>80</cp:revision>
  <dcterms:created xsi:type="dcterms:W3CDTF">2020-03-07T09:00:38Z</dcterms:created>
  <dcterms:modified xsi:type="dcterms:W3CDTF">2020-03-08T14:27:02Z</dcterms:modified>
</cp:coreProperties>
</file>