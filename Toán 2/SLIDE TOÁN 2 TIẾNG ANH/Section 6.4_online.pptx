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23" autoAdjust="0"/>
  </p:normalViewPr>
  <p:slideViewPr>
    <p:cSldViewPr snapToGrid="0">
      <p:cViewPr varScale="1">
        <p:scale>
          <a:sx n="57" d="100"/>
          <a:sy n="57" d="100"/>
        </p:scale>
        <p:origin x="56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3EC2D-EF6B-46C7-9544-C1BDADA062AB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44B5C-A7A3-4D50-BB67-DBD640CF29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1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44B5C-A7A3-4D50-BB67-DBD640CF29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9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44B5C-A7A3-4D50-BB67-DBD640CF29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44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44B5C-A7A3-4D50-BB67-DBD640CF29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08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6EA3F-1352-4A84-8FA5-E435824BA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612E5-1860-4A1A-8D88-8AD633190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10ACC-4904-45F6-BF3C-73EDBC036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4629B-D64C-4A44-B58D-B0E54C28DE78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7F4C0-E884-4F1E-9C59-E2C1F7B49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16E08-11B4-49EB-8BCF-2742D448D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13CC-1D17-4778-8BB9-54E0F82C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44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4BD1-67F8-40CA-B87E-5F0D670E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9ED85-B047-40F9-A248-69F9DE18D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C414-C821-4383-BBA3-40068BED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4629B-D64C-4A44-B58D-B0E54C28DE78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479B0-C4C7-46FF-BF50-D1A94AC18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E3765-5C9C-4957-8A6A-FA9BA57F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13CC-1D17-4778-8BB9-54E0F82C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67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00432-1750-47A7-954F-80ADD9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69C73-0CE9-454C-8FBD-937E61C95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03D8D-FF48-4474-9ADB-D5742141B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4629B-D64C-4A44-B58D-B0E54C28DE78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0D2D7-7D5D-434E-B62A-DDE594373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3DE7D-626D-43E5-B456-5E43C20A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13CC-1D17-4778-8BB9-54E0F82C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3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7B5A3-565F-4E4A-97B6-F0999DB46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76AB1-686C-4A5E-B10B-518F8C041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844AA-4019-491A-AA25-AB83142AA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217AB-4915-4C66-BDD4-A1E05D335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4629B-D64C-4A44-B58D-B0E54C28DE78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F8615-9B05-40EF-A691-4B659E4B0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92F95-8A72-44D8-8361-36EECB27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13CC-1D17-4778-8BB9-54E0F82C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99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18F90-29B9-43DF-B138-4BBE4CA5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0B73A-4E07-4B31-B8BF-1C8DF8564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9C348-FA36-43FD-869C-D389CB6AA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D9222-D6D2-4FE4-A89D-E5210D052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5D26F-2C0D-4700-883E-81BFF75A5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8C5E4-BA05-4A34-860C-27F4EE8F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4629B-D64C-4A44-B58D-B0E54C28DE78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3B7D86-4356-4385-95BD-87300F7EB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2A373D-3D2E-4E7E-A5AC-72537548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13CC-1D17-4778-8BB9-54E0F82C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0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F4832-CAFB-4C12-B420-A304EEEA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FE3D1A-CDCA-4BBE-B828-BA8DF6005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4629B-D64C-4A44-B58D-B0E54C28DE78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B4CA4-704D-41D8-AD2F-286451C16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0CEE3-EF38-4DDE-9614-C3A088BF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13CC-1D17-4778-8BB9-54E0F82C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9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72D28-20A4-4998-884D-7ADAE52C2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4629B-D64C-4A44-B58D-B0E54C28DE78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FE8AD-D9D2-45CE-AE5A-FAC5E807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3A78D-6AF3-41BD-A8EC-4FC03FD0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13CC-1D17-4778-8BB9-54E0F82C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84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A858-D9A1-4C10-B586-B3D06E5D8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4C11B-702A-4AD7-822B-80BEE2990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89135-D3C3-4FF2-9EA1-F057FD6FC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E1427-0C8F-4F8A-9EB1-0A10562A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4629B-D64C-4A44-B58D-B0E54C28DE78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D625F-F6EB-4891-9617-AF000B15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87754-D864-43A1-A35B-F930FEBA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13CC-1D17-4778-8BB9-54E0F82C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8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8A5C4-5B53-4B54-A30B-55E3C238D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210C50-B428-4877-8147-16FE2666A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4F481-5DF1-4DC4-90A3-ED709538D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77760-065D-43BA-96CD-40878026B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4629B-D64C-4A44-B58D-B0E54C28DE78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9B9C-29B7-49A0-8E7C-F1C94C24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633F1-1A5A-49A7-BFF6-5CFA7C660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13CC-1D17-4778-8BB9-54E0F82C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82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FD41D-BB6B-4D47-9AC4-97428EA8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97258-E380-4CC5-8A06-2E0600F42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9444B-8947-4193-A569-2A4F11B7C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4629B-D64C-4A44-B58D-B0E54C28DE78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67F0B-A79C-4C94-8D1E-7F8EB7D5D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19A65-49DA-4B9D-944F-48C9106F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13CC-1D17-4778-8BB9-54E0F82C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33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9F248-CF43-4C50-B4A3-ECFD1429B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435FE-B685-4DD0-92BB-C7945A83F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0007-C507-4BEE-B66C-ED3E543E5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4629B-D64C-4A44-B58D-B0E54C28DE78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12CC2-A2F5-4B04-81A0-0D3F72D8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98668-3433-48FB-821E-58DABDCF7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213CC-1D17-4778-8BB9-54E0F82C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0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A175D-9441-4D2C-8A44-D863C9D7C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FC39A-C602-4406-A760-997E89086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98445-FAFE-4E6D-9DF9-2CEC7C6BC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4629B-D64C-4A44-B58D-B0E54C28DE78}" type="datetimeFigureOut">
              <a:rPr lang="en-US" smtClean="0"/>
              <a:t>3/12/2020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34BAE-D178-4A51-91E7-42A70A6EB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168B2-9A27-4CD4-9230-70052B1BD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213CC-1D17-4778-8BB9-54E0F82C4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1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6E9B4-EA46-48D4-9E60-EEEF07F6F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68321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  <a:t>ARC LENGTH AND </a:t>
            </a:r>
            <a:b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</a:br>
            <a: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  <a:t>SURFACE AREA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662E370C-523F-4366-8F49-AAB76AB6A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3429001"/>
            <a:ext cx="8615362" cy="18891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7363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B5931-1450-48E2-AFE8-66942773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368" y="283757"/>
            <a:ext cx="10515600" cy="568940"/>
          </a:xfrm>
        </p:spPr>
        <p:txBody>
          <a:bodyPr>
            <a:normAutofit fontScale="90000"/>
          </a:bodyPr>
          <a:lstStyle/>
          <a:p>
            <a:r>
              <a:rPr lang="en-US" altLang="zh-TW" b="1">
                <a:solidFill>
                  <a:srgbClr val="00B0F0"/>
                </a:solidFill>
                <a:latin typeface="Palatino Linotype" panose="02040502050505030304" pitchFamily="18" charset="0"/>
              </a:rPr>
              <a:t>ARC LENGTH</a:t>
            </a:r>
            <a:endParaRPr lang="en-US" b="1">
              <a:solidFill>
                <a:srgbClr val="00B0F0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3" name="Picture 9">
            <a:extLst>
              <a:ext uri="{FF2B5EF4-FFF2-40B4-BE49-F238E27FC236}">
                <a16:creationId xmlns:a16="http://schemas.microsoft.com/office/drawing/2014/main" id="{323E2A4C-356A-4CE6-A643-A89EC20D22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" b="15586"/>
          <a:stretch/>
        </p:blipFill>
        <p:spPr bwMode="auto">
          <a:xfrm>
            <a:off x="907026" y="2363034"/>
            <a:ext cx="3916977" cy="285970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279AB1-2E5B-4B97-A687-2DAA61AB3B86}"/>
                  </a:ext>
                </a:extLst>
              </p:cNvPr>
              <p:cNvSpPr txBox="1"/>
              <p:nvPr/>
            </p:nvSpPr>
            <p:spPr>
              <a:xfrm>
                <a:off x="6695767" y="641835"/>
                <a:ext cx="5129980" cy="5354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400" b="0">
                  <a:latin typeface="Palatino Linotype" panose="0204050205050503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rad>
                            </m:e>
                          </m:nary>
                        </m:e>
                      </m:func>
                    </m:oMath>
                  </m:oMathPara>
                </a14:m>
                <a:endParaRPr lang="en-US" sz="2400" b="0">
                  <a:latin typeface="Palatino Linotype" panose="0204050205050503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2400" b="0" i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Δ</m:t>
                                                  </m:r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2400" b="0" i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Δ</m:t>
                                                  </m:r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vi-VN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vi-V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vi-VN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sz="2400" b="0">
                  <a:latin typeface="Palatino Linotype" panose="0204050205050503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     =</m:t>
                          </m:r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′(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nary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vi-V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vi-V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400" b="0">
                  <a:latin typeface="Palatino Linotype" panose="0204050205050503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′(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b="0">
                  <a:latin typeface="Palatino Linotype" panose="0204050205050503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279AB1-2E5B-4B97-A687-2DAA61AB3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767" y="641835"/>
                <a:ext cx="5129980" cy="5354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A257E05-5489-47A2-B4A3-EAF76CB4FF1D}"/>
              </a:ext>
            </a:extLst>
          </p:cNvPr>
          <p:cNvSpPr/>
          <p:nvPr/>
        </p:nvSpPr>
        <p:spPr>
          <a:xfrm>
            <a:off x="828369" y="1168246"/>
            <a:ext cx="58280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sz="2400">
                <a:latin typeface="Palatino Linotype" panose="02040502050505030304" pitchFamily="18" charset="0"/>
              </a:rPr>
              <a:t>Let </a:t>
            </a:r>
            <a:r>
              <a:rPr lang="en-US" altLang="zh-TW" sz="2400" i="1">
                <a:latin typeface="Palatino Linotype" panose="02040502050505030304" pitchFamily="18" charset="0"/>
              </a:rPr>
              <a:t>C</a:t>
            </a:r>
            <a:r>
              <a:rPr lang="en-US" altLang="zh-TW" sz="2400">
                <a:latin typeface="Palatino Linotype" panose="02040502050505030304" pitchFamily="18" charset="0"/>
              </a:rPr>
              <a:t> be a curve defined by the equation </a:t>
            </a:r>
            <a:r>
              <a:rPr lang="en-US" altLang="zh-TW" sz="2400" i="1">
                <a:latin typeface="Palatino Linotype" panose="02040502050505030304" pitchFamily="18" charset="0"/>
              </a:rPr>
              <a:t>y </a:t>
            </a:r>
            <a:r>
              <a:rPr lang="en-US" altLang="zh-TW" sz="2400">
                <a:latin typeface="Palatino Linotype" panose="02040502050505030304" pitchFamily="18" charset="0"/>
              </a:rPr>
              <a:t>=</a:t>
            </a:r>
            <a:r>
              <a:rPr lang="en-US" altLang="zh-TW" sz="2400" i="1">
                <a:latin typeface="Palatino Linotype" panose="02040502050505030304" pitchFamily="18" charset="0"/>
              </a:rPr>
              <a:t> f</a:t>
            </a:r>
            <a:r>
              <a:rPr lang="en-US" altLang="zh-TW" sz="2400">
                <a:latin typeface="Palatino Linotype" panose="02040502050505030304" pitchFamily="18" charset="0"/>
              </a:rPr>
              <a:t>(</a:t>
            </a:r>
            <a:r>
              <a:rPr lang="en-US" altLang="zh-TW" sz="2400" i="1">
                <a:latin typeface="Palatino Linotype" panose="02040502050505030304" pitchFamily="18" charset="0"/>
              </a:rPr>
              <a:t>x</a:t>
            </a:r>
            <a:r>
              <a:rPr lang="en-US" altLang="zh-TW" sz="2400">
                <a:latin typeface="Palatino Linotype" panose="02040502050505030304" pitchFamily="18" charset="0"/>
              </a:rPr>
              <a:t>), where </a:t>
            </a:r>
            <a:r>
              <a:rPr lang="en-US" altLang="zh-TW" sz="2400" i="1">
                <a:latin typeface="Palatino Linotype" panose="02040502050505030304" pitchFamily="18" charset="0"/>
              </a:rPr>
              <a:t>f </a:t>
            </a:r>
            <a:r>
              <a:rPr lang="en-US" altLang="zh-TW" sz="2400">
                <a:latin typeface="Palatino Linotype" panose="02040502050505030304" pitchFamily="18" charset="0"/>
              </a:rPr>
              <a:t>is continuously differentiable and </a:t>
            </a:r>
            <a:r>
              <a:rPr lang="en-US" altLang="zh-TW" sz="2400" i="1">
                <a:latin typeface="Palatino Linotype" panose="02040502050505030304" pitchFamily="18" charset="0"/>
              </a:rPr>
              <a:t>a </a:t>
            </a:r>
            <a:r>
              <a:rPr lang="en-US" altLang="zh-TW" sz="2400">
                <a:latin typeface="Palatino Linotype" panose="02040502050505030304" pitchFamily="18" charset="0"/>
                <a:cs typeface="Arial" panose="020B0604020202020204" pitchFamily="34" charset="0"/>
              </a:rPr>
              <a:t>≤</a:t>
            </a:r>
            <a:r>
              <a:rPr lang="en-US" altLang="zh-TW" sz="2400" i="1">
                <a:latin typeface="Palatino Linotype" panose="02040502050505030304" pitchFamily="18" charset="0"/>
                <a:cs typeface="Arial" panose="020B0604020202020204" pitchFamily="34" charset="0"/>
              </a:rPr>
              <a:t> </a:t>
            </a:r>
            <a:r>
              <a:rPr lang="en-US" altLang="zh-TW" sz="2400" i="1">
                <a:latin typeface="Palatino Linotype" panose="02040502050505030304" pitchFamily="18" charset="0"/>
              </a:rPr>
              <a:t>x </a:t>
            </a:r>
            <a:r>
              <a:rPr lang="en-US" altLang="zh-TW" sz="2400">
                <a:latin typeface="Palatino Linotype" panose="02040502050505030304" pitchFamily="18" charset="0"/>
              </a:rPr>
              <a:t>≤</a:t>
            </a:r>
            <a:r>
              <a:rPr lang="en-US" altLang="zh-TW" sz="2400" i="1">
                <a:latin typeface="Palatino Linotype" panose="02040502050505030304" pitchFamily="18" charset="0"/>
              </a:rPr>
              <a:t> b</a:t>
            </a:r>
            <a:r>
              <a:rPr lang="en-US" altLang="zh-TW" sz="2400">
                <a:latin typeface="Palatino Linotype" panose="02040502050505030304" pitchFamily="18" charset="0"/>
              </a:rPr>
              <a:t>.</a:t>
            </a:r>
            <a:endParaRPr lang="en-US" sz="2400">
              <a:latin typeface="Palatino Linotype" panose="020405020505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CDAA4B-34B8-468C-88CD-E6BB914E4B10}"/>
                  </a:ext>
                </a:extLst>
              </p:cNvPr>
              <p:cNvSpPr/>
              <p:nvPr/>
            </p:nvSpPr>
            <p:spPr>
              <a:xfrm>
                <a:off x="628190" y="5386577"/>
                <a:ext cx="6016968" cy="12462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′(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𝑑𝑦</m:t>
                                          </m:r>
                                        </m:num>
                                        <m:den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𝑑𝑥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CDAA4B-34B8-468C-88CD-E6BB914E4B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90" y="5386577"/>
                <a:ext cx="6016968" cy="12462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257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BB349CA-4B12-43FB-8ADF-E7F9DBA75A78}"/>
              </a:ext>
            </a:extLst>
          </p:cNvPr>
          <p:cNvSpPr txBox="1">
            <a:spLocks/>
          </p:cNvSpPr>
          <p:nvPr/>
        </p:nvSpPr>
        <p:spPr>
          <a:xfrm>
            <a:off x="828368" y="346817"/>
            <a:ext cx="10515600" cy="56894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>
                <a:solidFill>
                  <a:srgbClr val="00B0F0"/>
                </a:solidFill>
                <a:latin typeface="Palatino Linotype" panose="02040502050505030304" pitchFamily="18" charset="0"/>
              </a:rPr>
              <a:t>ARC LENGTH</a:t>
            </a:r>
            <a:endParaRPr lang="en-US" b="1">
              <a:solidFill>
                <a:srgbClr val="00B0F0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4FB1C-E740-400D-A861-A3A9C68E1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125" y="1285519"/>
            <a:ext cx="9295696" cy="407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07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13B68-641D-4BAA-AAEA-01F25E05C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756" y="390389"/>
            <a:ext cx="10515600" cy="627933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  <a:t>EXAMPLES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81D573-BF64-477F-9D8B-FFA8CB935C24}"/>
              </a:ext>
            </a:extLst>
          </p:cNvPr>
          <p:cNvSpPr/>
          <p:nvPr/>
        </p:nvSpPr>
        <p:spPr>
          <a:xfrm>
            <a:off x="6393444" y="993058"/>
            <a:ext cx="5257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sz="2400">
                <a:latin typeface="Palatino Linotype" panose="02040502050505030304" pitchFamily="18" charset="0"/>
              </a:rPr>
              <a:t>2. Find the length of the arc of the parabola </a:t>
            </a:r>
            <a:r>
              <a:rPr lang="en-US" altLang="zh-TW" sz="2400" i="1">
                <a:latin typeface="Palatino Linotype" panose="02040502050505030304" pitchFamily="18" charset="0"/>
              </a:rPr>
              <a:t>y</a:t>
            </a:r>
            <a:r>
              <a:rPr lang="en-US" altLang="zh-TW" sz="2400" i="1" baseline="30000">
                <a:latin typeface="Palatino Linotype" panose="02040502050505030304" pitchFamily="18" charset="0"/>
              </a:rPr>
              <a:t>2</a:t>
            </a:r>
            <a:r>
              <a:rPr lang="en-US" altLang="zh-TW" sz="2400" i="1">
                <a:latin typeface="Palatino Linotype" panose="02040502050505030304" pitchFamily="18" charset="0"/>
              </a:rPr>
              <a:t> = x</a:t>
            </a:r>
            <a:r>
              <a:rPr lang="en-US" altLang="zh-TW" sz="2400">
                <a:latin typeface="Palatino Linotype" panose="02040502050505030304" pitchFamily="18" charset="0"/>
              </a:rPr>
              <a:t> from (0, 0)</a:t>
            </a:r>
            <a:r>
              <a:rPr lang="en-US" altLang="zh-TW" sz="2400" i="1">
                <a:latin typeface="Palatino Linotype" panose="02040502050505030304" pitchFamily="18" charset="0"/>
              </a:rPr>
              <a:t> </a:t>
            </a:r>
            <a:r>
              <a:rPr lang="en-US" altLang="zh-TW" sz="2400">
                <a:latin typeface="Palatino Linotype" panose="02040502050505030304" pitchFamily="18" charset="0"/>
              </a:rPr>
              <a:t>to (1, 1).</a:t>
            </a:r>
            <a:endParaRPr lang="en-US" sz="2400">
              <a:latin typeface="Palatino Linotype" panose="0204050205050503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640460B-40D8-46E3-AEB9-D7619582D838}"/>
                  </a:ext>
                </a:extLst>
              </p:cNvPr>
              <p:cNvSpPr/>
              <p:nvPr/>
            </p:nvSpPr>
            <p:spPr>
              <a:xfrm>
                <a:off x="6497782" y="4129378"/>
                <a:ext cx="5694218" cy="19221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en-US" altLang="zh-TW" sz="2400">
                    <a:latin typeface="Palatino Linotype" panose="02040502050505030304" pitchFamily="18" charset="0"/>
                  </a:rPr>
                  <a:t>Since </a:t>
                </a:r>
                <a:r>
                  <a:rPr lang="en-US" altLang="zh-TW" sz="2400" i="1">
                    <a:latin typeface="Palatino Linotype" panose="02040502050505030304" pitchFamily="18" charset="0"/>
                  </a:rPr>
                  <a:t>x </a:t>
                </a:r>
                <a:r>
                  <a:rPr lang="en-US" altLang="zh-TW" sz="2400">
                    <a:latin typeface="Palatino Linotype" panose="02040502050505030304" pitchFamily="18" charset="0"/>
                  </a:rPr>
                  <a:t>=</a:t>
                </a:r>
                <a:r>
                  <a:rPr lang="en-US" altLang="zh-TW" sz="2400" i="1">
                    <a:latin typeface="Palatino Linotype" panose="02040502050505030304" pitchFamily="18" charset="0"/>
                  </a:rPr>
                  <a:t> y</a:t>
                </a:r>
                <a:r>
                  <a:rPr lang="en-US" altLang="zh-TW" sz="2400" baseline="30000">
                    <a:latin typeface="Palatino Linotype" panose="02040502050505030304" pitchFamily="18" charset="0"/>
                  </a:rPr>
                  <a:t>2</a:t>
                </a:r>
                <a:r>
                  <a:rPr lang="en-US" altLang="zh-TW" sz="2400">
                    <a:latin typeface="Palatino Linotype" panose="02040502050505030304" pitchFamily="18" charset="0"/>
                  </a:rPr>
                  <a:t>, we have </a:t>
                </a:r>
                <a:r>
                  <a:rPr lang="en-US" altLang="zh-TW" sz="2400" i="1">
                    <a:latin typeface="Palatino Linotype" panose="02040502050505030304" pitchFamily="18" charset="0"/>
                  </a:rPr>
                  <a:t>dx</a:t>
                </a:r>
                <a:r>
                  <a:rPr lang="en-US" altLang="zh-TW" sz="2400">
                    <a:latin typeface="Palatino Linotype" panose="02040502050505030304" pitchFamily="18" charset="0"/>
                  </a:rPr>
                  <a:t>/</a:t>
                </a:r>
                <a:r>
                  <a:rPr lang="en-US" altLang="zh-TW" sz="2400" i="1">
                    <a:latin typeface="Palatino Linotype" panose="02040502050505030304" pitchFamily="18" charset="0"/>
                  </a:rPr>
                  <a:t>dy </a:t>
                </a:r>
                <a:r>
                  <a:rPr lang="en-US" altLang="zh-TW" sz="2400">
                    <a:latin typeface="Palatino Linotype" panose="02040502050505030304" pitchFamily="18" charset="0"/>
                  </a:rPr>
                  <a:t>=</a:t>
                </a:r>
                <a:r>
                  <a:rPr lang="en-US" altLang="zh-TW" sz="2400" i="1">
                    <a:latin typeface="Palatino Linotype" panose="02040502050505030304" pitchFamily="18" charset="0"/>
                  </a:rPr>
                  <a:t> </a:t>
                </a:r>
                <a:r>
                  <a:rPr lang="en-US" altLang="zh-TW" sz="2400">
                    <a:latin typeface="Palatino Linotype" panose="02040502050505030304" pitchFamily="18" charset="0"/>
                  </a:rPr>
                  <a:t>2</a:t>
                </a:r>
                <a:r>
                  <a:rPr lang="en-US" altLang="zh-TW" sz="2400" i="1">
                    <a:latin typeface="Palatino Linotype" panose="02040502050505030304" pitchFamily="18" charset="0"/>
                  </a:rPr>
                  <a:t>y.</a:t>
                </a:r>
              </a:p>
              <a:p>
                <a:pPr marL="0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𝑑𝑥</m:t>
                                          </m:r>
                                        </m:num>
                                        <m:den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𝑑𝑦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1+4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𝑑𝑦</m:t>
                      </m:r>
                    </m:oMath>
                  </m:oMathPara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0" lvl="1"/>
                <a:r>
                  <a:rPr lang="en-US" sz="2400">
                    <a:latin typeface="Palatino Linotype" panose="0204050205050503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=…</m:t>
                    </m:r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640460B-40D8-46E3-AEB9-D7619582D8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782" y="4129378"/>
                <a:ext cx="5694218" cy="1922193"/>
              </a:xfrm>
              <a:prstGeom prst="rect">
                <a:avLst/>
              </a:prstGeom>
              <a:blipFill>
                <a:blip r:embed="rId2"/>
                <a:stretch>
                  <a:fillRect l="-1713" t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E62DE9C-A342-4409-A2ED-50DC3CD94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836" y="1824055"/>
            <a:ext cx="2064615" cy="20903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5AF575-D0AA-40BB-860F-8131D9C2B0E0}"/>
              </a:ext>
            </a:extLst>
          </p:cNvPr>
          <p:cNvSpPr/>
          <p:nvPr/>
        </p:nvSpPr>
        <p:spPr>
          <a:xfrm>
            <a:off x="540756" y="1006647"/>
            <a:ext cx="55552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sz="2400">
                <a:latin typeface="Palatino Linotype" panose="02040502050505030304" pitchFamily="18" charset="0"/>
              </a:rPr>
              <a:t>1. Find the length of the arc of the semicubical parabola</a:t>
            </a:r>
            <a:r>
              <a:rPr lang="en-US" altLang="zh-TW" sz="2400" i="1">
                <a:latin typeface="Palatino Linotype" panose="02040502050505030304" pitchFamily="18" charset="0"/>
              </a:rPr>
              <a:t> y</a:t>
            </a:r>
            <a:r>
              <a:rPr lang="en-US" altLang="zh-TW" sz="2400" baseline="30000">
                <a:latin typeface="Palatino Linotype" panose="02040502050505030304" pitchFamily="18" charset="0"/>
              </a:rPr>
              <a:t>2 </a:t>
            </a:r>
            <a:r>
              <a:rPr lang="en-US" altLang="zh-TW" sz="2400" i="1">
                <a:latin typeface="Palatino Linotype" panose="02040502050505030304" pitchFamily="18" charset="0"/>
              </a:rPr>
              <a:t>= x</a:t>
            </a:r>
            <a:r>
              <a:rPr lang="en-US" altLang="zh-TW" sz="2400" baseline="30000">
                <a:latin typeface="Palatino Linotype" panose="02040502050505030304" pitchFamily="18" charset="0"/>
              </a:rPr>
              <a:t>3</a:t>
            </a:r>
            <a:r>
              <a:rPr lang="en-US" altLang="zh-TW" sz="2400" i="1">
                <a:latin typeface="Palatino Linotype" panose="02040502050505030304" pitchFamily="18" charset="0"/>
              </a:rPr>
              <a:t> </a:t>
            </a:r>
            <a:r>
              <a:rPr lang="en-US" altLang="zh-TW" sz="2400">
                <a:latin typeface="Palatino Linotype" panose="02040502050505030304" pitchFamily="18" charset="0"/>
              </a:rPr>
              <a:t>between the points (1,1) and (4, 8).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5E88B23E-1229-4F98-8A17-821F9ADB1B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" r="1" b="15461"/>
          <a:stretch/>
        </p:blipFill>
        <p:spPr bwMode="auto">
          <a:xfrm>
            <a:off x="3519948" y="2206976"/>
            <a:ext cx="2576052" cy="2389721"/>
          </a:xfrm>
          <a:prstGeom prst="rect">
            <a:avLst/>
          </a:prstGeom>
          <a:noFill/>
          <a:ln w="9525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43D186-DA57-4040-BED9-7F4BE672370E}"/>
                  </a:ext>
                </a:extLst>
              </p:cNvPr>
              <p:cNvSpPr txBox="1"/>
              <p:nvPr/>
            </p:nvSpPr>
            <p:spPr>
              <a:xfrm>
                <a:off x="707924" y="3515141"/>
                <a:ext cx="4011561" cy="3094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3/2</m:t>
                          </m:r>
                        </m:sup>
                      </m:sSup>
                    </m:oMath>
                  </m:oMathPara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num>
                                        <m:den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rad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b="0">
                  <a:latin typeface="Palatino Linotype" panose="0204050205050503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4+9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=…</m:t>
                      </m:r>
                    </m:oMath>
                  </m:oMathPara>
                </a14:m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43D186-DA57-4040-BED9-7F4BE6723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24" y="3515141"/>
                <a:ext cx="4011561" cy="3094501"/>
              </a:xfrm>
              <a:prstGeom prst="rect">
                <a:avLst/>
              </a:prstGeom>
              <a:blipFill>
                <a:blip r:embed="rId5"/>
                <a:stretch>
                  <a:fillRect l="-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04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0AEE-DD81-4888-9E01-49F60B5C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269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  <a:t>EXERCISES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F2FCB7F-159C-4A2E-8B9C-278C15DB1CCC}"/>
                  </a:ext>
                </a:extLst>
              </p:cNvPr>
              <p:cNvSpPr/>
              <p:nvPr/>
            </p:nvSpPr>
            <p:spPr>
              <a:xfrm>
                <a:off x="838200" y="1100054"/>
                <a:ext cx="10193594" cy="37994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400">
                    <a:latin typeface="Palatino Linotype" panose="02040502050505030304" pitchFamily="18" charset="0"/>
                  </a:rPr>
                  <a:t>Set up an integral for the length of the arc: </a:t>
                </a:r>
              </a:p>
              <a:p>
                <a:pPr marL="800100" lvl="1" indent="-342900">
                  <a:buFont typeface="+mj-lt"/>
                  <a:buAutoNum type="alphaLcPeriod"/>
                </a:pPr>
                <a:r>
                  <a:rPr lang="en-US" altLang="zh-TW" sz="2400">
                    <a:latin typeface="Palatino Linotype" panose="02040502050505030304" pitchFamily="18" charset="0"/>
                  </a:rPr>
                  <a:t>The hyperbola</a:t>
                </a:r>
                <a:r>
                  <a:rPr lang="en-US" altLang="zh-TW" sz="2400" i="1">
                    <a:latin typeface="Palatino Linotype" panose="02040502050505030304" pitchFamily="18" charset="0"/>
                  </a:rPr>
                  <a:t> xy </a:t>
                </a:r>
                <a:r>
                  <a:rPr lang="en-US" altLang="zh-TW" sz="2400">
                    <a:latin typeface="Palatino Linotype" panose="02040502050505030304" pitchFamily="18" charset="0"/>
                  </a:rPr>
                  <a:t>=</a:t>
                </a:r>
                <a:r>
                  <a:rPr lang="en-US" altLang="zh-TW" sz="2400" i="1">
                    <a:latin typeface="Palatino Linotype" panose="02040502050505030304" pitchFamily="18" charset="0"/>
                  </a:rPr>
                  <a:t> </a:t>
                </a:r>
                <a:r>
                  <a:rPr lang="en-US" altLang="zh-TW" sz="2400">
                    <a:latin typeface="Palatino Linotype" panose="02040502050505030304" pitchFamily="18" charset="0"/>
                  </a:rPr>
                  <a:t>1 from the point (1, 1) to the point (2, ½).</a:t>
                </a:r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altLang="zh-TW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,1≤</m:t>
                        </m:r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≤4</m:t>
                        </m:r>
                      </m:e>
                    </m:func>
                  </m:oMath>
                </a14:m>
                <a:endParaRPr lang="en-US" altLang="zh-TW" sz="2400">
                  <a:latin typeface="Palatino Linotype" panose="02040502050505030304" pitchFamily="18" charset="0"/>
                </a:endParaRPr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altLang="zh-TW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zh-TW" sz="2400">
                    <a:latin typeface="Palatino Linotype" panose="02040502050505030304" pitchFamily="18" charset="0"/>
                  </a:rPr>
                  <a:t>,</a:t>
                </a:r>
                <a:r>
                  <a:rPr lang="en-US" altLang="zh-TW" sz="2400" b="0">
                    <a:latin typeface="Palatino Linotype" panose="0204050205050503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endParaRPr lang="en-US" altLang="zh-TW" sz="2400">
                  <a:latin typeface="Palatino Linotype" panose="02040502050505030304" pitchFamily="18" charset="0"/>
                </a:endParaRPr>
              </a:p>
              <a:p>
                <a:pPr marL="800100" lvl="1" indent="-342900">
                  <a:buFont typeface="+mj-lt"/>
                  <a:buAutoNum type="alphaLcPeriod"/>
                </a:pPr>
                <a:endParaRPr lang="en-US" altLang="zh-TW" sz="2400">
                  <a:latin typeface="Palatino Linotype" panose="02040502050505030304" pitchFamily="18" charset="0"/>
                </a:endParaRPr>
              </a:p>
              <a:p>
                <a:pPr marL="800100" lvl="1" indent="-342900">
                  <a:buFont typeface="+mj-lt"/>
                  <a:buAutoNum type="alphaLcPeriod"/>
                </a:pPr>
                <a:endParaRPr lang="en-US" altLang="zh-TW" sz="2400">
                  <a:latin typeface="Palatino Linotype" panose="0204050205050503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TW" sz="2400">
                    <a:latin typeface="Palatino Linotype" panose="02040502050505030304" pitchFamily="18" charset="0"/>
                  </a:rPr>
                  <a:t>Find the arc length function for the curve:</a:t>
                </a:r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i="1" smtClean="0">
                        <a:latin typeface="Cambria Math" panose="02040503050406030204" pitchFamily="18" charset="0"/>
                      </a:rPr>
                      <m:t> – ⅛</m:t>
                    </m:r>
                    <m:func>
                      <m:func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smtClean="0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altLang="zh-TW" sz="2400">
                  <a:latin typeface="Palatino Linotype" panose="02040502050505030304" pitchFamily="18" charset="0"/>
                </a:endParaRPr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=1+6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3/2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zh-TW" sz="24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),0≤</m:t>
                            </m:r>
                            <m:r>
                              <a:rPr lang="en-US" altLang="zh-TW" sz="240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240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sz="240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2400">
                                <a:latin typeface="Cambria Math" panose="02040503050406030204" pitchFamily="18" charset="0"/>
                              </a:rPr>
                              <m:t>/3</m:t>
                            </m:r>
                          </m:e>
                        </m:func>
                        <m:r>
                          <a:rPr lang="en-US" sz="24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F2FCB7F-159C-4A2E-8B9C-278C15DB1C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00054"/>
                <a:ext cx="10193594" cy="3799438"/>
              </a:xfrm>
              <a:prstGeom prst="rect">
                <a:avLst/>
              </a:prstGeom>
              <a:blipFill>
                <a:blip r:embed="rId2"/>
                <a:stretch>
                  <a:fillRect l="-1136" t="-2244"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785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961B7-15D5-488B-8F1C-15B11C794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065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  <a:t>AREA OF A SURFACE OF REVOLUTION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E71AD1-1552-4124-B950-C0D962B11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6988"/>
            <a:ext cx="3432032" cy="35831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74525C-F1CD-46A1-B9E0-ED69343E3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361" y="1140570"/>
            <a:ext cx="2135443" cy="21005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C80CCB-005A-4062-BA15-7752A97C8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56" y="3428330"/>
            <a:ext cx="2617345" cy="26173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DBA8DA-FDB6-48EB-A415-4F5A1E674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062" y="1096989"/>
            <a:ext cx="2638979" cy="3111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C2542B-2473-4689-83CA-9411203B9A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7112" y="5794686"/>
            <a:ext cx="3790950" cy="876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CDAD90-F51E-4D24-9A14-EC2E020D0ED9}"/>
                  </a:ext>
                </a:extLst>
              </p:cNvPr>
              <p:cNvSpPr txBox="1"/>
              <p:nvPr/>
            </p:nvSpPr>
            <p:spPr>
              <a:xfrm>
                <a:off x="8282698" y="4353501"/>
                <a:ext cx="3615012" cy="1860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b="0" i="1">
                  <a:latin typeface="Palatino Linotype" panose="02040502050505030304" pitchFamily="18" charset="0"/>
                </a:endParaRPr>
              </a:p>
              <a:p>
                <a:r>
                  <a:rPr lang="en-US" sz="2400" b="0">
                    <a:latin typeface="Palatino Linotype" panose="0204050205050503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sz="2400" b="0" i="1">
                  <a:latin typeface="Palatino Linotype" panose="0204050205050503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CDAD90-F51E-4D24-9A14-EC2E020D0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98" y="4353501"/>
                <a:ext cx="3615012" cy="18602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200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A41C-1521-4516-862A-B2FE113E7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028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  <a:t>AREA OF A SURFACE OF REVOLUTION </a:t>
            </a:r>
            <a:endParaRPr lang="en-US">
              <a:latin typeface="Palatino Linotype" panose="020405020505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B0D0F3-03E1-4B4A-B275-8E14B1332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22" y="3583114"/>
            <a:ext cx="3897570" cy="2627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139A16-7D63-4849-A5D6-079DA9828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272" y="1757200"/>
            <a:ext cx="5581650" cy="1209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300513-056B-4FA4-919F-00532B763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384" y="1045289"/>
            <a:ext cx="3781425" cy="752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49847E-81AF-49F7-98D4-282C360127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22" y="878140"/>
            <a:ext cx="3897570" cy="26347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C55C2B-D81C-412D-9C28-34AC7889FF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9221" y="3428775"/>
            <a:ext cx="5619750" cy="14001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765D6A-CD44-4CE3-8EAD-ECFBB1EE20A1}"/>
                  </a:ext>
                </a:extLst>
              </p:cNvPr>
              <p:cNvSpPr txBox="1"/>
              <p:nvPr/>
            </p:nvSpPr>
            <p:spPr>
              <a:xfrm>
                <a:off x="4787827" y="4838020"/>
                <a:ext cx="55340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/>
                  <a:t>C: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b="0" i="1"/>
                  <a:t> </a:t>
                </a:r>
                <a:r>
                  <a:rPr lang="en-US" sz="2400" b="0"/>
                  <a:t>revole about y-axis </a:t>
                </a:r>
                <a:endParaRPr lang="en-US" sz="2400" b="0" i="1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765D6A-CD44-4CE3-8EAD-ECFBB1EE2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827" y="4838020"/>
                <a:ext cx="5534025" cy="461665"/>
              </a:xfrm>
              <a:prstGeom prst="rect">
                <a:avLst/>
              </a:prstGeom>
              <a:blipFill>
                <a:blip r:embed="rId8"/>
                <a:stretch>
                  <a:fillRect l="-1652" t="-10667" r="-1982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52FD0B-BA60-4E05-8C69-5EAAF2CCD1B7}"/>
                  </a:ext>
                </a:extLst>
              </p:cNvPr>
              <p:cNvSpPr txBox="1"/>
              <p:nvPr/>
            </p:nvSpPr>
            <p:spPr>
              <a:xfrm>
                <a:off x="4719510" y="3024990"/>
                <a:ext cx="55340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/>
                  <a:t>C: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b="0" i="1"/>
                  <a:t> </a:t>
                </a:r>
                <a:r>
                  <a:rPr lang="en-US" sz="2400" b="0"/>
                  <a:t>revole about x-axis </a:t>
                </a:r>
                <a:endParaRPr lang="en-US" sz="2400" b="0" i="1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52FD0B-BA60-4E05-8C69-5EAAF2CCD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510" y="3024990"/>
                <a:ext cx="5534025" cy="461665"/>
              </a:xfrm>
              <a:prstGeom prst="rect">
                <a:avLst/>
              </a:prstGeom>
              <a:blipFill>
                <a:blip r:embed="rId9"/>
                <a:stretch>
                  <a:fillRect l="-1652" t="-10526" r="-209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C9BC1C91-99A5-4897-AB68-3086223342BF}"/>
              </a:ext>
            </a:extLst>
          </p:cNvPr>
          <p:cNvGrpSpPr/>
          <p:nvPr/>
        </p:nvGrpSpPr>
        <p:grpSpPr>
          <a:xfrm>
            <a:off x="5492083" y="5293187"/>
            <a:ext cx="5534025" cy="1333500"/>
            <a:chOff x="5492083" y="5293187"/>
            <a:chExt cx="5534025" cy="13335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23773F-DE7A-41DC-BDE9-DDDC8E448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492083" y="5293187"/>
              <a:ext cx="5534025" cy="13335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42D7A07-C6C1-4172-A42F-B15C49D05056}"/>
                    </a:ext>
                  </a:extLst>
                </p:cNvPr>
                <p:cNvSpPr txBox="1"/>
                <p:nvPr/>
              </p:nvSpPr>
              <p:spPr>
                <a:xfrm>
                  <a:off x="5887844" y="5540244"/>
                  <a:ext cx="4884234" cy="9561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limLoc m:val="undOvr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vi-V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vi-V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vi-V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𝑑𝑥</m:t>
                                            </m:r>
                                          </m:num>
                                          <m:den>
                                            <m:r>
                                              <a:rPr lang="vi-V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𝑑𝑦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vi-V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vi-VN" b="0" i="1" smtClean="0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e>
                        </m:nary>
                      </m:oMath>
                    </m:oMathPara>
                  </a14:m>
                  <a:endParaRPr lang="en-US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42D7A07-C6C1-4172-A42F-B15C49D050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844" y="5540244"/>
                  <a:ext cx="4884234" cy="95615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7635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8500-691E-4557-BE59-A211CF8D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3C1AF30-383C-4E65-A99E-A346E7EBBAD0}"/>
                  </a:ext>
                </a:extLst>
              </p:cNvPr>
              <p:cNvSpPr/>
              <p:nvPr/>
            </p:nvSpPr>
            <p:spPr>
              <a:xfrm>
                <a:off x="838201" y="1234318"/>
                <a:ext cx="5257800" cy="16044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1. The curve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  <m:t>4−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US" sz="2400" i="1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, is an arc of the circle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=4.</m:t>
                    </m:r>
                  </m:oMath>
                </a14:m>
                <a:r>
                  <a:rPr lang="en-US" sz="2400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 Find the area of the surface obtained by rotating this arc about the </a:t>
                </a:r>
                <a:r>
                  <a:rPr lang="en-US" sz="2400" i="1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x-</a:t>
                </a:r>
                <a:r>
                  <a:rPr lang="en-US" sz="2400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­axis. </a:t>
                </a:r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3C1AF30-383C-4E65-A99E-A346E7EBBA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234318"/>
                <a:ext cx="5257800" cy="1604414"/>
              </a:xfrm>
              <a:prstGeom prst="rect">
                <a:avLst/>
              </a:prstGeom>
              <a:blipFill>
                <a:blip r:embed="rId2"/>
                <a:stretch>
                  <a:fillRect l="-1856" r="-174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08A760E-4275-4864-A3E5-5428624ABBBF}"/>
                  </a:ext>
                </a:extLst>
              </p:cNvPr>
              <p:cNvSpPr/>
              <p:nvPr/>
            </p:nvSpPr>
            <p:spPr>
              <a:xfrm>
                <a:off x="6177115" y="1315516"/>
                <a:ext cx="52578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2. Find the area of the surface obtained by rotating the arc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(1,1)</m:t>
                    </m:r>
                  </m:oMath>
                </a14:m>
                <a:r>
                  <a:rPr lang="en-US" sz="2400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</a:rPr>
                      <m:t>(2,4)</m:t>
                    </m:r>
                  </m:oMath>
                </a14:m>
                <a:r>
                  <a:rPr lang="en-US" sz="2400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 about the </a:t>
                </a:r>
                <a:r>
                  <a:rPr lang="en-US" sz="2400" i="1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y-</a:t>
                </a:r>
                <a:r>
                  <a:rPr lang="en-US" sz="2400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­axis. </a:t>
                </a:r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08A760E-4275-4864-A3E5-5428624ABB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115" y="1315516"/>
                <a:ext cx="5257800" cy="1200329"/>
              </a:xfrm>
              <a:prstGeom prst="rect">
                <a:avLst/>
              </a:prstGeom>
              <a:blipFill>
                <a:blip r:embed="rId3"/>
                <a:stretch>
                  <a:fillRect l="-1738" t="-4061" r="-1738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60E5F2EF-83FB-4334-BA60-1189416DA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915751"/>
            <a:ext cx="2308123" cy="29026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3E2CA5-321B-4182-A50A-47357A885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142" y="2838732"/>
            <a:ext cx="2576359" cy="281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4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50E1-0426-4F04-B250-AB5AAC78E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1427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  <a:t>ARC LENGTH AND SURFACE AREA </a:t>
            </a:r>
            <a:b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</a:br>
            <a: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  <a:t>IN POLAR 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97371E-EC84-4752-88FF-80F46A015740}"/>
                  </a:ext>
                </a:extLst>
              </p:cNvPr>
              <p:cNvSpPr txBox="1"/>
              <p:nvPr/>
            </p:nvSpPr>
            <p:spPr>
              <a:xfrm>
                <a:off x="901260" y="1576552"/>
                <a:ext cx="10271234" cy="1984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latin typeface="Palatino Linotype" panose="02040502050505030304" pitchFamily="18" charset="0"/>
                  </a:rPr>
                  <a:t>The length of a curve with polar equation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is given by the integral: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𝑑𝑠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𝑑𝑟</m:t>
                                          </m:r>
                                        </m:num>
                                        <m:den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br>
                  <a:rPr lang="en-US" sz="2400">
                    <a:latin typeface="Palatino Linotype" panose="02040502050505030304" pitchFamily="18" charset="0"/>
                  </a:rPr>
                </a:br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97371E-EC84-4752-88FF-80F46A015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60" y="1576552"/>
                <a:ext cx="10271234" cy="1984967"/>
              </a:xfrm>
              <a:prstGeom prst="rect">
                <a:avLst/>
              </a:prstGeom>
              <a:blipFill>
                <a:blip r:embed="rId3"/>
                <a:stretch>
                  <a:fillRect l="-950" t="-2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A69E95-3356-41B4-8237-D96710F9FFD6}"/>
                  </a:ext>
                </a:extLst>
              </p:cNvPr>
              <p:cNvSpPr txBox="1"/>
              <p:nvPr/>
            </p:nvSpPr>
            <p:spPr>
              <a:xfrm>
                <a:off x="1053660" y="3694381"/>
                <a:ext cx="10271234" cy="1984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The area of the surface obtained by rotating the </a:t>
                </a:r>
                <a:r>
                  <a:rPr lang="en-US" sz="2400">
                    <a:latin typeface="Palatino Linotype" panose="02040502050505030304" pitchFamily="18" charset="0"/>
                  </a:rPr>
                  <a:t>curve with polar equation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>
                    <a:latin typeface="Palatino Linotype" panose="02040502050505030304" pitchFamily="18" charset="0"/>
                  </a:rPr>
                  <a:t> </a:t>
                </a:r>
                <a:r>
                  <a:rPr lang="en-US" sz="2400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about the </a:t>
                </a:r>
                <a:r>
                  <a:rPr lang="en-US" sz="2400" i="1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x-</a:t>
                </a:r>
                <a:r>
                  <a:rPr lang="en-US" sz="2400">
                    <a:solidFill>
                      <a:srgbClr val="231F20"/>
                    </a:solidFill>
                    <a:latin typeface="Palatino Linotype" panose="02040502050505030304" pitchFamily="18" charset="0"/>
                  </a:rPr>
                  <a:t>­axis </a:t>
                </a:r>
                <a:r>
                  <a:rPr lang="en-US" sz="2400">
                    <a:latin typeface="Palatino Linotype" panose="02040502050505030304" pitchFamily="18" charset="0"/>
                  </a:rPr>
                  <a:t>is given by the integral: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𝑦𝑑𝑠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limLoc m:val="undOvr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𝑑𝑟</m:t>
                                          </m:r>
                                        </m:num>
                                        <m:den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br>
                  <a:rPr lang="en-US" sz="2400">
                    <a:latin typeface="Palatino Linotype" panose="02040502050505030304" pitchFamily="18" charset="0"/>
                  </a:rPr>
                </a:br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A69E95-3356-41B4-8237-D96710F9F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660" y="3694381"/>
                <a:ext cx="10271234" cy="1984967"/>
              </a:xfrm>
              <a:prstGeom prst="rect">
                <a:avLst/>
              </a:prstGeom>
              <a:blipFill>
                <a:blip r:embed="rId4"/>
                <a:stretch>
                  <a:fillRect l="-950" t="-2454" r="-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931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7AD3-8B4B-4483-9A06-35FF76DF2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3358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B0F0"/>
                </a:solidFill>
                <a:latin typeface="Palatino Linotype" panose="02040502050505030304" pitchFamily="18" charset="0"/>
              </a:rPr>
              <a:t>EXERCISES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5C6C54-ECEE-4F76-8047-E9FE9CC6284A}"/>
                  </a:ext>
                </a:extLst>
              </p:cNvPr>
              <p:cNvSpPr txBox="1"/>
              <p:nvPr/>
            </p:nvSpPr>
            <p:spPr>
              <a:xfrm>
                <a:off x="966952" y="1051037"/>
                <a:ext cx="4856436" cy="2741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>
                    <a:latin typeface="Palatino Linotype" panose="02040502050505030304" pitchFamily="18" charset="0"/>
                  </a:rPr>
                  <a:t>1. Set up an integral for the area of the surface obtained by rotating the curve about (i) the </a:t>
                </a:r>
                <a:r>
                  <a:rPr lang="en-US" sz="2400" i="1">
                    <a:latin typeface="Palatino Linotype" panose="02040502050505030304" pitchFamily="18" charset="0"/>
                  </a:rPr>
                  <a:t>x</a:t>
                </a:r>
                <a:r>
                  <a:rPr lang="en-US" sz="2400">
                    <a:latin typeface="Palatino Linotype" panose="02040502050505030304" pitchFamily="18" charset="0"/>
                  </a:rPr>
                  <a:t>­-axis and (ii) the </a:t>
                </a:r>
                <a:r>
                  <a:rPr lang="en-US" sz="2400" i="1">
                    <a:latin typeface="Palatino Linotype" panose="02040502050505030304" pitchFamily="18" charset="0"/>
                  </a:rPr>
                  <a:t>y-</a:t>
                </a:r>
                <a:r>
                  <a:rPr lang="en-US" sz="2400">
                    <a:latin typeface="Palatino Linotype" panose="02040502050505030304" pitchFamily="18" charset="0"/>
                  </a:rPr>
                  <a:t>­axis </a:t>
                </a:r>
              </a:p>
              <a:p>
                <a:pPr marL="914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,0≤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,−1≤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,0≤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func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5C6C54-ECEE-4F76-8047-E9FE9CC62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52" y="1051037"/>
                <a:ext cx="4856436" cy="2741200"/>
              </a:xfrm>
              <a:prstGeom prst="rect">
                <a:avLst/>
              </a:prstGeom>
              <a:blipFill>
                <a:blip r:embed="rId3"/>
                <a:stretch>
                  <a:fillRect l="-2010" t="-1778" r="-1884" b="-3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7A6EA7-3E91-4B66-81BE-A7DD55A37A7A}"/>
                  </a:ext>
                </a:extLst>
              </p:cNvPr>
              <p:cNvSpPr txBox="1"/>
              <p:nvPr/>
            </p:nvSpPr>
            <p:spPr>
              <a:xfrm>
                <a:off x="6584711" y="1056294"/>
                <a:ext cx="485643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>
                    <a:latin typeface="Palatino Linotype" panose="02040502050505030304" pitchFamily="18" charset="0"/>
                  </a:rPr>
                  <a:t>2. Find the exact area of the surface obtained by rotating the curve about the </a:t>
                </a:r>
                <a:r>
                  <a:rPr lang="en-US" sz="2400" i="1">
                    <a:latin typeface="Palatino Linotype" panose="02040502050505030304" pitchFamily="18" charset="0"/>
                  </a:rPr>
                  <a:t>x</a:t>
                </a:r>
                <a:r>
                  <a:rPr lang="en-US" sz="2400">
                    <a:latin typeface="Palatino Linotype" panose="02040502050505030304" pitchFamily="18" charset="0"/>
                  </a:rPr>
                  <a:t>­-axis </a:t>
                </a:r>
              </a:p>
              <a:p>
                <a:pPr marL="914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,0≤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+1,0≤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endParaRPr lang="en-US" sz="2400" b="0">
                  <a:latin typeface="Palatino Linotype" panose="02040502050505030304" pitchFamily="18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=1+2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,1≤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7A6EA7-3E91-4B66-81BE-A7DD55A37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711" y="1056294"/>
                <a:ext cx="4856436" cy="2308324"/>
              </a:xfrm>
              <a:prstGeom prst="rect">
                <a:avLst/>
              </a:prstGeom>
              <a:blipFill>
                <a:blip r:embed="rId4"/>
                <a:stretch>
                  <a:fillRect l="-1882" t="-2111" r="-1882" b="-4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C465A0B-036A-4095-8455-23D5EC4F683A}"/>
                  </a:ext>
                </a:extLst>
              </p:cNvPr>
              <p:cNvSpPr/>
              <p:nvPr/>
            </p:nvSpPr>
            <p:spPr>
              <a:xfrm>
                <a:off x="966952" y="4211589"/>
                <a:ext cx="516038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>
                    <a:latin typeface="Palatino Linotype" panose="02040502050505030304" pitchFamily="18" charset="0"/>
                  </a:rPr>
                  <a:t>3. Find the exact length of the polar curve:</a:t>
                </a:r>
              </a:p>
              <a:p>
                <a:pPr marL="457200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,0≤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func>
                  </m:oMath>
                </a14:m>
                <a:endParaRPr lang="en-US" sz="2400" b="0">
                  <a:latin typeface="Palatino Linotype" panose="02040502050505030304" pitchFamily="18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=2(1+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).</m:t>
                        </m:r>
                      </m:e>
                    </m:func>
                  </m:oMath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C465A0B-036A-4095-8455-23D5EC4F6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52" y="4211589"/>
                <a:ext cx="5160387" cy="1938992"/>
              </a:xfrm>
              <a:prstGeom prst="rect">
                <a:avLst/>
              </a:prstGeom>
              <a:blipFill>
                <a:blip r:embed="rId5"/>
                <a:stretch>
                  <a:fillRect l="-1891" t="-2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62D084-E49B-41F6-BF24-A0D8A224F854}"/>
                  </a:ext>
                </a:extLst>
              </p:cNvPr>
              <p:cNvSpPr/>
              <p:nvPr/>
            </p:nvSpPr>
            <p:spPr>
              <a:xfrm>
                <a:off x="6584711" y="4214498"/>
                <a:ext cx="516038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>
                    <a:latin typeface="Palatino Linotype" panose="02040502050505030304" pitchFamily="18" charset="0"/>
                  </a:rPr>
                  <a:t>4. Find the surface area generated when the given polar curve is revolved about </a:t>
                </a:r>
                <a:r>
                  <a:rPr lang="en-US" sz="2400" i="1">
                    <a:latin typeface="Palatino Linotype" panose="02040502050505030304" pitchFamily="18" charset="0"/>
                  </a:rPr>
                  <a:t>x</a:t>
                </a:r>
                <a:r>
                  <a:rPr lang="en-US" sz="2400">
                    <a:latin typeface="Palatino Linotype" panose="02040502050505030304" pitchFamily="18" charset="0"/>
                  </a:rPr>
                  <a:t>-axis: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=2(1−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),0≤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</m:oMathPara>
                </a14:m>
                <a:endParaRPr lang="en-US" sz="2400">
                  <a:latin typeface="Palatino Linotype" panose="02040502050505030304" pitchFamily="18" charset="0"/>
                </a:endParaRPr>
              </a:p>
              <a:p>
                <a:endParaRPr lang="en-US" sz="240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62D084-E49B-41F6-BF24-A0D8A224F8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711" y="4214498"/>
                <a:ext cx="5160387" cy="1938992"/>
              </a:xfrm>
              <a:prstGeom prst="rect">
                <a:avLst/>
              </a:prstGeom>
              <a:blipFill>
                <a:blip r:embed="rId6"/>
                <a:stretch>
                  <a:fillRect l="-1771" t="-2516" r="-1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592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2991</TotalTime>
  <Words>601</Words>
  <Application>Microsoft Office PowerPoint</Application>
  <PresentationFormat>Widescreen</PresentationFormat>
  <Paragraphs>64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Palatino Linotype</vt:lpstr>
      <vt:lpstr>Office Theme</vt:lpstr>
      <vt:lpstr>ARC LENGTH AND  SURFACE AREA</vt:lpstr>
      <vt:lpstr>ARC LENGTH</vt:lpstr>
      <vt:lpstr>PowerPoint Presentation</vt:lpstr>
      <vt:lpstr>EXAMPLES</vt:lpstr>
      <vt:lpstr>EXERCISES</vt:lpstr>
      <vt:lpstr>AREA OF A SURFACE OF REVOLUTION </vt:lpstr>
      <vt:lpstr>AREA OF A SURFACE OF REVOLUTION </vt:lpstr>
      <vt:lpstr>EXAMPLES</vt:lpstr>
      <vt:lpstr>ARC LENGTH AND SURFACE AREA  IN POLAR COORDINATES</vt:lpstr>
      <vt:lpstr>EXERCISES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LENGTH AND  SURFACE AREAS</dc:title>
  <dc:creator>Duc Dung Banh</dc:creator>
  <cp:lastModifiedBy>Duc Dung Banh</cp:lastModifiedBy>
  <cp:revision>68</cp:revision>
  <dcterms:created xsi:type="dcterms:W3CDTF">2020-03-07T01:38:13Z</dcterms:created>
  <dcterms:modified xsi:type="dcterms:W3CDTF">2020-03-12T13:50:17Z</dcterms:modified>
</cp:coreProperties>
</file>