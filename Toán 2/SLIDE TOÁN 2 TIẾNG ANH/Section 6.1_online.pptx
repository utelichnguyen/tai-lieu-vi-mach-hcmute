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62" r:id="rId6"/>
    <p:sldId id="259" r:id="rId7"/>
    <p:sldId id="261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4" Type="http://schemas.openxmlformats.org/officeDocument/2006/relationships/image" Target="../media/image3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BBC84-ED0F-414C-8DED-EE8FB8F361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2A350F-519C-4C13-978E-856B2FF51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DFD92-C92E-4C6F-9942-41CD1760D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2F485-20D1-433D-8D16-E8384727D5F4}" type="datetimeFigureOut">
              <a:rPr lang="en-US" smtClean="0"/>
              <a:t>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B8666-F6A3-4E06-8772-FBEF24896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C8C7A-16E1-418E-91B1-DB4008E2B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6446C-7B7A-4BF4-830A-F85E63777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637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943BC-FD5B-47B8-9E45-34A0F1010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1ABB4-507B-4E1E-A514-385F73FFB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12F31-2E98-41CA-91A4-BFD9F4B4A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2F485-20D1-433D-8D16-E8384727D5F4}" type="datetimeFigureOut">
              <a:rPr lang="en-US" smtClean="0"/>
              <a:t>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8D322-9809-44FF-BC33-88F46C4D4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E458B-1713-4548-BEB3-E46F6AFD0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6446C-7B7A-4BF4-830A-F85E63777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643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701B-9135-49AF-85A0-E02B9E7DC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A78EB-98A8-40D0-AE41-469A0197A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70605-4503-4BE2-90A0-58A77C671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2F485-20D1-433D-8D16-E8384727D5F4}" type="datetimeFigureOut">
              <a:rPr lang="en-US" smtClean="0"/>
              <a:t>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B293A-1290-4F09-9A9C-5A92B7920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C72D0-9CC7-4FA1-88B8-132EDD7F4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6446C-7B7A-4BF4-830A-F85E63777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597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DD236-8C11-421C-AD8C-16FC9EE87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2A6B2-40EB-4019-AC88-AB82E1821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141C0D-F47F-47B8-B9DE-C0D4BDED9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B66813-ED8B-45B4-948A-BC5FFE5A9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2F485-20D1-433D-8D16-E8384727D5F4}" type="datetimeFigureOut">
              <a:rPr lang="en-US" smtClean="0"/>
              <a:t>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D91F4-E90B-4D76-BEF8-225E58BBB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EF230-2697-4D69-9DB3-F6D435B4D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6446C-7B7A-4BF4-830A-F85E63777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299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7F155-E3DC-4232-A29A-91B1B45D3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96206-6547-4A9B-8D3A-C6A002458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F37AB-8B54-4004-BBDD-5C8ACFD43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F88EB0-3272-42C0-8537-4F5FD3E120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73E88E-8DF8-4DDC-9759-ACCEC42EDA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610655-0629-4922-A433-0BA7751BC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2F485-20D1-433D-8D16-E8384727D5F4}" type="datetimeFigureOut">
              <a:rPr lang="en-US" smtClean="0"/>
              <a:t>2/19/2020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4C7008-3C58-4829-85C6-883BE3C5E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E7DBB5-C518-4C88-9B55-9DAC7391E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6446C-7B7A-4BF4-830A-F85E63777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441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6CC2C-72D2-4D62-A64D-807BCFFBB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389D73-2D4A-4773-86BF-D28942657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2F485-20D1-433D-8D16-E8384727D5F4}" type="datetimeFigureOut">
              <a:rPr lang="en-US" smtClean="0"/>
              <a:t>2/19/2020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62758-898B-4889-A096-89D8CBB33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BB4887-60CB-4067-960A-7C8C7EE1C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6446C-7B7A-4BF4-830A-F85E63777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023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22BA28-9B00-4B04-93FF-6C1F9487F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2F485-20D1-433D-8D16-E8384727D5F4}" type="datetimeFigureOut">
              <a:rPr lang="en-US" smtClean="0"/>
              <a:t>2/19/2020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A9A39E-EDB7-451F-93E7-ADB20AE2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EEC01-F95E-421F-9DCF-8A7471CE0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6446C-7B7A-4BF4-830A-F85E63777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800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E62B1-B141-4281-9EA8-D5EB58917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D9993-3788-484B-997E-BF5D313F3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CD43DF-7C1F-4CDC-B805-20114D1AF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2500E8-ED6A-4610-B8E2-C88607D51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2F485-20D1-433D-8D16-E8384727D5F4}" type="datetimeFigureOut">
              <a:rPr lang="en-US" smtClean="0"/>
              <a:t>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EBD439-9E9B-4D36-816D-E9A5B03A4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D333DC-9DB3-49E2-94D6-ECEDFEE09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6446C-7B7A-4BF4-830A-F85E63777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127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16FE2-7F2B-4BE1-95A4-4CD748ED2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9C501B-7503-4472-B667-615AB45E4C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E57613-9F41-473D-BC70-C323D8FAA7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1930AE-8064-4780-92DF-13E7C9C3A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2F485-20D1-433D-8D16-E8384727D5F4}" type="datetimeFigureOut">
              <a:rPr lang="en-US" smtClean="0"/>
              <a:t>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11C080-3590-4269-B6AA-078535D43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05353B-AA6A-477F-82D1-463BF84BB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6446C-7B7A-4BF4-830A-F85E63777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305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6B19C-5554-4D60-8EF5-DCC2C329D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A82B2D-E0C3-419D-B9E7-0B4167F5E6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502BA-2672-46C9-AEA5-9CD44418B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2F485-20D1-433D-8D16-E8384727D5F4}" type="datetimeFigureOut">
              <a:rPr lang="en-US" smtClean="0"/>
              <a:t>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20A26-F3DE-4E1B-B34E-133267F69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327CC-ECA8-4F4A-97F1-8AF590D32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6446C-7B7A-4BF4-830A-F85E63777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421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61DD8E-5760-4811-BE9F-FF9D8181FF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8F288B-C6C2-4C16-80EA-D593A49E28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FB80C-B76C-4F4B-B6B4-4DB7F5EE8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2F485-20D1-433D-8D16-E8384727D5F4}" type="datetimeFigureOut">
              <a:rPr lang="en-US" smtClean="0"/>
              <a:t>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C411B-63F0-471E-8FE4-BB0E27D00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41EB0-4982-438E-A2FD-1C94CA653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6446C-7B7A-4BF4-830A-F85E63777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714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4E2B4D-8147-4969-8695-3914DA907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2B5E6-78D8-464B-B773-89F93D4F3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8575B-A668-4AB6-829B-EB0EB61463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2F485-20D1-433D-8D16-E8384727D5F4}" type="datetimeFigureOut">
              <a:rPr lang="en-US" smtClean="0"/>
              <a:t>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B059A-91A7-4106-A297-F0BF969B4F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D5D49-0C33-4825-898A-CBB80CF849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6446C-7B7A-4BF4-830A-F85E63777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305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4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6.png"/><Relationship Id="rId4" Type="http://schemas.openxmlformats.org/officeDocument/2006/relationships/image" Target="../media/image1.wmf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5.png"/><Relationship Id="rId7" Type="http://schemas.openxmlformats.org/officeDocument/2006/relationships/image" Target="../media/image32.wmf"/><Relationship Id="rId12" Type="http://schemas.openxmlformats.org/officeDocument/2006/relationships/image" Target="../media/image34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11" Type="http://schemas.openxmlformats.org/officeDocument/2006/relationships/oleObject" Target="../embeddings/oleObject9.bin"/><Relationship Id="rId5" Type="http://schemas.openxmlformats.org/officeDocument/2006/relationships/image" Target="../media/image31.wmf"/><Relationship Id="rId10" Type="http://schemas.openxmlformats.org/officeDocument/2006/relationships/image" Target="../media/image33.wmf"/><Relationship Id="rId4" Type="http://schemas.openxmlformats.org/officeDocument/2006/relationships/oleObject" Target="../embeddings/oleObject6.bin"/><Relationship Id="rId9" Type="http://schemas.openxmlformats.org/officeDocument/2006/relationships/oleObject" Target="../embeddings/oleObject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216CA-5139-4725-95FB-42C79A598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 b="1" dirty="0"/>
              <a:t>Section 6.1.</a:t>
            </a:r>
            <a:br>
              <a:rPr lang="en-US" b="1" dirty="0"/>
            </a:br>
            <a:r>
              <a:rPr lang="en-US" b="1" dirty="0">
                <a:solidFill>
                  <a:srgbClr val="00B0F0"/>
                </a:solidFill>
              </a:rPr>
              <a:t>Area between two curves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B6D41F-A43D-4969-B54D-090396B380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418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134FC-6BBF-4E80-82E5-4E6435624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237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B0F0"/>
                </a:solidFill>
              </a:rPr>
              <a:t>Area under a curve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FC59EB-C44E-43AB-AAEC-D9F2623EC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3764" y="1300899"/>
            <a:ext cx="5181600" cy="4885491"/>
          </a:xfrm>
        </p:spPr>
        <p:txBody>
          <a:bodyPr/>
          <a:lstStyle/>
          <a:p>
            <a:r>
              <a:rPr lang="en-US" i="1" dirty="0"/>
              <a:t>f: </a:t>
            </a:r>
            <a:r>
              <a:rPr lang="en-US" dirty="0"/>
              <a:t>continuous on [</a:t>
            </a:r>
            <a:r>
              <a:rPr lang="en-US" dirty="0" err="1"/>
              <a:t>a,b</a:t>
            </a:r>
            <a:r>
              <a:rPr lang="en-US" dirty="0"/>
              <a:t>]</a:t>
            </a:r>
          </a:p>
          <a:p>
            <a:r>
              <a:rPr lang="en-US" i="1" dirty="0"/>
              <a:t>f</a:t>
            </a:r>
            <a:r>
              <a:rPr lang="en-US" dirty="0"/>
              <a:t> is non-negative on [</a:t>
            </a:r>
            <a:r>
              <a:rPr lang="en-US" dirty="0" err="1"/>
              <a:t>a,b</a:t>
            </a:r>
            <a:r>
              <a:rPr lang="en-US" dirty="0"/>
              <a:t>]</a:t>
            </a:r>
            <a:r>
              <a:rPr lang="en-US" i="1" dirty="0"/>
              <a:t> </a:t>
            </a:r>
          </a:p>
          <a:p>
            <a:pPr marL="0" indent="0">
              <a:buNone/>
            </a:pPr>
            <a:r>
              <a:rPr lang="en-US" i="1" dirty="0"/>
              <a:t>D</a:t>
            </a:r>
            <a:r>
              <a:rPr lang="en-US" dirty="0"/>
              <a:t> is the region that lies under the curve                 from </a:t>
            </a:r>
            <a:r>
              <a:rPr lang="en-US" i="1" dirty="0"/>
              <a:t>a</a:t>
            </a:r>
            <a:r>
              <a:rPr lang="en-US" dirty="0"/>
              <a:t> to </a:t>
            </a:r>
            <a:r>
              <a:rPr lang="en-US" i="1" dirty="0"/>
              <a:t>b</a:t>
            </a:r>
            <a:r>
              <a:rPr lang="en-US" dirty="0"/>
              <a:t>. </a:t>
            </a:r>
            <a:endParaRPr lang="en-US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09A39D-2CFD-4C89-9EF3-106FB31577E6}"/>
              </a:ext>
            </a:extLst>
          </p:cNvPr>
          <p:cNvSpPr txBox="1"/>
          <p:nvPr/>
        </p:nvSpPr>
        <p:spPr>
          <a:xfrm>
            <a:off x="838200" y="5354425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Area under graph of </a:t>
            </a:r>
            <a:r>
              <a:rPr lang="en-US" sz="2800" i="1" dirty="0"/>
              <a:t>f</a:t>
            </a:r>
            <a:r>
              <a:rPr lang="en-US" sz="2800" dirty="0"/>
              <a:t> is </a:t>
            </a: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D74811EB-1515-4F89-B19D-2091C6FD68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0884805"/>
              </p:ext>
            </p:extLst>
          </p:nvPr>
        </p:nvGraphicFramePr>
        <p:xfrm>
          <a:off x="1152525" y="4340225"/>
          <a:ext cx="4305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3" name="Equation" r:id="rId3" imgW="4305240" imgH="888840" progId="Equation.DSMT4">
                  <p:embed/>
                </p:oleObj>
              </mc:Choice>
              <mc:Fallback>
                <p:oleObj name="Equation" r:id="rId3" imgW="430524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52525" y="4340225"/>
                        <a:ext cx="43053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F981FAEC-0992-4C45-BD90-3E46D6FC36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9472085"/>
              </p:ext>
            </p:extLst>
          </p:nvPr>
        </p:nvGraphicFramePr>
        <p:xfrm>
          <a:off x="1403350" y="3439572"/>
          <a:ext cx="3390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4" name="Equation" r:id="rId5" imgW="3390840" imgH="787320" progId="Equation.DSMT4">
                  <p:embed/>
                </p:oleObj>
              </mc:Choice>
              <mc:Fallback>
                <p:oleObj name="Equation" r:id="rId5" imgW="339084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03350" y="3439572"/>
                        <a:ext cx="33909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C953222D-11FE-47BA-A7C2-877DC9BCD8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9418797"/>
              </p:ext>
            </p:extLst>
          </p:nvPr>
        </p:nvGraphicFramePr>
        <p:xfrm>
          <a:off x="2165758" y="5879304"/>
          <a:ext cx="1790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5" name="Equation" r:id="rId7" imgW="1790640" imgH="888840" progId="Equation.DSMT4">
                  <p:embed/>
                </p:oleObj>
              </mc:Choice>
              <mc:Fallback>
                <p:oleObj name="Equation" r:id="rId7" imgW="179064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65758" y="5879304"/>
                        <a:ext cx="17907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F089F9CE-A37B-4F22-929F-3CFB1EBCC4F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9927" y="1498864"/>
            <a:ext cx="5181601" cy="245519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BBAA5A7-5682-4293-9268-A1980A30031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2379" y="3971593"/>
            <a:ext cx="5271124" cy="2618748"/>
          </a:xfrm>
          <a:prstGeom prst="rect">
            <a:avLst/>
          </a:prstGeom>
        </p:spPr>
      </p:pic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685D5CE-E6B2-4C61-B289-FFA9D54CC0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3590462"/>
              </p:ext>
            </p:extLst>
          </p:nvPr>
        </p:nvGraphicFramePr>
        <p:xfrm>
          <a:off x="1913900" y="2794000"/>
          <a:ext cx="110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6" name="Equation" r:id="rId11" imgW="1104840" imgH="342720" progId="Equation.DSMT4">
                  <p:embed/>
                </p:oleObj>
              </mc:Choice>
              <mc:Fallback>
                <p:oleObj name="Equation" r:id="rId11" imgW="11048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13900" y="2794000"/>
                        <a:ext cx="1104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4592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3EB76-380F-4C77-8F9E-B542475BD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52EA00-923B-4070-A8CB-119E74CED887}"/>
              </a:ext>
            </a:extLst>
          </p:cNvPr>
          <p:cNvSpPr txBox="1"/>
          <p:nvPr/>
        </p:nvSpPr>
        <p:spPr>
          <a:xfrm>
            <a:off x="838200" y="1574276"/>
            <a:ext cx="5257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Find the area under the curve y=</a:t>
            </a:r>
            <a:r>
              <a:rPr lang="en-US" sz="2400" dirty="0" err="1"/>
              <a:t>x</a:t>
            </a:r>
            <a:r>
              <a:rPr lang="en-US" sz="2400" baseline="30000" dirty="0" err="1"/>
              <a:t>2</a:t>
            </a:r>
            <a:r>
              <a:rPr lang="en-US" sz="2400" dirty="0"/>
              <a:t> from x=0 to x=1: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2A36F9-B5F6-4B56-A375-626253A29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1348" y="2361246"/>
            <a:ext cx="2498103" cy="22068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0ECA9C-553E-4812-82FE-12FCDB58E2AE}"/>
              </a:ext>
            </a:extLst>
          </p:cNvPr>
          <p:cNvSpPr txBox="1"/>
          <p:nvPr/>
        </p:nvSpPr>
        <p:spPr>
          <a:xfrm>
            <a:off x="6062219" y="1556990"/>
            <a:ext cx="5257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Find the area bounded by the curve y=</a:t>
            </a:r>
            <a:r>
              <a:rPr lang="en-US" sz="2400" dirty="0" err="1"/>
              <a:t>x</a:t>
            </a:r>
            <a:r>
              <a:rPr lang="en-US" sz="2400" baseline="30000" dirty="0" err="1"/>
              <a:t>2</a:t>
            </a:r>
            <a:r>
              <a:rPr lang="en-US" sz="2400" dirty="0"/>
              <a:t>-x and x-axis from x=0 to x=2: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8D3183-4204-4664-BE76-3377120E5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3186" y="2378607"/>
            <a:ext cx="1922537" cy="210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040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23888-4016-406F-98EF-651327C10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9711"/>
            <a:ext cx="10515600" cy="109095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B0F0"/>
                </a:solidFill>
              </a:rPr>
              <a:t>Area between two curves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62A106-1430-4122-9526-E7579353FFA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89410" y="1213363"/>
            <a:ext cx="2423474" cy="2009898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ECC84A5-579D-4B30-BCBA-327A809F9E1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9087442" y="1335429"/>
            <a:ext cx="2498540" cy="21804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B4BB93-0313-432A-8348-93C58BE89B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252" y="3295749"/>
            <a:ext cx="3192544" cy="8078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75EB5A-FE93-4FCC-BD0D-0D590FE2EB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4249981"/>
            <a:ext cx="6096000" cy="12671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AC7299-5721-4466-B616-447E9958E2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0045" y="1202358"/>
            <a:ext cx="2721984" cy="22758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98CE4EC-978C-4CB1-A57C-6C30426892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3508853"/>
            <a:ext cx="5799841" cy="10558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B3F376-911A-45BD-B87F-46BA8609F2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848" y="4685184"/>
            <a:ext cx="5571218" cy="7917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4D2E01C-5B45-43E5-B52D-1691C6C94D8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96719" y="1403392"/>
            <a:ext cx="2507066" cy="177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535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2A098-8581-4348-A8BA-2DFD7862E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749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B0F0"/>
                </a:solidFill>
              </a:rPr>
              <a:t>Examples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32C17B-5E77-423D-9A5B-B998B70AA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859" y="1379054"/>
            <a:ext cx="2203173" cy="19883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37D9DB-019E-4A3D-831F-5F7FA0ED9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773" y="1414270"/>
            <a:ext cx="1977887" cy="19531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CF3F47-0B04-4D7A-8819-0D008A145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1" y="1567725"/>
            <a:ext cx="1792284" cy="18321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1C72E2-3617-4BF5-91C7-F23611BF92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7426" y="1245636"/>
            <a:ext cx="2187931" cy="212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820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CA3F9-4D9A-45B3-A14D-E120CEB20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9710"/>
            <a:ext cx="10515600" cy="839629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B0F0"/>
                </a:solidFill>
              </a:rPr>
              <a:t>Examples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47E10C-06A7-4852-901A-4EDB77E4F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643" y="1036759"/>
            <a:ext cx="3294712" cy="22336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D1B3CE-7670-4577-B0C7-1A882AF6F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032" y="1035521"/>
            <a:ext cx="2784879" cy="20807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89C405-4411-481D-AEAA-C62DB479AB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4342" y="1028162"/>
            <a:ext cx="3442007" cy="25257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EA325B-A735-4339-B948-A7EFEC8958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6561" y="3584964"/>
            <a:ext cx="3278070" cy="6377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4FA4D5-3612-4F53-A44C-24C131E4FE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3610" y="4355186"/>
            <a:ext cx="3505529" cy="24558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EDC1A2-FE2D-4828-A971-D6E64795E2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8471" y="3279803"/>
            <a:ext cx="3298580" cy="10724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A58F85-DBF6-4112-84C9-378D4CE9C4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6685" y="3216744"/>
            <a:ext cx="3598023" cy="125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006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F748F66D-2360-46A3-905A-F967345227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969649"/>
              </p:ext>
            </p:extLst>
          </p:nvPr>
        </p:nvGraphicFramePr>
        <p:xfrm>
          <a:off x="682740" y="952500"/>
          <a:ext cx="4275759" cy="10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Equation" r:id="rId3" imgW="2400120" imgH="583920" progId="Equation.DSMT4">
                  <p:embed/>
                </p:oleObj>
              </mc:Choice>
              <mc:Fallback>
                <p:oleObj name="Equation" r:id="rId3" imgW="2400120" imgH="58392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F748F66D-2360-46A3-905A-F967345227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2740" y="952500"/>
                        <a:ext cx="4275759" cy="103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E15430CB-A364-4D21-B404-293C6FD7A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295"/>
            <a:ext cx="10515600" cy="839629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B0F0"/>
                </a:solidFill>
              </a:rPr>
              <a:t>Examples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3A4344-D0EC-4B24-BBE8-A4FB8F1505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336" y="2225154"/>
            <a:ext cx="4478126" cy="41888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89E0018-25F4-4A33-B364-999AA08CDD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9812" y="3054281"/>
            <a:ext cx="6528126" cy="3439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550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E7104C-2044-487C-8C11-E91222E1C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823" y="3871887"/>
            <a:ext cx="3120436" cy="2104707"/>
          </a:xfrm>
          <a:prstGeom prst="rect">
            <a:avLst/>
          </a:prstGeom>
        </p:spPr>
      </p:pic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F748F66D-2360-46A3-905A-F967345227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8104257"/>
              </p:ext>
            </p:extLst>
          </p:nvPr>
        </p:nvGraphicFramePr>
        <p:xfrm>
          <a:off x="447676" y="1250882"/>
          <a:ext cx="8752885" cy="597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4" name="Equation" r:id="rId4" imgW="4279680" imgH="291960" progId="Equation.DSMT4">
                  <p:embed/>
                </p:oleObj>
              </mc:Choice>
              <mc:Fallback>
                <p:oleObj name="Equation" r:id="rId4" imgW="427968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7676" y="1250882"/>
                        <a:ext cx="8752885" cy="5977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96919C2-76E9-430C-BBD0-AD2E710E60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8990418"/>
              </p:ext>
            </p:extLst>
          </p:nvPr>
        </p:nvGraphicFramePr>
        <p:xfrm>
          <a:off x="447675" y="1871569"/>
          <a:ext cx="1020286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5" name="Equation" r:id="rId6" imgW="3886200" imgH="203040" progId="Equation.DSMT4">
                  <p:embed/>
                </p:oleObj>
              </mc:Choice>
              <mc:Fallback>
                <p:oleObj name="Equation" r:id="rId6" imgW="38862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47675" y="1871569"/>
                        <a:ext cx="10202862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9F17C5A5-4E88-41FC-874D-AEECC6E5901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7782" y="3721448"/>
            <a:ext cx="2150592" cy="2150592"/>
          </a:xfrm>
          <a:prstGeom prst="rect">
            <a:avLst/>
          </a:prstGeom>
        </p:spPr>
      </p:pic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19FF3A2F-0407-489E-8AB1-F294DBD707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2001257"/>
              </p:ext>
            </p:extLst>
          </p:nvPr>
        </p:nvGraphicFramePr>
        <p:xfrm>
          <a:off x="463550" y="2528888"/>
          <a:ext cx="5680075" cy="145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6" name="Equation" r:id="rId9" imgW="2387520" imgH="609480" progId="Equation.DSMT4">
                  <p:embed/>
                </p:oleObj>
              </mc:Choice>
              <mc:Fallback>
                <p:oleObj name="Equation" r:id="rId9" imgW="2387520" imgH="609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3550" y="2528888"/>
                        <a:ext cx="5680075" cy="1450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D5B515C3-FD16-480B-ADE3-BF115F12A3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5704363"/>
              </p:ext>
            </p:extLst>
          </p:nvPr>
        </p:nvGraphicFramePr>
        <p:xfrm>
          <a:off x="6340475" y="2546141"/>
          <a:ext cx="5403850" cy="103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7" name="Equation" r:id="rId11" imgW="2527200" imgH="482400" progId="Equation.DSMT4">
                  <p:embed/>
                </p:oleObj>
              </mc:Choice>
              <mc:Fallback>
                <p:oleObj name="Equation" r:id="rId11" imgW="252720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340475" y="2546141"/>
                        <a:ext cx="5403850" cy="1030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E15430CB-A364-4D21-B404-293C6FD7A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295"/>
            <a:ext cx="10515600" cy="839629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B0F0"/>
                </a:solidFill>
              </a:rPr>
              <a:t>Exercises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90ED111-039B-4FF0-B42B-1F1DBE64656C}"/>
              </a:ext>
            </a:extLst>
          </p:cNvPr>
          <p:cNvCxnSpPr>
            <a:cxnSpLocks/>
          </p:cNvCxnSpPr>
          <p:nvPr/>
        </p:nvCxnSpPr>
        <p:spPr>
          <a:xfrm>
            <a:off x="6143625" y="2686639"/>
            <a:ext cx="0" cy="39404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9767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9796</TotalTime>
  <Words>98</Words>
  <Application>Microsoft Office PowerPoint</Application>
  <PresentationFormat>Widescreen</PresentationFormat>
  <Paragraphs>14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Equation</vt:lpstr>
      <vt:lpstr>Section 6.1. Area between two curves</vt:lpstr>
      <vt:lpstr>Area under a curve</vt:lpstr>
      <vt:lpstr>Examples</vt:lpstr>
      <vt:lpstr>Area between two curves</vt:lpstr>
      <vt:lpstr>Examples</vt:lpstr>
      <vt:lpstr>Examples</vt:lpstr>
      <vt:lpstr>Examples</vt:lpstr>
      <vt:lpstr>Exercises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Section 6.1. Area between two curves</dc:title>
  <dc:creator>Duc Dung Banh</dc:creator>
  <cp:lastModifiedBy>Duc Dung Banh</cp:lastModifiedBy>
  <cp:revision>59</cp:revision>
  <dcterms:created xsi:type="dcterms:W3CDTF">2020-02-12T02:34:48Z</dcterms:created>
  <dcterms:modified xsi:type="dcterms:W3CDTF">2020-02-19T21:42:01Z</dcterms:modified>
</cp:coreProperties>
</file>