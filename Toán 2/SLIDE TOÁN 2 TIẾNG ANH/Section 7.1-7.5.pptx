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F667-31F3-4E3E-8902-5A846DA9E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783CE-EEBE-4081-98D4-C86F3996E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FD514-67E5-4F04-A3BF-789501E8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55070-B140-4F0D-9D26-F3BFB7D2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8FA04-EE0E-4B3C-AD8F-B6F72C22C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0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E38B-B1DD-4680-ACC2-292BF1C1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9F982-FE66-4D5B-AD34-E8329D873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6BD59-6F23-4ACB-843E-4D6F83CF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52A49-5E49-44C8-9A02-2FF22DFE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DB2B6-43EF-4D45-9D6E-A889C163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3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D7F9-901B-47E4-ADC8-FB000C6D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0F602-78E1-4650-A709-159EF437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8AD92-2635-4C11-8B21-718D309A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2F7A0-0E61-4C60-9339-EF7867AB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CEDE4-401B-49D3-83EC-2CA43296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1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EDFA-9D53-49C2-BD77-DA31C213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F0107-A97D-4453-B983-DCF0409FA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9DB4D-EE02-4A61-A5B4-31BE883E3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78044-18C2-41F0-9799-74C4943C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C5176-CCF2-49F1-86E5-A77B42EE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E0D30-0172-46C4-8A12-F3476419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0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A924-ACA9-421E-864D-7954BBAD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CE4EC-4CBC-4D61-896B-6D9EC5B92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6648C-A8E4-4A13-B7E0-8EE56EDDE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E389B-96B6-4FD9-8C52-0AE272F84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9FF53-3A35-4B0C-8796-109360DE8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FB4A5-241A-480C-AFFD-49D19EFC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4B47F-5E3F-4950-B6E6-496A66E4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1242F-4DB0-4B2A-87A2-5CDBA3B5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0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8DE8-0998-45D9-AA17-C3D38030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BA03E-8476-4DC1-B936-083F4030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72DDF-48C1-4693-B560-5EFF3E81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B05BA-63E8-4A04-BB5A-99D71C18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9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1D75A-2119-4EFB-8C78-52293E73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52D36C-6988-4C08-805C-46447DA3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26D9-F0CC-4FA2-8841-3D9018C3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93DF-60A7-4F45-B430-707BA082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A1257-CDB0-4444-81D8-47F111B10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B06FC-012A-4816-9C71-07200E2A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2AD30-EB33-46A3-BD69-F7E1A213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E20AD-D721-4432-8923-B23AF2C0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1AB0C-95B9-4B8D-8FB2-DCB4E567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AD8F-C3F0-4F7C-9F87-6D6AD68F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D7C04-25D9-4E5D-B6E6-A169C5E79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C6E59-CAC7-4479-99E5-5FE08AA12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C6FBC-6D3E-4892-B34B-BA795396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057A1-FAC9-49B5-A38C-3CFEFFBF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63E98-A7E1-490A-AAD9-60A19600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9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B08D-BF47-41D2-BB9A-EE34D0C6B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7370D-5DC5-4DD5-8817-3D8197995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EBDA9-B1A0-43F3-91C2-FC6A414E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8FD46-9964-4C4D-96A3-3F79001F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D051B-0C29-41E6-B561-3082CF9A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4BAF11-3E35-4ED3-ADF9-28875CF4B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3DAEC-7293-4AB4-9B28-4F5BC1E28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98D97-39B6-4C17-B381-BCBD5986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F54D-3950-46D3-8C1D-728828C0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AB8EF-3474-4556-BB0D-6A19222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6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D9627-ED66-4C85-87F4-EBF7143D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5F0BC-3213-455C-BFF8-5E16C4DFE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8F1D6-8F68-4E37-8EC9-E9C42978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C78A4-2A8E-4433-B875-B76928AE9117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2EFB7-BE4F-4F63-8FFB-F47CDD7A5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CBB98-B4C5-43AA-BAA4-28F7C3FDA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EF183-B7E3-4CE9-9DDA-0CC75FC32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6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C6F8-1532-4389-B94C-A902CEBD8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6876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METHODS OF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DAD3-37A1-4B2A-92F6-B7664E431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8348" y="2389239"/>
            <a:ext cx="7895303" cy="2868561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solidFill>
                  <a:srgbClr val="0070C0"/>
                </a:solidFill>
              </a:rPr>
              <a:t>7.1. Review of Substitution and Integration by Tables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70C0"/>
                </a:solidFill>
              </a:rPr>
              <a:t>7.2. Integration by parts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70C0"/>
                </a:solidFill>
              </a:rPr>
              <a:t>7.3. Trigonometric methods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70C0"/>
                </a:solidFill>
              </a:rPr>
              <a:t>7.4. Method of Partial Fractions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70C0"/>
                </a:solidFill>
              </a:rPr>
              <a:t>7.5. Summary of Integration Techniques </a:t>
            </a:r>
            <a:br>
              <a:rPr lang="en-US" sz="2800"/>
            </a:b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80391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00AFB-F79C-4F17-ADEF-1675ABFCEE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68602"/>
                <a:ext cx="10515600" cy="6169734"/>
              </a:xfrm>
            </p:spPr>
            <p:txBody>
              <a:bodyPr/>
              <a:lstStyle/>
              <a:p>
                <a:pPr marL="0" indent="0">
                  <a:buClr>
                    <a:srgbClr val="00B0F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vi-V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vi-VN" sz="2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d>
                                        <m:dPr>
                                          <m:ctrlPr>
                                            <a:rPr lang="vi-VN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  <m:sSup>
                                    <m:sSupPr>
                                      <m:ctrlP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vi-V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lim>
                          </m:limLow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vi-V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vi-VN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vi-V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vi-VN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vi-VN" sz="2400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vi-VN" sz="2400"/>
              </a:p>
              <a:p>
                <a:pPr marL="0" indent="0">
                  <a:buClr>
                    <a:srgbClr val="00B0F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vi-V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vi-V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vi-V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d>
                                        <m:dPr>
                                          <m:ctrlPr>
                                            <a:rPr lang="vi-VN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  <m:sSup>
                                    <m:sSupPr>
                                      <m:ctrlP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lim>
                          </m:limLow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vi-V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vi-V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vi-V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vi-VN"/>
              </a:p>
              <a:p>
                <a:pPr>
                  <a:buClr>
                    <a:srgbClr val="00B0F0"/>
                  </a:buClr>
                  <a:buFont typeface="Wingdings" panose="05000000000000000000" pitchFamily="2" charset="2"/>
                  <a:buChar char="§"/>
                </a:pPr>
                <a:r>
                  <a:rPr lang="vi-VN"/>
                  <a:t>Example: </a:t>
                </a:r>
                <a:r>
                  <a:rPr lang="en-US"/>
                  <a:t>Find each integral:</a:t>
                </a:r>
                <a:endParaRPr lang="vi-V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00AFB-F79C-4F17-ADEF-1675ABFCE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68602"/>
                <a:ext cx="10515600" cy="616973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B9AFB55-68FA-49EA-BD44-8FCB0CA74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265"/>
            <a:ext cx="10515600" cy="57877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00B0F0"/>
                </a:solidFill>
              </a:rPr>
              <a:t>The Substitution Rule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2883F7-BC42-4D42-AC39-B49E365B79A3}"/>
                  </a:ext>
                </a:extLst>
              </p:cNvPr>
              <p:cNvSpPr txBox="1"/>
              <p:nvPr/>
            </p:nvSpPr>
            <p:spPr>
              <a:xfrm>
                <a:off x="1243268" y="3278317"/>
                <a:ext cx="1524000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2883F7-BC42-4D42-AC39-B49E365B7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268" y="3278317"/>
                <a:ext cx="1524000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5372F-390A-403A-B109-93BFD29761A9}"/>
                  </a:ext>
                </a:extLst>
              </p:cNvPr>
              <p:cNvSpPr txBox="1"/>
              <p:nvPr/>
            </p:nvSpPr>
            <p:spPr>
              <a:xfrm>
                <a:off x="6485041" y="3278317"/>
                <a:ext cx="1706903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5372F-390A-403A-B109-93BFD2976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041" y="3278317"/>
                <a:ext cx="1706903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2892C3-FE7F-4306-AD59-98DD8C69ED62}"/>
                  </a:ext>
                </a:extLst>
              </p:cNvPr>
              <p:cNvSpPr txBox="1"/>
              <p:nvPr/>
            </p:nvSpPr>
            <p:spPr>
              <a:xfrm>
                <a:off x="8683336" y="3278317"/>
                <a:ext cx="2857276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2892C3-FE7F-4306-AD59-98DD8C69E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336" y="3278317"/>
                <a:ext cx="2857276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B54855-D144-4284-9FFC-EEB0FFBB1961}"/>
                  </a:ext>
                </a:extLst>
              </p:cNvPr>
              <p:cNvSpPr txBox="1"/>
              <p:nvPr/>
            </p:nvSpPr>
            <p:spPr>
              <a:xfrm>
                <a:off x="3258660" y="3272660"/>
                <a:ext cx="2734989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B54855-D144-4284-9FFC-EEB0FFBB1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660" y="3272660"/>
                <a:ext cx="2734989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55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0DAC-9F11-4EFE-834D-953A6967E324}"/>
              </a:ext>
            </a:extLst>
          </p:cNvPr>
          <p:cNvSpPr txBox="1">
            <a:spLocks/>
          </p:cNvSpPr>
          <p:nvPr/>
        </p:nvSpPr>
        <p:spPr>
          <a:xfrm>
            <a:off x="838200" y="102265"/>
            <a:ext cx="10515600" cy="57877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Integration Using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F30632-F21F-41D4-9A11-3AF2FFDC13B7}"/>
                  </a:ext>
                </a:extLst>
              </p:cNvPr>
              <p:cNvSpPr txBox="1"/>
              <p:nvPr/>
            </p:nvSpPr>
            <p:spPr>
              <a:xfrm>
                <a:off x="528205" y="681037"/>
                <a:ext cx="2625213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30−33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𝑎𝑢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F30632-F21F-41D4-9A11-3AF2FFDC1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05" y="681037"/>
                <a:ext cx="2625213" cy="17997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0D9DEF-2ADA-4357-928D-3A6155D40C9A}"/>
                  </a:ext>
                </a:extLst>
              </p:cNvPr>
              <p:cNvSpPr txBox="1"/>
              <p:nvPr/>
            </p:nvSpPr>
            <p:spPr>
              <a:xfrm>
                <a:off x="3652416" y="618760"/>
                <a:ext cx="1831259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34−37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=0,1,2,3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0D9DEF-2ADA-4357-928D-3A6155D40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416" y="618760"/>
                <a:ext cx="1831259" cy="17997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A8BFF4-C10C-4EF7-94B2-56D0302729DC}"/>
                  </a:ext>
                </a:extLst>
              </p:cNvPr>
              <p:cNvSpPr txBox="1"/>
              <p:nvPr/>
            </p:nvSpPr>
            <p:spPr>
              <a:xfrm>
                <a:off x="5982673" y="681037"/>
                <a:ext cx="3001292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38−44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=0,±1,±2,±3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A8BFF4-C10C-4EF7-94B2-56D030272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673" y="681037"/>
                <a:ext cx="3001292" cy="17997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73705D-EE95-409A-9BB1-DD171879D5DE}"/>
                  </a:ext>
                </a:extLst>
              </p:cNvPr>
              <p:cNvSpPr txBox="1"/>
              <p:nvPr/>
            </p:nvSpPr>
            <p:spPr>
              <a:xfrm>
                <a:off x="9151374" y="634250"/>
                <a:ext cx="2701424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45−51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=0,±1,±2,±3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73705D-EE95-409A-9BB1-DD171879D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374" y="634250"/>
                <a:ext cx="2701424" cy="17997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3B9B85-6364-47BF-8404-AB8135C9AFF6}"/>
                  </a:ext>
                </a:extLst>
              </p:cNvPr>
              <p:cNvSpPr txBox="1"/>
              <p:nvPr/>
            </p:nvSpPr>
            <p:spPr>
              <a:xfrm>
                <a:off x="421171" y="2577517"/>
                <a:ext cx="2625214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51−58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=0,±1,±2,±3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3B9B85-6364-47BF-8404-AB8135C9A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1" y="2577517"/>
                <a:ext cx="2625214" cy="17997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E216F8-A5D6-4EEF-AE12-1228EE85CC9D}"/>
                  </a:ext>
                </a:extLst>
              </p:cNvPr>
              <p:cNvSpPr txBox="1"/>
              <p:nvPr/>
            </p:nvSpPr>
            <p:spPr>
              <a:xfrm>
                <a:off x="3046385" y="2577518"/>
                <a:ext cx="2625214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59−65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=0,±1,±2,±3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E216F8-A5D6-4EEF-AE12-1228EE85C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385" y="2577518"/>
                <a:ext cx="2625214" cy="17997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CB8B37-4713-491E-B5C9-B3F55B254363}"/>
                  </a:ext>
                </a:extLst>
              </p:cNvPr>
              <p:cNvSpPr txBox="1"/>
              <p:nvPr/>
            </p:nvSpPr>
            <p:spPr>
              <a:xfrm>
                <a:off x="9145615" y="2577518"/>
                <a:ext cx="2921020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77−84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𝑎𝑢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ra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=0,1,2;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CB8B37-4713-491E-B5C9-B3F55B25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615" y="2577518"/>
                <a:ext cx="2921020" cy="1799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3E0C8B-6B15-45EE-A12E-C169D730BB20}"/>
                  </a:ext>
                </a:extLst>
              </p:cNvPr>
              <p:cNvSpPr txBox="1"/>
              <p:nvPr/>
            </p:nvSpPr>
            <p:spPr>
              <a:xfrm>
                <a:off x="443680" y="4473999"/>
                <a:ext cx="3512575" cy="2169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85−97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=0,±1,±2,±3</m:t>
                      </m:r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3E0C8B-6B15-45EE-A12E-C169D730B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80" y="4473999"/>
                <a:ext cx="3512575" cy="21690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261F4A-3552-4218-8944-7CF01BDD09D3}"/>
                  </a:ext>
                </a:extLst>
              </p:cNvPr>
              <p:cNvSpPr txBox="1"/>
              <p:nvPr/>
            </p:nvSpPr>
            <p:spPr>
              <a:xfrm>
                <a:off x="4226386" y="4586680"/>
                <a:ext cx="3512575" cy="2169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98−109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=0,±1,±2,±3</m:t>
                      </m:r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261F4A-3552-4218-8944-7CF01BDD0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386" y="4586680"/>
                <a:ext cx="3512575" cy="21690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1BA0BE-BF3F-489B-8620-B796F08FC33D}"/>
                  </a:ext>
                </a:extLst>
              </p:cNvPr>
              <p:cNvSpPr txBox="1"/>
              <p:nvPr/>
            </p:nvSpPr>
            <p:spPr>
              <a:xfrm>
                <a:off x="8200110" y="4688945"/>
                <a:ext cx="3512575" cy="2169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110−121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=0,±1,±2,±3</m:t>
                      </m:r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1BA0BE-BF3F-489B-8620-B796F08FC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110" y="4688945"/>
                <a:ext cx="3512575" cy="216905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8EB976-1354-4612-851E-06683C46868F}"/>
                  </a:ext>
                </a:extLst>
              </p:cNvPr>
              <p:cNvSpPr txBox="1"/>
              <p:nvPr/>
            </p:nvSpPr>
            <p:spPr>
              <a:xfrm>
                <a:off x="5982673" y="2577517"/>
                <a:ext cx="3001292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59−65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𝑎𝑢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𝑏𝑢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sz="2400" b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8EB976-1354-4612-851E-06683C468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673" y="2577517"/>
                <a:ext cx="3001292" cy="179972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29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0DAC-9F11-4EFE-834D-953A6967E324}"/>
              </a:ext>
            </a:extLst>
          </p:cNvPr>
          <p:cNvSpPr txBox="1">
            <a:spLocks/>
          </p:cNvSpPr>
          <p:nvPr/>
        </p:nvSpPr>
        <p:spPr>
          <a:xfrm>
            <a:off x="838200" y="102265"/>
            <a:ext cx="10515600" cy="57877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Integration Using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261F4A-3552-4218-8944-7CF01BDD09D3}"/>
                  </a:ext>
                </a:extLst>
              </p:cNvPr>
              <p:cNvSpPr txBox="1"/>
              <p:nvPr/>
            </p:nvSpPr>
            <p:spPr>
              <a:xfrm>
                <a:off x="777975" y="681037"/>
                <a:ext cx="10636045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122−147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,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𝑎𝑢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𝑎𝑢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>
                                    <m:f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𝑑𝑢</m:t>
                                      </m:r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𝑎𝑢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sSup>
                                                <m:sSup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400" b="0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sup>
                                              </m:sSup>
                                            </m:fName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𝑎𝑢</m:t>
                                              </m:r>
                                            </m:e>
                                          </m:func>
                                        </m:e>
                                      </m:func>
                                    </m:den>
                                  </m:f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261F4A-3552-4218-8944-7CF01BDD0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75" y="681037"/>
                <a:ext cx="10636045" cy="1430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5B860E-1640-4E6C-A1E9-A80C2DAD38BD}"/>
                  </a:ext>
                </a:extLst>
              </p:cNvPr>
              <p:cNvSpPr txBox="1"/>
              <p:nvPr/>
            </p:nvSpPr>
            <p:spPr>
              <a:xfrm>
                <a:off x="880600" y="2458092"/>
                <a:ext cx="10430797" cy="2399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148−167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,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, 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csc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,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,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csc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, 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csc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5B860E-1640-4E6C-A1E9-A80C2DAD3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00" y="2458092"/>
                <a:ext cx="10430797" cy="2399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1EABE5-0581-433D-A4E3-EE4B567727E6}"/>
                  </a:ext>
                </a:extLst>
              </p:cNvPr>
              <p:cNvSpPr txBox="1"/>
              <p:nvPr/>
            </p:nvSpPr>
            <p:spPr>
              <a:xfrm>
                <a:off x="1926013" y="5203873"/>
                <a:ext cx="8339970" cy="1426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168−182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400"/>
                  <a:t>,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1EABE5-0581-433D-A4E3-EE4B5677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013" y="5203873"/>
                <a:ext cx="8339970" cy="14266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89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D3A0-91D4-4C26-AE8B-41C8BFE3C07D}"/>
              </a:ext>
            </a:extLst>
          </p:cNvPr>
          <p:cNvSpPr txBox="1">
            <a:spLocks/>
          </p:cNvSpPr>
          <p:nvPr/>
        </p:nvSpPr>
        <p:spPr>
          <a:xfrm>
            <a:off x="838200" y="102265"/>
            <a:ext cx="10515600" cy="57877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Integration Using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E4FC0-FEE8-4444-B4E5-16F3930C9123}"/>
                  </a:ext>
                </a:extLst>
              </p:cNvPr>
              <p:cNvSpPr txBox="1"/>
              <p:nvPr/>
            </p:nvSpPr>
            <p:spPr>
              <a:xfrm>
                <a:off x="994288" y="1300471"/>
                <a:ext cx="2378178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183−188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E4FC0-FEE8-4444-B4E5-16F3930C9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88" y="1300471"/>
                <a:ext cx="2378178" cy="1430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4BA60A-51C5-4D8C-8CA6-C15CCC8D3D83}"/>
                  </a:ext>
                </a:extLst>
              </p:cNvPr>
              <p:cNvSpPr txBox="1"/>
              <p:nvPr/>
            </p:nvSpPr>
            <p:spPr>
              <a:xfrm>
                <a:off x="3650841" y="1300471"/>
                <a:ext cx="4143068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189−190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𝑎𝑢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4BA60A-51C5-4D8C-8CA6-C15CCC8D3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841" y="1300471"/>
                <a:ext cx="4143068" cy="1430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4AEFA1-ED8F-40FA-81EB-6E113BA86B84}"/>
                  </a:ext>
                </a:extLst>
              </p:cNvPr>
              <p:cNvSpPr txBox="1"/>
              <p:nvPr/>
            </p:nvSpPr>
            <p:spPr>
              <a:xfrm>
                <a:off x="8072284" y="1300471"/>
                <a:ext cx="3125428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191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𝑎𝑢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𝑎𝑢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4AEFA1-ED8F-40FA-81EB-6E113BA86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2284" y="1300471"/>
                <a:ext cx="3125428" cy="14303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1E595-C00B-4E5C-80A8-ED36DD41D09A}"/>
                  </a:ext>
                </a:extLst>
              </p:cNvPr>
              <p:cNvSpPr txBox="1"/>
              <p:nvPr/>
            </p:nvSpPr>
            <p:spPr>
              <a:xfrm>
                <a:off x="838200" y="3678966"/>
                <a:ext cx="5204952" cy="179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192−195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𝑎𝑢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𝑏𝑢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,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𝑎𝑢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𝑏𝑢</m:t>
                                  </m:r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1E595-C00B-4E5C-80A8-ED36DD41D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78966"/>
                <a:ext cx="5204952" cy="17997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151645-AC38-4013-8B64-857CE5C287F2}"/>
                  </a:ext>
                </a:extLst>
              </p:cNvPr>
              <p:cNvSpPr txBox="1"/>
              <p:nvPr/>
            </p:nvSpPr>
            <p:spPr>
              <a:xfrm>
                <a:off x="6351639" y="3678965"/>
                <a:ext cx="5204952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196−200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,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151645-AC38-4013-8B64-857CE5C28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639" y="3678965"/>
                <a:ext cx="5204952" cy="14303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0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19DFBC-DED5-4C76-B7EF-CED9C4555B3F}"/>
              </a:ext>
            </a:extLst>
          </p:cNvPr>
          <p:cNvSpPr txBox="1">
            <a:spLocks/>
          </p:cNvSpPr>
          <p:nvPr/>
        </p:nvSpPr>
        <p:spPr>
          <a:xfrm>
            <a:off x="838200" y="102265"/>
            <a:ext cx="10515600" cy="57877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Integration Using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E04D92-8744-4938-8969-1B7EC5D2D3B2}"/>
                  </a:ext>
                </a:extLst>
              </p:cNvPr>
              <p:cNvSpPr txBox="1"/>
              <p:nvPr/>
            </p:nvSpPr>
            <p:spPr>
              <a:xfrm>
                <a:off x="757087" y="962792"/>
                <a:ext cx="1995948" cy="99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38</a:t>
                </a:r>
              </a:p>
              <a:p>
                <a:r>
                  <a:rPr lang="en-US" sz="2400"/>
                  <a:t>1.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+9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E04D92-8744-4938-8969-1B7EC5D2D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87" y="962792"/>
                <a:ext cx="1995948" cy="991618"/>
              </a:xfrm>
              <a:prstGeom prst="rect">
                <a:avLst/>
              </a:prstGeom>
              <a:blipFill>
                <a:blip r:embed="rId2"/>
                <a:stretch>
                  <a:fillRect l="-4573" t="-4908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DC6017-1187-47B3-A751-2A5DBDEA7E99}"/>
                  </a:ext>
                </a:extLst>
              </p:cNvPr>
              <p:cNvSpPr txBox="1"/>
              <p:nvPr/>
            </p:nvSpPr>
            <p:spPr>
              <a:xfrm>
                <a:off x="4345871" y="5087835"/>
                <a:ext cx="1995948" cy="993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189</a:t>
                </a:r>
              </a:p>
              <a:p>
                <a:r>
                  <a:rPr lang="en-US" sz="2400"/>
                  <a:t>8.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DC6017-1187-47B3-A751-2A5DBDEA7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871" y="5087835"/>
                <a:ext cx="1995948" cy="993605"/>
              </a:xfrm>
              <a:prstGeom prst="rect">
                <a:avLst/>
              </a:prstGeom>
              <a:blipFill>
                <a:blip r:embed="rId3"/>
                <a:stretch>
                  <a:fillRect l="-4893" t="-4908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C2122-4617-4754-B863-F1D33649C527}"/>
                  </a:ext>
                </a:extLst>
              </p:cNvPr>
              <p:cNvSpPr txBox="1"/>
              <p:nvPr/>
            </p:nvSpPr>
            <p:spPr>
              <a:xfrm>
                <a:off x="8125133" y="2946249"/>
                <a:ext cx="2246670" cy="937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117</a:t>
                </a:r>
              </a:p>
              <a:p>
                <a:r>
                  <a:rPr lang="en-US" sz="2400"/>
                  <a:t>6.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9−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C2122-4617-4754-B863-F1D33649C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133" y="2946249"/>
                <a:ext cx="2246670" cy="937757"/>
              </a:xfrm>
              <a:prstGeom prst="rect">
                <a:avLst/>
              </a:prstGeom>
              <a:blipFill>
                <a:blip r:embed="rId4"/>
                <a:stretch>
                  <a:fillRect l="-4348" t="-519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00CDBA-95D2-4D92-8B49-E31D7E072ACC}"/>
                  </a:ext>
                </a:extLst>
              </p:cNvPr>
              <p:cNvSpPr txBox="1"/>
              <p:nvPr/>
            </p:nvSpPr>
            <p:spPr>
              <a:xfrm>
                <a:off x="757087" y="3041659"/>
                <a:ext cx="1995948" cy="100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103</a:t>
                </a:r>
              </a:p>
              <a:p>
                <a:r>
                  <a:rPr lang="en-US" sz="2400"/>
                  <a:t>4.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00CDBA-95D2-4D92-8B49-E31D7E072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87" y="3041659"/>
                <a:ext cx="1995948" cy="1009700"/>
              </a:xfrm>
              <a:prstGeom prst="rect">
                <a:avLst/>
              </a:prstGeom>
              <a:blipFill>
                <a:blip r:embed="rId5"/>
                <a:stretch>
                  <a:fillRect l="-4573" t="-4819"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ED8FCB-8E09-4410-A87F-1B002F471296}"/>
                  </a:ext>
                </a:extLst>
              </p:cNvPr>
              <p:cNvSpPr txBox="1"/>
              <p:nvPr/>
            </p:nvSpPr>
            <p:spPr>
              <a:xfrm>
                <a:off x="8125133" y="944710"/>
                <a:ext cx="1995948" cy="100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94</a:t>
                </a:r>
              </a:p>
              <a:p>
                <a:r>
                  <a:rPr lang="en-US" sz="2400"/>
                  <a:t>3.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ED8FCB-8E09-4410-A87F-1B002F471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133" y="944710"/>
                <a:ext cx="1995948" cy="1009700"/>
              </a:xfrm>
              <a:prstGeom prst="rect">
                <a:avLst/>
              </a:prstGeom>
              <a:blipFill>
                <a:blip r:embed="rId6"/>
                <a:stretch>
                  <a:fillRect l="-4893" t="-4819"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1A4E1A-B1E6-4A14-83D1-FB5A6EC1FF2C}"/>
                  </a:ext>
                </a:extLst>
              </p:cNvPr>
              <p:cNvSpPr txBox="1"/>
              <p:nvPr/>
            </p:nvSpPr>
            <p:spPr>
              <a:xfrm>
                <a:off x="4147973" y="944710"/>
                <a:ext cx="1995948" cy="100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90</a:t>
                </a:r>
              </a:p>
              <a:p>
                <a:r>
                  <a:rPr lang="en-US" sz="2400"/>
                  <a:t>2.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1A4E1A-B1E6-4A14-83D1-FB5A6EC1F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973" y="944710"/>
                <a:ext cx="1995948" cy="1009700"/>
              </a:xfrm>
              <a:prstGeom prst="rect">
                <a:avLst/>
              </a:prstGeom>
              <a:blipFill>
                <a:blip r:embed="rId7"/>
                <a:stretch>
                  <a:fillRect l="-4573" t="-4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4E0201-87C6-4525-84BA-70AB779B27F3}"/>
                  </a:ext>
                </a:extLst>
              </p:cNvPr>
              <p:cNvSpPr txBox="1"/>
              <p:nvPr/>
            </p:nvSpPr>
            <p:spPr>
              <a:xfrm>
                <a:off x="4147973" y="3041659"/>
                <a:ext cx="1995948" cy="100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114</a:t>
                </a:r>
              </a:p>
              <a:p>
                <a:r>
                  <a:rPr lang="en-US" sz="2400"/>
                  <a:t>5.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4E0201-87C6-4525-84BA-70AB779B2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973" y="3041659"/>
                <a:ext cx="1995948" cy="1009700"/>
              </a:xfrm>
              <a:prstGeom prst="rect">
                <a:avLst/>
              </a:prstGeom>
              <a:blipFill>
                <a:blip r:embed="rId8"/>
                <a:stretch>
                  <a:fillRect l="-4573" t="-4819"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CE11FD-0276-4410-B020-9428141694FD}"/>
                  </a:ext>
                </a:extLst>
              </p:cNvPr>
              <p:cNvSpPr txBox="1"/>
              <p:nvPr/>
            </p:nvSpPr>
            <p:spPr>
              <a:xfrm>
                <a:off x="8125133" y="5049384"/>
                <a:ext cx="2596956" cy="888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192</a:t>
                </a:r>
                <a:endParaRPr lang="en-US" sz="2400"/>
              </a:p>
              <a:p>
                <a:r>
                  <a:rPr lang="en-US" sz="2400"/>
                  <a:t>9.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𝑥𝑑𝑥</m:t>
                            </m:r>
                          </m:e>
                        </m:func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CE11FD-0276-4410-B020-942814169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133" y="5049384"/>
                <a:ext cx="2596956" cy="888128"/>
              </a:xfrm>
              <a:prstGeom prst="rect">
                <a:avLst/>
              </a:prstGeom>
              <a:blipFill>
                <a:blip r:embed="rId9"/>
                <a:stretch>
                  <a:fillRect l="-7981" t="-41781" b="-117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9D7928-A846-44B7-B94A-12B7B6C3FCD5}"/>
                  </a:ext>
                </a:extLst>
              </p:cNvPr>
              <p:cNvSpPr txBox="1"/>
              <p:nvPr/>
            </p:nvSpPr>
            <p:spPr>
              <a:xfrm>
                <a:off x="757087" y="5087835"/>
                <a:ext cx="2596956" cy="888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</a:rPr>
                  <a:t>175</a:t>
                </a:r>
              </a:p>
              <a:p>
                <a:r>
                  <a:rPr lang="en-US" sz="2400"/>
                  <a:t>7.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𝑥𝑑𝑥</m:t>
                            </m:r>
                          </m:e>
                        </m:func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9D7928-A846-44B7-B94A-12B7B6C3F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87" y="5087835"/>
                <a:ext cx="2596956" cy="888128"/>
              </a:xfrm>
              <a:prstGeom prst="rect">
                <a:avLst/>
              </a:prstGeom>
              <a:blipFill>
                <a:blip r:embed="rId10"/>
                <a:stretch>
                  <a:fillRect l="-10329" t="-42069" b="-119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99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C47C-7F22-4D19-8286-020A07E8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065"/>
            <a:ext cx="10515600" cy="5099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>
                <a:solidFill>
                  <a:srgbClr val="00B0F0"/>
                </a:solidFill>
              </a:rPr>
              <a:t>Integration by Parts</a:t>
            </a:r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1091C-4156-4932-B740-7601D496511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682011"/>
                <a:ext cx="10419736" cy="6003924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0"/>
                  <a:t>		</a:t>
                </a:r>
              </a:p>
              <a:p>
                <a:pPr marL="0" indent="0">
                  <a:buNone/>
                </a:pPr>
                <a:endParaRPr lang="en-US" sz="2400" b="0"/>
              </a:p>
              <a:p>
                <a:pPr marL="0" indent="0">
                  <a:buNone/>
                </a:pPr>
                <a:endParaRPr lang="en-US" sz="2400" b="0"/>
              </a:p>
              <a:p>
                <a:pPr marL="0" indent="0" algn="ctr">
                  <a:buNone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limLow>
                          <m:limLow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groupCh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limLow>
                          <m:limLow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groupCh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>
                    <a:solidFill>
                      <a:srgbClr val="00B0F0"/>
                    </a:solidFill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sz="2400"/>
                  <a:t>1.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400"/>
                  <a:t>	 		2.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/>
                  <a:t> 			 3.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endParaRPr lang="en-US" sz="2400"/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400"/>
                  <a:t>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400"/>
                  <a:t> 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1091C-4156-4932-B740-7601D4965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682011"/>
                <a:ext cx="10419736" cy="6003924"/>
              </a:xfrm>
              <a:blipFill>
                <a:blip r:embed="rId2"/>
                <a:stretch>
                  <a:fillRect l="-3216" b="-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D29092-E389-4095-9C5F-D242563DEC38}"/>
                  </a:ext>
                </a:extLst>
              </p:cNvPr>
              <p:cNvSpPr txBox="1"/>
              <p:nvPr/>
            </p:nvSpPr>
            <p:spPr>
              <a:xfrm>
                <a:off x="1268361" y="652767"/>
                <a:ext cx="3067665" cy="1224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𝑢𝑑𝑣</m:t>
                              </m:r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𝑢𝑣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𝑣𝑑𝑢</m:t>
                              </m:r>
                            </m:e>
                          </m:nary>
                        </m:e>
                      </m:borderBox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D29092-E389-4095-9C5F-D242563DE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361" y="652767"/>
                <a:ext cx="3067665" cy="1224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71BA5-59D1-4E87-BB75-A52A6BA859BB}"/>
                  </a:ext>
                </a:extLst>
              </p:cNvPr>
              <p:cNvSpPr txBox="1"/>
              <p:nvPr/>
            </p:nvSpPr>
            <p:spPr>
              <a:xfrm>
                <a:off x="6427062" y="682011"/>
                <a:ext cx="3647766" cy="1093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𝑢𝑑𝑣</m:t>
                              </m:r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𝑣𝑑𝑢</m:t>
                              </m:r>
                            </m:e>
                          </m:nary>
                        </m:e>
                      </m:borderBox>
                    </m:oMath>
                  </m:oMathPara>
                </a14:m>
                <a:endParaRPr lang="en-US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71BA5-59D1-4E87-BB75-A52A6BA85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62" y="682011"/>
                <a:ext cx="3647766" cy="10938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70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75B918-C209-4EC3-9156-FDA658E90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793"/>
            <a:ext cx="6029402" cy="5751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E467CE-C007-42A8-81DB-5CF8FFA0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402" y="849793"/>
            <a:ext cx="6162598" cy="40813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A9A8D4C-4F95-4CA4-8589-605AA413BBC8}"/>
              </a:ext>
            </a:extLst>
          </p:cNvPr>
          <p:cNvSpPr txBox="1">
            <a:spLocks/>
          </p:cNvSpPr>
          <p:nvPr/>
        </p:nvSpPr>
        <p:spPr>
          <a:xfrm>
            <a:off x="838200" y="172065"/>
            <a:ext cx="10515600" cy="50994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Trigonometric Integrals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469E76-D6A7-48A5-9BE7-16594A322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207" y="5707697"/>
            <a:ext cx="4441593" cy="724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65F031-11F8-442C-8F28-B3F8860A9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440" y="5003091"/>
            <a:ext cx="3817125" cy="70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3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9E3B-CC80-4072-B1A1-51C299DE2FA0}"/>
              </a:ext>
            </a:extLst>
          </p:cNvPr>
          <p:cNvSpPr txBox="1">
            <a:spLocks/>
          </p:cNvSpPr>
          <p:nvPr/>
        </p:nvSpPr>
        <p:spPr>
          <a:xfrm>
            <a:off x="838200" y="172065"/>
            <a:ext cx="10515600" cy="50994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Trigonometric Integrals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6C094A-D24A-4BB6-AEE6-452742CC6C8B}"/>
                  </a:ext>
                </a:extLst>
              </p:cNvPr>
              <p:cNvSpPr txBox="1"/>
              <p:nvPr/>
            </p:nvSpPr>
            <p:spPr>
              <a:xfrm>
                <a:off x="1304693" y="1048216"/>
                <a:ext cx="2419570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1.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6C094A-D24A-4BB6-AEE6-452742CC6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693" y="1048216"/>
                <a:ext cx="2419570" cy="10610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A1A93F-4151-4E69-B065-46F146FFCA09}"/>
                  </a:ext>
                </a:extLst>
              </p:cNvPr>
              <p:cNvSpPr txBox="1"/>
              <p:nvPr/>
            </p:nvSpPr>
            <p:spPr>
              <a:xfrm>
                <a:off x="4309163" y="1048216"/>
                <a:ext cx="2910468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A1A93F-4151-4E69-B065-46F146FFC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163" y="1048216"/>
                <a:ext cx="2910468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0F022C-669E-4656-BB6E-EFC04837D044}"/>
                  </a:ext>
                </a:extLst>
              </p:cNvPr>
              <p:cNvSpPr txBox="1"/>
              <p:nvPr/>
            </p:nvSpPr>
            <p:spPr>
              <a:xfrm>
                <a:off x="7804531" y="992271"/>
                <a:ext cx="2637327" cy="1172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0F022C-669E-4656-BB6E-EFC04837D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531" y="992271"/>
                <a:ext cx="2637327" cy="1172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C0E957-D412-49A4-9B4C-0B35B70EA64A}"/>
                  </a:ext>
                </a:extLst>
              </p:cNvPr>
              <p:cNvSpPr txBox="1"/>
              <p:nvPr/>
            </p:nvSpPr>
            <p:spPr>
              <a:xfrm>
                <a:off x="1304693" y="3675220"/>
                <a:ext cx="2419570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C0E957-D412-49A4-9B4C-0B35B70EA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693" y="3675220"/>
                <a:ext cx="2419570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A9E30-8F06-4A58-9A89-8D60A13A33F0}"/>
                  </a:ext>
                </a:extLst>
              </p:cNvPr>
              <p:cNvSpPr txBox="1"/>
              <p:nvPr/>
            </p:nvSpPr>
            <p:spPr>
              <a:xfrm>
                <a:off x="4309163" y="3675220"/>
                <a:ext cx="2910468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A9E30-8F06-4A58-9A89-8D60A13A3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163" y="3675220"/>
                <a:ext cx="2910468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E58124-321A-4159-ACFA-B96F3718A744}"/>
                  </a:ext>
                </a:extLst>
              </p:cNvPr>
              <p:cNvSpPr txBox="1"/>
              <p:nvPr/>
            </p:nvSpPr>
            <p:spPr>
              <a:xfrm>
                <a:off x="7804531" y="3675220"/>
                <a:ext cx="2910468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6. 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E58124-321A-4159-ACFA-B96F3718A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531" y="3675220"/>
                <a:ext cx="2910468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68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DE73-D3AE-4B4D-AFB0-E74CDAFFD57E}"/>
              </a:ext>
            </a:extLst>
          </p:cNvPr>
          <p:cNvSpPr txBox="1">
            <a:spLocks/>
          </p:cNvSpPr>
          <p:nvPr/>
        </p:nvSpPr>
        <p:spPr>
          <a:xfrm>
            <a:off x="838200" y="172065"/>
            <a:ext cx="10515600" cy="50994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Trigonometric 	Substitutions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AA1BA-3266-49DA-A765-37D6B276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732504"/>
            <a:ext cx="10172700" cy="411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DA70E8-C5E2-4B75-A0D8-61D5649BFC94}"/>
                  </a:ext>
                </a:extLst>
              </p:cNvPr>
              <p:cNvSpPr txBox="1"/>
              <p:nvPr/>
            </p:nvSpPr>
            <p:spPr>
              <a:xfrm>
                <a:off x="1009650" y="5043949"/>
                <a:ext cx="5102941" cy="700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B0F0"/>
                    </a:solidFill>
                  </a:rPr>
                  <a:t>Example: </a:t>
                </a:r>
                <a:r>
                  <a:rPr lang="en-US" sz="2400"/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9−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DA70E8-C5E2-4B75-A0D8-61D5649BF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5043949"/>
                <a:ext cx="5102941" cy="700898"/>
              </a:xfrm>
              <a:prstGeom prst="rect">
                <a:avLst/>
              </a:prstGeom>
              <a:blipFill>
                <a:blip r:embed="rId3"/>
                <a:stretch>
                  <a:fillRect l="-1912" b="-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02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CF56-F018-456E-AC58-9705EC71BAFF}"/>
              </a:ext>
            </a:extLst>
          </p:cNvPr>
          <p:cNvSpPr txBox="1">
            <a:spLocks/>
          </p:cNvSpPr>
          <p:nvPr/>
        </p:nvSpPr>
        <p:spPr>
          <a:xfrm>
            <a:off x="838200" y="172065"/>
            <a:ext cx="10515600" cy="50994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Integration of Rational Functions by Partial Fractions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3FCBE-D667-4082-8F60-6D44EDF26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615" y="827909"/>
            <a:ext cx="3133016" cy="6769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BC3137-28B7-498E-A428-8EFD47B11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" y="1784195"/>
            <a:ext cx="6092638" cy="1962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DC151B-68C7-4E65-9721-DD4EC54E4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23205"/>
            <a:ext cx="6092638" cy="1431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48C9D2-66F9-4862-8562-0EB6C5613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2639" y="1784196"/>
            <a:ext cx="6099361" cy="1194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6144A5-30A5-41AF-82FC-FA7126015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2638" y="3335645"/>
            <a:ext cx="6101055" cy="13220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834DE4-8918-4632-AE8A-90B1A69089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0090" y="827909"/>
            <a:ext cx="1330351" cy="6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B08A-AC39-4A56-8960-A9A896E71CD8}"/>
              </a:ext>
            </a:extLst>
          </p:cNvPr>
          <p:cNvSpPr txBox="1">
            <a:spLocks/>
          </p:cNvSpPr>
          <p:nvPr/>
        </p:nvSpPr>
        <p:spPr>
          <a:xfrm>
            <a:off x="838200" y="172065"/>
            <a:ext cx="10515600" cy="50994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Integration of Rational Functions by Partial Fractions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B96C3-C6CE-401E-AC98-E92B2A869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926" y="1088608"/>
            <a:ext cx="2353698" cy="5825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403DE4-DE77-4B57-BF8D-0F5B6876E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715" y="1088608"/>
            <a:ext cx="1857768" cy="543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B1103A-90E8-4EA7-9B5F-578440660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648" y="1088608"/>
            <a:ext cx="2542624" cy="621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B010C6-D85F-4546-BD43-2820E147A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088608"/>
            <a:ext cx="2212005" cy="6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8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BD0F-2D94-426C-BC79-3A33336D7661}"/>
              </a:ext>
            </a:extLst>
          </p:cNvPr>
          <p:cNvSpPr txBox="1">
            <a:spLocks/>
          </p:cNvSpPr>
          <p:nvPr/>
        </p:nvSpPr>
        <p:spPr>
          <a:xfrm>
            <a:off x="838200" y="172065"/>
            <a:ext cx="10515600" cy="50994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00B0F0"/>
                </a:solidFill>
              </a:rPr>
              <a:t>Strategy for Integration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D672D-2E6D-4D5A-AF1C-4B9855915431}"/>
              </a:ext>
            </a:extLst>
          </p:cNvPr>
          <p:cNvSpPr txBox="1"/>
          <p:nvPr/>
        </p:nvSpPr>
        <p:spPr>
          <a:xfrm>
            <a:off x="383458" y="825911"/>
            <a:ext cx="5126624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/>
              <a:t>Simplify the Integrand if Possible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Use Basic Formulas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Substitute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Classify the Integrand According to Its Form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 i="1"/>
              <a:t>Integration by parts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 i="1"/>
              <a:t>Trigonometric functions</a:t>
            </a:r>
            <a:endParaRPr lang="en-US" sz="2400"/>
          </a:p>
          <a:p>
            <a:pPr marL="800100" lvl="1" indent="-342900">
              <a:buFont typeface="+mj-lt"/>
              <a:buAutoNum type="alphaLcPeriod"/>
            </a:pPr>
            <a:r>
              <a:rPr lang="en-US" sz="2400" i="1"/>
              <a:t>Radicals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400" i="1"/>
              <a:t>Rational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/>
              <a:t>Try again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i="1"/>
              <a:t>Try substitutions, try parts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i="1"/>
              <a:t>Manipulate the integrand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i="1"/>
              <a:t>Relate the problem to previous problems.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i="1"/>
              <a:t>Use several methods </a:t>
            </a:r>
            <a:br>
              <a:rPr lang="en-US" sz="2400"/>
            </a:br>
            <a:br>
              <a:rPr lang="en-US" sz="2400" i="1"/>
            </a:br>
            <a:br>
              <a:rPr lang="en-US" sz="2400" i="1"/>
            </a:br>
            <a:br>
              <a:rPr lang="en-US" sz="2400"/>
            </a:br>
            <a:r>
              <a:rPr lang="en-US" sz="2400"/>
              <a:t> </a:t>
            </a:r>
            <a:br>
              <a:rPr lang="en-US" sz="2400"/>
            </a:b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05CE6-7749-4B76-8535-9E1FE4EE6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081" y="776747"/>
            <a:ext cx="6596289" cy="574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89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4131</TotalTime>
  <Words>473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METHODS OF INTEGRATION</vt:lpstr>
      <vt:lpstr>The Substitution Rule </vt:lpstr>
      <vt:lpstr>PowerPoint Presentation</vt:lpstr>
      <vt:lpstr>PowerPoint Presentation</vt:lpstr>
      <vt:lpstr>PowerPoint Presentation</vt:lpstr>
      <vt:lpstr>PowerPoint Presentation</vt:lpstr>
      <vt:lpstr>Integration by Parts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METHODS OF INTEGRATION</dc:title>
  <dc:creator>Duc Dung Banh</dc:creator>
  <cp:lastModifiedBy>Duc Dung Banh</cp:lastModifiedBy>
  <cp:revision>70</cp:revision>
  <dcterms:created xsi:type="dcterms:W3CDTF">2020-03-25T09:07:45Z</dcterms:created>
  <dcterms:modified xsi:type="dcterms:W3CDTF">2020-04-12T13:49:33Z</dcterms:modified>
</cp:coreProperties>
</file>