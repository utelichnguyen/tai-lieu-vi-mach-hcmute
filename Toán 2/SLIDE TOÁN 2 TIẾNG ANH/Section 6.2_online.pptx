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2598-F4BD-4B3E-A69D-49223D6C7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113DC-1D84-4AA0-9FF8-6B6C6BE2A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48020-ECB4-47B7-A155-632933053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54A2-5CE2-41BF-8CD2-6C4EFFDC5B68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C46A1-F2B5-4A80-9279-215CF962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9F6E7-E90B-42A9-9257-B7A5E4D3E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C65C-29B5-4409-988B-B1EEBD0C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1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A9CFC-E858-422E-8217-CE3AF565D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1996C-AA62-449F-8D44-4B8A052AF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8169C-6D63-4D68-8D44-B8A813D93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54A2-5CE2-41BF-8CD2-6C4EFFDC5B68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89EA4-861A-4937-98D2-54022FE36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A2AC9-1750-4872-BBDB-E7591513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C65C-29B5-4409-988B-B1EEBD0C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16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5396-1102-4DB1-9728-3AEB1332D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57C22-C62D-4761-8E63-9D9C7E709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10F13-FE63-4F35-BBE6-0E047C8EB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54A2-5CE2-41BF-8CD2-6C4EFFDC5B68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832E1-580D-4917-9B61-D767BC81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A1206-50C6-4F44-9F9B-A9BF95AA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C65C-29B5-4409-988B-B1EEBD0C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69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2DEE8-7116-4424-BC66-163881DC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CA1B7-1D50-4647-B5C8-96E66A56D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DE8AF-752D-4C86-B582-7DD77D1FB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6AFC7-C317-4D18-838F-F0525A4BF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54A2-5CE2-41BF-8CD2-6C4EFFDC5B68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DF6C0-AC3F-451A-80FB-32EA24049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1B23F-70DE-4C27-8189-F13D9250C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C65C-29B5-4409-988B-B1EEBD0C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D1DE-1FD0-4F0A-ADE9-AE7C2EE4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07DE8-4B9B-4B09-80D6-0E16DFA20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CFF23-0F4A-472A-8835-5DCA99185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22F643-674D-42B9-ABE0-76598D500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4771CD-3754-42CC-8259-855331C14D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993F34-128B-4957-8032-A1292AF3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54A2-5CE2-41BF-8CD2-6C4EFFDC5B68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268CE8-ECB8-4EDC-B648-CAF67D16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54A0B-C8D3-4307-A279-3F570CDB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C65C-29B5-4409-988B-B1EEBD0C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69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CBF82-5A72-4CD3-AF51-A8CEB9EC7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DEFA40-8C7E-4D6E-8807-C0E939D3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54A2-5CE2-41BF-8CD2-6C4EFFDC5B68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BB12D-CF97-4AD6-9FCB-741192A8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5A09E-CDC8-407F-9A35-F2258741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C65C-29B5-4409-988B-B1EEBD0C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1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6CE2D7-AE84-4B6E-985E-69870183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54A2-5CE2-41BF-8CD2-6C4EFFDC5B68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1CD97-9881-408D-9A78-D259CCFC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BCF14-0E21-46FC-93D0-132B3183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C65C-29B5-4409-988B-B1EEBD0C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3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D50F8-EC03-401B-8EEF-2A0C4A02B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4E581-82A4-4FD1-BAED-3240536B6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5E373-7E67-4770-9E70-72AA477E9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9E4DA-2460-4666-A9E2-097888700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54A2-5CE2-41BF-8CD2-6C4EFFDC5B68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2CA7A-5051-4B55-B414-0EF24BDD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B27C1-C445-45E6-800F-094410F3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C65C-29B5-4409-988B-B1EEBD0C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5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27D72-05F5-4E9E-824A-AAE0046A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7B99DF-5F42-4AB3-969C-3260B12346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9D2C9-E4B6-4C7A-BFF7-C16A3B5E8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CAD92-776A-401E-A661-F25FB105D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54A2-5CE2-41BF-8CD2-6C4EFFDC5B68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88E5D-FBA7-4C4F-B4CF-0C7F5354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15620-2B78-4DD5-81C7-32B96573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C65C-29B5-4409-988B-B1EEBD0C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50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54F7-C5A2-4861-9930-86A68D2D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56E1A-4592-4A25-B613-4358129A1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67CCF-5344-48D3-A483-5C4DDE6A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54A2-5CE2-41BF-8CD2-6C4EFFDC5B68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D03E1-D3DC-4AA8-B6AF-205BC4C39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6BB6D-E05E-466A-B2D0-45DBB6E5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C65C-29B5-4409-988B-B1EEBD0C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27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0BDD83-693B-4E95-80B3-6D1FBE481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14814-E5AC-4EA3-8E62-E64254AB4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EDA89-D892-4F6C-99E0-BA26BBC9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54A2-5CE2-41BF-8CD2-6C4EFFDC5B68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33C0A-8B6A-469B-BE76-E3999B6F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D133E-C916-4FDF-A0DC-0131C60C7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C65C-29B5-4409-988B-B1EEBD0C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5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2C2BD1-E8EB-4BE8-B1DB-BE6777AC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30852-1E7E-43AA-BB1A-2D82A230B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36A7E-19BC-4348-9FBB-DEC6925B32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754A2-5CE2-41BF-8CD2-6C4EFFDC5B68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4868D-EDC4-4063-957F-040E56595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7FC3B-12A7-4D43-A4AD-66BE8FEC5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9C65C-29B5-4409-988B-B1EEBD0C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54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pn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F1328C-8281-459F-8096-C3A180D41E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38D0A4-04C4-499B-8643-5DC57B22A72A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Section 6.2.</a:t>
            </a:r>
            <a:br>
              <a:rPr lang="en-US" b="1" dirty="0"/>
            </a:br>
            <a:r>
              <a:rPr lang="en-US" b="1" dirty="0">
                <a:solidFill>
                  <a:srgbClr val="00B0F0"/>
                </a:solidFill>
              </a:rPr>
              <a:t>Volume</a:t>
            </a:r>
          </a:p>
        </p:txBody>
      </p:sp>
    </p:spTree>
    <p:extLst>
      <p:ext uri="{BB962C8B-B14F-4D97-AF65-F5344CB8AC3E}">
        <p14:creationId xmlns:p14="http://schemas.microsoft.com/office/powerpoint/2010/main" val="1879014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2DD751-4DBA-4650-970B-F6D689258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199" y="4553078"/>
            <a:ext cx="9234760" cy="22631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BC7953-4FC7-4CF6-BEDF-7CEC48E21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359" y="-82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Volume of a solid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4FFCAC-00EF-4019-BE61-56CFA4E95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93" y="1106626"/>
            <a:ext cx="2679202" cy="1754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441009-F6CE-40E7-9745-1D2073666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782"/>
            <a:ext cx="5550424" cy="16583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C6ECD7-F10C-4CB7-9D0E-83CF15886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383" y="2835754"/>
            <a:ext cx="2624601" cy="15342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41F105-C22E-4F42-967B-638987F7FA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6003" y="2839607"/>
            <a:ext cx="2823753" cy="15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10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8C83-DF41-488C-8262-54E6F41C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212"/>
            <a:ext cx="10515600" cy="715293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Dish 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33544B-84F2-4405-8EB8-458C3F5B0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407" y="-40520"/>
            <a:ext cx="7305773" cy="2007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E9C35C-2D46-4014-AAFA-3254EA727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30530"/>
            <a:ext cx="2718635" cy="24955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50A297-B979-4E40-A82C-88F149209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557" y="2130530"/>
            <a:ext cx="2775784" cy="2577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8A5B5B-81C9-4E0A-BD03-73C705083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286" y="2130530"/>
            <a:ext cx="2775785" cy="759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7DB662-E1C4-4162-9A92-793E53F51A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1286" y="3222814"/>
            <a:ext cx="37719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5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0742-B6B0-46C8-9B16-368B007F5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811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Dish Method: Examples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5B9F1D-232F-49DE-88A5-CA6144A2A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12" y="1230494"/>
            <a:ext cx="2611119" cy="21442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25A093-5737-46EB-9B00-01C566C38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408" y="1173309"/>
            <a:ext cx="3318284" cy="3427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58E874-7BD5-4AB2-84C0-541F99198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841" y="759595"/>
            <a:ext cx="2254773" cy="38845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4FB4B0-07F5-406A-8D6D-B752B0723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833" y="650447"/>
            <a:ext cx="2113274" cy="404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3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57A4-0735-4143-AC4A-F80BECF1C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Washer Method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71BB76-06A5-493B-8DB5-C2F8CDA70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553" y="1506989"/>
            <a:ext cx="2289617" cy="19504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16562B-A65C-4134-8D60-8D3133C8D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1703" y="1508288"/>
            <a:ext cx="2359394" cy="1960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983435-A30B-42FC-9EBF-235F7CFF7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252" y="2781438"/>
            <a:ext cx="3611448" cy="10013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D7BCFE-82B8-4FB7-A64F-F1F75E52E671}"/>
              </a:ext>
            </a:extLst>
          </p:cNvPr>
          <p:cNvSpPr txBox="1"/>
          <p:nvPr/>
        </p:nvSpPr>
        <p:spPr>
          <a:xfrm>
            <a:off x="933254" y="1508288"/>
            <a:ext cx="59011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/>
              <a:t>f, g </a:t>
            </a:r>
            <a:r>
              <a:rPr lang="en-US" sz="2400" dirty="0"/>
              <a:t>are continuous;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)</a:t>
            </a:r>
            <a:r>
              <a:rPr lang="en-US" sz="2400" i="1" dirty="0"/>
              <a:t> </a:t>
            </a:r>
            <a:r>
              <a:rPr lang="en-US" sz="2400" dirty="0">
                <a:sym typeface="Symbol" panose="05050102010706020507" pitchFamily="18" charset="2"/>
              </a:rPr>
              <a:t></a:t>
            </a:r>
            <a:r>
              <a:rPr lang="en-US" sz="2400" i="1" dirty="0">
                <a:sym typeface="Symbol" panose="05050102010706020507" pitchFamily="18" charset="2"/>
              </a:rPr>
              <a:t> g</a:t>
            </a:r>
            <a:r>
              <a:rPr lang="en-US" sz="2400" dirty="0">
                <a:sym typeface="Symbol" panose="05050102010706020507" pitchFamily="18" charset="2"/>
              </a:rPr>
              <a:t>(</a:t>
            </a:r>
            <a:r>
              <a:rPr lang="en-US" sz="2400" i="1" dirty="0">
                <a:sym typeface="Symbol" panose="05050102010706020507" pitchFamily="18" charset="2"/>
              </a:rPr>
              <a:t>x</a:t>
            </a:r>
            <a:r>
              <a:rPr lang="en-US" sz="2400" dirty="0">
                <a:sym typeface="Symbol" panose="05050102010706020507" pitchFamily="18" charset="2"/>
              </a:rPr>
              <a:t>)</a:t>
            </a:r>
            <a:r>
              <a:rPr lang="en-US" sz="2400" i="1" dirty="0">
                <a:sym typeface="Symbol" panose="05050102010706020507" pitchFamily="18" charset="2"/>
              </a:rPr>
              <a:t> </a:t>
            </a:r>
            <a:r>
              <a:rPr lang="en-US" sz="2400" dirty="0">
                <a:sym typeface="Symbol" panose="05050102010706020507" pitchFamily="18" charset="2"/>
              </a:rPr>
              <a:t>≥</a:t>
            </a:r>
            <a:r>
              <a:rPr lang="en-US" sz="2400" i="1" dirty="0">
                <a:sym typeface="Symbol" panose="05050102010706020507" pitchFamily="18" charset="2"/>
              </a:rPr>
              <a:t> </a:t>
            </a:r>
            <a:r>
              <a:rPr lang="en-US" sz="2400" dirty="0">
                <a:sym typeface="Symbol" panose="05050102010706020507" pitchFamily="18" charset="2"/>
              </a:rPr>
              <a:t>0</a:t>
            </a:r>
            <a:r>
              <a:rPr lang="en-US" sz="2400" i="1" dirty="0">
                <a:sym typeface="Symbol" panose="05050102010706020507" pitchFamily="18" charset="2"/>
              </a:rPr>
              <a:t> on </a:t>
            </a:r>
            <a:r>
              <a:rPr lang="en-US" sz="2400" dirty="0">
                <a:sym typeface="Symbol" panose="05050102010706020507" pitchFamily="18" charset="2"/>
              </a:rPr>
              <a:t>[</a:t>
            </a:r>
            <a:r>
              <a:rPr lang="en-US" sz="2400" i="1" dirty="0">
                <a:sym typeface="Symbol" panose="05050102010706020507" pitchFamily="18" charset="2"/>
              </a:rPr>
              <a:t>a, b</a:t>
            </a:r>
            <a:r>
              <a:rPr lang="en-US" sz="2400" dirty="0">
                <a:sym typeface="Symbol" panose="05050102010706020507" pitchFamily="18" charset="2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sym typeface="Symbol" panose="05050102010706020507" pitchFamily="18" charset="2"/>
              </a:rPr>
              <a:t>D: </a:t>
            </a:r>
            <a:r>
              <a:rPr lang="en-US" sz="2400" dirty="0">
                <a:sym typeface="Symbol" panose="05050102010706020507" pitchFamily="18" charset="2"/>
              </a:rPr>
              <a:t>bounded by</a:t>
            </a:r>
            <a:r>
              <a:rPr lang="en-US" sz="2400" i="1" dirty="0">
                <a:sym typeface="Symbol" panose="05050102010706020507" pitchFamily="18" charset="2"/>
              </a:rPr>
              <a:t> 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400" i="1" dirty="0">
                <a:sym typeface="Symbol" panose="05050102010706020507" pitchFamily="18" charset="2"/>
              </a:rPr>
              <a:t>y</a:t>
            </a:r>
            <a:r>
              <a:rPr lang="en-US" sz="2400" dirty="0">
                <a:sym typeface="Symbol" panose="05050102010706020507" pitchFamily="18" charset="2"/>
              </a:rPr>
              <a:t> =</a:t>
            </a:r>
            <a:r>
              <a:rPr lang="en-US" sz="2400" i="1" dirty="0">
                <a:sym typeface="Symbol" panose="05050102010706020507" pitchFamily="18" charset="2"/>
              </a:rPr>
              <a:t>f</a:t>
            </a:r>
            <a:r>
              <a:rPr lang="en-US" sz="2400" dirty="0">
                <a:sym typeface="Symbol" panose="05050102010706020507" pitchFamily="18" charset="2"/>
              </a:rPr>
              <a:t>(</a:t>
            </a:r>
            <a:r>
              <a:rPr lang="en-US" sz="2400" i="1" dirty="0">
                <a:sym typeface="Symbol" panose="05050102010706020507" pitchFamily="18" charset="2"/>
              </a:rPr>
              <a:t>x</a:t>
            </a:r>
            <a:r>
              <a:rPr lang="en-US" sz="2400" dirty="0">
                <a:sym typeface="Symbol" panose="05050102010706020507" pitchFamily="18" charset="2"/>
              </a:rPr>
              <a:t>), </a:t>
            </a:r>
            <a:r>
              <a:rPr lang="en-US" sz="2400" i="1" dirty="0">
                <a:sym typeface="Symbol" panose="05050102010706020507" pitchFamily="18" charset="2"/>
              </a:rPr>
              <a:t>y</a:t>
            </a:r>
            <a:r>
              <a:rPr lang="en-US" sz="2400" dirty="0">
                <a:sym typeface="Symbol" panose="05050102010706020507" pitchFamily="18" charset="2"/>
              </a:rPr>
              <a:t>=</a:t>
            </a:r>
            <a:r>
              <a:rPr lang="en-US" sz="2400" i="1" dirty="0">
                <a:sym typeface="Symbol" panose="05050102010706020507" pitchFamily="18" charset="2"/>
              </a:rPr>
              <a:t>g</a:t>
            </a:r>
            <a:r>
              <a:rPr lang="en-US" sz="2400" dirty="0">
                <a:sym typeface="Symbol" panose="05050102010706020507" pitchFamily="18" charset="2"/>
              </a:rPr>
              <a:t>(</a:t>
            </a:r>
            <a:r>
              <a:rPr lang="en-US" sz="2400" i="1" dirty="0">
                <a:sym typeface="Symbol" panose="05050102010706020507" pitchFamily="18" charset="2"/>
              </a:rPr>
              <a:t>x</a:t>
            </a:r>
            <a:r>
              <a:rPr lang="en-US" sz="2400" dirty="0">
                <a:sym typeface="Symbol" panose="05050102010706020507" pitchFamily="18" charset="2"/>
              </a:rPr>
              <a:t>), </a:t>
            </a:r>
            <a:r>
              <a:rPr lang="en-US" sz="2400" i="1" dirty="0">
                <a:sym typeface="Symbol" panose="05050102010706020507" pitchFamily="18" charset="2"/>
              </a:rPr>
              <a:t>x </a:t>
            </a:r>
            <a:r>
              <a:rPr lang="en-US" sz="2400" dirty="0">
                <a:sym typeface="Symbol" panose="05050102010706020507" pitchFamily="18" charset="2"/>
              </a:rPr>
              <a:t>= </a:t>
            </a:r>
            <a:r>
              <a:rPr lang="en-US" sz="2400" i="1" dirty="0">
                <a:sym typeface="Symbol" panose="05050102010706020507" pitchFamily="18" charset="2"/>
              </a:rPr>
              <a:t>a</a:t>
            </a:r>
            <a:r>
              <a:rPr lang="en-US" sz="2400" dirty="0">
                <a:sym typeface="Symbol" panose="05050102010706020507" pitchFamily="18" charset="2"/>
              </a:rPr>
              <a:t>, </a:t>
            </a:r>
            <a:r>
              <a:rPr lang="en-US" sz="2400" i="1" dirty="0">
                <a:sym typeface="Symbol" panose="05050102010706020507" pitchFamily="18" charset="2"/>
              </a:rPr>
              <a:t>x </a:t>
            </a:r>
            <a:r>
              <a:rPr lang="en-US" sz="2400" dirty="0">
                <a:sym typeface="Symbol" panose="05050102010706020507" pitchFamily="18" charset="2"/>
              </a:rPr>
              <a:t>= </a:t>
            </a:r>
            <a:r>
              <a:rPr lang="en-US" sz="2400" i="1" dirty="0">
                <a:sym typeface="Symbol" panose="05050102010706020507" pitchFamily="18" charset="2"/>
              </a:rPr>
              <a:t>b</a:t>
            </a:r>
          </a:p>
          <a:p>
            <a:r>
              <a:rPr lang="en-US" sz="2400" dirty="0">
                <a:sym typeface="Symbol" panose="05050102010706020507" pitchFamily="18" charset="2"/>
              </a:rPr>
              <a:t>Let </a:t>
            </a:r>
            <a:r>
              <a:rPr lang="en-US" sz="2400" i="1" dirty="0">
                <a:sym typeface="Symbol" panose="05050102010706020507" pitchFamily="18" charset="2"/>
              </a:rPr>
              <a:t>D</a:t>
            </a:r>
            <a:r>
              <a:rPr lang="en-US" sz="2400" dirty="0">
                <a:sym typeface="Symbol" panose="05050102010706020507" pitchFamily="18" charset="2"/>
              </a:rPr>
              <a:t> revolve about </a:t>
            </a:r>
            <a:r>
              <a:rPr lang="en-US" sz="2400" i="1" dirty="0">
                <a:sym typeface="Symbol" panose="05050102010706020507" pitchFamily="18" charset="2"/>
              </a:rPr>
              <a:t>x</a:t>
            </a:r>
            <a:r>
              <a:rPr lang="en-US" sz="2400" dirty="0">
                <a:sym typeface="Symbol" panose="05050102010706020507" pitchFamily="18" charset="2"/>
              </a:rPr>
              <a:t>-axis. The volume?</a:t>
            </a:r>
            <a:endParaRPr lang="en-US" sz="24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F175C8-ED4B-454C-BD83-2E487740A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914" y="4149384"/>
            <a:ext cx="4851858" cy="22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2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66CDB-CC8F-40D2-A14B-A5004D1B7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0" y="289710"/>
            <a:ext cx="10515600" cy="700104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Washer Method: Examples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C51B2E-F2D6-473A-85CF-C7DD92970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22" y="2606287"/>
            <a:ext cx="5646477" cy="2220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1D2BBB-5CB4-49C1-B0B8-1AA5D590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071" y="499621"/>
            <a:ext cx="5913873" cy="37518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E27EEF-9C0A-4EA9-AF77-A8F4C0413285}"/>
              </a:ext>
            </a:extLst>
          </p:cNvPr>
          <p:cNvSpPr txBox="1"/>
          <p:nvPr/>
        </p:nvSpPr>
        <p:spPr>
          <a:xfrm>
            <a:off x="449522" y="1065227"/>
            <a:ext cx="58475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 </a:t>
            </a:r>
            <a:r>
              <a:rPr lang="en-US" sz="2400" i="1" dirty="0"/>
              <a:t>D</a:t>
            </a:r>
            <a:r>
              <a:rPr lang="en-US" sz="2400" dirty="0"/>
              <a:t> is the region enclosed by the curves </a:t>
            </a:r>
          </a:p>
          <a:p>
            <a:r>
              <a:rPr lang="en-US" sz="2400" i="1" dirty="0"/>
              <a:t>y </a:t>
            </a:r>
            <a:r>
              <a:rPr lang="en-US" sz="2400" dirty="0"/>
              <a:t>= </a:t>
            </a:r>
            <a:r>
              <a:rPr lang="en-US" sz="2400" i="1" dirty="0"/>
              <a:t>x </a:t>
            </a:r>
            <a:r>
              <a:rPr lang="en-US" sz="2400" dirty="0"/>
              <a:t>and </a:t>
            </a:r>
            <a:r>
              <a:rPr lang="en-US" sz="2400" i="1" dirty="0"/>
              <a:t>y </a:t>
            </a:r>
            <a:r>
              <a:rPr lang="en-US" sz="2400" dirty="0"/>
              <a:t>= </a:t>
            </a:r>
            <a:r>
              <a:rPr lang="en-US" sz="2400" i="1" dirty="0" err="1"/>
              <a:t>x</a:t>
            </a:r>
            <a:r>
              <a:rPr lang="en-US" sz="2400" baseline="30000" dirty="0" err="1"/>
              <a:t>2</a:t>
            </a:r>
            <a:r>
              <a:rPr lang="en-US" sz="2400" dirty="0"/>
              <a:t> is rotated about the </a:t>
            </a:r>
            <a:r>
              <a:rPr lang="en-US" sz="2400" i="1" dirty="0"/>
              <a:t>x</a:t>
            </a:r>
            <a:r>
              <a:rPr lang="en-US" sz="2400" dirty="0"/>
              <a:t>-axis. Find the volume of the resulting solid. 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9746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2408-9416-46F5-801E-92D29323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0"/>
            <a:ext cx="10515600" cy="82265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Exercises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FD0ABE-7D0A-441D-9674-96E700799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170" y="883763"/>
            <a:ext cx="3218983" cy="24721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51A4D3-7E60-48E9-B999-14B5167C0EAB}"/>
              </a:ext>
            </a:extLst>
          </p:cNvPr>
          <p:cNvSpPr txBox="1"/>
          <p:nvPr/>
        </p:nvSpPr>
        <p:spPr>
          <a:xfrm>
            <a:off x="489544" y="1272619"/>
            <a:ext cx="79939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Refer to the figure and find the volume generated by</a:t>
            </a:r>
            <a:br>
              <a:rPr lang="en-US" sz="2400" dirty="0"/>
            </a:br>
            <a:r>
              <a:rPr lang="en-US" sz="2400" dirty="0"/>
              <a:t>rotating the given region about the specified line. </a:t>
            </a:r>
          </a:p>
          <a:p>
            <a:pPr marL="457200" indent="-457200">
              <a:buAutoNum type="arabicPeriod"/>
            </a:pPr>
            <a:r>
              <a:rPr lang="en-US" sz="2400" dirty="0"/>
              <a:t>a. </a:t>
            </a:r>
            <a:r>
              <a:rPr lang="en-US" sz="2400" dirty="0" err="1">
                <a:latin typeface="VNI-Linus" panose="020B7200000000000000" pitchFamily="34" charset="0"/>
              </a:rPr>
              <a:t>R</a:t>
            </a:r>
            <a:r>
              <a:rPr lang="en-US" sz="2400" baseline="-25000" dirty="0" err="1">
                <a:latin typeface="VNI-Linus" panose="020B7200000000000000" pitchFamily="34" charset="0"/>
              </a:rPr>
              <a:t>1</a:t>
            </a:r>
            <a:r>
              <a:rPr lang="en-US" sz="2400" baseline="-25000" dirty="0">
                <a:latin typeface="VNI-Linus" panose="020B7200000000000000" pitchFamily="34" charset="0"/>
              </a:rPr>
              <a:t> </a:t>
            </a:r>
            <a:r>
              <a:rPr lang="en-US" sz="2400" dirty="0"/>
              <a:t>about </a:t>
            </a:r>
            <a:r>
              <a:rPr lang="en-US" sz="2400" i="1" dirty="0"/>
              <a:t>OA</a:t>
            </a:r>
            <a:r>
              <a:rPr lang="en-US" sz="2400" dirty="0"/>
              <a:t>.  b. </a:t>
            </a:r>
            <a:r>
              <a:rPr lang="en-US" sz="2400" dirty="0" err="1">
                <a:latin typeface="VNI-Linus" panose="020B7200000000000000" pitchFamily="34" charset="0"/>
              </a:rPr>
              <a:t>R</a:t>
            </a:r>
            <a:r>
              <a:rPr lang="en-US" sz="2400" baseline="-25000" dirty="0" err="1">
                <a:latin typeface="VNI-Linus" panose="020B7200000000000000" pitchFamily="34" charset="0"/>
              </a:rPr>
              <a:t>1</a:t>
            </a:r>
            <a:r>
              <a:rPr lang="en-US" sz="2400" baseline="-25000" dirty="0">
                <a:latin typeface="VNI-Linus" panose="020B7200000000000000" pitchFamily="34" charset="0"/>
              </a:rPr>
              <a:t> </a:t>
            </a:r>
            <a:r>
              <a:rPr lang="en-US" sz="2400" dirty="0"/>
              <a:t>about </a:t>
            </a:r>
            <a:r>
              <a:rPr lang="en-US" sz="2400" i="1" dirty="0"/>
              <a:t>OC</a:t>
            </a:r>
            <a:r>
              <a:rPr lang="en-US" sz="2400" dirty="0"/>
              <a:t>.   c. </a:t>
            </a:r>
            <a:r>
              <a:rPr lang="en-US" sz="2400" dirty="0" err="1">
                <a:latin typeface="VNI-Linus" panose="020B7200000000000000" pitchFamily="34" charset="0"/>
              </a:rPr>
              <a:t>R</a:t>
            </a:r>
            <a:r>
              <a:rPr lang="en-US" sz="2400" baseline="-25000" dirty="0" err="1">
                <a:latin typeface="VNI-Linus" panose="020B7200000000000000" pitchFamily="34" charset="0"/>
              </a:rPr>
              <a:t>1</a:t>
            </a:r>
            <a:r>
              <a:rPr lang="en-US" sz="2400" baseline="-25000" dirty="0">
                <a:latin typeface="VNI-Linus" panose="020B7200000000000000" pitchFamily="34" charset="0"/>
              </a:rPr>
              <a:t> </a:t>
            </a:r>
            <a:r>
              <a:rPr lang="en-US" sz="2400" dirty="0"/>
              <a:t>about </a:t>
            </a:r>
            <a:r>
              <a:rPr lang="en-US" sz="2400" i="1" dirty="0"/>
              <a:t>AB</a:t>
            </a:r>
            <a:r>
              <a:rPr lang="en-US" sz="2400" dirty="0"/>
              <a:t>.  d. </a:t>
            </a:r>
            <a:r>
              <a:rPr lang="en-US" sz="2400" dirty="0" err="1">
                <a:latin typeface="VNI-Linus" panose="020B7200000000000000" pitchFamily="34" charset="0"/>
              </a:rPr>
              <a:t>R</a:t>
            </a:r>
            <a:r>
              <a:rPr lang="en-US" sz="2400" baseline="-25000" dirty="0" err="1">
                <a:latin typeface="VNI-Linus" panose="020B7200000000000000" pitchFamily="34" charset="0"/>
              </a:rPr>
              <a:t>1</a:t>
            </a:r>
            <a:r>
              <a:rPr lang="en-US" sz="2400" baseline="-25000" dirty="0">
                <a:latin typeface="VNI-Linus" panose="020B7200000000000000" pitchFamily="34" charset="0"/>
              </a:rPr>
              <a:t> </a:t>
            </a:r>
            <a:r>
              <a:rPr lang="en-US" sz="2400" dirty="0"/>
              <a:t>about </a:t>
            </a:r>
            <a:r>
              <a:rPr lang="en-US" sz="2400" i="1" dirty="0"/>
              <a:t>BC</a:t>
            </a:r>
            <a:r>
              <a:rPr lang="en-US" sz="2400" dirty="0"/>
              <a:t>.</a:t>
            </a:r>
          </a:p>
          <a:p>
            <a:pPr marL="457200" indent="-457200">
              <a:buAutoNum type="arabicPeriod"/>
            </a:pPr>
            <a:r>
              <a:rPr lang="en-US" sz="2400" dirty="0"/>
              <a:t>a. </a:t>
            </a:r>
            <a:r>
              <a:rPr lang="en-US" sz="2400" dirty="0" err="1">
                <a:latin typeface="VNI-Linus" panose="020B7200000000000000" pitchFamily="34" charset="0"/>
              </a:rPr>
              <a:t>R</a:t>
            </a:r>
            <a:r>
              <a:rPr lang="en-US" sz="2400" baseline="-25000" dirty="0" err="1">
                <a:latin typeface="VNI-Linus" panose="020B7200000000000000" pitchFamily="34" charset="0"/>
              </a:rPr>
              <a:t>2</a:t>
            </a:r>
            <a:r>
              <a:rPr lang="en-US" sz="2400" baseline="-25000" dirty="0">
                <a:latin typeface="VNI-Linus" panose="020B7200000000000000" pitchFamily="34" charset="0"/>
              </a:rPr>
              <a:t> </a:t>
            </a:r>
            <a:r>
              <a:rPr lang="en-US" sz="2400" dirty="0"/>
              <a:t>about </a:t>
            </a:r>
            <a:r>
              <a:rPr lang="en-US" sz="2400" i="1" dirty="0"/>
              <a:t>OA</a:t>
            </a:r>
            <a:r>
              <a:rPr lang="en-US" sz="2400" dirty="0"/>
              <a:t>.  b. </a:t>
            </a:r>
            <a:r>
              <a:rPr lang="en-US" sz="2400" dirty="0" err="1">
                <a:latin typeface="VNI-Linus" panose="020B7200000000000000" pitchFamily="34" charset="0"/>
              </a:rPr>
              <a:t>R</a:t>
            </a:r>
            <a:r>
              <a:rPr lang="en-US" sz="2400" baseline="-25000" dirty="0" err="1">
                <a:latin typeface="VNI-Linus" panose="020B7200000000000000" pitchFamily="34" charset="0"/>
              </a:rPr>
              <a:t>2</a:t>
            </a:r>
            <a:r>
              <a:rPr lang="en-US" sz="2400" baseline="-25000" dirty="0">
                <a:latin typeface="VNI-Linus" panose="020B7200000000000000" pitchFamily="34" charset="0"/>
              </a:rPr>
              <a:t> </a:t>
            </a:r>
            <a:r>
              <a:rPr lang="en-US" sz="2400" dirty="0"/>
              <a:t>about </a:t>
            </a:r>
            <a:r>
              <a:rPr lang="en-US" sz="2400" i="1" dirty="0"/>
              <a:t>OC</a:t>
            </a:r>
            <a:r>
              <a:rPr lang="en-US" sz="2400" dirty="0"/>
              <a:t>.   c. </a:t>
            </a:r>
            <a:r>
              <a:rPr lang="en-US" sz="2400" dirty="0" err="1">
                <a:latin typeface="VNI-Linus" panose="020B7200000000000000" pitchFamily="34" charset="0"/>
              </a:rPr>
              <a:t>R</a:t>
            </a:r>
            <a:r>
              <a:rPr lang="en-US" sz="2400" baseline="-25000" dirty="0" err="1">
                <a:latin typeface="VNI-Linus" panose="020B7200000000000000" pitchFamily="34" charset="0"/>
              </a:rPr>
              <a:t>2</a:t>
            </a:r>
            <a:r>
              <a:rPr lang="en-US" sz="2400" baseline="-25000" dirty="0">
                <a:latin typeface="VNI-Linus" panose="020B7200000000000000" pitchFamily="34" charset="0"/>
              </a:rPr>
              <a:t> </a:t>
            </a:r>
            <a:r>
              <a:rPr lang="en-US" sz="2400" dirty="0"/>
              <a:t>about </a:t>
            </a:r>
            <a:r>
              <a:rPr lang="en-US" sz="2400" i="1" dirty="0"/>
              <a:t>AB</a:t>
            </a:r>
            <a:r>
              <a:rPr lang="en-US" sz="2400" dirty="0"/>
              <a:t>.  d. </a:t>
            </a:r>
            <a:r>
              <a:rPr lang="en-US" sz="2400" dirty="0" err="1">
                <a:latin typeface="VNI-Linus" panose="020B7200000000000000" pitchFamily="34" charset="0"/>
              </a:rPr>
              <a:t>R</a:t>
            </a:r>
            <a:r>
              <a:rPr lang="en-US" sz="2400" baseline="-25000" dirty="0" err="1">
                <a:latin typeface="VNI-Linus" panose="020B7200000000000000" pitchFamily="34" charset="0"/>
              </a:rPr>
              <a:t>2</a:t>
            </a:r>
            <a:r>
              <a:rPr lang="en-US" sz="2400" baseline="-25000" dirty="0">
                <a:latin typeface="VNI-Linus" panose="020B7200000000000000" pitchFamily="34" charset="0"/>
              </a:rPr>
              <a:t> </a:t>
            </a:r>
            <a:r>
              <a:rPr lang="en-US" sz="2400" dirty="0"/>
              <a:t>about </a:t>
            </a:r>
            <a:r>
              <a:rPr lang="en-US" sz="2400" i="1" dirty="0"/>
              <a:t>BC</a:t>
            </a:r>
            <a:r>
              <a:rPr lang="en-US" sz="2400" dirty="0"/>
              <a:t>.</a:t>
            </a:r>
          </a:p>
          <a:p>
            <a:pPr marL="457200" indent="-457200">
              <a:buAutoNum type="arabicPeriod"/>
            </a:pPr>
            <a:r>
              <a:rPr lang="en-US" sz="2400" dirty="0"/>
              <a:t>a. </a:t>
            </a:r>
            <a:r>
              <a:rPr lang="en-US" sz="2400" dirty="0" err="1">
                <a:latin typeface="VNI-Linus" panose="020B7200000000000000" pitchFamily="34" charset="0"/>
              </a:rPr>
              <a:t>R</a:t>
            </a:r>
            <a:r>
              <a:rPr lang="en-US" sz="2400" baseline="-25000" dirty="0" err="1">
                <a:latin typeface="VNI-Linus" panose="020B7200000000000000" pitchFamily="34" charset="0"/>
              </a:rPr>
              <a:t>3</a:t>
            </a:r>
            <a:r>
              <a:rPr lang="en-US" sz="2400" baseline="-25000" dirty="0">
                <a:latin typeface="VNI-Linus" panose="020B7200000000000000" pitchFamily="34" charset="0"/>
              </a:rPr>
              <a:t> </a:t>
            </a:r>
            <a:r>
              <a:rPr lang="en-US" sz="2400" dirty="0"/>
              <a:t>about </a:t>
            </a:r>
            <a:r>
              <a:rPr lang="en-US" sz="2400" i="1" dirty="0"/>
              <a:t>OA</a:t>
            </a:r>
            <a:r>
              <a:rPr lang="en-US" sz="2400" dirty="0"/>
              <a:t>.  b. </a:t>
            </a:r>
            <a:r>
              <a:rPr lang="en-US" sz="2400" dirty="0" err="1">
                <a:latin typeface="VNI-Linus" panose="020B7200000000000000" pitchFamily="34" charset="0"/>
              </a:rPr>
              <a:t>R</a:t>
            </a:r>
            <a:r>
              <a:rPr lang="en-US" sz="2400" baseline="-25000" dirty="0" err="1">
                <a:latin typeface="VNI-Linus" panose="020B7200000000000000" pitchFamily="34" charset="0"/>
              </a:rPr>
              <a:t>3</a:t>
            </a:r>
            <a:r>
              <a:rPr lang="en-US" sz="2400" baseline="-25000" dirty="0">
                <a:latin typeface="VNI-Linus" panose="020B7200000000000000" pitchFamily="34" charset="0"/>
              </a:rPr>
              <a:t> </a:t>
            </a:r>
            <a:r>
              <a:rPr lang="en-US" sz="2400" dirty="0"/>
              <a:t>about </a:t>
            </a:r>
            <a:r>
              <a:rPr lang="en-US" sz="2400" i="1" dirty="0"/>
              <a:t>OC</a:t>
            </a:r>
            <a:r>
              <a:rPr lang="en-US" sz="2400" dirty="0"/>
              <a:t>.   c. </a:t>
            </a:r>
            <a:r>
              <a:rPr lang="en-US" sz="2400" dirty="0" err="1">
                <a:latin typeface="VNI-Linus" panose="020B7200000000000000" pitchFamily="34" charset="0"/>
              </a:rPr>
              <a:t>R</a:t>
            </a:r>
            <a:r>
              <a:rPr lang="en-US" sz="2400" baseline="-25000" dirty="0" err="1">
                <a:latin typeface="VNI-Linus" panose="020B7200000000000000" pitchFamily="34" charset="0"/>
              </a:rPr>
              <a:t>3</a:t>
            </a:r>
            <a:r>
              <a:rPr lang="en-US" sz="2400" baseline="-25000" dirty="0">
                <a:latin typeface="VNI-Linus" panose="020B7200000000000000" pitchFamily="34" charset="0"/>
              </a:rPr>
              <a:t> </a:t>
            </a:r>
            <a:r>
              <a:rPr lang="en-US" sz="2400" dirty="0"/>
              <a:t>about </a:t>
            </a:r>
            <a:r>
              <a:rPr lang="en-US" sz="2400" i="1" dirty="0"/>
              <a:t>AB</a:t>
            </a:r>
            <a:r>
              <a:rPr lang="en-US" sz="2400" dirty="0"/>
              <a:t>.  d. </a:t>
            </a:r>
            <a:r>
              <a:rPr lang="en-US" sz="2400" dirty="0" err="1">
                <a:latin typeface="VNI-Linus" panose="020B7200000000000000" pitchFamily="34" charset="0"/>
              </a:rPr>
              <a:t>R</a:t>
            </a:r>
            <a:r>
              <a:rPr lang="en-US" sz="2400" baseline="-25000" dirty="0" err="1">
                <a:latin typeface="VNI-Linus" panose="020B7200000000000000" pitchFamily="34" charset="0"/>
              </a:rPr>
              <a:t>3</a:t>
            </a:r>
            <a:r>
              <a:rPr lang="en-US" sz="2400" baseline="-25000" dirty="0">
                <a:latin typeface="VNI-Linus" panose="020B7200000000000000" pitchFamily="34" charset="0"/>
              </a:rPr>
              <a:t> </a:t>
            </a:r>
            <a:r>
              <a:rPr lang="en-US" sz="2400" dirty="0"/>
              <a:t>about </a:t>
            </a:r>
            <a:r>
              <a:rPr lang="en-US" sz="2400" i="1" dirty="0"/>
              <a:t>BC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4318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BB8A-197C-40F9-B39A-56133E6BB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2"/>
            <a:ext cx="10515600" cy="8415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Cylindrical shells Method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5FF44-6422-4BC6-B259-6A10879A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02785"/>
            <a:ext cx="2571567" cy="19420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390A1A-8506-4F1F-B9FD-42EA15BF20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2"/>
          <a:stretch/>
        </p:blipFill>
        <p:spPr>
          <a:xfrm>
            <a:off x="3742448" y="914399"/>
            <a:ext cx="7880802" cy="2397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9FA1AE-C8F1-43E6-975E-4FCC4FFD6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8" y="3309074"/>
            <a:ext cx="3675737" cy="23470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A82DB7-94C2-42D6-9176-C7A037673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5080" y="3309074"/>
            <a:ext cx="3563975" cy="25643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B86D8E-AC91-4DB5-832B-B0755419E2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7034" y="3471853"/>
            <a:ext cx="3320228" cy="20378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997CF8-4AAE-4602-AC73-BF8F02359C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392"/>
          <a:stretch/>
        </p:blipFill>
        <p:spPr>
          <a:xfrm>
            <a:off x="3742448" y="895552"/>
            <a:ext cx="3675737" cy="239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8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1B1BF-B963-4600-A065-60A12D287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1"/>
            <a:ext cx="10515600" cy="766091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Cylindrical shells Method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1CE97E-D4AE-475D-9AED-856DB68E2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006" y="3583750"/>
            <a:ext cx="10194634" cy="22985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BF4E15-DD17-40A1-9308-18A4BBD23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503" y="3610462"/>
            <a:ext cx="3440783" cy="814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045A6B-5C21-4708-B50C-92D2A8E0F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43" y="933510"/>
            <a:ext cx="3675737" cy="23470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04496F-6E56-4D64-B716-4F5F58ADA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804" y="933510"/>
            <a:ext cx="3563975" cy="2564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1385EE-F300-4F13-8831-BD4255970D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2450" y="1115143"/>
            <a:ext cx="3320228" cy="2037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3B514B-4F52-45A2-AD25-092D76343D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006" y="5904410"/>
            <a:ext cx="3425625" cy="663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E579F3-C00E-496B-BC91-F37F226732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675" y="5722072"/>
            <a:ext cx="5536672" cy="89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2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A668-B495-4373-B38C-470CDEDCA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20" y="365125"/>
            <a:ext cx="10467680" cy="1325563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Examples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65D666-CCFB-41E1-A025-58ABF36A8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582" y="1541337"/>
            <a:ext cx="3073137" cy="18883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E85066-9875-4E3F-A50A-132AB7733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08" y="1427129"/>
            <a:ext cx="2571567" cy="19420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145BF4-055A-468D-9E40-D2534E293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183" y="83523"/>
            <a:ext cx="4116568" cy="1025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B774F1-2047-4D77-8273-E34B4BEAB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091" y="1178950"/>
            <a:ext cx="4668935" cy="1262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518BB8-EABA-4A1C-B126-C92FFF3B9D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97" y="3988617"/>
            <a:ext cx="4083328" cy="25277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841529-EDEC-499C-BD35-3295A3FA43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740" y="4625555"/>
            <a:ext cx="6146523" cy="212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3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2D339-287E-4121-AC95-F309827F7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9786"/>
          </a:xfrm>
        </p:spPr>
        <p:txBody>
          <a:bodyPr/>
          <a:lstStyle/>
          <a:p>
            <a:r>
              <a:rPr lang="en-US" b="1" dirty="0" err="1">
                <a:solidFill>
                  <a:srgbClr val="00B0F0"/>
                </a:solidFill>
              </a:rPr>
              <a:t>Exercies</a:t>
            </a:r>
            <a:endParaRPr lang="en-US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6C0C41-4E46-4CF4-AC47-9AF4E6AD917F}"/>
                  </a:ext>
                </a:extLst>
              </p:cNvPr>
              <p:cNvSpPr txBox="1"/>
              <p:nvPr/>
            </p:nvSpPr>
            <p:spPr>
              <a:xfrm>
                <a:off x="1065228" y="1357460"/>
                <a:ext cx="9483366" cy="1573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/>
                  <a:t>Câu</a:t>
                </a:r>
                <a:r>
                  <a:rPr lang="en-US" sz="2400" dirty="0"/>
                  <a:t> 1. Let </a:t>
                </a:r>
                <a:r>
                  <a:rPr lang="en-US" sz="2400" i="1" dirty="0"/>
                  <a:t>D</a:t>
                </a:r>
                <a:r>
                  <a:rPr lang="en-US" sz="2400" dirty="0"/>
                  <a:t> be the region under the curve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from 0 to 1. Find the volume of the solid obtained by rotating </a:t>
                </a:r>
                <a:r>
                  <a:rPr lang="en-US" sz="2400" i="1" dirty="0"/>
                  <a:t>D</a:t>
                </a:r>
                <a:r>
                  <a:rPr lang="en-US" sz="2400" dirty="0"/>
                  <a:t> about: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x-axis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line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6C0C41-4E46-4CF4-AC47-9AF4E6AD9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28" y="1357460"/>
                <a:ext cx="9483366" cy="1573764"/>
              </a:xfrm>
              <a:prstGeom prst="rect">
                <a:avLst/>
              </a:prstGeom>
              <a:blipFill>
                <a:blip r:embed="rId2"/>
                <a:stretch>
                  <a:fillRect l="-1029" t="-2713"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9968A58-C717-45B4-A685-2A3518B9B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760" y="3040022"/>
            <a:ext cx="4553148" cy="17034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D5C420-B8BF-4A8E-A5A3-FA40E139EF30}"/>
              </a:ext>
            </a:extLst>
          </p:cNvPr>
          <p:cNvSpPr txBox="1"/>
          <p:nvPr/>
        </p:nvSpPr>
        <p:spPr>
          <a:xfrm>
            <a:off x="1112359" y="3169685"/>
            <a:ext cx="16874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Câu</a:t>
            </a:r>
            <a:r>
              <a:rPr lang="en-US" sz="2400" dirty="0"/>
              <a:t> 2. Rotating </a:t>
            </a:r>
            <a:r>
              <a:rPr lang="en-US" sz="2400" i="1" dirty="0"/>
              <a:t>D</a:t>
            </a:r>
            <a:r>
              <a:rPr lang="en-US" sz="2400" dirty="0"/>
              <a:t> about y-axis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DFCAB9-C82D-47FC-8FE6-D4F6A3E09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772" y="2678869"/>
            <a:ext cx="3522925" cy="210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37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</TotalTime>
  <Words>254</Words>
  <Application>Microsoft Office PowerPoint</Application>
  <PresentationFormat>Widescreen</PresentationFormat>
  <Paragraphs>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VNI-Linus</vt:lpstr>
      <vt:lpstr>Office Theme</vt:lpstr>
      <vt:lpstr>PowerPoint Presentation</vt:lpstr>
      <vt:lpstr>Volume of a solid</vt:lpstr>
      <vt:lpstr>Dish Method</vt:lpstr>
      <vt:lpstr>Dish Method: Examples</vt:lpstr>
      <vt:lpstr>Washer Method</vt:lpstr>
      <vt:lpstr>Washer Method: Examples</vt:lpstr>
      <vt:lpstr>Exercises</vt:lpstr>
      <vt:lpstr>Cylindrical shells Method</vt:lpstr>
      <vt:lpstr>Cylindrical shells Method</vt:lpstr>
      <vt:lpstr>Examples</vt:lpstr>
      <vt:lpstr>Exercies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Duc Dung Banh</dc:creator>
  <cp:lastModifiedBy>Duc Dung Banh</cp:lastModifiedBy>
  <cp:revision>57</cp:revision>
  <dcterms:created xsi:type="dcterms:W3CDTF">2020-02-16T17:11:57Z</dcterms:created>
  <dcterms:modified xsi:type="dcterms:W3CDTF">2020-02-20T22:25:17Z</dcterms:modified>
</cp:coreProperties>
</file>