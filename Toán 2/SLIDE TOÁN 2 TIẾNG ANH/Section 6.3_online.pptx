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66" r:id="rId14"/>
    <p:sldId id="267" r:id="rId15"/>
    <p:sldId id="269" r:id="rId16"/>
    <p:sldId id="268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432D-AD7D-40C1-9F2F-0189C11E9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4AC5D-5DA1-4948-B475-CEA8DE32E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56D50-E95B-4431-BD5A-B3ABFFED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1725B-D047-4E12-8602-B001F6F1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D77CD-A8DD-44A9-BC88-EDD2076C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7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916D-05E0-4E8F-88D0-37A850DC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6E19-58E6-4DB7-A809-6960F61CC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B687-E42E-4324-B156-3C82C07E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5F22-7337-41C6-8DD2-A7BFC317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E4CBF-3673-43FE-940D-8A84DF19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8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C62D-6FB4-4B6A-AB18-DC5944CE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AC53B-6C04-495E-BA41-923BDB94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EB707-D167-4D6A-A0FC-6307F9AA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2CFA9-C5ED-470D-862A-88A593824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00E0-F52E-4541-B9D3-5B9DF78B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5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023F-5929-4782-8CDC-0B969577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77334-7AEC-43BF-BCC2-BE9F2C061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77447-4CAC-44C3-8932-635DA688A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A3B2C-FAD3-45A0-9502-0E2E8461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A49AF-ECD5-41E3-97C5-47677549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1ADAC-154B-465F-A305-931B5A14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0BC2-4BA6-4A31-B37F-67AC6619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2A8B4-1415-44D1-A24F-2E71E4DF2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A4B1C-3670-4383-8A8B-5B768343B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7B936-8866-469A-B617-6B6A12BC2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F7DC7B-FA7F-41C3-909B-E267FF70E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A0A7A-2942-4699-A0B8-7D15A07F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6964B-F7AA-4DFE-AC7E-8C0B49BE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A9949-D435-4313-9C6A-DB6D8F0F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1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702A-DEFB-4CD2-91C8-444BD7D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DDBCA-5797-414B-B357-E0265B52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03D1B-8F8C-4469-817F-F2C48993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D71A4-EA35-4EE2-BAD3-29290868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7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D936F-70E2-4C7C-9C92-AF6986C7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DEF71-95B9-45AE-BF3A-743B91C6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7DCE-DDFE-4B3E-9A51-6FD1BE91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689D-1C16-4E6B-A162-BDEF3DCF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C03A-5F24-49DB-9255-B20798CB8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F7BB0-A1A2-41B0-9FDC-A9ED4CA8C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2AD70-DC50-44B1-B216-88979B90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9C7C1-2383-419B-9F44-C586825F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CDAE-6ECE-4C83-BC6A-EAC21C6C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2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A8CC-5A2F-44E6-A4EA-1ADFBF7B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84836-F00F-4BE5-8FC5-67F94C551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EC28C-A208-40FE-8E30-15C843A17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40405-4A88-4F40-9D77-606A7073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A475A-02D6-43A1-B5B3-B3E390C7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C187-2051-42F9-962C-87CF0845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42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9F0A-52CA-4F51-AF27-58AD60F9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6BEE5-AE36-4291-90E1-47DE89027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F2776-9647-454A-A1AF-262CFD2A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760D0-CB25-4720-B7E1-4160BA25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EF-9A0B-4DCE-BC90-1042A1BB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2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8F2B6A-AAAC-401F-946F-5A71EDDFE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9240-5693-421F-B8E5-2E17C830A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9C76-9345-473E-A60A-550A4914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B1A68-563A-4260-8E52-33216DB7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2A212-48B0-419B-BEE9-FB55E124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1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E82D2-5788-45DD-AB2B-E1EFAA10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94872-27A0-447A-8C6B-DB36A5995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F2D89-C1DA-4BF1-81C3-477F6436E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9EE7E-117B-49C4-80C0-F18DB4E7B874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6812-AEE6-4627-90C5-A71777927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91A4-1216-429C-ADFE-C9FDB11D4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452D-22C3-4808-85C8-BA2B2A423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7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8.png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30.wmf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2.png"/><Relationship Id="rId4" Type="http://schemas.openxmlformats.org/officeDocument/2006/relationships/image" Target="../media/image31.wmf"/><Relationship Id="rId9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5F9E-52DF-499E-91BD-B2C27FC45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AREAS IN POLAR COORDINATES</a:t>
            </a:r>
            <a:endParaRPr lang="en-US" b="1">
              <a:solidFill>
                <a:srgbClr val="00B0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9DD38-40B8-4FA7-AC3D-605F924458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0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07E7847B-C480-466A-82E1-C7BDB166B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93" y="979891"/>
            <a:ext cx="3695700" cy="28241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4EC140-95B0-4FCB-87CD-1697D527F4B3}"/>
              </a:ext>
            </a:extLst>
          </p:cNvPr>
          <p:cNvSpPr/>
          <p:nvPr/>
        </p:nvSpPr>
        <p:spPr>
          <a:xfrm>
            <a:off x="5301007" y="303695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400" i="1"/>
              <a:t>P </a:t>
            </a:r>
            <a:r>
              <a:rPr lang="el-GR" altLang="en-US" sz="2400"/>
              <a:t>is represented by the</a:t>
            </a:r>
            <a:r>
              <a:rPr lang="en-US" altLang="zh-TW" sz="2400"/>
              <a:t> </a:t>
            </a:r>
            <a:r>
              <a:rPr lang="el-GR" altLang="en-US" sz="2400"/>
              <a:t>ordered pair </a:t>
            </a:r>
            <a:r>
              <a:rPr lang="en-US" altLang="zh-TW" sz="2400"/>
              <a:t>(</a:t>
            </a:r>
            <a:r>
              <a:rPr lang="el-GR" altLang="en-US" sz="2400" i="1"/>
              <a:t>r</a:t>
            </a:r>
            <a:r>
              <a:rPr lang="el-GR" altLang="en-US" sz="2400"/>
              <a:t>,</a:t>
            </a:r>
            <a:r>
              <a:rPr lang="en-US" altLang="zh-TW" sz="2400"/>
              <a:t>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</a:rPr>
              <a:t>).</a:t>
            </a:r>
          </a:p>
          <a:p>
            <a:r>
              <a:rPr lang="el-GR" altLang="en-US" sz="2400" i="1"/>
              <a:t>r</a:t>
            </a:r>
            <a:r>
              <a:rPr lang="el-GR" altLang="en-US" sz="2400"/>
              <a:t>,</a:t>
            </a:r>
            <a:r>
              <a:rPr lang="en-US" altLang="zh-TW" sz="2400"/>
              <a:t> </a:t>
            </a:r>
            <a:r>
              <a:rPr lang="en-US" altLang="zh-TW" sz="2400">
                <a:sym typeface="Symbol" panose="05050102010706020507" pitchFamily="18" charset="2"/>
              </a:rPr>
              <a:t></a:t>
            </a:r>
            <a:r>
              <a:rPr lang="el-GR" altLang="en-US" sz="2400"/>
              <a:t> are called polar coordinates</a:t>
            </a:r>
            <a:r>
              <a:rPr lang="en-US" altLang="zh-TW" sz="2400"/>
              <a:t> </a:t>
            </a:r>
            <a:r>
              <a:rPr lang="el-GR" altLang="en-US" sz="2400"/>
              <a:t>of </a:t>
            </a:r>
            <a:r>
              <a:rPr lang="en-US" altLang="zh-TW" sz="2400" i="1"/>
              <a:t>P</a:t>
            </a:r>
            <a:r>
              <a:rPr lang="el-GR" altLang="en-US" sz="2400"/>
              <a:t>.</a:t>
            </a:r>
            <a:endParaRPr lang="en-US" sz="2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DF475C-3585-4BDC-BFD9-1542D944F85F}"/>
              </a:ext>
            </a:extLst>
          </p:cNvPr>
          <p:cNvSpPr txBox="1">
            <a:spLocks noChangeArrowheads="1"/>
          </p:cNvSpPr>
          <p:nvPr/>
        </p:nvSpPr>
        <p:spPr>
          <a:xfrm>
            <a:off x="380215" y="179589"/>
            <a:ext cx="8412163" cy="5750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>
                <a:solidFill>
                  <a:srgbClr val="00B0F0"/>
                </a:solidFill>
                <a:ea typeface="新細明體" panose="02020500000000000000" pitchFamily="18" charset="-120"/>
              </a:rPr>
              <a:t>POLAR COORDINATES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993BA-DB6B-419A-9E66-3752DD33C831}"/>
              </a:ext>
            </a:extLst>
          </p:cNvPr>
          <p:cNvSpPr/>
          <p:nvPr/>
        </p:nvSpPr>
        <p:spPr>
          <a:xfrm>
            <a:off x="4925865" y="981183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l-GR" altLang="en-US" sz="2400"/>
              <a:t>If </a:t>
            </a:r>
            <a:r>
              <a:rPr lang="en-US" altLang="zh-TW" sz="2400" i="1"/>
              <a:t>P</a:t>
            </a:r>
            <a:r>
              <a:rPr lang="en-US" altLang="zh-TW" sz="2400"/>
              <a:t> </a:t>
            </a:r>
            <a:r>
              <a:rPr lang="el-GR" altLang="en-US" sz="2400"/>
              <a:t>is any other point in the plane, let</a:t>
            </a:r>
            <a:r>
              <a:rPr lang="en-US" altLang="zh-TW" sz="2400"/>
              <a:t>:</a:t>
            </a:r>
            <a:endParaRPr lang="en-US" altLang="zh-TW" sz="2400" i="1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i="1"/>
              <a:t>r</a:t>
            </a:r>
            <a:r>
              <a:rPr lang="en-US" altLang="zh-TW" sz="2400"/>
              <a:t> </a:t>
            </a:r>
            <a:r>
              <a:rPr lang="el-GR" altLang="en-US" sz="2400"/>
              <a:t>be the</a:t>
            </a:r>
            <a:r>
              <a:rPr lang="en-US" altLang="zh-TW" sz="2400"/>
              <a:t> </a:t>
            </a:r>
            <a:r>
              <a:rPr lang="el-GR" altLang="en-US" sz="2400"/>
              <a:t>distance from </a:t>
            </a:r>
            <a:r>
              <a:rPr lang="en-US" altLang="zh-TW" sz="2400" i="1"/>
              <a:t>O </a:t>
            </a:r>
            <a:r>
              <a:rPr lang="el-GR" altLang="en-US" sz="2400"/>
              <a:t>to </a:t>
            </a:r>
            <a:r>
              <a:rPr lang="en-US" altLang="zh-TW" sz="2400" i="1"/>
              <a:t>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altLang="en-US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</a:rPr>
              <a:t> </a:t>
            </a:r>
            <a:r>
              <a:rPr lang="el-GR" altLang="en-US" sz="2400"/>
              <a:t>be the</a:t>
            </a:r>
            <a:r>
              <a:rPr lang="en-US" altLang="zh-TW" sz="2400"/>
              <a:t> </a:t>
            </a:r>
            <a:r>
              <a:rPr lang="el-GR" altLang="en-US" sz="2400"/>
              <a:t>angle</a:t>
            </a:r>
            <a:r>
              <a:rPr lang="en-US" altLang="zh-TW" sz="2400"/>
              <a:t> </a:t>
            </a:r>
            <a:r>
              <a:rPr lang="el-GR" altLang="en-US" sz="2400"/>
              <a:t>(</a:t>
            </a:r>
            <a:r>
              <a:rPr lang="en-US" altLang="zh-TW" sz="2400"/>
              <a:t>usually </a:t>
            </a:r>
            <a:r>
              <a:rPr lang="el-GR" altLang="en-US" sz="2400"/>
              <a:t>measured in radians) between the</a:t>
            </a:r>
            <a:r>
              <a:rPr lang="en-US" altLang="zh-TW" sz="2400"/>
              <a:t> </a:t>
            </a:r>
            <a:r>
              <a:rPr lang="el-GR" altLang="en-US" sz="2400"/>
              <a:t>polar axis and the line</a:t>
            </a:r>
            <a:r>
              <a:rPr lang="en-US" altLang="zh-TW" sz="2400"/>
              <a:t> </a:t>
            </a:r>
            <a:r>
              <a:rPr lang="en-US" altLang="zh-TW" sz="2400" i="1"/>
              <a:t>OP.</a:t>
            </a:r>
            <a:endParaRPr lang="el-GR" alt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65049-AA92-4081-9D39-9CD98569BFAC}"/>
              </a:ext>
            </a:extLst>
          </p:cNvPr>
          <p:cNvSpPr/>
          <p:nvPr/>
        </p:nvSpPr>
        <p:spPr>
          <a:xfrm>
            <a:off x="744718" y="3945744"/>
            <a:ext cx="73470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We use the convention that an angle is</a:t>
            </a:r>
            <a:r>
              <a:rPr lang="en-US" altLang="zh-TW" sz="240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/>
              <a:t>P</a:t>
            </a:r>
            <a:r>
              <a:rPr lang="el-GR" altLang="en-US" sz="2400"/>
              <a:t>ositive</a:t>
            </a:r>
            <a:r>
              <a:rPr lang="en-US" altLang="zh-TW" sz="2400">
                <a:latin typeface="Arial" panose="020B0604020202020204" pitchFamily="34" charset="0"/>
              </a:rPr>
              <a:t>—</a:t>
            </a:r>
            <a:r>
              <a:rPr lang="en-US" altLang="zh-TW" sz="2400"/>
              <a:t>if </a:t>
            </a:r>
            <a:r>
              <a:rPr lang="el-GR" altLang="en-US" sz="2400"/>
              <a:t>measured in the counterclockwise</a:t>
            </a:r>
            <a:r>
              <a:rPr lang="en-US" altLang="zh-TW" sz="2400"/>
              <a:t> </a:t>
            </a:r>
            <a:r>
              <a:rPr lang="el-GR" altLang="en-US" sz="2400"/>
              <a:t>direction from the polar axis</a:t>
            </a:r>
            <a:r>
              <a:rPr lang="en-US" altLang="zh-TW" sz="240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/>
              <a:t>N</a:t>
            </a:r>
            <a:r>
              <a:rPr lang="el-GR" altLang="en-US" sz="2400"/>
              <a:t>egative</a:t>
            </a:r>
            <a:r>
              <a:rPr lang="en-US" altLang="zh-TW" sz="2400">
                <a:latin typeface="Arial" panose="020B0604020202020204" pitchFamily="34" charset="0"/>
              </a:rPr>
              <a:t>—</a:t>
            </a:r>
            <a:r>
              <a:rPr lang="en-US" altLang="zh-TW" sz="2400"/>
              <a:t>if </a:t>
            </a:r>
            <a:r>
              <a:rPr lang="el-GR" altLang="en-US" sz="2400"/>
              <a:t>measured in</a:t>
            </a:r>
            <a:r>
              <a:rPr lang="en-US" altLang="zh-TW" sz="2400"/>
              <a:t> </a:t>
            </a:r>
            <a:r>
              <a:rPr lang="el-GR" altLang="en-US" sz="2400"/>
              <a:t>the clockwise direction from the polar axis.</a:t>
            </a:r>
            <a:endParaRPr lang="en-US" altLang="zh-TW" sz="2400"/>
          </a:p>
          <a:p>
            <a:r>
              <a:rPr lang="el-GR" altLang="en-US" sz="2400"/>
              <a:t>If </a:t>
            </a:r>
            <a:r>
              <a:rPr lang="el-GR" altLang="en-US" sz="2400" i="1"/>
              <a:t>P </a:t>
            </a:r>
            <a:r>
              <a:rPr lang="en-US" altLang="zh-TW" sz="2400" i="1"/>
              <a:t>=</a:t>
            </a:r>
            <a:r>
              <a:rPr lang="el-GR" altLang="en-US" sz="2400"/>
              <a:t> </a:t>
            </a:r>
            <a:r>
              <a:rPr lang="el-GR" altLang="en-US" sz="2400" i="1"/>
              <a:t>O</a:t>
            </a:r>
            <a:r>
              <a:rPr lang="en-US" altLang="zh-TW" sz="2400" i="1"/>
              <a:t>, </a:t>
            </a:r>
            <a:r>
              <a:rPr lang="el-GR" altLang="en-US" sz="2400"/>
              <a:t>then </a:t>
            </a:r>
            <a:r>
              <a:rPr lang="el-GR" altLang="en-US" sz="2400" i="1"/>
              <a:t>r </a:t>
            </a:r>
            <a:r>
              <a:rPr lang="en-US" altLang="zh-TW" sz="2400" i="1"/>
              <a:t>=</a:t>
            </a:r>
            <a:r>
              <a:rPr lang="el-GR" altLang="en-US" sz="2400"/>
              <a:t> 0</a:t>
            </a:r>
            <a:r>
              <a:rPr lang="en-US" altLang="zh-TW" sz="2400"/>
              <a:t>, </a:t>
            </a:r>
            <a:r>
              <a:rPr lang="el-GR" altLang="en-US" sz="2400"/>
              <a:t>and we agree that </a:t>
            </a:r>
            <a:r>
              <a:rPr lang="en-US" altLang="zh-TW" sz="2400"/>
              <a:t>(</a:t>
            </a:r>
            <a:r>
              <a:rPr lang="el-GR" altLang="en-US" sz="2400"/>
              <a:t>0,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 r</a:t>
            </a:r>
            <a:r>
              <a:rPr lang="el-GR" altLang="en-US" sz="2400"/>
              <a:t>epresents the pole for any value of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47B21C35-5E66-4EBD-A362-8C71ABAF3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789" y="3830422"/>
            <a:ext cx="3817937" cy="29083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118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F420-CA34-4E6E-8545-ABE3438D2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74" y="221617"/>
            <a:ext cx="10515600" cy="50214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23DE8-D0CB-4190-A5E3-144375B90D0B}"/>
              </a:ext>
            </a:extLst>
          </p:cNvPr>
          <p:cNvSpPr/>
          <p:nvPr/>
        </p:nvSpPr>
        <p:spPr>
          <a:xfrm>
            <a:off x="442274" y="803359"/>
            <a:ext cx="42177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/>
            <a:r>
              <a:rPr lang="el-GR" altLang="en-US" sz="2400"/>
              <a:t>Plot the points whose polar </a:t>
            </a:r>
            <a:endParaRPr lang="en-US" altLang="en-US" sz="2400"/>
          </a:p>
          <a:p>
            <a:pPr marL="609600" indent="-609600"/>
            <a:r>
              <a:rPr lang="el-GR" altLang="en-US" sz="2400"/>
              <a:t>coordinates are</a:t>
            </a:r>
            <a:r>
              <a:rPr lang="en-US" altLang="zh-TW" sz="2400"/>
              <a:t> </a:t>
            </a:r>
            <a:r>
              <a:rPr lang="el-GR" altLang="en-US" sz="2400"/>
              <a:t>given.</a:t>
            </a:r>
            <a:endParaRPr lang="en-US" altLang="zh-TW" sz="2400"/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l-GR" altLang="en-US" sz="2400"/>
              <a:t>1, 5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n-US" altLang="zh-TW" sz="2400">
                <a:cs typeface="Arial" panose="020B0604020202020204" pitchFamily="34" charset="0"/>
              </a:rPr>
              <a:t>/</a:t>
            </a:r>
            <a:r>
              <a:rPr lang="el-GR" altLang="en-US" sz="2400"/>
              <a:t>4</a:t>
            </a:r>
            <a:r>
              <a:rPr lang="en-US" altLang="zh-TW" sz="2400"/>
              <a:t>)</a:t>
            </a:r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l-GR" altLang="en-US" sz="2400"/>
              <a:t>2, 3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)</a:t>
            </a:r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l-GR" altLang="en-US" sz="2400"/>
              <a:t>2, </a:t>
            </a:r>
            <a:r>
              <a:rPr lang="en-US" altLang="zh-TW" sz="2400">
                <a:latin typeface="Arial" panose="020B0604020202020204" pitchFamily="34" charset="0"/>
              </a:rPr>
              <a:t>–</a:t>
            </a:r>
            <a:r>
              <a:rPr lang="el-GR" altLang="en-US" sz="2400"/>
              <a:t>2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n-US" altLang="zh-TW" sz="2400"/>
              <a:t>/</a:t>
            </a:r>
            <a:r>
              <a:rPr lang="el-GR" altLang="en-US" sz="2400"/>
              <a:t>3</a:t>
            </a:r>
            <a:r>
              <a:rPr lang="en-US" altLang="zh-TW" sz="2400"/>
              <a:t>)</a:t>
            </a:r>
          </a:p>
          <a:p>
            <a:pPr marL="990600" lvl="1" indent="-533400">
              <a:buClr>
                <a:schemeClr val="tx2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altLang="zh-TW" sz="2400"/>
              <a:t>(</a:t>
            </a:r>
            <a:r>
              <a:rPr lang="en-US" altLang="zh-TW" sz="2400">
                <a:latin typeface="Arial" panose="020B0604020202020204" pitchFamily="34" charset="0"/>
              </a:rPr>
              <a:t>–</a:t>
            </a:r>
            <a:r>
              <a:rPr lang="el-GR" altLang="en-US" sz="2400"/>
              <a:t>3, 3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n-US" altLang="zh-TW" sz="2400"/>
              <a:t>/</a:t>
            </a:r>
            <a:r>
              <a:rPr lang="el-GR" altLang="en-US" sz="2400"/>
              <a:t>4</a:t>
            </a:r>
            <a:r>
              <a:rPr lang="en-US" altLang="zh-TW" sz="2400"/>
              <a:t>)</a:t>
            </a:r>
            <a:endParaRPr lang="en-US" sz="240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47F61B5A-0AC4-4219-A7C4-BB11B41D86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68"/>
          <a:stretch/>
        </p:blipFill>
        <p:spPr bwMode="auto">
          <a:xfrm>
            <a:off x="5232579" y="2472048"/>
            <a:ext cx="2835275" cy="162625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3DE06459-AAE0-4945-824B-2FD5AD999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062" y="2472048"/>
            <a:ext cx="3022600" cy="103981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0CD08BB1-B59D-4545-855A-DDEA52DF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579" y="4967106"/>
            <a:ext cx="3051175" cy="17986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CB81066D-7A14-44CB-8E58-160971F91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412" y="4411481"/>
            <a:ext cx="2501900" cy="23542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2">
            <a:extLst>
              <a:ext uri="{FF2B5EF4-FFF2-40B4-BE49-F238E27FC236}">
                <a16:creationId xmlns:a16="http://schemas.microsoft.com/office/drawing/2014/main" id="{D9CF6C1B-CDDA-4FA2-AA19-5697CEDE5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4" b="1256"/>
          <a:stretch/>
        </p:blipFill>
        <p:spPr bwMode="auto">
          <a:xfrm>
            <a:off x="5152272" y="240105"/>
            <a:ext cx="6815579" cy="15142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A34558-C320-461A-AB61-F0065675DA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74" y="3171620"/>
            <a:ext cx="3903584" cy="369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8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6C6A-42ED-4F3F-9B55-8DD0F298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CARTESIAN &amp; POLAR COORDINATES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3" name="Picture 19">
            <a:extLst>
              <a:ext uri="{FF2B5EF4-FFF2-40B4-BE49-F238E27FC236}">
                <a16:creationId xmlns:a16="http://schemas.microsoft.com/office/drawing/2014/main" id="{560F74E2-2C41-4095-989D-E53DD039F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" b="10859"/>
          <a:stretch/>
        </p:blipFill>
        <p:spPr bwMode="auto">
          <a:xfrm>
            <a:off x="1102935" y="1690688"/>
            <a:ext cx="4561714" cy="354118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180B0D80-4044-408F-BBE8-A06E2FA25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143969"/>
              </p:ext>
            </p:extLst>
          </p:nvPr>
        </p:nvGraphicFramePr>
        <p:xfrm>
          <a:off x="6101678" y="4003233"/>
          <a:ext cx="3979862" cy="152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4" imgW="1587240" imgH="609480" progId="Equation.DSMT4">
                  <p:embed/>
                </p:oleObj>
              </mc:Choice>
              <mc:Fallback>
                <p:oleObj name="Equation" r:id="rId4" imgW="1587240" imgH="609480" progId="Equation.DSMT4">
                  <p:embed/>
                  <p:pic>
                    <p:nvPicPr>
                      <p:cNvPr id="167945" name="Object 9">
                        <a:extLst>
                          <a:ext uri="{FF2B5EF4-FFF2-40B4-BE49-F238E27FC236}">
                            <a16:creationId xmlns:a16="http://schemas.microsoft.com/office/drawing/2014/main" id="{0EB0F411-CCE2-457E-8610-5CAC70618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1678" y="4003233"/>
                        <a:ext cx="3979862" cy="152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439D539C-47EB-4AB8-A008-30DB3CD645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071080"/>
              </p:ext>
            </p:extLst>
          </p:nvPr>
        </p:nvGraphicFramePr>
        <p:xfrm>
          <a:off x="6096000" y="1690688"/>
          <a:ext cx="38449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6" imgW="1536480" imgH="431640" progId="Equation.DSMT4">
                  <p:embed/>
                </p:oleObj>
              </mc:Choice>
              <mc:Fallback>
                <p:oleObj name="Equation" r:id="rId6" imgW="1536480" imgH="431640" progId="Equation.DSMT4">
                  <p:embed/>
                  <p:pic>
                    <p:nvPicPr>
                      <p:cNvPr id="167956" name="Object 20">
                        <a:extLst>
                          <a:ext uri="{FF2B5EF4-FFF2-40B4-BE49-F238E27FC236}">
                            <a16:creationId xmlns:a16="http://schemas.microsoft.com/office/drawing/2014/main" id="{44C53BB0-62A6-4182-8B1A-490F7DEDC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90688"/>
                        <a:ext cx="3844925" cy="1079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75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0EE0F94-EA92-49ED-8749-F6941416CA09}"/>
              </a:ext>
            </a:extLst>
          </p:cNvPr>
          <p:cNvSpPr txBox="1">
            <a:spLocks/>
          </p:cNvSpPr>
          <p:nvPr/>
        </p:nvSpPr>
        <p:spPr>
          <a:xfrm>
            <a:off x="990600" y="149879"/>
            <a:ext cx="10515600" cy="821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E4C16-5DE0-47D4-8A54-8962603A754B}"/>
              </a:ext>
            </a:extLst>
          </p:cNvPr>
          <p:cNvSpPr/>
          <p:nvPr/>
        </p:nvSpPr>
        <p:spPr>
          <a:xfrm>
            <a:off x="990600" y="81857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Convert </a:t>
            </a:r>
            <a:r>
              <a:rPr lang="en-US" altLang="en-US" sz="2400"/>
              <a:t>some</a:t>
            </a:r>
            <a:r>
              <a:rPr lang="el-GR" altLang="en-US" sz="2400"/>
              <a:t> point</a:t>
            </a:r>
            <a:r>
              <a:rPr lang="en-US" altLang="en-US" sz="2400"/>
              <a:t>s</a:t>
            </a:r>
            <a:r>
              <a:rPr lang="el-GR" altLang="en-US" sz="2400"/>
              <a:t> from</a:t>
            </a:r>
            <a:r>
              <a:rPr lang="en-US" altLang="en-US" sz="2400"/>
              <a:t> P</a:t>
            </a:r>
            <a:r>
              <a:rPr lang="el-GR" altLang="en-US" sz="2400"/>
              <a:t>olar coordinates </a:t>
            </a:r>
            <a:r>
              <a:rPr lang="en-US" altLang="en-US" sz="2400"/>
              <a:t> </a:t>
            </a:r>
            <a:r>
              <a:rPr lang="el-GR" altLang="en-US" sz="2400"/>
              <a:t>to Cartesian coordinates</a:t>
            </a:r>
            <a:r>
              <a:rPr lang="en-US" altLang="en-US" sz="2400"/>
              <a:t> and conversely:</a:t>
            </a:r>
          </a:p>
          <a:p>
            <a:endParaRPr lang="en-US" sz="240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5DD505-2EE0-44B7-A0F4-0B705D4D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992615"/>
              </p:ext>
            </p:extLst>
          </p:nvPr>
        </p:nvGraphicFramePr>
        <p:xfrm>
          <a:off x="2765093" y="1935336"/>
          <a:ext cx="5750352" cy="3998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478">
                  <a:extLst>
                    <a:ext uri="{9D8B030D-6E8A-4147-A177-3AD203B41FA5}">
                      <a16:colId xmlns:a16="http://schemas.microsoft.com/office/drawing/2014/main" val="3740744073"/>
                    </a:ext>
                  </a:extLst>
                </a:gridCol>
                <a:gridCol w="2808874">
                  <a:extLst>
                    <a:ext uri="{9D8B030D-6E8A-4147-A177-3AD203B41FA5}">
                      <a16:colId xmlns:a16="http://schemas.microsoft.com/office/drawing/2014/main" val="3605166495"/>
                    </a:ext>
                  </a:extLst>
                </a:gridCol>
              </a:tblGrid>
              <a:tr h="797854"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Polar coordinate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Cartesian coordinate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741888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a typeface="+mn-ea"/>
                        </a:rPr>
                        <a:t>(</a:t>
                      </a:r>
                      <a:r>
                        <a:rPr lang="el-GR" altLang="en-US" sz="2400"/>
                        <a:t>2, 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2400">
                          <a:ea typeface="+mn-ea"/>
                        </a:rPr>
                        <a:t>/</a:t>
                      </a:r>
                      <a:r>
                        <a:rPr lang="el-GR" altLang="en-US" sz="2400"/>
                        <a:t>3</a:t>
                      </a:r>
                      <a:r>
                        <a:rPr lang="en-US" altLang="zh-TW" sz="2400">
                          <a:ea typeface="+mn-ea"/>
                        </a:rPr>
                        <a:t>) 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9400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a typeface="+mn-ea"/>
                        </a:rPr>
                        <a:t>(1, </a:t>
                      </a:r>
                      <a:r>
                        <a:rPr lang="en-US" altLang="zh-TW" sz="2400">
                          <a:latin typeface="Arial" panose="020B0604020202020204" pitchFamily="34" charset="0"/>
                          <a:ea typeface="+mn-ea"/>
                        </a:rPr>
                        <a:t>–</a:t>
                      </a:r>
                      <a:r>
                        <a:rPr lang="en-US" altLang="zh-TW" sz="2400">
                          <a:ea typeface="+mn-ea"/>
                        </a:rPr>
                        <a:t>1)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46777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24131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909725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12458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106820"/>
                  </a:ext>
                </a:extLst>
              </a:tr>
              <a:tr h="456897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0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75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0EE0F94-EA92-49ED-8749-F6941416CA09}"/>
              </a:ext>
            </a:extLst>
          </p:cNvPr>
          <p:cNvSpPr txBox="1">
            <a:spLocks/>
          </p:cNvSpPr>
          <p:nvPr/>
        </p:nvSpPr>
        <p:spPr>
          <a:xfrm>
            <a:off x="990600" y="51557"/>
            <a:ext cx="10515600" cy="821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Exercies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E4C16-5DE0-47D4-8A54-8962603A754B}"/>
              </a:ext>
            </a:extLst>
          </p:cNvPr>
          <p:cNvSpPr/>
          <p:nvPr/>
        </p:nvSpPr>
        <p:spPr>
          <a:xfrm>
            <a:off x="990600" y="838235"/>
            <a:ext cx="48595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400"/>
              <a:t>Ex 1. </a:t>
            </a:r>
            <a:r>
              <a:rPr lang="el-GR" altLang="en-US" sz="2400"/>
              <a:t>Plot the points whose polar coordinates are</a:t>
            </a:r>
            <a:r>
              <a:rPr lang="en-US" altLang="en-US" sz="2400"/>
              <a:t> </a:t>
            </a:r>
            <a:r>
              <a:rPr lang="el-GR" altLang="en-US" sz="2400"/>
              <a:t>given</a:t>
            </a:r>
            <a:r>
              <a:rPr lang="en-US" altLang="en-US" sz="2400"/>
              <a:t> and find the corresponding Cartesian coordinate</a:t>
            </a:r>
          </a:p>
          <a:p>
            <a:pPr algn="just"/>
            <a:endParaRPr lang="en-US" sz="240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5DD505-2EE0-44B7-A0F4-0B705D4D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30222"/>
              </p:ext>
            </p:extLst>
          </p:nvPr>
        </p:nvGraphicFramePr>
        <p:xfrm>
          <a:off x="540774" y="2387519"/>
          <a:ext cx="358982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47">
                  <a:extLst>
                    <a:ext uri="{9D8B030D-6E8A-4147-A177-3AD203B41FA5}">
                      <a16:colId xmlns:a16="http://schemas.microsoft.com/office/drawing/2014/main" val="3740744073"/>
                    </a:ext>
                  </a:extLst>
                </a:gridCol>
                <a:gridCol w="1600392">
                  <a:extLst>
                    <a:ext uri="{9D8B030D-6E8A-4147-A177-3AD203B41FA5}">
                      <a16:colId xmlns:a16="http://schemas.microsoft.com/office/drawing/2014/main" val="933771031"/>
                    </a:ext>
                  </a:extLst>
                </a:gridCol>
                <a:gridCol w="1549985">
                  <a:extLst>
                    <a:ext uri="{9D8B030D-6E8A-4147-A177-3AD203B41FA5}">
                      <a16:colId xmlns:a16="http://schemas.microsoft.com/office/drawing/2014/main" val="3605166495"/>
                    </a:ext>
                  </a:extLst>
                </a:gridCol>
              </a:tblGrid>
              <a:tr h="820597"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Polar coordinate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Cartesian coordinate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741888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(3,0)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9400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 i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(2,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2400" b="1" i="0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altLang="zh-TW" sz="2400" i="0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2)</a:t>
                      </a:r>
                      <a:endParaRPr lang="en-US" sz="240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46777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(-2,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 p</a:t>
                      </a:r>
                      <a:r>
                        <a:rPr lang="en-US" sz="24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24131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a typeface="+mn-ea"/>
                        </a:rPr>
                        <a:t>(</a:t>
                      </a:r>
                      <a:r>
                        <a:rPr lang="en-US" altLang="en-US" sz="2400"/>
                        <a:t>3</a:t>
                      </a:r>
                      <a:r>
                        <a:rPr lang="el-GR" altLang="en-US" sz="2400"/>
                        <a:t>, </a:t>
                      </a:r>
                      <a:r>
                        <a:rPr lang="en-US" altLang="en-US" sz="2400"/>
                        <a:t>-2</a:t>
                      </a:r>
                      <a:r>
                        <a:rPr lang="en-US" altLang="zh-TW" sz="2400" i="1">
                          <a:latin typeface="Symbol" panose="05050102010706020507" pitchFamily="18" charset="2"/>
                          <a:ea typeface="+mn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2400">
                          <a:ea typeface="+mn-ea"/>
                        </a:rPr>
                        <a:t>/</a:t>
                      </a:r>
                      <a:r>
                        <a:rPr lang="el-GR" altLang="en-US" sz="2400"/>
                        <a:t>3</a:t>
                      </a:r>
                      <a:r>
                        <a:rPr lang="en-US" altLang="zh-TW" sz="2400">
                          <a:ea typeface="+mn-ea"/>
                        </a:rPr>
                        <a:t>) 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909725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(</a:t>
                      </a:r>
                      <a:r>
                        <a:rPr lang="en-US" altLang="en-US" sz="2400"/>
                        <a:t>3</a:t>
                      </a:r>
                      <a:r>
                        <a:rPr lang="el-GR" altLang="en-US" sz="2400"/>
                        <a:t>, </a:t>
                      </a:r>
                      <a:r>
                        <a:rPr lang="en-US" altLang="en-US" sz="2400"/>
                        <a:t>3</a:t>
                      </a:r>
                      <a:r>
                        <a:rPr lang="en-US" altLang="zh-TW" sz="2400" i="1">
                          <a:latin typeface="Symbol" panose="05050102010706020507" pitchFamily="18" charset="2"/>
                        </a:rPr>
                        <a:t>p</a:t>
                      </a:r>
                      <a:r>
                        <a:rPr lang="el-GR" altLang="en-US" sz="2400" i="1"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>
                          <a:cs typeface="Arial" panose="020B0604020202020204" pitchFamily="34" charset="0"/>
                        </a:rPr>
                        <a:t>/</a:t>
                      </a:r>
                      <a:r>
                        <a:rPr lang="el-GR" altLang="en-US" sz="2400"/>
                        <a:t>4</a:t>
                      </a:r>
                      <a:r>
                        <a:rPr lang="en-US" altLang="zh-TW" sz="2400"/>
                        <a:t>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12458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(</a:t>
                      </a:r>
                      <a:r>
                        <a:rPr lang="el-GR" altLang="en-US" sz="2400"/>
                        <a:t>2, </a:t>
                      </a:r>
                      <a:r>
                        <a:rPr lang="en-US" altLang="zh-TW" sz="2400">
                          <a:latin typeface="Arial" panose="020B0604020202020204" pitchFamily="34" charset="0"/>
                        </a:rPr>
                        <a:t>–5</a:t>
                      </a:r>
                      <a:r>
                        <a:rPr lang="en-US" altLang="zh-TW" sz="2400" i="1">
                          <a:latin typeface="Symbol" panose="05050102010706020507" pitchFamily="18" charset="2"/>
                        </a:rPr>
                        <a:t>p</a:t>
                      </a:r>
                      <a:r>
                        <a:rPr lang="el-GR" altLang="en-US" sz="2400" i="1"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/>
                        <a:t>/</a:t>
                      </a:r>
                      <a:r>
                        <a:rPr lang="en-US" altLang="en-US" sz="2400"/>
                        <a:t>6</a:t>
                      </a:r>
                      <a:r>
                        <a:rPr lang="en-US" altLang="zh-TW" sz="2400"/>
                        <a:t>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106820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(-</a:t>
                      </a:r>
                      <a:r>
                        <a:rPr lang="en-US" altLang="en-US" sz="2400"/>
                        <a:t>2</a:t>
                      </a:r>
                      <a:r>
                        <a:rPr lang="el-GR" altLang="en-US" sz="2400"/>
                        <a:t>, </a:t>
                      </a:r>
                      <a:r>
                        <a:rPr lang="en-US" altLang="en-US" sz="2400"/>
                        <a:t>-</a:t>
                      </a:r>
                      <a:r>
                        <a:rPr lang="en-US" altLang="zh-TW" sz="2400" i="1">
                          <a:latin typeface="Symbol" panose="05050102010706020507" pitchFamily="18" charset="2"/>
                        </a:rPr>
                        <a:t>p</a:t>
                      </a:r>
                      <a:r>
                        <a:rPr lang="el-GR" altLang="en-US" sz="2400" i="1"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/>
                        <a:t>/</a:t>
                      </a:r>
                      <a:r>
                        <a:rPr lang="el-GR" altLang="en-US" sz="2400"/>
                        <a:t>4</a:t>
                      </a:r>
                      <a:r>
                        <a:rPr lang="en-US" altLang="zh-TW" sz="2400"/>
                        <a:t>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072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9C5AE98-C9F0-48F0-A928-5F1F0FD7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380" y="2652991"/>
            <a:ext cx="3903584" cy="3692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575EB3-7C0E-44F7-9C6A-E8F85479236F}"/>
              </a:ext>
            </a:extLst>
          </p:cNvPr>
          <p:cNvSpPr txBox="1"/>
          <p:nvPr/>
        </p:nvSpPr>
        <p:spPr>
          <a:xfrm>
            <a:off x="6341808" y="983226"/>
            <a:ext cx="5368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Ex 2. </a:t>
            </a:r>
            <a:r>
              <a:rPr lang="el-GR" altLang="en-US" sz="2400"/>
              <a:t>Convert </a:t>
            </a:r>
            <a:r>
              <a:rPr lang="en-US" altLang="en-US" sz="2400"/>
              <a:t>some</a:t>
            </a:r>
            <a:r>
              <a:rPr lang="el-GR" altLang="en-US" sz="2400"/>
              <a:t> point</a:t>
            </a:r>
            <a:r>
              <a:rPr lang="en-US" altLang="en-US" sz="2400"/>
              <a:t>s</a:t>
            </a:r>
            <a:r>
              <a:rPr lang="el-GR" altLang="en-US" sz="2400"/>
              <a:t> from</a:t>
            </a:r>
            <a:r>
              <a:rPr lang="en-US" altLang="en-US" sz="2400"/>
              <a:t> </a:t>
            </a:r>
            <a:r>
              <a:rPr lang="el-GR" altLang="en-US" sz="2400"/>
              <a:t>Cartesian coordinates</a:t>
            </a:r>
            <a:r>
              <a:rPr lang="en-US" sz="2400"/>
              <a:t> to </a:t>
            </a:r>
            <a:r>
              <a:rPr lang="en-US" altLang="en-US" sz="2400"/>
              <a:t>P</a:t>
            </a:r>
            <a:r>
              <a:rPr lang="el-GR" altLang="en-US" sz="2400"/>
              <a:t>olar coordinates</a:t>
            </a:r>
            <a:r>
              <a:rPr lang="en-US" altLang="en-US" sz="2400"/>
              <a:t>:</a:t>
            </a:r>
          </a:p>
          <a:p>
            <a:endParaRPr lang="en-US" sz="240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9184E40A-68C8-4213-AC92-88F77270D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483313"/>
              </p:ext>
            </p:extLst>
          </p:nvPr>
        </p:nvGraphicFramePr>
        <p:xfrm>
          <a:off x="8391832" y="2322482"/>
          <a:ext cx="358982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47">
                  <a:extLst>
                    <a:ext uri="{9D8B030D-6E8A-4147-A177-3AD203B41FA5}">
                      <a16:colId xmlns:a16="http://schemas.microsoft.com/office/drawing/2014/main" val="3740744073"/>
                    </a:ext>
                  </a:extLst>
                </a:gridCol>
                <a:gridCol w="1600392">
                  <a:extLst>
                    <a:ext uri="{9D8B030D-6E8A-4147-A177-3AD203B41FA5}">
                      <a16:colId xmlns:a16="http://schemas.microsoft.com/office/drawing/2014/main" val="933771031"/>
                    </a:ext>
                  </a:extLst>
                </a:gridCol>
                <a:gridCol w="1549985">
                  <a:extLst>
                    <a:ext uri="{9D8B030D-6E8A-4147-A177-3AD203B41FA5}">
                      <a16:colId xmlns:a16="http://schemas.microsoft.com/office/drawing/2014/main" val="3605166495"/>
                    </a:ext>
                  </a:extLst>
                </a:gridCol>
              </a:tblGrid>
              <a:tr h="820597"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Polar coordinate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Cartesian coordinate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741888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9400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 i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46777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424131"/>
                  </a:ext>
                </a:extLst>
              </a:tr>
              <a:tr h="45588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909725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D4C44F7-02FC-421F-B637-FFBE910A4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258774"/>
              </p:ext>
            </p:extLst>
          </p:nvPr>
        </p:nvGraphicFramePr>
        <p:xfrm>
          <a:off x="10559384" y="3626824"/>
          <a:ext cx="1257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Equation" r:id="rId4" imgW="1257120" imgH="482400" progId="Equation.DSMT4">
                  <p:embed/>
                </p:oleObj>
              </mc:Choice>
              <mc:Fallback>
                <p:oleObj name="Equation" r:id="rId4" imgW="1257120" imgH="4824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552334-B5B1-4396-A006-FDFDC15EA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59384" y="3626824"/>
                        <a:ext cx="12573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B65D345-29FD-4F6F-8722-1A03C2F01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189253"/>
              </p:ext>
            </p:extLst>
          </p:nvPr>
        </p:nvGraphicFramePr>
        <p:xfrm>
          <a:off x="10752802" y="4554538"/>
          <a:ext cx="1028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Equation" r:id="rId6" imgW="1028520" imgH="482400" progId="Equation.DSMT4">
                  <p:embed/>
                </p:oleObj>
              </mc:Choice>
              <mc:Fallback>
                <p:oleObj name="Equation" r:id="rId6" imgW="1028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52802" y="4554538"/>
                        <a:ext cx="1028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CB3D08D-489F-4519-9F12-34772FD2A8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305708"/>
              </p:ext>
            </p:extLst>
          </p:nvPr>
        </p:nvGraphicFramePr>
        <p:xfrm>
          <a:off x="10718223" y="4026612"/>
          <a:ext cx="1016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Equation" r:id="rId8" imgW="1015920" imgH="482400" progId="Equation.DSMT4">
                  <p:embed/>
                </p:oleObj>
              </mc:Choice>
              <mc:Fallback>
                <p:oleObj name="Equation" r:id="rId8" imgW="1015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718223" y="4026612"/>
                        <a:ext cx="1016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D0E70249-75FD-48EA-A88B-1DB8FC318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40629"/>
              </p:ext>
            </p:extLst>
          </p:nvPr>
        </p:nvGraphicFramePr>
        <p:xfrm>
          <a:off x="10893425" y="3201988"/>
          <a:ext cx="69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Equation" r:id="rId10" imgW="698400" imgH="380880" progId="Equation.DSMT4">
                  <p:embed/>
                </p:oleObj>
              </mc:Choice>
              <mc:Fallback>
                <p:oleObj name="Equation" r:id="rId10" imgW="698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893425" y="3201988"/>
                        <a:ext cx="698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863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DB8B-1F1B-48CC-8432-3CF40E2A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POLAR CURVES</a:t>
            </a:r>
            <a:endParaRPr lang="en-US" b="1">
              <a:solidFill>
                <a:srgbClr val="00B0F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B74230-44ED-47B6-840E-E35B030CCA2E}"/>
              </a:ext>
            </a:extLst>
          </p:cNvPr>
          <p:cNvSpPr/>
          <p:nvPr/>
        </p:nvSpPr>
        <p:spPr>
          <a:xfrm>
            <a:off x="936396" y="1065230"/>
            <a:ext cx="105155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The graph of a polar equation </a:t>
            </a:r>
            <a:r>
              <a:rPr lang="en-US" altLang="zh-TW" sz="2400" i="1"/>
              <a:t>r</a:t>
            </a:r>
            <a:r>
              <a:rPr lang="en-US" altLang="zh-TW" sz="2400"/>
              <a:t> =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 [or, more generally,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n-US" altLang="zh-TW" sz="2400" i="1"/>
              <a:t>r,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 = 0] consists </a:t>
            </a:r>
            <a:r>
              <a:rPr lang="el-GR" altLang="en-US" sz="2400"/>
              <a:t>of all</a:t>
            </a:r>
            <a:r>
              <a:rPr lang="en-US" altLang="zh-TW" sz="2400"/>
              <a:t> </a:t>
            </a:r>
            <a:r>
              <a:rPr lang="el-GR" altLang="en-US" sz="2400"/>
              <a:t>points that have at</a:t>
            </a:r>
            <a:r>
              <a:rPr lang="en-US" altLang="zh-TW" sz="2400"/>
              <a:t> </a:t>
            </a:r>
            <a:r>
              <a:rPr lang="el-GR" altLang="en-US" sz="2400"/>
              <a:t>least one polar</a:t>
            </a:r>
            <a:r>
              <a:rPr lang="en-US" altLang="zh-TW" sz="2400"/>
              <a:t> </a:t>
            </a:r>
            <a:r>
              <a:rPr lang="el-GR" altLang="en-US" sz="2400"/>
              <a:t>representation </a:t>
            </a:r>
            <a:r>
              <a:rPr lang="en-US" altLang="zh-TW" sz="2400"/>
              <a:t>(</a:t>
            </a:r>
            <a:r>
              <a:rPr lang="en-US" altLang="zh-TW" sz="2400" i="1"/>
              <a:t>r,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/>
              <a:t>), </a:t>
            </a:r>
            <a:r>
              <a:rPr lang="el-GR" altLang="en-US" sz="2400"/>
              <a:t>whose</a:t>
            </a:r>
            <a:r>
              <a:rPr lang="en-US" altLang="zh-TW" sz="2400"/>
              <a:t> </a:t>
            </a:r>
            <a:r>
              <a:rPr lang="el-GR" altLang="en-US" sz="2400"/>
              <a:t>coordinates</a:t>
            </a:r>
            <a:r>
              <a:rPr lang="en-US" altLang="zh-TW" sz="2400"/>
              <a:t> </a:t>
            </a:r>
            <a:r>
              <a:rPr lang="el-GR" altLang="en-US" sz="2400"/>
              <a:t>satisfy the</a:t>
            </a:r>
            <a:r>
              <a:rPr lang="en-US" altLang="zh-TW" sz="2400"/>
              <a:t> </a:t>
            </a:r>
            <a:r>
              <a:rPr lang="el-GR" altLang="en-US" sz="2400"/>
              <a:t>equation.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4E102914-87AD-4642-ADA4-EB1A06EE85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" b="5276"/>
          <a:stretch/>
        </p:blipFill>
        <p:spPr bwMode="auto">
          <a:xfrm>
            <a:off x="1298084" y="2379253"/>
            <a:ext cx="3602038" cy="341351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DC623FBA-6827-4A3D-8BC6-D92C2D5FC3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" r="241" b="-304"/>
          <a:stretch/>
        </p:blipFill>
        <p:spPr bwMode="auto">
          <a:xfrm>
            <a:off x="6900419" y="2379253"/>
            <a:ext cx="3871391" cy="385947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71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D8B9-9521-46ED-A333-80CC3D84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709531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POLAR CURVES</a:t>
            </a:r>
            <a:endParaRPr lang="en-US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880C8-1598-4866-984E-FEED50D0582C}"/>
              </a:ext>
            </a:extLst>
          </p:cNvPr>
          <p:cNvSpPr/>
          <p:nvPr/>
        </p:nvSpPr>
        <p:spPr>
          <a:xfrm>
            <a:off x="681340" y="1074656"/>
            <a:ext cx="64264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Sketch the curve with polar equation</a:t>
            </a:r>
            <a:r>
              <a:rPr lang="en-US" altLang="en-US" sz="2400"/>
              <a:t> </a:t>
            </a:r>
            <a:r>
              <a:rPr lang="en-US" altLang="zh-TW" sz="2400" i="1"/>
              <a:t>r</a:t>
            </a:r>
            <a:r>
              <a:rPr lang="en-US" altLang="zh-TW" sz="2400"/>
              <a:t> = 2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</a:rPr>
              <a:t>.</a:t>
            </a:r>
            <a:endParaRPr lang="en-US" altLang="zh-TW" sz="2400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5265B88A-EF76-48C8-8534-D077973036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1" t="-1256"/>
          <a:stretch/>
        </p:blipFill>
        <p:spPr bwMode="auto">
          <a:xfrm>
            <a:off x="3728302" y="1735969"/>
            <a:ext cx="3704734" cy="345192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1">
            <a:extLst>
              <a:ext uri="{FF2B5EF4-FFF2-40B4-BE49-F238E27FC236}">
                <a16:creationId xmlns:a16="http://schemas.microsoft.com/office/drawing/2014/main" id="{4649F7D5-5224-4B78-8F4A-A1D343DB7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55" y="1686429"/>
            <a:ext cx="2998265" cy="3501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509819DF-8D2F-45F9-BD10-0982BEE30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b="7689"/>
          <a:stretch/>
        </p:blipFill>
        <p:spPr bwMode="auto">
          <a:xfrm>
            <a:off x="8162877" y="2167199"/>
            <a:ext cx="3398068" cy="281958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254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9164-B21A-4C19-AD76-D0907F93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73" y="167162"/>
            <a:ext cx="10515600" cy="784945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POLAR CURVES</a:t>
            </a:r>
            <a:endParaRPr lang="en-US" b="1"/>
          </a:p>
        </p:txBody>
      </p:sp>
      <p:pic>
        <p:nvPicPr>
          <p:cNvPr id="7" name="Picture 19">
            <a:extLst>
              <a:ext uri="{FF2B5EF4-FFF2-40B4-BE49-F238E27FC236}">
                <a16:creationId xmlns:a16="http://schemas.microsoft.com/office/drawing/2014/main" id="{86BB4ADD-504A-4112-8836-A4A079616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75" y="1770062"/>
            <a:ext cx="2893537" cy="25356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8">
            <a:extLst>
              <a:ext uri="{FF2B5EF4-FFF2-40B4-BE49-F238E27FC236}">
                <a16:creationId xmlns:a16="http://schemas.microsoft.com/office/drawing/2014/main" id="{0BAE96E4-6D56-4CB0-A37A-F837AC559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86" y="4385073"/>
            <a:ext cx="9144000" cy="221138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60F766-592D-4F45-B046-F5634759858D}"/>
              </a:ext>
            </a:extLst>
          </p:cNvPr>
          <p:cNvSpPr/>
          <p:nvPr/>
        </p:nvSpPr>
        <p:spPr>
          <a:xfrm>
            <a:off x="698075" y="1130252"/>
            <a:ext cx="3819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en-US" sz="2400"/>
              <a:t>Sketch the curve </a:t>
            </a:r>
            <a:r>
              <a:rPr lang="el-GR" altLang="en-US" sz="2400" i="1"/>
              <a:t>r </a:t>
            </a:r>
            <a:r>
              <a:rPr lang="en-US" altLang="zh-TW" sz="2400" i="1"/>
              <a:t>=</a:t>
            </a:r>
            <a:r>
              <a:rPr lang="el-GR" altLang="en-US" sz="2400"/>
              <a:t> 1 </a:t>
            </a:r>
            <a:r>
              <a:rPr lang="en-US" altLang="zh-TW" sz="2400"/>
              <a:t>+</a:t>
            </a:r>
            <a:r>
              <a:rPr lang="el-GR" altLang="en-US" sz="2400"/>
              <a:t> sin</a:t>
            </a:r>
            <a:r>
              <a:rPr lang="en-US" altLang="zh-TW" sz="2400"/>
              <a:t>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4882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768D-A442-45F6-B965-25502DE1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62" y="204871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altLang="zh-TW" b="1">
                <a:solidFill>
                  <a:srgbClr val="00B0F0"/>
                </a:solidFill>
              </a:rPr>
              <a:t>POLAR CURVES (Table 6.2)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BCA52-B692-419A-8D0A-AD5B9DB27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63" y="857842"/>
            <a:ext cx="9239052" cy="29830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6F92E2-4703-452C-A4F3-AB00839F4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36" y="3916505"/>
            <a:ext cx="9172280" cy="263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93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395E-84CC-4562-867E-B36F156F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5" y="167162"/>
            <a:ext cx="10515600" cy="671823"/>
          </a:xfrm>
        </p:spPr>
        <p:txBody>
          <a:bodyPr>
            <a:normAutofit fontScale="90000"/>
          </a:bodyPr>
          <a:lstStyle/>
          <a:p>
            <a:r>
              <a:rPr lang="en-US" altLang="zh-TW" b="1">
                <a:solidFill>
                  <a:srgbClr val="00B0F0"/>
                </a:solidFill>
              </a:rPr>
              <a:t>POLAR CURVES (Table 6.2)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1CF6D-2291-4E3D-81F8-99EF6AEE6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05" y="810194"/>
            <a:ext cx="9587846" cy="2913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101625-E394-4C4A-9705-F3AE6D414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06" y="3894422"/>
            <a:ext cx="9587846" cy="290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0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8361-6773-40D1-A1E9-C37F9D4C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102"/>
            <a:ext cx="10515600" cy="616182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Exercises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751A85-8BCA-41ED-B34B-9CD6230CB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29" y="783929"/>
            <a:ext cx="6452830" cy="60620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CB80D0-389C-408E-B560-B1A965F0AD1A}"/>
              </a:ext>
            </a:extLst>
          </p:cNvPr>
          <p:cNvSpPr/>
          <p:nvPr/>
        </p:nvSpPr>
        <p:spPr>
          <a:xfrm>
            <a:off x="8597590" y="1022569"/>
            <a:ext cx="34345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>
                <a:solidFill>
                  <a:srgbClr val="231F20"/>
                </a:solidFill>
                <a:latin typeface="TimesLTStd-Roman"/>
              </a:rPr>
              <a:t>Sketch the curve with the given polar equation:</a:t>
            </a:r>
            <a:endParaRPr lang="en-US" sz="2400"/>
          </a:p>
          <a:p>
            <a:pPr marL="457200" indent="-457200" algn="just"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2 - 2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2 cos 4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 baseline="30000"/>
              <a:t>2</a:t>
            </a:r>
            <a:r>
              <a:rPr lang="en-US" altLang="zh-TW" sz="2400"/>
              <a:t> = 9 sin 2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1 + 5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endParaRPr lang="en-US" sz="2400"/>
          </a:p>
          <a:p>
            <a:pPr algn="just"/>
            <a:br>
              <a:rPr lang="en-US" sz="2400"/>
            </a:b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C523C-B971-4E2E-8143-371818789963}"/>
              </a:ext>
            </a:extLst>
          </p:cNvPr>
          <p:cNvSpPr txBox="1"/>
          <p:nvPr/>
        </p:nvSpPr>
        <p:spPr>
          <a:xfrm>
            <a:off x="706262" y="699388"/>
            <a:ext cx="1929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 1.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9DCC4-55CC-40C6-8366-9C3B7C497226}"/>
              </a:ext>
            </a:extLst>
          </p:cNvPr>
          <p:cNvSpPr txBox="1"/>
          <p:nvPr/>
        </p:nvSpPr>
        <p:spPr>
          <a:xfrm>
            <a:off x="8597590" y="731514"/>
            <a:ext cx="1929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 2. </a:t>
            </a:r>
          </a:p>
        </p:txBody>
      </p:sp>
    </p:spTree>
    <p:extLst>
      <p:ext uri="{BB962C8B-B14F-4D97-AF65-F5344CB8AC3E}">
        <p14:creationId xmlns:p14="http://schemas.microsoft.com/office/powerpoint/2010/main" val="92860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F254-B537-47EC-8996-62C4B3FB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822652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AREAS IN POLAR COORDINATES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C2E9A5-8E15-4D9B-BAF2-2DAC6736F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" b="12218"/>
          <a:stretch/>
        </p:blipFill>
        <p:spPr bwMode="auto">
          <a:xfrm>
            <a:off x="942680" y="1543174"/>
            <a:ext cx="2345393" cy="208614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896DAE-ECFB-4C46-944F-59CE3D80D739}"/>
              </a:ext>
            </a:extLst>
          </p:cNvPr>
          <p:cNvSpPr/>
          <p:nvPr/>
        </p:nvSpPr>
        <p:spPr>
          <a:xfrm>
            <a:off x="942680" y="3668541"/>
            <a:ext cx="2805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en-US" sz="2400" i="1"/>
              <a:t>A </a:t>
            </a:r>
            <a:r>
              <a:rPr lang="en-US" altLang="zh-TW" sz="2400" i="1"/>
              <a:t>=</a:t>
            </a:r>
            <a:r>
              <a:rPr lang="el-GR" altLang="en-US" sz="2400"/>
              <a:t> 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 </a:t>
            </a:r>
            <a:r>
              <a:rPr lang="en-US" altLang="zh-TW" sz="2400" i="1">
                <a:cs typeface="Arial" panose="020B0604020202020204" pitchFamily="34" charset="0"/>
              </a:rPr>
              <a:t>/</a:t>
            </a:r>
            <a:r>
              <a:rPr lang="el-GR" altLang="en-US" sz="2400">
                <a:ea typeface="新細明體" panose="02020500000000000000" pitchFamily="18" charset="-120"/>
                <a:cs typeface="Arial" panose="020B0604020202020204" pitchFamily="34" charset="0"/>
              </a:rPr>
              <a:t>2</a:t>
            </a:r>
            <a:r>
              <a:rPr lang="en-US" altLang="zh-TW" sz="2400" i="1">
                <a:latin typeface="Symbol" panose="05050102010706020507" pitchFamily="18" charset="2"/>
                <a:cs typeface="Arial" panose="020B0604020202020204" pitchFamily="34" charset="0"/>
              </a:rPr>
              <a:t>p</a:t>
            </a:r>
            <a:r>
              <a:rPr lang="en-US" altLang="zh-TW" sz="2400">
                <a:cs typeface="Arial" panose="020B0604020202020204" pitchFamily="34" charset="0"/>
              </a:rPr>
              <a:t>)</a:t>
            </a:r>
            <a:r>
              <a:rPr lang="en-US" altLang="zh-TW" sz="2400" i="1">
                <a:latin typeface="Symbol" panose="05050102010706020507" pitchFamily="18" charset="2"/>
                <a:cs typeface="Arial" panose="020B0604020202020204" pitchFamily="34" charset="0"/>
              </a:rPr>
              <a:t>p</a:t>
            </a:r>
            <a:r>
              <a:rPr lang="el-GR" altLang="en-US" sz="2400" i="1">
                <a:ea typeface="新細明體" panose="02020500000000000000" pitchFamily="18" charset="-120"/>
                <a:cs typeface="Arial" panose="020B0604020202020204" pitchFamily="34" charset="0"/>
              </a:rPr>
              <a:t>r</a:t>
            </a:r>
            <a:r>
              <a:rPr lang="el-GR" altLang="en-US" sz="2400" baseline="30000">
                <a:ea typeface="新細明體" panose="02020500000000000000" pitchFamily="18" charset="-120"/>
                <a:cs typeface="Arial" panose="020B0604020202020204" pitchFamily="34" charset="0"/>
              </a:rPr>
              <a:t>2</a:t>
            </a:r>
            <a:r>
              <a:rPr lang="el-GR" altLang="en-US" sz="2400"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400">
                <a:cs typeface="Arial" panose="020B0604020202020204" pitchFamily="34" charset="0"/>
              </a:rPr>
              <a:t>=</a:t>
            </a:r>
            <a:r>
              <a:rPr lang="el-GR" altLang="en-US" sz="2400">
                <a:ea typeface="新細明體" panose="02020500000000000000" pitchFamily="18" charset="-120"/>
                <a:cs typeface="Arial" panose="020B0604020202020204" pitchFamily="34" charset="0"/>
              </a:rPr>
              <a:t> ½</a:t>
            </a:r>
            <a:r>
              <a:rPr lang="el-GR" altLang="en-US" sz="2400" i="1">
                <a:ea typeface="新細明體" panose="02020500000000000000" pitchFamily="18" charset="-120"/>
                <a:cs typeface="Arial" panose="020B0604020202020204" pitchFamily="34" charset="0"/>
              </a:rPr>
              <a:t>r</a:t>
            </a:r>
            <a:r>
              <a:rPr lang="en-US" altLang="zh-TW" sz="2400" baseline="30000">
                <a:cs typeface="Arial" panose="020B0604020202020204" pitchFamily="34" charset="0"/>
              </a:rPr>
              <a:t>2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DCC04EB0-3DE1-490C-B85F-770EA6EF8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" t="1004" r="479" b="14047"/>
          <a:stretch/>
        </p:blipFill>
        <p:spPr bwMode="auto">
          <a:xfrm>
            <a:off x="3912123" y="1543174"/>
            <a:ext cx="3863534" cy="243821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B78C1AA4-4355-4728-9910-E5426D8AA1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" b="12616"/>
          <a:stretch/>
        </p:blipFill>
        <p:spPr bwMode="auto">
          <a:xfrm>
            <a:off x="7939524" y="1435100"/>
            <a:ext cx="3863534" cy="252888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B264B84-548F-4DF2-ACDE-4465A915AD09}"/>
              </a:ext>
            </a:extLst>
          </p:cNvPr>
          <p:cNvSpPr/>
          <p:nvPr/>
        </p:nvSpPr>
        <p:spPr>
          <a:xfrm>
            <a:off x="7939524" y="4130206"/>
            <a:ext cx="25555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>
                <a:cs typeface="Arial" panose="020B0604020202020204" pitchFamily="34" charset="0"/>
              </a:rPr>
              <a:t>∆</a:t>
            </a:r>
            <a:r>
              <a:rPr lang="el-GR" altLang="en-US" sz="2400" i="1"/>
              <a:t>A</a:t>
            </a:r>
            <a:r>
              <a:rPr lang="el-GR" altLang="en-US" sz="2400" i="1" baseline="-25000"/>
              <a:t>i</a:t>
            </a:r>
            <a:r>
              <a:rPr lang="el-GR" altLang="en-US" sz="2400" i="1"/>
              <a:t> </a:t>
            </a:r>
            <a:r>
              <a:rPr lang="el-GR" altLang="en-US" sz="2400" i="1">
                <a:cs typeface="Arial" panose="020B0604020202020204" pitchFamily="34" charset="0"/>
              </a:rPr>
              <a:t>≈</a:t>
            </a:r>
            <a:r>
              <a:rPr lang="el-GR" altLang="en-US" sz="2400"/>
              <a:t> ½</a:t>
            </a:r>
            <a:r>
              <a:rPr lang="en-US" altLang="zh-TW" sz="2400"/>
              <a:t>[</a:t>
            </a:r>
            <a:r>
              <a:rPr lang="el-GR" altLang="en-US" sz="2400" i="1"/>
              <a:t>f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 i="1">
                <a:cs typeface="Arial" panose="020B0604020202020204" pitchFamily="34" charset="0"/>
              </a:rPr>
              <a:t> </a:t>
            </a:r>
            <a:r>
              <a:rPr lang="el-GR" altLang="en-US" sz="2400" i="1" baseline="-25000"/>
              <a:t>i</a:t>
            </a:r>
            <a:r>
              <a:rPr lang="el-GR" altLang="en-US" sz="2400"/>
              <a:t>*</a:t>
            </a:r>
            <a:r>
              <a:rPr lang="en-US" altLang="zh-TW" sz="2400"/>
              <a:t>)]</a:t>
            </a:r>
            <a:r>
              <a:rPr lang="el-GR" altLang="en-US" sz="2400" baseline="30000"/>
              <a:t>2</a:t>
            </a:r>
            <a:r>
              <a:rPr lang="el-GR" altLang="en-US" sz="2400"/>
              <a:t> </a:t>
            </a:r>
            <a:r>
              <a:rPr lang="en-US" altLang="zh-TW" sz="2400">
                <a:cs typeface="Arial" panose="020B0604020202020204" pitchFamily="34" charset="0"/>
              </a:rPr>
              <a:t>∆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CBD43BB-8599-48BD-ADF1-3544C91DF2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936730"/>
              </p:ext>
            </p:extLst>
          </p:nvPr>
        </p:nvGraphicFramePr>
        <p:xfrm>
          <a:off x="7939523" y="4629934"/>
          <a:ext cx="2404531" cy="809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6" imgW="1282680" imgH="431640" progId="Equation.DSMT4">
                  <p:embed/>
                </p:oleObj>
              </mc:Choice>
              <mc:Fallback>
                <p:oleObj name="Equation" r:id="rId6" imgW="1282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39523" y="4629934"/>
                        <a:ext cx="2404531" cy="809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EBDAB2E-EF9C-4416-8422-3371F5BE94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39584"/>
              </p:ext>
            </p:extLst>
          </p:nvPr>
        </p:nvGraphicFramePr>
        <p:xfrm>
          <a:off x="6854512" y="5436412"/>
          <a:ext cx="5118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Equation" r:id="rId8" imgW="5117760" imgH="787320" progId="Equation.DSMT4">
                  <p:embed/>
                </p:oleObj>
              </mc:Choice>
              <mc:Fallback>
                <p:oleObj name="Equation" r:id="rId8" imgW="51177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4512" y="5436412"/>
                        <a:ext cx="5118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570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6C30-7157-46A7-8C28-226096C9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7F98EEF4-66F1-4D4E-BB9A-856D835714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5" b="15882"/>
          <a:stretch/>
        </p:blipFill>
        <p:spPr bwMode="auto">
          <a:xfrm>
            <a:off x="7071724" y="1613129"/>
            <a:ext cx="3488702" cy="276205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0522F39-AA3B-4ABD-B6E4-62A386BF7F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574685"/>
              </p:ext>
            </p:extLst>
          </p:nvPr>
        </p:nvGraphicFramePr>
        <p:xfrm>
          <a:off x="7002660" y="4501888"/>
          <a:ext cx="49149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4" imgW="4914720" imgH="2133360" progId="Equation.DSMT4">
                  <p:embed/>
                </p:oleObj>
              </mc:Choice>
              <mc:Fallback>
                <p:oleObj name="Equation" r:id="rId4" imgW="4914720" imgH="2133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02660" y="4501888"/>
                        <a:ext cx="4914900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7787161-804B-4278-8C2C-FF8DBCD312BF}"/>
              </a:ext>
            </a:extLst>
          </p:cNvPr>
          <p:cNvSpPr/>
          <p:nvPr/>
        </p:nvSpPr>
        <p:spPr>
          <a:xfrm>
            <a:off x="6904463" y="789835"/>
            <a:ext cx="4971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Find the area enclosed by one </a:t>
            </a:r>
            <a:endParaRPr lang="en-US" altLang="en-US" sz="2400"/>
          </a:p>
          <a:p>
            <a:r>
              <a:rPr lang="el-GR" altLang="en-US" sz="2400"/>
              <a:t>loop of the four-leaved rose </a:t>
            </a:r>
            <a:r>
              <a:rPr lang="en-US" altLang="zh-TW" sz="2400" i="1"/>
              <a:t>r</a:t>
            </a:r>
            <a:r>
              <a:rPr lang="en-US" altLang="zh-TW" sz="2400"/>
              <a:t> = cos 2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0EEE4-DC56-4024-A769-EA1A63F4A7D5}"/>
              </a:ext>
            </a:extLst>
          </p:cNvPr>
          <p:cNvSpPr/>
          <p:nvPr/>
        </p:nvSpPr>
        <p:spPr>
          <a:xfrm>
            <a:off x="379145" y="941291"/>
            <a:ext cx="47058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231F20"/>
                </a:solidFill>
                <a:latin typeface="TimesLTStd-Roman"/>
              </a:rPr>
              <a:t>Find the area of the shaded region</a:t>
            </a:r>
            <a:r>
              <a:rPr lang="en-US" sz="240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89537-64FD-41C9-9194-C7A13C08E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74" y="1410993"/>
            <a:ext cx="1758176" cy="2089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6B0AA9-E50A-4CF3-9CD3-431FACC2DF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7438" y="1410993"/>
            <a:ext cx="1948371" cy="2089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CD1C88-D968-4A63-B61F-E6B80EF278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715" y="4078541"/>
            <a:ext cx="2027908" cy="2089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1AD1EF-BCD9-452D-859D-6BB1238A0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2361" y="4306865"/>
            <a:ext cx="1948371" cy="1860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1750DD-55BF-4363-8FB6-6E82BF20B504}"/>
              </a:ext>
            </a:extLst>
          </p:cNvPr>
          <p:cNvSpPr txBox="1"/>
          <p:nvPr/>
        </p:nvSpPr>
        <p:spPr>
          <a:xfrm>
            <a:off x="1561171" y="250902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0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F254-B537-47EC-8996-62C4B3FB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1"/>
            <a:ext cx="10515600" cy="822652"/>
          </a:xfrm>
        </p:spPr>
        <p:txBody>
          <a:bodyPr/>
          <a:lstStyle/>
          <a:p>
            <a:r>
              <a:rPr lang="en-US" altLang="zh-TW" b="1">
                <a:solidFill>
                  <a:srgbClr val="00B0F0"/>
                </a:solidFill>
              </a:rPr>
              <a:t>AREAS IN POLAR COORDINATES</a:t>
            </a:r>
            <a:endParaRPr lang="en-US" b="1">
              <a:solidFill>
                <a:srgbClr val="00B0F0"/>
              </a:solidFill>
            </a:endParaRP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38322AD5-A1FE-4248-A28C-EFC7FC639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b="12130"/>
          <a:stretch/>
        </p:blipFill>
        <p:spPr bwMode="auto">
          <a:xfrm>
            <a:off x="1055802" y="1112363"/>
            <a:ext cx="3809068" cy="23166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5B95A1-989E-4862-800E-847C05F20910}"/>
              </a:ext>
            </a:extLst>
          </p:cNvPr>
          <p:cNvSpPr/>
          <p:nvPr/>
        </p:nvSpPr>
        <p:spPr>
          <a:xfrm>
            <a:off x="5454265" y="1112363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/>
              <a:t>L</a:t>
            </a:r>
            <a:r>
              <a:rPr lang="el-GR" altLang="en-US" sz="2400"/>
              <a:t>et</a:t>
            </a:r>
            <a:r>
              <a:rPr lang="en-US" altLang="zh-TW" sz="2400"/>
              <a:t> </a:t>
            </a:r>
            <a:r>
              <a:rPr lang="en-US" altLang="zh-TW" sz="2400">
                <a:latin typeface="Monotype Corsiva" panose="03010101010201010101" pitchFamily="66" charset="0"/>
              </a:rPr>
              <a:t>R </a:t>
            </a:r>
            <a:r>
              <a:rPr lang="el-GR" altLang="en-US" sz="2400"/>
              <a:t> be a region</a:t>
            </a:r>
            <a:r>
              <a:rPr lang="el-GR" altLang="zh-TW" sz="2400"/>
              <a:t>, as illustrated in Figure 6, </a:t>
            </a:r>
            <a:r>
              <a:rPr lang="el-GR" altLang="en-US" sz="2400"/>
              <a:t>that is bounded by</a:t>
            </a:r>
            <a:r>
              <a:rPr lang="en-US" altLang="zh-TW" sz="2400"/>
              <a:t> </a:t>
            </a:r>
            <a:r>
              <a:rPr lang="el-GR" altLang="en-US" sz="2400"/>
              <a:t>curves with polar</a:t>
            </a:r>
            <a:r>
              <a:rPr lang="en-US" altLang="zh-TW" sz="2400"/>
              <a:t> </a:t>
            </a:r>
            <a:r>
              <a:rPr lang="el-GR" altLang="en-US" sz="2400"/>
              <a:t>equations</a:t>
            </a:r>
            <a:endParaRPr lang="en-US" altLang="en-US" sz="2400"/>
          </a:p>
          <a:p>
            <a:pPr algn="ctr"/>
            <a:r>
              <a:rPr lang="el-GR" altLang="en-US" sz="2400"/>
              <a:t> </a:t>
            </a:r>
            <a:r>
              <a:rPr lang="en-US" altLang="zh-TW" sz="2400" i="1"/>
              <a:t>r</a:t>
            </a:r>
            <a:r>
              <a:rPr lang="en-US" altLang="zh-TW" sz="2400"/>
              <a:t> =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</a:rPr>
              <a:t>)</a:t>
            </a:r>
            <a:r>
              <a:rPr lang="el-GR" altLang="en-US" sz="2400"/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</a:t>
            </a:r>
            <a:r>
              <a:rPr lang="en-US" altLang="zh-TW" sz="2400" i="1"/>
              <a:t>g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)</a:t>
            </a:r>
            <a:r>
              <a:rPr lang="el-GR" altLang="en-US" sz="2400"/>
              <a:t>,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/>
              <a:t> </a:t>
            </a:r>
            <a:r>
              <a:rPr lang="en-US" altLang="zh-TW" sz="2400"/>
              <a:t>=</a:t>
            </a:r>
            <a:r>
              <a:rPr lang="en-US" altLang="zh-TW" sz="2400" i="1"/>
              <a:t> a</a:t>
            </a:r>
            <a:r>
              <a:rPr lang="el-GR" altLang="en-US" sz="2400"/>
              <a:t>,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/>
              <a:t> </a:t>
            </a:r>
            <a:r>
              <a:rPr lang="en-US" altLang="zh-TW" sz="2400"/>
              <a:t>=</a:t>
            </a:r>
            <a:r>
              <a:rPr lang="en-US" altLang="zh-TW" sz="2400" i="1"/>
              <a:t> b</a:t>
            </a:r>
            <a:r>
              <a:rPr lang="el-GR" altLang="en-US" sz="2400"/>
              <a:t>,</a:t>
            </a:r>
            <a:r>
              <a:rPr lang="en-US" altLang="zh-TW" sz="2400"/>
              <a:t> </a:t>
            </a:r>
          </a:p>
          <a:p>
            <a:r>
              <a:rPr lang="el-GR" altLang="en-US" sz="2400"/>
              <a:t>where</a:t>
            </a:r>
            <a:r>
              <a:rPr lang="en-US" altLang="en-US" sz="2400"/>
              <a:t> </a:t>
            </a:r>
            <a:r>
              <a:rPr lang="en-US" altLang="zh-TW" sz="2400" i="1"/>
              <a:t>f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) ≥ </a:t>
            </a:r>
            <a:r>
              <a:rPr lang="en-US" altLang="zh-TW" sz="2400" i="1"/>
              <a:t>g</a:t>
            </a:r>
            <a:r>
              <a:rPr lang="en-US" altLang="zh-TW" sz="2400"/>
              <a:t>(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/>
              <a:t>) ≥ 0, 0 &lt; </a:t>
            </a:r>
            <a:r>
              <a:rPr lang="en-US" altLang="zh-TW" sz="2400" i="1"/>
              <a:t>b </a:t>
            </a:r>
            <a:r>
              <a:rPr lang="en-US" altLang="zh-TW" sz="2400" i="1">
                <a:latin typeface="Arial" panose="020B0604020202020204" pitchFamily="34" charset="0"/>
              </a:rPr>
              <a:t>–</a:t>
            </a:r>
            <a:r>
              <a:rPr lang="en-US" altLang="zh-TW" sz="2400" i="1"/>
              <a:t> a &lt; </a:t>
            </a:r>
            <a:r>
              <a:rPr lang="en-US" altLang="zh-TW" sz="2400"/>
              <a:t>2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 </a:t>
            </a:r>
            <a:endParaRPr lang="en-US" sz="240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72BC306-E8A5-494F-8963-30370E34A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3030538"/>
          <a:ext cx="42926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4" imgW="4292280" imgH="1549080" progId="Equation.DSMT4">
                  <p:embed/>
                </p:oleObj>
              </mc:Choice>
              <mc:Fallback>
                <p:oleObj name="Equation" r:id="rId4" imgW="4292280" imgH="15490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272BC306-E8A5-494F-8963-30370E34A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9800" y="3030538"/>
                        <a:ext cx="4292600" cy="154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205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6C30-7157-46A7-8C28-226096C9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87161-804B-4278-8C2C-FF8DBCD312BF}"/>
              </a:ext>
            </a:extLst>
          </p:cNvPr>
          <p:cNvSpPr/>
          <p:nvPr/>
        </p:nvSpPr>
        <p:spPr>
          <a:xfrm>
            <a:off x="838199" y="947097"/>
            <a:ext cx="106813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Find the area of the region that lies inside the</a:t>
            </a:r>
            <a:r>
              <a:rPr lang="en-US" altLang="zh-TW" sz="2400"/>
              <a:t> </a:t>
            </a:r>
            <a:r>
              <a:rPr lang="el-GR" altLang="en-US" sz="2400"/>
              <a:t>circle </a:t>
            </a:r>
            <a:r>
              <a:rPr lang="en-US" altLang="zh-TW" sz="2400" i="1"/>
              <a:t>r</a:t>
            </a:r>
            <a:r>
              <a:rPr lang="en-US" altLang="zh-TW" sz="2400"/>
              <a:t> = 3 sin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 and</a:t>
            </a:r>
            <a:r>
              <a:rPr lang="en-US" altLang="zh-TW" sz="2400"/>
              <a:t> </a:t>
            </a:r>
            <a:r>
              <a:rPr lang="el-GR" altLang="en-US" sz="2400"/>
              <a:t>outside the cardioid</a:t>
            </a:r>
            <a:r>
              <a:rPr lang="en-US" altLang="zh-TW" sz="2400"/>
              <a:t> </a:t>
            </a:r>
            <a:r>
              <a:rPr lang="en-US" altLang="zh-TW" sz="2400" i="1"/>
              <a:t>r</a:t>
            </a:r>
            <a:r>
              <a:rPr lang="en-US" altLang="zh-TW" sz="2400"/>
              <a:t> = 1 + sin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.</a:t>
            </a:r>
            <a:endParaRPr lang="en-US" sz="2400"/>
          </a:p>
        </p:txBody>
      </p:sp>
      <p:pic>
        <p:nvPicPr>
          <p:cNvPr id="6" name="Picture 14">
            <a:extLst>
              <a:ext uri="{FF2B5EF4-FFF2-40B4-BE49-F238E27FC236}">
                <a16:creationId xmlns:a16="http://schemas.microsoft.com/office/drawing/2014/main" id="{4D519136-2DAB-44A1-AB64-E8F73D43DF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" b="14199"/>
          <a:stretch/>
        </p:blipFill>
        <p:spPr bwMode="auto">
          <a:xfrm>
            <a:off x="914399" y="1791937"/>
            <a:ext cx="3394043" cy="28413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BDF135-A9B1-4982-81D7-3BDC30621C17}"/>
              </a:ext>
            </a:extLst>
          </p:cNvPr>
          <p:cNvSpPr/>
          <p:nvPr/>
        </p:nvSpPr>
        <p:spPr>
          <a:xfrm>
            <a:off x="838199" y="4695355"/>
            <a:ext cx="34702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en-US" sz="2400"/>
              <a:t>They intersect when </a:t>
            </a:r>
            <a:endParaRPr lang="en-US" altLang="en-US" sz="2400"/>
          </a:p>
          <a:p>
            <a:pPr algn="ctr"/>
            <a:r>
              <a:rPr lang="en-US" altLang="zh-TW" sz="2400"/>
              <a:t>3sin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 </a:t>
            </a:r>
            <a:r>
              <a:rPr lang="en-US" altLang="zh-TW" sz="2400"/>
              <a:t>= 1 + sin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l-GR" altLang="en-US" sz="2400"/>
              <a:t>, </a:t>
            </a:r>
            <a:endParaRPr lang="en-US" altLang="en-US" sz="2400"/>
          </a:p>
          <a:p>
            <a:r>
              <a:rPr lang="el-GR" altLang="en-US" sz="2400"/>
              <a:t>which</a:t>
            </a:r>
            <a:r>
              <a:rPr lang="en-US" altLang="zh-TW" sz="2400"/>
              <a:t> </a:t>
            </a:r>
            <a:r>
              <a:rPr lang="el-GR" altLang="en-US" sz="2400"/>
              <a:t>gives </a:t>
            </a:r>
            <a:r>
              <a:rPr lang="en-US" altLang="zh-TW" sz="2400"/>
              <a:t>sin </a:t>
            </a:r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</a:rPr>
              <a:t> = </a:t>
            </a:r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½</a:t>
            </a:r>
            <a:r>
              <a:rPr lang="en-US" altLang="zh-TW" sz="2400"/>
              <a:t>. S</a:t>
            </a:r>
            <a:r>
              <a:rPr lang="el-GR" altLang="en-US" sz="2400"/>
              <a:t>o,</a:t>
            </a:r>
            <a:endParaRPr lang="en-US" altLang="en-US" sz="2400"/>
          </a:p>
          <a:p>
            <a:pPr algn="ctr"/>
            <a:r>
              <a:rPr lang="en-US" altLang="zh-TW" sz="2400" i="1">
                <a:sym typeface="Symbol" panose="05050102010706020507" pitchFamily="18" charset="2"/>
              </a:rPr>
              <a:t></a:t>
            </a:r>
            <a:r>
              <a:rPr lang="en-US" altLang="zh-TW" sz="2400" i="1"/>
              <a:t> = 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/6 and 5</a:t>
            </a:r>
            <a:r>
              <a:rPr lang="en-US" altLang="zh-TW" sz="2400" i="1">
                <a:latin typeface="Symbol" panose="05050102010706020507" pitchFamily="18" charset="2"/>
              </a:rPr>
              <a:t>p</a:t>
            </a:r>
            <a:r>
              <a:rPr lang="en-US" altLang="zh-TW" sz="2400"/>
              <a:t>/6</a:t>
            </a:r>
            <a:endParaRPr lang="en-US" sz="240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C516C11-ACA3-41B4-95A6-D7B97CCD7E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940989"/>
              </p:ext>
            </p:extLst>
          </p:nvPr>
        </p:nvGraphicFramePr>
        <p:xfrm>
          <a:off x="4769071" y="1785700"/>
          <a:ext cx="34163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Equation" r:id="rId4" imgW="3416040" imgH="1371600" progId="Equation.DSMT4">
                  <p:embed/>
                </p:oleObj>
              </mc:Choice>
              <mc:Fallback>
                <p:oleObj name="Equation" r:id="rId4" imgW="3416040" imgH="1371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9071" y="1785700"/>
                        <a:ext cx="34163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4D31660-DF98-463C-AE60-C13DB95D46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431190"/>
              </p:ext>
            </p:extLst>
          </p:nvPr>
        </p:nvGraphicFramePr>
        <p:xfrm>
          <a:off x="4654550" y="3254375"/>
          <a:ext cx="7353300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Equation" r:id="rId6" imgW="7353000" imgH="3238200" progId="Equation.DSMT4">
                  <p:embed/>
                </p:oleObj>
              </mc:Choice>
              <mc:Fallback>
                <p:oleObj name="Equation" r:id="rId6" imgW="7353000" imgH="323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54550" y="3254375"/>
                        <a:ext cx="7353300" cy="323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093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6C30-7157-46A7-8C28-226096C9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Exercises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87161-804B-4278-8C2C-FF8DBCD312BF}"/>
              </a:ext>
            </a:extLst>
          </p:cNvPr>
          <p:cNvSpPr/>
          <p:nvPr/>
        </p:nvSpPr>
        <p:spPr>
          <a:xfrm>
            <a:off x="6904463" y="1202422"/>
            <a:ext cx="497158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Ex. Find the area of the region that lies inside both curves.</a:t>
            </a:r>
            <a:r>
              <a:rPr lang="en-US" sz="3200"/>
              <a:t> </a:t>
            </a:r>
          </a:p>
          <a:p>
            <a:pPr marL="457200" indent="-457200" algn="just"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sin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, r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3 cos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+2 cos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3 +2 sin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 baseline="30000"/>
              <a:t>2</a:t>
            </a:r>
            <a:r>
              <a:rPr lang="en-US" altLang="zh-TW" sz="2400"/>
              <a:t> = 2 sin 2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1</a:t>
            </a:r>
            <a:endParaRPr lang="en-US" altLang="zh-TW" sz="3200" i="1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0EEE4-DC56-4024-A769-EA1A63F4A7D5}"/>
              </a:ext>
            </a:extLst>
          </p:cNvPr>
          <p:cNvSpPr/>
          <p:nvPr/>
        </p:nvSpPr>
        <p:spPr>
          <a:xfrm>
            <a:off x="557561" y="1108558"/>
            <a:ext cx="57529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Ex 1. Find the area of the region that lies inside the first curve and outside the second curve.</a:t>
            </a:r>
          </a:p>
          <a:p>
            <a:pPr marL="457200" indent="-457200" algn="just"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4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, r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 2</a:t>
            </a: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1 - sin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>
                <a:cs typeface="Arial" panose="020B0604020202020204" pitchFamily="34" charset="0"/>
                <a:sym typeface="Symbol" panose="05050102010706020507" pitchFamily="18" charset="2"/>
              </a:rPr>
              <a:t>r 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= 1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1 +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2 -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 algn="just">
              <a:buFontTx/>
              <a:buAutoNum type="alphaLcPeriod"/>
            </a:pPr>
            <a:r>
              <a:rPr lang="en-US" altLang="zh-TW" sz="2400" i="1"/>
              <a:t>r</a:t>
            </a:r>
            <a:r>
              <a:rPr lang="en-US" altLang="zh-TW" sz="2400"/>
              <a:t> = 3 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en-US" altLang="zh-TW" sz="24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TW" sz="2400" i="1"/>
              <a:t>r</a:t>
            </a:r>
            <a:r>
              <a:rPr lang="en-US" altLang="zh-TW" sz="2400"/>
              <a:t> = 1+cos </a:t>
            </a:r>
            <a:r>
              <a:rPr lang="el-GR" altLang="zh-TW" sz="2400" i="1">
                <a:cs typeface="Arial" panose="020B0604020202020204" pitchFamily="34" charset="0"/>
                <a:sym typeface="Symbol" panose="05050102010706020507" pitchFamily="18" charset="2"/>
              </a:rPr>
              <a:t></a:t>
            </a:r>
            <a:endParaRPr lang="en-US" altLang="zh-TW" sz="2400" i="1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1750DD-55BF-4363-8FB6-6E82BF20B504}"/>
              </a:ext>
            </a:extLst>
          </p:cNvPr>
          <p:cNvSpPr txBox="1"/>
          <p:nvPr/>
        </p:nvSpPr>
        <p:spPr>
          <a:xfrm>
            <a:off x="1561171" y="250902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1752</TotalTime>
  <Words>745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Monotype Corsiva</vt:lpstr>
      <vt:lpstr>Symbol</vt:lpstr>
      <vt:lpstr>TimesLTStd-Roman</vt:lpstr>
      <vt:lpstr>Wingdings</vt:lpstr>
      <vt:lpstr>Office Theme</vt:lpstr>
      <vt:lpstr>Equation</vt:lpstr>
      <vt:lpstr>MathType 7.0 Equation</vt:lpstr>
      <vt:lpstr>AREAS IN POLAR COORDINATES</vt:lpstr>
      <vt:lpstr>PowerPoint Presentation</vt:lpstr>
      <vt:lpstr>Examples</vt:lpstr>
      <vt:lpstr>CARTESIAN &amp; POLAR COORDINATES</vt:lpstr>
      <vt:lpstr>PowerPoint Presentation</vt:lpstr>
      <vt:lpstr>PowerPoint Presentation</vt:lpstr>
      <vt:lpstr>POLAR CURVES</vt:lpstr>
      <vt:lpstr>POLAR CURVES</vt:lpstr>
      <vt:lpstr>POLAR CURVES</vt:lpstr>
      <vt:lpstr>POLAR CURVES (Table 6.2)</vt:lpstr>
      <vt:lpstr>POLAR CURVES (Table 6.2)</vt:lpstr>
      <vt:lpstr>Exercises</vt:lpstr>
      <vt:lpstr>AREAS IN POLAR COORDINATES</vt:lpstr>
      <vt:lpstr>Examples</vt:lpstr>
      <vt:lpstr>AREAS IN POLAR COORDINATES</vt:lpstr>
      <vt:lpstr>Examples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 COORDINATES</dc:title>
  <dc:creator>Duc Dung Banh</dc:creator>
  <cp:lastModifiedBy>Duc Dung Banh</cp:lastModifiedBy>
  <cp:revision>61</cp:revision>
  <dcterms:created xsi:type="dcterms:W3CDTF">2020-02-26T16:36:58Z</dcterms:created>
  <dcterms:modified xsi:type="dcterms:W3CDTF">2020-03-09T03:47:10Z</dcterms:modified>
</cp:coreProperties>
</file>