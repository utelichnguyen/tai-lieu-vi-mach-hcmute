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emf" ContentType="image/x-emf"/>
  <Default Extension="rels" ContentType="application/vnd.openxmlformats-package.relationships+xml"/>
  <Default Extension="xml" ContentType="application/xml"/>
  <Default Extension="fntdata" ContentType="application/x-fontdata"/>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1"/>
  </p:notesMasterIdLst>
  <p:sldIdLst>
    <p:sldId id="295" r:id="rId2"/>
    <p:sldId id="261" r:id="rId3"/>
    <p:sldId id="281" r:id="rId4"/>
    <p:sldId id="297" r:id="rId5"/>
    <p:sldId id="282" r:id="rId6"/>
    <p:sldId id="296" r:id="rId7"/>
    <p:sldId id="299" r:id="rId8"/>
    <p:sldId id="283" r:id="rId9"/>
    <p:sldId id="286" r:id="rId10"/>
    <p:sldId id="301" r:id="rId11"/>
    <p:sldId id="304" r:id="rId12"/>
    <p:sldId id="288" r:id="rId13"/>
    <p:sldId id="302" r:id="rId14"/>
    <p:sldId id="303" r:id="rId15"/>
    <p:sldId id="305" r:id="rId16"/>
    <p:sldId id="306" r:id="rId17"/>
    <p:sldId id="307" r:id="rId18"/>
    <p:sldId id="308" r:id="rId19"/>
    <p:sldId id="309" r:id="rId20"/>
  </p:sldIdLst>
  <p:sldSz cx="18288000" cy="10287000"/>
  <p:notesSz cx="6858000" cy="9144000"/>
  <p:embeddedFontLst>
    <p:embeddedFont>
      <p:font typeface="Calibri" panose="020F0502020204030204" pitchFamily="34" charset="0"/>
      <p:regular r:id="rId22"/>
      <p:bold r:id="rId23"/>
      <p:italic r:id="rId24"/>
      <p:boldItalic r:id="rId25"/>
    </p:embeddedFont>
    <p:embeddedFont>
      <p:font typeface="Constantia" panose="02030602050306030303" pitchFamily="18" charset="0"/>
      <p:regular r:id="rId26"/>
      <p:bold r:id="rId27"/>
      <p:italic r:id="rId28"/>
      <p:boldItalic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D03A7"/>
    <a:srgbClr val="3471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autoAdjust="0"/>
    <p:restoredTop sz="94626" autoAdjust="0"/>
  </p:normalViewPr>
  <p:slideViewPr>
    <p:cSldViewPr>
      <p:cViewPr varScale="1">
        <p:scale>
          <a:sx n="55" d="100"/>
          <a:sy n="55" d="100"/>
        </p:scale>
        <p:origin x="566" y="-37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4.wmf"/><Relationship Id="rId1" Type="http://schemas.openxmlformats.org/officeDocument/2006/relationships/image" Target="../media/image28.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image" Target="../media/image34.wmf"/></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3-03-29T12:36:51.797"/>
    </inkml:context>
    <inkml:brush xml:id="br0">
      <inkml:brushProperty name="width" value="0.05292" units="cm"/>
      <inkml:brushProperty name="height" value="0.05292" units="cm"/>
      <inkml:brushProperty name="color" value="#FF0000"/>
    </inkml:brush>
  </inkml:definitions>
  <inkml:trace contextRef="#ctx0" brushRef="#br0">20558 13229 0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95C921-875A-4154-845D-B0B382A073F9}" type="datetimeFigureOut">
              <a:rPr lang="en-US" smtClean="0"/>
              <a:t>6/23/2025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95AFEA-0F06-4765-A1D2-202098EEAF4A}" type="slidenum">
              <a:rPr lang="en-US" smtClean="0"/>
              <a:t>‹#›</a:t>
            </a:fld>
            <a:endParaRPr lang="en-US"/>
          </a:p>
        </p:txBody>
      </p:sp>
    </p:spTree>
    <p:extLst>
      <p:ext uri="{BB962C8B-B14F-4D97-AF65-F5344CB8AC3E}">
        <p14:creationId xmlns:p14="http://schemas.microsoft.com/office/powerpoint/2010/main" val="31035983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emf"/><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image" Target="../media/image26.png"/><Relationship Id="rId7"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23.wmf"/><Relationship Id="rId5" Type="http://schemas.openxmlformats.org/officeDocument/2006/relationships/oleObject" Target="../embeddings/oleObject1.bin"/><Relationship Id="rId10" Type="http://schemas.openxmlformats.org/officeDocument/2006/relationships/image" Target="../media/image25.wmf"/><Relationship Id="rId4" Type="http://schemas.openxmlformats.org/officeDocument/2006/relationships/image" Target="../media/image27.png"/><Relationship Id="rId9" Type="http://schemas.openxmlformats.org/officeDocument/2006/relationships/oleObject" Target="../embeddings/oleObject3.bin"/></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image" Target="../media/image26.png"/><Relationship Id="rId7"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28.wmf"/><Relationship Id="rId5" Type="http://schemas.openxmlformats.org/officeDocument/2006/relationships/oleObject" Target="../embeddings/oleObject4.bin"/><Relationship Id="rId10" Type="http://schemas.openxmlformats.org/officeDocument/2006/relationships/image" Target="../media/image29.wmf"/><Relationship Id="rId4" Type="http://schemas.openxmlformats.org/officeDocument/2006/relationships/image" Target="../media/image27.png"/><Relationship Id="rId9" Type="http://schemas.openxmlformats.org/officeDocument/2006/relationships/oleObject" Target="../embeddings/oleObject6.bin"/></Relationships>
</file>

<file path=ppt/slides/_rels/slide1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7.bin"/><Relationship Id="rId7" Type="http://schemas.openxmlformats.org/officeDocument/2006/relationships/image" Target="../media/image36.png"/><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35.wmf"/><Relationship Id="rId5" Type="http://schemas.openxmlformats.org/officeDocument/2006/relationships/oleObject" Target="../embeddings/oleObject8.bin"/><Relationship Id="rId4" Type="http://schemas.openxmlformats.org/officeDocument/2006/relationships/image" Target="../media/image34.wmf"/></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39.png"/></Relationships>
</file>

<file path=ppt/slides/_rels/slide1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892779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3"/>
          <p:cNvSpPr txBox="1"/>
          <p:nvPr/>
        </p:nvSpPr>
        <p:spPr>
          <a:xfrm>
            <a:off x="525346" y="3079492"/>
            <a:ext cx="2261444" cy="2420449"/>
          </a:xfrm>
          <a:prstGeom prst="rect">
            <a:avLst/>
          </a:prstGeom>
        </p:spPr>
        <p:txBody>
          <a:bodyPr lIns="50800" tIns="50800" rIns="50800" bIns="50800" rtlCol="0" anchor="ctr"/>
          <a:lstStyle/>
          <a:p>
            <a:pPr algn="ctr">
              <a:lnSpc>
                <a:spcPts val="3220"/>
              </a:lnSpc>
            </a:pPr>
            <a:endParaRPr/>
          </a:p>
        </p:txBody>
      </p:sp>
      <p:grpSp>
        <p:nvGrpSpPr>
          <p:cNvPr id="33" name="Group 33"/>
          <p:cNvGrpSpPr/>
          <p:nvPr/>
        </p:nvGrpSpPr>
        <p:grpSpPr>
          <a:xfrm>
            <a:off x="0" y="9983250"/>
            <a:ext cx="1028700" cy="303750"/>
            <a:chOff x="0" y="0"/>
            <a:chExt cx="270933" cy="80000"/>
          </a:xfrm>
        </p:grpSpPr>
        <p:sp>
          <p:nvSpPr>
            <p:cNvPr id="34" name="Freeform 34"/>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5" name="TextBox 35"/>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36" name="Group 36"/>
          <p:cNvGrpSpPr/>
          <p:nvPr/>
        </p:nvGrpSpPr>
        <p:grpSpPr>
          <a:xfrm>
            <a:off x="17259300" y="0"/>
            <a:ext cx="1028700" cy="303750"/>
            <a:chOff x="0" y="0"/>
            <a:chExt cx="270933" cy="80000"/>
          </a:xfrm>
        </p:grpSpPr>
        <p:sp>
          <p:nvSpPr>
            <p:cNvPr id="37" name="Freeform 37"/>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8" name="TextBox 38"/>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39" name="Group 39"/>
          <p:cNvGrpSpPr/>
          <p:nvPr/>
        </p:nvGrpSpPr>
        <p:grpSpPr>
          <a:xfrm>
            <a:off x="0" y="0"/>
            <a:ext cx="1028700" cy="303750"/>
            <a:chOff x="0" y="0"/>
            <a:chExt cx="270933" cy="80000"/>
          </a:xfrm>
        </p:grpSpPr>
        <p:sp>
          <p:nvSpPr>
            <p:cNvPr id="40" name="Freeform 40"/>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1" name="TextBox 41"/>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42" name="Group 42"/>
          <p:cNvGrpSpPr/>
          <p:nvPr/>
        </p:nvGrpSpPr>
        <p:grpSpPr>
          <a:xfrm>
            <a:off x="17259300" y="9983250"/>
            <a:ext cx="1028700" cy="303750"/>
            <a:chOff x="0" y="0"/>
            <a:chExt cx="270933" cy="80000"/>
          </a:xfrm>
        </p:grpSpPr>
        <p:sp>
          <p:nvSpPr>
            <p:cNvPr id="43" name="Freeform 43"/>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4" name="TextBox 44"/>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sp>
        <p:nvSpPr>
          <p:cNvPr id="57" name="Rectangle 56"/>
          <p:cNvSpPr/>
          <p:nvPr/>
        </p:nvSpPr>
        <p:spPr>
          <a:xfrm>
            <a:off x="2057400" y="0"/>
            <a:ext cx="13716000" cy="1333500"/>
          </a:xfrm>
          <a:prstGeom prst="rect">
            <a:avLst/>
          </a:prstGeom>
          <a:solidFill>
            <a:schemeClr val="accent1">
              <a:lumMod val="60000"/>
              <a:lumOff val="4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p:cNvSpPr txBox="1"/>
          <p:nvPr/>
        </p:nvSpPr>
        <p:spPr>
          <a:xfrm>
            <a:off x="5168904" y="312807"/>
            <a:ext cx="8763000" cy="707886"/>
          </a:xfrm>
          <a:prstGeom prst="rect">
            <a:avLst/>
          </a:prstGeom>
          <a:noFill/>
        </p:spPr>
        <p:txBody>
          <a:bodyPr wrap="square" rtlCol="0">
            <a:spAutoFit/>
          </a:bodyPr>
          <a:lstStyle/>
          <a:p>
            <a:r>
              <a:rPr lang="vi-VN" sz="4000" b="1" smtClean="0">
                <a:latin typeface="Constantia" panose="02030602050306030303" pitchFamily="18" charset="0"/>
              </a:rPr>
              <a:t>CÁC THÀNH PHẦN CƠ BẢN</a:t>
            </a:r>
            <a:endParaRPr lang="en-US" sz="4000" b="1">
              <a:latin typeface="Constantia" panose="02030602050306030303" pitchFamily="18" charset="0"/>
            </a:endParaRPr>
          </a:p>
        </p:txBody>
      </p:sp>
      <p:sp>
        <p:nvSpPr>
          <p:cNvPr id="59" name="TextBox 58"/>
          <p:cNvSpPr txBox="1"/>
          <p:nvPr/>
        </p:nvSpPr>
        <p:spPr>
          <a:xfrm>
            <a:off x="1660606" y="2125087"/>
            <a:ext cx="3390896" cy="707886"/>
          </a:xfrm>
          <a:prstGeom prst="rect">
            <a:avLst/>
          </a:prstGeom>
          <a:noFill/>
        </p:spPr>
        <p:txBody>
          <a:bodyPr wrap="square" rtlCol="0">
            <a:spAutoFit/>
          </a:bodyPr>
          <a:lstStyle/>
          <a:p>
            <a:r>
              <a:rPr lang="vi-VN" sz="4000" b="1" smtClean="0">
                <a:latin typeface="Constantia" panose="02030602050306030303" pitchFamily="18" charset="0"/>
              </a:rPr>
              <a:t>1. Đầu cuối</a:t>
            </a:r>
            <a:endParaRPr lang="en-US" sz="4000" b="1">
              <a:latin typeface="Constantia" panose="02030602050306030303" pitchFamily="18" charset="0"/>
            </a:endParaRPr>
          </a:p>
        </p:txBody>
      </p:sp>
      <p:pic>
        <p:nvPicPr>
          <p:cNvPr id="60" name="Picture 59"/>
          <p:cNvPicPr>
            <a:picLocks noChangeAspect="1"/>
          </p:cNvPicPr>
          <p:nvPr/>
        </p:nvPicPr>
        <p:blipFill>
          <a:blip r:embed="rId2"/>
          <a:stretch>
            <a:fillRect/>
          </a:stretch>
        </p:blipFill>
        <p:spPr>
          <a:xfrm>
            <a:off x="2153748" y="5431719"/>
            <a:ext cx="5076467" cy="2061250"/>
          </a:xfrm>
          <a:prstGeom prst="rect">
            <a:avLst/>
          </a:prstGeom>
        </p:spPr>
      </p:pic>
      <p:pic>
        <p:nvPicPr>
          <p:cNvPr id="61" name="Picture 60"/>
          <p:cNvPicPr>
            <a:picLocks noChangeAspect="1"/>
          </p:cNvPicPr>
          <p:nvPr/>
        </p:nvPicPr>
        <p:blipFill>
          <a:blip r:embed="rId3"/>
          <a:stretch>
            <a:fillRect/>
          </a:stretch>
        </p:blipFill>
        <p:spPr>
          <a:xfrm>
            <a:off x="2250098" y="8096818"/>
            <a:ext cx="4883769" cy="1558649"/>
          </a:xfrm>
          <a:prstGeom prst="rect">
            <a:avLst/>
          </a:prstGeom>
        </p:spPr>
      </p:pic>
      <p:cxnSp>
        <p:nvCxnSpPr>
          <p:cNvPr id="77" name="Straight Connector 76"/>
          <p:cNvCxnSpPr/>
          <p:nvPr/>
        </p:nvCxnSpPr>
        <p:spPr>
          <a:xfrm>
            <a:off x="8915400" y="2247900"/>
            <a:ext cx="0" cy="7162800"/>
          </a:xfrm>
          <a:prstGeom prst="line">
            <a:avLst/>
          </a:prstGeom>
          <a:ln w="41275">
            <a:solidFill>
              <a:srgbClr val="002060"/>
            </a:solidFill>
          </a:ln>
        </p:spPr>
        <p:style>
          <a:lnRef idx="1">
            <a:schemeClr val="accent1"/>
          </a:lnRef>
          <a:fillRef idx="0">
            <a:schemeClr val="accent1"/>
          </a:fillRef>
          <a:effectRef idx="0">
            <a:schemeClr val="accent1"/>
          </a:effectRef>
          <a:fontRef idx="minor">
            <a:schemeClr val="tx1"/>
          </a:fontRef>
        </p:style>
      </p:cxnSp>
      <p:sp>
        <p:nvSpPr>
          <p:cNvPr id="78" name="TextBox 77"/>
          <p:cNvSpPr txBox="1"/>
          <p:nvPr/>
        </p:nvSpPr>
        <p:spPr>
          <a:xfrm>
            <a:off x="11279900" y="2231571"/>
            <a:ext cx="3390896" cy="707886"/>
          </a:xfrm>
          <a:prstGeom prst="rect">
            <a:avLst/>
          </a:prstGeom>
          <a:noFill/>
        </p:spPr>
        <p:txBody>
          <a:bodyPr wrap="square" rtlCol="0">
            <a:spAutoFit/>
          </a:bodyPr>
          <a:lstStyle/>
          <a:p>
            <a:r>
              <a:rPr lang="vi-VN" sz="4000" b="1" smtClean="0">
                <a:latin typeface="Constantia" panose="02030602050306030303" pitchFamily="18" charset="0"/>
              </a:rPr>
              <a:t>2. Thiết lập</a:t>
            </a:r>
            <a:endParaRPr lang="en-US" sz="4000" b="1">
              <a:latin typeface="Constantia" panose="02030602050306030303" pitchFamily="18" charset="0"/>
            </a:endParaRPr>
          </a:p>
        </p:txBody>
      </p:sp>
      <p:pic>
        <p:nvPicPr>
          <p:cNvPr id="79" name="Picture 78"/>
          <p:cNvPicPr>
            <a:picLocks noChangeAspect="1"/>
          </p:cNvPicPr>
          <p:nvPr/>
        </p:nvPicPr>
        <p:blipFill>
          <a:blip r:embed="rId4"/>
          <a:stretch>
            <a:fillRect/>
          </a:stretch>
        </p:blipFill>
        <p:spPr>
          <a:xfrm>
            <a:off x="10798755" y="4945592"/>
            <a:ext cx="4826402" cy="1767415"/>
          </a:xfrm>
          <a:prstGeom prst="rect">
            <a:avLst/>
          </a:prstGeom>
        </p:spPr>
      </p:pic>
      <p:sp>
        <p:nvSpPr>
          <p:cNvPr id="80" name="TextBox 79"/>
          <p:cNvSpPr txBox="1"/>
          <p:nvPr/>
        </p:nvSpPr>
        <p:spPr>
          <a:xfrm>
            <a:off x="195258" y="2988562"/>
            <a:ext cx="8763000" cy="2554545"/>
          </a:xfrm>
          <a:prstGeom prst="rect">
            <a:avLst/>
          </a:prstGeom>
          <a:noFill/>
        </p:spPr>
        <p:txBody>
          <a:bodyPr wrap="square" rtlCol="0">
            <a:spAutoFit/>
          </a:bodyPr>
          <a:lstStyle/>
          <a:p>
            <a:r>
              <a:rPr lang="vi-VN" sz="3200" b="1" smtClean="0">
                <a:latin typeface="Constantia" panose="02030602050306030303" pitchFamily="18" charset="0"/>
              </a:rPr>
              <a:t>+ </a:t>
            </a:r>
            <a:r>
              <a:rPr lang="vi-VN" sz="3200" smtClean="0">
                <a:latin typeface="Constantia" panose="02030602050306030303" pitchFamily="18" charset="0"/>
              </a:rPr>
              <a:t>Là thành phần mở đầu tên chương trình và kết thúc một chương trình</a:t>
            </a:r>
            <a:r>
              <a:rPr lang="vi-VN" sz="2000" smtClean="0">
                <a:latin typeface="Constantia" panose="02030602050306030303" pitchFamily="18" charset="0"/>
              </a:rPr>
              <a:t>.</a:t>
            </a:r>
          </a:p>
          <a:p>
            <a:r>
              <a:rPr lang="vi-VN" sz="2000" smtClean="0">
                <a:latin typeface="Constantia" panose="02030602050306030303" pitchFamily="18" charset="0"/>
              </a:rPr>
              <a:t> </a:t>
            </a:r>
            <a:r>
              <a:rPr lang="vi-VN" sz="3200" b="1" smtClean="0">
                <a:latin typeface="Constantia" panose="02030602050306030303" pitchFamily="18" charset="0"/>
              </a:rPr>
              <a:t>+ </a:t>
            </a:r>
            <a:r>
              <a:rPr lang="vi-VN" sz="3200" smtClean="0">
                <a:latin typeface="Constantia" panose="02030602050306030303" pitchFamily="18" charset="0"/>
              </a:rPr>
              <a:t>Phần “đầu” luôn xuất hiện ở các chương trình, phần “cuối” thường chỉ xuất hiện ở chương trình con.</a:t>
            </a:r>
            <a:endParaRPr lang="en-US" sz="2000" b="1">
              <a:latin typeface="Constantia" panose="02030602050306030303" pitchFamily="18" charset="0"/>
            </a:endParaRPr>
          </a:p>
        </p:txBody>
      </p:sp>
      <p:sp>
        <p:nvSpPr>
          <p:cNvPr id="81" name="TextBox 80"/>
          <p:cNvSpPr txBox="1"/>
          <p:nvPr/>
        </p:nvSpPr>
        <p:spPr>
          <a:xfrm>
            <a:off x="9244431" y="2988562"/>
            <a:ext cx="8763000" cy="1569660"/>
          </a:xfrm>
          <a:prstGeom prst="rect">
            <a:avLst/>
          </a:prstGeom>
          <a:noFill/>
        </p:spPr>
        <p:txBody>
          <a:bodyPr wrap="square" rtlCol="0">
            <a:spAutoFit/>
          </a:bodyPr>
          <a:lstStyle/>
          <a:p>
            <a:r>
              <a:rPr lang="vi-VN" sz="3200" b="1" smtClean="0">
                <a:latin typeface="Constantia" panose="02030602050306030303" pitchFamily="18" charset="0"/>
              </a:rPr>
              <a:t>+ </a:t>
            </a:r>
            <a:r>
              <a:rPr lang="vi-VN" sz="3200" smtClean="0">
                <a:latin typeface="Constantia" panose="02030602050306030303" pitchFamily="18" charset="0"/>
              </a:rPr>
              <a:t>Bao gồm các công việc thiết lập ban đầu như: khởi tạo port, khai báo biến, khai báo thiết bị, định nghĩa,....</a:t>
            </a:r>
            <a:endParaRPr lang="en-US" sz="3200" b="1">
              <a:latin typeface="Constantia" panose="02030602050306030303" pitchFamily="18"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3587" y="-657521"/>
            <a:ext cx="18285714" cy="10285714"/>
          </a:xfrm>
          <a:prstGeom prst="rect">
            <a:avLst/>
          </a:prstGeom>
        </p:spPr>
      </p:pic>
      <mc:AlternateContent xmlns:mc="http://schemas.openxmlformats.org/markup-compatibility/2006" xmlns:p14="http://schemas.microsoft.com/office/powerpoint/2010/main">
        <mc:Choice Requires="p14">
          <p:contentPart p14:bwMode="auto" r:id="rId6">
            <p14:nvContentPartPr>
              <p14:cNvPr id="3" name="Ink 2"/>
              <p14:cNvContentPartPr/>
              <p14:nvPr/>
            </p14:nvContentPartPr>
            <p14:xfrm>
              <a:off x="7400880" y="4762440"/>
              <a:ext cx="360" cy="360"/>
            </p14:xfrm>
          </p:contentPart>
        </mc:Choice>
        <mc:Fallback xmlns="">
          <p:pic>
            <p:nvPicPr>
              <p:cNvPr id="3" name="Ink 2"/>
              <p:cNvPicPr/>
              <p:nvPr/>
            </p:nvPicPr>
            <p:blipFill>
              <a:blip r:embed="rId7"/>
              <a:stretch>
                <a:fillRect/>
              </a:stretch>
            </p:blipFill>
            <p:spPr>
              <a:xfrm>
                <a:off x="7391520" y="4753080"/>
                <a:ext cx="19080" cy="19080"/>
              </a:xfrm>
              <a:prstGeom prst="rect">
                <a:avLst/>
              </a:prstGeom>
            </p:spPr>
          </p:pic>
        </mc:Fallback>
      </mc:AlternateContent>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1000"/>
                                        <p:tgtEl>
                                          <p:spTgt spid="59"/>
                                        </p:tgtEl>
                                      </p:cBhvr>
                                    </p:animEffect>
                                    <p:anim calcmode="lin" valueType="num">
                                      <p:cBhvr>
                                        <p:cTn id="8" dur="1000" fill="hold"/>
                                        <p:tgtEl>
                                          <p:spTgt spid="59"/>
                                        </p:tgtEl>
                                        <p:attrNameLst>
                                          <p:attrName>ppt_x</p:attrName>
                                        </p:attrNameLst>
                                      </p:cBhvr>
                                      <p:tavLst>
                                        <p:tav tm="0">
                                          <p:val>
                                            <p:strVal val="#ppt_x"/>
                                          </p:val>
                                        </p:tav>
                                        <p:tav tm="100000">
                                          <p:val>
                                            <p:strVal val="#ppt_x"/>
                                          </p:val>
                                        </p:tav>
                                      </p:tavLst>
                                    </p:anim>
                                    <p:anim calcmode="lin" valueType="num">
                                      <p:cBhvr>
                                        <p:cTn id="9" dur="1000" fill="hold"/>
                                        <p:tgtEl>
                                          <p:spTgt spid="5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80"/>
                                        </p:tgtEl>
                                        <p:attrNameLst>
                                          <p:attrName>style.visibility</p:attrName>
                                        </p:attrNameLst>
                                      </p:cBhvr>
                                      <p:to>
                                        <p:strVal val="visible"/>
                                      </p:to>
                                    </p:set>
                                    <p:animEffect transition="in" filter="barn(inVertical)">
                                      <p:cBhvr>
                                        <p:cTn id="14" dur="500"/>
                                        <p:tgtEl>
                                          <p:spTgt spid="80"/>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60"/>
                                        </p:tgtEl>
                                        <p:attrNameLst>
                                          <p:attrName>style.visibility</p:attrName>
                                        </p:attrNameLst>
                                      </p:cBhvr>
                                      <p:to>
                                        <p:strVal val="visible"/>
                                      </p:to>
                                    </p:set>
                                    <p:animEffect transition="in" filter="barn(inVertical)">
                                      <p:cBhvr>
                                        <p:cTn id="19" dur="500"/>
                                        <p:tgtEl>
                                          <p:spTgt spid="60"/>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61"/>
                                        </p:tgtEl>
                                        <p:attrNameLst>
                                          <p:attrName>style.visibility</p:attrName>
                                        </p:attrNameLst>
                                      </p:cBhvr>
                                      <p:to>
                                        <p:strVal val="visible"/>
                                      </p:to>
                                    </p:set>
                                    <p:anim calcmode="lin" valueType="num">
                                      <p:cBhvr additive="base">
                                        <p:cTn id="24" dur="500" fill="hold"/>
                                        <p:tgtEl>
                                          <p:spTgt spid="61"/>
                                        </p:tgtEl>
                                        <p:attrNameLst>
                                          <p:attrName>ppt_x</p:attrName>
                                        </p:attrNameLst>
                                      </p:cBhvr>
                                      <p:tavLst>
                                        <p:tav tm="0">
                                          <p:val>
                                            <p:strVal val="#ppt_x"/>
                                          </p:val>
                                        </p:tav>
                                        <p:tav tm="100000">
                                          <p:val>
                                            <p:strVal val="#ppt_x"/>
                                          </p:val>
                                        </p:tav>
                                      </p:tavLst>
                                    </p:anim>
                                    <p:anim calcmode="lin" valueType="num">
                                      <p:cBhvr additive="base">
                                        <p:cTn id="25"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31" presetClass="entr" presetSubtype="0" fill="hold" grpId="0" nodeType="clickEffect">
                                  <p:stCondLst>
                                    <p:cond delay="0"/>
                                  </p:stCondLst>
                                  <p:childTnLst>
                                    <p:set>
                                      <p:cBhvr>
                                        <p:cTn id="29" dur="1" fill="hold">
                                          <p:stCondLst>
                                            <p:cond delay="0"/>
                                          </p:stCondLst>
                                        </p:cTn>
                                        <p:tgtEl>
                                          <p:spTgt spid="78"/>
                                        </p:tgtEl>
                                        <p:attrNameLst>
                                          <p:attrName>style.visibility</p:attrName>
                                        </p:attrNameLst>
                                      </p:cBhvr>
                                      <p:to>
                                        <p:strVal val="visible"/>
                                      </p:to>
                                    </p:set>
                                    <p:anim calcmode="lin" valueType="num">
                                      <p:cBhvr>
                                        <p:cTn id="30" dur="1000" fill="hold"/>
                                        <p:tgtEl>
                                          <p:spTgt spid="78"/>
                                        </p:tgtEl>
                                        <p:attrNameLst>
                                          <p:attrName>ppt_w</p:attrName>
                                        </p:attrNameLst>
                                      </p:cBhvr>
                                      <p:tavLst>
                                        <p:tav tm="0">
                                          <p:val>
                                            <p:fltVal val="0"/>
                                          </p:val>
                                        </p:tav>
                                        <p:tav tm="100000">
                                          <p:val>
                                            <p:strVal val="#ppt_w"/>
                                          </p:val>
                                        </p:tav>
                                      </p:tavLst>
                                    </p:anim>
                                    <p:anim calcmode="lin" valueType="num">
                                      <p:cBhvr>
                                        <p:cTn id="31" dur="1000" fill="hold"/>
                                        <p:tgtEl>
                                          <p:spTgt spid="78"/>
                                        </p:tgtEl>
                                        <p:attrNameLst>
                                          <p:attrName>ppt_h</p:attrName>
                                        </p:attrNameLst>
                                      </p:cBhvr>
                                      <p:tavLst>
                                        <p:tav tm="0">
                                          <p:val>
                                            <p:fltVal val="0"/>
                                          </p:val>
                                        </p:tav>
                                        <p:tav tm="100000">
                                          <p:val>
                                            <p:strVal val="#ppt_h"/>
                                          </p:val>
                                        </p:tav>
                                      </p:tavLst>
                                    </p:anim>
                                    <p:anim calcmode="lin" valueType="num">
                                      <p:cBhvr>
                                        <p:cTn id="32" dur="1000" fill="hold"/>
                                        <p:tgtEl>
                                          <p:spTgt spid="78"/>
                                        </p:tgtEl>
                                        <p:attrNameLst>
                                          <p:attrName>style.rotation</p:attrName>
                                        </p:attrNameLst>
                                      </p:cBhvr>
                                      <p:tavLst>
                                        <p:tav tm="0">
                                          <p:val>
                                            <p:fltVal val="90"/>
                                          </p:val>
                                        </p:tav>
                                        <p:tav tm="100000">
                                          <p:val>
                                            <p:fltVal val="0"/>
                                          </p:val>
                                        </p:tav>
                                      </p:tavLst>
                                    </p:anim>
                                    <p:animEffect transition="in" filter="fade">
                                      <p:cBhvr>
                                        <p:cTn id="33" dur="1000"/>
                                        <p:tgtEl>
                                          <p:spTgt spid="78"/>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81"/>
                                        </p:tgtEl>
                                        <p:attrNameLst>
                                          <p:attrName>style.visibility</p:attrName>
                                        </p:attrNameLst>
                                      </p:cBhvr>
                                      <p:to>
                                        <p:strVal val="visible"/>
                                      </p:to>
                                    </p:set>
                                    <p:animEffect transition="in" filter="wheel(1)">
                                      <p:cBhvr>
                                        <p:cTn id="38" dur="2000"/>
                                        <p:tgtEl>
                                          <p:spTgt spid="81"/>
                                        </p:tgtEl>
                                      </p:cBhvr>
                                    </p:animEffect>
                                  </p:childTnLst>
                                </p:cTn>
                              </p:par>
                            </p:childTnLst>
                          </p:cTn>
                        </p:par>
                      </p:childTnLst>
                    </p:cTn>
                  </p:par>
                  <p:par>
                    <p:cTn id="39" fill="hold">
                      <p:stCondLst>
                        <p:cond delay="indefinite"/>
                      </p:stCondLst>
                      <p:childTnLst>
                        <p:par>
                          <p:cTn id="40" fill="hold">
                            <p:stCondLst>
                              <p:cond delay="0"/>
                            </p:stCondLst>
                            <p:childTnLst>
                              <p:par>
                                <p:cTn id="41" presetID="14" presetClass="entr" presetSubtype="10" fill="hold" nodeType="clickEffect">
                                  <p:stCondLst>
                                    <p:cond delay="0"/>
                                  </p:stCondLst>
                                  <p:childTnLst>
                                    <p:set>
                                      <p:cBhvr>
                                        <p:cTn id="42" dur="1" fill="hold">
                                          <p:stCondLst>
                                            <p:cond delay="0"/>
                                          </p:stCondLst>
                                        </p:cTn>
                                        <p:tgtEl>
                                          <p:spTgt spid="79"/>
                                        </p:tgtEl>
                                        <p:attrNameLst>
                                          <p:attrName>style.visibility</p:attrName>
                                        </p:attrNameLst>
                                      </p:cBhvr>
                                      <p:to>
                                        <p:strVal val="visible"/>
                                      </p:to>
                                    </p:set>
                                    <p:animEffect transition="in" filter="randombar(horizontal)">
                                      <p:cBhvr>
                                        <p:cTn id="43"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78" grpId="0"/>
      <p:bldP spid="80" grpId="0"/>
      <p:bldP spid="8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3"/>
          <p:cNvSpPr txBox="1"/>
          <p:nvPr/>
        </p:nvSpPr>
        <p:spPr>
          <a:xfrm>
            <a:off x="525346" y="3079492"/>
            <a:ext cx="2261444" cy="2420449"/>
          </a:xfrm>
          <a:prstGeom prst="rect">
            <a:avLst/>
          </a:prstGeom>
        </p:spPr>
        <p:txBody>
          <a:bodyPr lIns="50800" tIns="50800" rIns="50800" bIns="50800" rtlCol="0" anchor="ctr"/>
          <a:lstStyle/>
          <a:p>
            <a:pPr algn="ctr">
              <a:lnSpc>
                <a:spcPts val="3220"/>
              </a:lnSpc>
            </a:pPr>
            <a:endParaRPr/>
          </a:p>
        </p:txBody>
      </p:sp>
      <p:grpSp>
        <p:nvGrpSpPr>
          <p:cNvPr id="33" name="Group 33"/>
          <p:cNvGrpSpPr/>
          <p:nvPr/>
        </p:nvGrpSpPr>
        <p:grpSpPr>
          <a:xfrm>
            <a:off x="0" y="9983250"/>
            <a:ext cx="1028700" cy="303750"/>
            <a:chOff x="0" y="0"/>
            <a:chExt cx="270933" cy="80000"/>
          </a:xfrm>
        </p:grpSpPr>
        <p:sp>
          <p:nvSpPr>
            <p:cNvPr id="34" name="Freeform 34"/>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5" name="TextBox 35"/>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36" name="Group 36"/>
          <p:cNvGrpSpPr/>
          <p:nvPr/>
        </p:nvGrpSpPr>
        <p:grpSpPr>
          <a:xfrm>
            <a:off x="17259300" y="0"/>
            <a:ext cx="1028700" cy="303750"/>
            <a:chOff x="0" y="0"/>
            <a:chExt cx="270933" cy="80000"/>
          </a:xfrm>
        </p:grpSpPr>
        <p:sp>
          <p:nvSpPr>
            <p:cNvPr id="37" name="Freeform 37"/>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8" name="TextBox 38"/>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39" name="Group 39"/>
          <p:cNvGrpSpPr/>
          <p:nvPr/>
        </p:nvGrpSpPr>
        <p:grpSpPr>
          <a:xfrm>
            <a:off x="0" y="0"/>
            <a:ext cx="1028700" cy="303750"/>
            <a:chOff x="0" y="0"/>
            <a:chExt cx="270933" cy="80000"/>
          </a:xfrm>
        </p:grpSpPr>
        <p:sp>
          <p:nvSpPr>
            <p:cNvPr id="40" name="Freeform 40"/>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1" name="TextBox 41"/>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42" name="Group 42"/>
          <p:cNvGrpSpPr/>
          <p:nvPr/>
        </p:nvGrpSpPr>
        <p:grpSpPr>
          <a:xfrm>
            <a:off x="17259300" y="9983250"/>
            <a:ext cx="1028700" cy="303750"/>
            <a:chOff x="0" y="0"/>
            <a:chExt cx="270933" cy="80000"/>
          </a:xfrm>
        </p:grpSpPr>
        <p:sp>
          <p:nvSpPr>
            <p:cNvPr id="43" name="Freeform 43"/>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4" name="TextBox 44"/>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16" y="0"/>
            <a:ext cx="18285714" cy="10285714"/>
          </a:xfrm>
          <a:prstGeom prst="rect">
            <a:avLst/>
          </a:prstGeom>
        </p:spPr>
      </p:pic>
      <p:sp>
        <p:nvSpPr>
          <p:cNvPr id="29" name="TextBox 28"/>
          <p:cNvSpPr txBox="1"/>
          <p:nvPr/>
        </p:nvSpPr>
        <p:spPr>
          <a:xfrm>
            <a:off x="488950" y="1252040"/>
            <a:ext cx="17773648" cy="2062103"/>
          </a:xfrm>
          <a:prstGeom prst="rect">
            <a:avLst/>
          </a:prstGeom>
          <a:noFill/>
          <a:ln w="25400">
            <a:solidFill>
              <a:srgbClr val="FF0000"/>
            </a:solidFill>
          </a:ln>
        </p:spPr>
        <p:txBody>
          <a:bodyPr wrap="square" rtlCol="0">
            <a:spAutoFit/>
          </a:bodyPr>
          <a:lstStyle/>
          <a:p>
            <a:pPr algn="just"/>
            <a:r>
              <a:rPr lang="vi-VN" sz="3200" b="1" smtClean="0">
                <a:latin typeface="+mj-lt"/>
              </a:rPr>
              <a:t>+ </a:t>
            </a:r>
            <a:r>
              <a:rPr lang="vi-VN" sz="3200" smtClean="0">
                <a:latin typeface="+mj-lt"/>
              </a:rPr>
              <a:t>Vi </a:t>
            </a:r>
            <a:r>
              <a:rPr lang="vi-VN" sz="3200">
                <a:latin typeface="+mj-lt"/>
              </a:rPr>
              <a:t>điều khiển PIC 16F877A có bộ chuyển đổi tín hiệu tương tự sang tín hiệu số ADC 10 </a:t>
            </a:r>
            <a:r>
              <a:rPr lang="vi-VN" sz="3200" smtClean="0">
                <a:latin typeface="+mj-lt"/>
              </a:rPr>
              <a:t>bit </a:t>
            </a:r>
            <a:r>
              <a:rPr lang="vi-VN" sz="3200">
                <a:latin typeface="+mj-lt"/>
              </a:rPr>
              <a:t>đa hợp 8 kênh và PIC 16F887 có 14 kênh. Mạch ADC dùng cho các ứng dụng giao tiếp với </a:t>
            </a:r>
            <a:r>
              <a:rPr lang="vi-VN" sz="3200" smtClean="0">
                <a:latin typeface="+mj-lt"/>
              </a:rPr>
              <a:t>tín </a:t>
            </a:r>
            <a:r>
              <a:rPr lang="vi-VN" sz="3200">
                <a:latin typeface="+mj-lt"/>
              </a:rPr>
              <a:t>hiệu tương tự có thể nhận từ các cảm biến </a:t>
            </a:r>
            <a:r>
              <a:rPr lang="vi-VN" sz="3200" smtClean="0">
                <a:latin typeface="+mj-lt"/>
              </a:rPr>
              <a:t>như cảm </a:t>
            </a:r>
            <a:r>
              <a:rPr lang="vi-VN" sz="3200">
                <a:latin typeface="+mj-lt"/>
              </a:rPr>
              <a:t>biến nhiệt độ LM35, cảm biến áp suất, </a:t>
            </a:r>
            <a:r>
              <a:rPr lang="vi-VN" sz="3200" smtClean="0">
                <a:latin typeface="+mj-lt"/>
              </a:rPr>
              <a:t>cảm </a:t>
            </a:r>
            <a:r>
              <a:rPr lang="vi-VN" sz="3200">
                <a:latin typeface="+mj-lt"/>
              </a:rPr>
              <a:t>biến độ ẩm, cảm biến khoảng cách, …</a:t>
            </a:r>
            <a:endParaRPr lang="en-US" sz="3200">
              <a:latin typeface="+mj-lt"/>
            </a:endParaRPr>
          </a:p>
        </p:txBody>
      </p:sp>
      <p:pic>
        <p:nvPicPr>
          <p:cNvPr id="31" name="Picture 30" descr="pic-microcontrollers-programming-in-basic-chapter-03-image-1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950" y="3496675"/>
            <a:ext cx="10205222" cy="6788883"/>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29"/>
          <p:cNvSpPr txBox="1"/>
          <p:nvPr/>
        </p:nvSpPr>
        <p:spPr>
          <a:xfrm>
            <a:off x="10929043" y="3752940"/>
            <a:ext cx="7098684" cy="3046988"/>
          </a:xfrm>
          <a:prstGeom prst="rect">
            <a:avLst/>
          </a:prstGeom>
          <a:noFill/>
          <a:ln w="25400">
            <a:solidFill>
              <a:srgbClr val="FF0000"/>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3200" b="1" smtClean="0">
                <a:latin typeface="Constantia" panose="02030602050306030303" pitchFamily="18" charset="0"/>
              </a:rPr>
              <a:t>+ </a:t>
            </a:r>
            <a:r>
              <a:rPr lang="vi-VN" sz="3200" smtClean="0">
                <a:latin typeface="Constantia" panose="02030602050306030303" pitchFamily="18" charset="0"/>
              </a:rPr>
              <a:t>ADC được sử dụng trong bài là ADC 10 bit.</a:t>
            </a:r>
            <a:endParaRPr lang="vi-VN" sz="3200" b="1" smtClean="0">
              <a:latin typeface="Constantia" panose="02030602050306030303" pitchFamily="18" charset="0"/>
            </a:endParaRPr>
          </a:p>
          <a:p>
            <a:r>
              <a:rPr lang="vi-VN" sz="3200" b="1" smtClean="0">
                <a:latin typeface="Constantia" panose="02030602050306030303" pitchFamily="18" charset="0"/>
              </a:rPr>
              <a:t>+ </a:t>
            </a:r>
            <a:r>
              <a:rPr lang="vi-VN" sz="3200" smtClean="0">
                <a:latin typeface="+mj-lt"/>
              </a:rPr>
              <a:t>ADC hoạt động độc lập với CPU.</a:t>
            </a:r>
          </a:p>
          <a:p>
            <a:r>
              <a:rPr lang="vi-VN" sz="3200" b="1" smtClean="0">
                <a:latin typeface="+mj-lt"/>
              </a:rPr>
              <a:t>+ </a:t>
            </a:r>
            <a:r>
              <a:rPr lang="vi-VN" sz="3200" smtClean="0">
                <a:latin typeface="+mj-lt"/>
              </a:rPr>
              <a:t>Xung cung cấp cho ADC có thể từ xung ngoại hay dao động nội RC bên trong khối ADC.</a:t>
            </a:r>
            <a:r>
              <a:rPr lang="vi-VN" sz="3200" b="1" smtClean="0">
                <a:latin typeface="Constantia" panose="02030602050306030303" pitchFamily="18" charset="0"/>
              </a:rPr>
              <a:t> </a:t>
            </a:r>
            <a:endParaRPr lang="en-US" sz="3200" b="1">
              <a:latin typeface="Constantia" panose="02030602050306030303" pitchFamily="18" charset="0"/>
            </a:endParaRPr>
          </a:p>
        </p:txBody>
      </p:sp>
    </p:spTree>
    <p:extLst>
      <p:ext uri="{BB962C8B-B14F-4D97-AF65-F5344CB8AC3E}">
        <p14:creationId xmlns:p14="http://schemas.microsoft.com/office/powerpoint/2010/main" val="286579342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circle(in)">
                                      <p:cBhvr>
                                        <p:cTn id="12" dur="2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3"/>
          <p:cNvSpPr txBox="1"/>
          <p:nvPr/>
        </p:nvSpPr>
        <p:spPr>
          <a:xfrm>
            <a:off x="525346" y="3079492"/>
            <a:ext cx="2261444" cy="2420449"/>
          </a:xfrm>
          <a:prstGeom prst="rect">
            <a:avLst/>
          </a:prstGeom>
        </p:spPr>
        <p:txBody>
          <a:bodyPr lIns="50800" tIns="50800" rIns="50800" bIns="50800" rtlCol="0" anchor="ctr"/>
          <a:lstStyle/>
          <a:p>
            <a:pPr algn="ctr">
              <a:lnSpc>
                <a:spcPts val="3220"/>
              </a:lnSpc>
            </a:pPr>
            <a:endParaRPr/>
          </a:p>
        </p:txBody>
      </p:sp>
      <p:grpSp>
        <p:nvGrpSpPr>
          <p:cNvPr id="33" name="Group 33"/>
          <p:cNvGrpSpPr/>
          <p:nvPr/>
        </p:nvGrpSpPr>
        <p:grpSpPr>
          <a:xfrm>
            <a:off x="0" y="9983250"/>
            <a:ext cx="1028700" cy="303750"/>
            <a:chOff x="0" y="0"/>
            <a:chExt cx="270933" cy="80000"/>
          </a:xfrm>
        </p:grpSpPr>
        <p:sp>
          <p:nvSpPr>
            <p:cNvPr id="34" name="Freeform 34"/>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5" name="TextBox 35"/>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36" name="Group 36"/>
          <p:cNvGrpSpPr/>
          <p:nvPr/>
        </p:nvGrpSpPr>
        <p:grpSpPr>
          <a:xfrm>
            <a:off x="17259300" y="0"/>
            <a:ext cx="1028700" cy="303750"/>
            <a:chOff x="0" y="0"/>
            <a:chExt cx="270933" cy="80000"/>
          </a:xfrm>
        </p:grpSpPr>
        <p:sp>
          <p:nvSpPr>
            <p:cNvPr id="37" name="Freeform 37"/>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8" name="TextBox 38"/>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39" name="Group 39"/>
          <p:cNvGrpSpPr/>
          <p:nvPr/>
        </p:nvGrpSpPr>
        <p:grpSpPr>
          <a:xfrm>
            <a:off x="0" y="0"/>
            <a:ext cx="1028700" cy="303750"/>
            <a:chOff x="0" y="0"/>
            <a:chExt cx="270933" cy="80000"/>
          </a:xfrm>
        </p:grpSpPr>
        <p:sp>
          <p:nvSpPr>
            <p:cNvPr id="40" name="Freeform 40"/>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1" name="TextBox 41"/>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42" name="Group 42"/>
          <p:cNvGrpSpPr/>
          <p:nvPr/>
        </p:nvGrpSpPr>
        <p:grpSpPr>
          <a:xfrm>
            <a:off x="17259300" y="9983250"/>
            <a:ext cx="1028700" cy="303750"/>
            <a:chOff x="0" y="0"/>
            <a:chExt cx="270933" cy="80000"/>
          </a:xfrm>
        </p:grpSpPr>
        <p:sp>
          <p:nvSpPr>
            <p:cNvPr id="43" name="Freeform 43"/>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4" name="TextBox 44"/>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sp>
        <p:nvSpPr>
          <p:cNvPr id="57" name="Rectangle 56"/>
          <p:cNvSpPr/>
          <p:nvPr/>
        </p:nvSpPr>
        <p:spPr>
          <a:xfrm>
            <a:off x="2057400" y="0"/>
            <a:ext cx="13716000" cy="1333500"/>
          </a:xfrm>
          <a:prstGeom prst="rect">
            <a:avLst/>
          </a:prstGeom>
          <a:solidFill>
            <a:schemeClr val="accent1">
              <a:lumMod val="60000"/>
              <a:lumOff val="4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p:cNvSpPr txBox="1"/>
          <p:nvPr/>
        </p:nvSpPr>
        <p:spPr>
          <a:xfrm>
            <a:off x="5168904" y="312807"/>
            <a:ext cx="8763000" cy="707886"/>
          </a:xfrm>
          <a:prstGeom prst="rect">
            <a:avLst/>
          </a:prstGeom>
          <a:noFill/>
        </p:spPr>
        <p:txBody>
          <a:bodyPr wrap="square" rtlCol="0">
            <a:spAutoFit/>
          </a:bodyPr>
          <a:lstStyle/>
          <a:p>
            <a:r>
              <a:rPr lang="vi-VN" sz="4000" b="1" smtClean="0">
                <a:latin typeface="Constantia" panose="02030602050306030303" pitchFamily="18" charset="0"/>
              </a:rPr>
              <a:t>CÁC THÀNH PHẦN CƠ BẢN</a:t>
            </a:r>
            <a:endParaRPr lang="en-US" sz="4000" b="1">
              <a:latin typeface="Constantia" panose="02030602050306030303" pitchFamily="18" charset="0"/>
            </a:endParaRPr>
          </a:p>
        </p:txBody>
      </p:sp>
      <p:sp>
        <p:nvSpPr>
          <p:cNvPr id="59" name="TextBox 58"/>
          <p:cNvSpPr txBox="1"/>
          <p:nvPr/>
        </p:nvSpPr>
        <p:spPr>
          <a:xfrm>
            <a:off x="1656068" y="1646307"/>
            <a:ext cx="4666290" cy="707886"/>
          </a:xfrm>
          <a:prstGeom prst="rect">
            <a:avLst/>
          </a:prstGeom>
          <a:noFill/>
        </p:spPr>
        <p:txBody>
          <a:bodyPr wrap="square" rtlCol="0">
            <a:spAutoFit/>
          </a:bodyPr>
          <a:lstStyle/>
          <a:p>
            <a:r>
              <a:rPr lang="vi-VN" sz="4000" b="1" smtClean="0">
                <a:latin typeface="Constantia" panose="02030602050306030303" pitchFamily="18" charset="0"/>
              </a:rPr>
              <a:t>3. Quá trình xử lý</a:t>
            </a:r>
            <a:endParaRPr lang="en-US" sz="4000" b="1">
              <a:latin typeface="Constantia" panose="02030602050306030303" pitchFamily="18" charset="0"/>
            </a:endParaRPr>
          </a:p>
        </p:txBody>
      </p:sp>
      <p:cxnSp>
        <p:nvCxnSpPr>
          <p:cNvPr id="77" name="Straight Connector 76"/>
          <p:cNvCxnSpPr/>
          <p:nvPr/>
        </p:nvCxnSpPr>
        <p:spPr>
          <a:xfrm>
            <a:off x="8915400" y="2247900"/>
            <a:ext cx="0" cy="7162800"/>
          </a:xfrm>
          <a:prstGeom prst="line">
            <a:avLst/>
          </a:prstGeom>
          <a:ln w="41275">
            <a:solidFill>
              <a:srgbClr val="002060"/>
            </a:solidFill>
          </a:ln>
        </p:spPr>
        <p:style>
          <a:lnRef idx="1">
            <a:schemeClr val="accent1"/>
          </a:lnRef>
          <a:fillRef idx="0">
            <a:schemeClr val="accent1"/>
          </a:fillRef>
          <a:effectRef idx="0">
            <a:schemeClr val="accent1"/>
          </a:effectRef>
          <a:fontRef idx="minor">
            <a:schemeClr val="tx1"/>
          </a:fontRef>
        </p:style>
      </p:cxnSp>
      <p:sp>
        <p:nvSpPr>
          <p:cNvPr id="78" name="TextBox 77"/>
          <p:cNvSpPr txBox="1"/>
          <p:nvPr/>
        </p:nvSpPr>
        <p:spPr>
          <a:xfrm>
            <a:off x="10419444" y="1686902"/>
            <a:ext cx="4815595" cy="707886"/>
          </a:xfrm>
          <a:prstGeom prst="rect">
            <a:avLst/>
          </a:prstGeom>
          <a:noFill/>
        </p:spPr>
        <p:txBody>
          <a:bodyPr wrap="square" rtlCol="0">
            <a:spAutoFit/>
          </a:bodyPr>
          <a:lstStyle/>
          <a:p>
            <a:r>
              <a:rPr lang="vi-VN" sz="4000" b="1" smtClean="0">
                <a:latin typeface="Constantia" panose="02030602050306030303" pitchFamily="18" charset="0"/>
              </a:rPr>
              <a:t>4. Câu lệnh if else</a:t>
            </a:r>
            <a:endParaRPr lang="en-US" sz="4000" b="1">
              <a:latin typeface="Constantia" panose="02030602050306030303" pitchFamily="18" charset="0"/>
            </a:endParaRPr>
          </a:p>
        </p:txBody>
      </p:sp>
      <p:pic>
        <p:nvPicPr>
          <p:cNvPr id="2" name="Picture 1"/>
          <p:cNvPicPr>
            <a:picLocks noChangeAspect="1"/>
          </p:cNvPicPr>
          <p:nvPr/>
        </p:nvPicPr>
        <p:blipFill>
          <a:blip r:embed="rId2"/>
          <a:stretch>
            <a:fillRect/>
          </a:stretch>
        </p:blipFill>
        <p:spPr>
          <a:xfrm>
            <a:off x="1874057" y="3487976"/>
            <a:ext cx="4795212" cy="1815330"/>
          </a:xfrm>
          <a:prstGeom prst="rect">
            <a:avLst/>
          </a:prstGeom>
        </p:spPr>
      </p:pic>
      <p:pic>
        <p:nvPicPr>
          <p:cNvPr id="3" name="Picture 2"/>
          <p:cNvPicPr>
            <a:picLocks noChangeAspect="1"/>
          </p:cNvPicPr>
          <p:nvPr/>
        </p:nvPicPr>
        <p:blipFill>
          <a:blip r:embed="rId3"/>
          <a:stretch>
            <a:fillRect/>
          </a:stretch>
        </p:blipFill>
        <p:spPr>
          <a:xfrm>
            <a:off x="227217" y="6018737"/>
            <a:ext cx="3277983" cy="1238349"/>
          </a:xfrm>
          <a:prstGeom prst="rect">
            <a:avLst/>
          </a:prstGeom>
        </p:spPr>
      </p:pic>
      <p:pic>
        <p:nvPicPr>
          <p:cNvPr id="4" name="Picture 3"/>
          <p:cNvPicPr>
            <a:picLocks noChangeAspect="1"/>
          </p:cNvPicPr>
          <p:nvPr/>
        </p:nvPicPr>
        <p:blipFill>
          <a:blip r:embed="rId4"/>
          <a:stretch>
            <a:fillRect/>
          </a:stretch>
        </p:blipFill>
        <p:spPr>
          <a:xfrm>
            <a:off x="4457444" y="8804233"/>
            <a:ext cx="3808618" cy="1330892"/>
          </a:xfrm>
          <a:prstGeom prst="rect">
            <a:avLst/>
          </a:prstGeom>
        </p:spPr>
      </p:pic>
      <p:pic>
        <p:nvPicPr>
          <p:cNvPr id="5" name="Picture 4"/>
          <p:cNvPicPr>
            <a:picLocks noChangeAspect="1"/>
          </p:cNvPicPr>
          <p:nvPr/>
        </p:nvPicPr>
        <p:blipFill>
          <a:blip r:embed="rId5"/>
          <a:stretch>
            <a:fillRect/>
          </a:stretch>
        </p:blipFill>
        <p:spPr>
          <a:xfrm>
            <a:off x="10331534" y="2961862"/>
            <a:ext cx="6549816" cy="3705637"/>
          </a:xfrm>
          <a:prstGeom prst="rect">
            <a:avLst/>
          </a:prstGeom>
        </p:spPr>
      </p:pic>
      <p:sp>
        <p:nvSpPr>
          <p:cNvPr id="27" name="TextBox 26"/>
          <p:cNvSpPr txBox="1"/>
          <p:nvPr/>
        </p:nvSpPr>
        <p:spPr>
          <a:xfrm>
            <a:off x="190504" y="2560696"/>
            <a:ext cx="8763000" cy="1077218"/>
          </a:xfrm>
          <a:prstGeom prst="rect">
            <a:avLst/>
          </a:prstGeom>
          <a:noFill/>
        </p:spPr>
        <p:txBody>
          <a:bodyPr wrap="square" rtlCol="0">
            <a:spAutoFit/>
          </a:bodyPr>
          <a:lstStyle/>
          <a:p>
            <a:r>
              <a:rPr lang="vi-VN" sz="3200" b="1" smtClean="0">
                <a:latin typeface="Constantia" panose="02030602050306030303" pitchFamily="18" charset="0"/>
              </a:rPr>
              <a:t>+ </a:t>
            </a:r>
            <a:r>
              <a:rPr lang="vi-VN" sz="3200" smtClean="0">
                <a:latin typeface="Constantia" panose="02030602050306030303" pitchFamily="18" charset="0"/>
              </a:rPr>
              <a:t>Bao gồm các câu lệnh đơn được xử lý ở từng giai đoạn.</a:t>
            </a:r>
            <a:endParaRPr lang="en-US" sz="2000" b="1">
              <a:latin typeface="Constantia" panose="02030602050306030303" pitchFamily="18" charset="0"/>
            </a:endParaRPr>
          </a:p>
        </p:txBody>
      </p:sp>
      <p:sp>
        <p:nvSpPr>
          <p:cNvPr id="28" name="TextBox 27"/>
          <p:cNvSpPr txBox="1"/>
          <p:nvPr/>
        </p:nvSpPr>
        <p:spPr>
          <a:xfrm>
            <a:off x="9010650" y="7234573"/>
            <a:ext cx="8763000" cy="1569660"/>
          </a:xfrm>
          <a:prstGeom prst="rect">
            <a:avLst/>
          </a:prstGeom>
          <a:noFill/>
        </p:spPr>
        <p:txBody>
          <a:bodyPr wrap="square" rtlCol="0">
            <a:spAutoFit/>
          </a:bodyPr>
          <a:lstStyle/>
          <a:p>
            <a:r>
              <a:rPr lang="vi-VN" sz="3200" b="1" smtClean="0">
                <a:latin typeface="Constantia" panose="02030602050306030303" pitchFamily="18" charset="0"/>
              </a:rPr>
              <a:t>+ </a:t>
            </a:r>
            <a:r>
              <a:rPr lang="vi-VN" sz="3200" smtClean="0">
                <a:latin typeface="Constantia" panose="02030602050306030303" pitchFamily="18" charset="0"/>
              </a:rPr>
              <a:t>Câu lệnh if ứng với lưu đồ trên luôn tồn tại nhánh “sai” tương ứng với “else” </a:t>
            </a:r>
            <a:r>
              <a:rPr lang="vi-VN" sz="3200" smtClean="0">
                <a:latin typeface="Constantia" panose="02030602050306030303" pitchFamily="18" charset="0"/>
                <a:sym typeface="Wingdings" panose="05000000000000000000" pitchFamily="2" charset="2"/>
              </a:rPr>
              <a:t> cần có else dù cho không làm việc gì khi sai.</a:t>
            </a:r>
            <a:endParaRPr lang="en-US" sz="2000" b="1">
              <a:latin typeface="Constantia" panose="02030602050306030303" pitchFamily="18" charset="0"/>
            </a:endParaRPr>
          </a:p>
        </p:txBody>
      </p:sp>
      <p:pic>
        <p:nvPicPr>
          <p:cNvPr id="6" name="Picture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43" y="643"/>
            <a:ext cx="18285714" cy="10285714"/>
          </a:xfrm>
          <a:prstGeom prst="rect">
            <a:avLst/>
          </a:prstGeom>
        </p:spPr>
      </p:pic>
      <p:pic>
        <p:nvPicPr>
          <p:cNvPr id="7" name="Picture 6"/>
          <p:cNvPicPr>
            <a:picLocks noChangeAspect="1"/>
          </p:cNvPicPr>
          <p:nvPr/>
        </p:nvPicPr>
        <p:blipFill rotWithShape="1">
          <a:blip r:embed="rId7"/>
          <a:srcRect t="1997"/>
          <a:stretch/>
        </p:blipFill>
        <p:spPr>
          <a:xfrm>
            <a:off x="747932" y="1736250"/>
            <a:ext cx="11792933" cy="3508268"/>
          </a:xfrm>
          <a:prstGeom prst="rect">
            <a:avLst/>
          </a:prstGeom>
        </p:spPr>
      </p:pic>
      <p:pic>
        <p:nvPicPr>
          <p:cNvPr id="8" name="Picture 7"/>
          <p:cNvPicPr>
            <a:picLocks noChangeAspect="1"/>
          </p:cNvPicPr>
          <p:nvPr/>
        </p:nvPicPr>
        <p:blipFill>
          <a:blip r:embed="rId8"/>
          <a:stretch>
            <a:fillRect/>
          </a:stretch>
        </p:blipFill>
        <p:spPr>
          <a:xfrm>
            <a:off x="5943600" y="5724228"/>
            <a:ext cx="10226312" cy="3762088"/>
          </a:xfrm>
          <a:prstGeom prst="rect">
            <a:avLst/>
          </a:prstGeom>
        </p:spPr>
      </p:pic>
      <p:sp>
        <p:nvSpPr>
          <p:cNvPr id="29" name="TextBox 28"/>
          <p:cNvSpPr txBox="1"/>
          <p:nvPr/>
        </p:nvSpPr>
        <p:spPr>
          <a:xfrm>
            <a:off x="775641" y="1130099"/>
            <a:ext cx="7098684" cy="584775"/>
          </a:xfrm>
          <a:prstGeom prst="rect">
            <a:avLst/>
          </a:prstGeom>
          <a:noFill/>
          <a:ln w="25400">
            <a:noFill/>
          </a:ln>
        </p:spPr>
        <p:txBody>
          <a:bodyPr wrap="square" rtlCol="0">
            <a:spAutoFit/>
          </a:bodyPr>
          <a:lstStyle/>
          <a:p>
            <a:r>
              <a:rPr lang="vi-VN" sz="3200" b="1" i="1" smtClean="0">
                <a:latin typeface="Constantia" panose="02030602050306030303" pitchFamily="18" charset="0"/>
              </a:rPr>
              <a:t>Chọn kênh tương tự vào ADC:</a:t>
            </a:r>
            <a:endParaRPr lang="en-US" sz="3200" b="1" i="1">
              <a:latin typeface="Constantia" panose="02030602050306030303" pitchFamily="18" charset="0"/>
            </a:endParaRPr>
          </a:p>
        </p:txBody>
      </p:sp>
      <p:sp>
        <p:nvSpPr>
          <p:cNvPr id="30" name="TextBox 29"/>
          <p:cNvSpPr txBox="1"/>
          <p:nvPr/>
        </p:nvSpPr>
        <p:spPr>
          <a:xfrm>
            <a:off x="6075149" y="5231370"/>
            <a:ext cx="7098684" cy="584775"/>
          </a:xfrm>
          <a:prstGeom prst="rect">
            <a:avLst/>
          </a:prstGeom>
          <a:noFill/>
          <a:ln w="25400">
            <a:noFill/>
          </a:ln>
        </p:spPr>
        <p:txBody>
          <a:bodyPr wrap="square" rtlCol="0">
            <a:spAutoFit/>
          </a:bodyPr>
          <a:lstStyle/>
          <a:p>
            <a:r>
              <a:rPr lang="vi-VN" sz="3200" b="1" i="1" smtClean="0">
                <a:latin typeface="Constantia" panose="02030602050306030303" pitchFamily="18" charset="0"/>
              </a:rPr>
              <a:t>Lựa chọn tần số cho ADC:</a:t>
            </a:r>
            <a:endParaRPr lang="en-US" sz="3200" b="1" i="1">
              <a:latin typeface="Constantia" panose="02030602050306030303" pitchFamily="18" charset="0"/>
            </a:endParaRPr>
          </a:p>
        </p:txBody>
      </p:sp>
    </p:spTree>
    <p:extLst>
      <p:ext uri="{BB962C8B-B14F-4D97-AF65-F5344CB8AC3E}">
        <p14:creationId xmlns:p14="http://schemas.microsoft.com/office/powerpoint/2010/main" val="201674572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ppt_x"/>
                                          </p:val>
                                        </p:tav>
                                        <p:tav tm="100000">
                                          <p:val>
                                            <p:strVal val="#ppt_x"/>
                                          </p:val>
                                        </p:tav>
                                      </p:tavLst>
                                    </p:anim>
                                    <p:anim calcmode="lin" valueType="num">
                                      <p:cBhvr additive="base">
                                        <p:cTn id="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arn(inVertical)">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circle(in)">
                                      <p:cBhvr>
                                        <p:cTn id="18" dur="2000"/>
                                        <p:tgtEl>
                                          <p:spTgt spid="30"/>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barn(inVertical)">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3"/>
          <p:cNvSpPr txBox="1"/>
          <p:nvPr/>
        </p:nvSpPr>
        <p:spPr>
          <a:xfrm>
            <a:off x="525346" y="3079492"/>
            <a:ext cx="2261444" cy="2420449"/>
          </a:xfrm>
          <a:prstGeom prst="rect">
            <a:avLst/>
          </a:prstGeom>
        </p:spPr>
        <p:txBody>
          <a:bodyPr lIns="50800" tIns="50800" rIns="50800" bIns="50800" rtlCol="0" anchor="ctr"/>
          <a:lstStyle/>
          <a:p>
            <a:pPr algn="ctr">
              <a:lnSpc>
                <a:spcPts val="3220"/>
              </a:lnSpc>
            </a:pPr>
            <a:endParaRPr/>
          </a:p>
        </p:txBody>
      </p:sp>
      <p:grpSp>
        <p:nvGrpSpPr>
          <p:cNvPr id="33" name="Group 33"/>
          <p:cNvGrpSpPr/>
          <p:nvPr/>
        </p:nvGrpSpPr>
        <p:grpSpPr>
          <a:xfrm>
            <a:off x="0" y="9983250"/>
            <a:ext cx="1028700" cy="303750"/>
            <a:chOff x="0" y="0"/>
            <a:chExt cx="270933" cy="80000"/>
          </a:xfrm>
        </p:grpSpPr>
        <p:sp>
          <p:nvSpPr>
            <p:cNvPr id="34" name="Freeform 34"/>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5" name="TextBox 35"/>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39" name="Group 39"/>
          <p:cNvGrpSpPr/>
          <p:nvPr/>
        </p:nvGrpSpPr>
        <p:grpSpPr>
          <a:xfrm>
            <a:off x="0" y="0"/>
            <a:ext cx="1028700" cy="303750"/>
            <a:chOff x="0" y="0"/>
            <a:chExt cx="270933" cy="80000"/>
          </a:xfrm>
        </p:grpSpPr>
        <p:sp>
          <p:nvSpPr>
            <p:cNvPr id="40" name="Freeform 40"/>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1" name="TextBox 41"/>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42" name="Group 42"/>
          <p:cNvGrpSpPr/>
          <p:nvPr/>
        </p:nvGrpSpPr>
        <p:grpSpPr>
          <a:xfrm>
            <a:off x="17259300" y="9983250"/>
            <a:ext cx="1028700" cy="303750"/>
            <a:chOff x="0" y="0"/>
            <a:chExt cx="270933" cy="80000"/>
          </a:xfrm>
        </p:grpSpPr>
        <p:sp>
          <p:nvSpPr>
            <p:cNvPr id="43" name="Freeform 43"/>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4" name="TextBox 44"/>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sp>
        <p:nvSpPr>
          <p:cNvPr id="59" name="TextBox 58"/>
          <p:cNvSpPr txBox="1"/>
          <p:nvPr/>
        </p:nvSpPr>
        <p:spPr>
          <a:xfrm>
            <a:off x="1656068" y="1646307"/>
            <a:ext cx="5659132" cy="707886"/>
          </a:xfrm>
          <a:prstGeom prst="rect">
            <a:avLst/>
          </a:prstGeom>
          <a:noFill/>
        </p:spPr>
        <p:txBody>
          <a:bodyPr wrap="square" rtlCol="0">
            <a:spAutoFit/>
          </a:bodyPr>
          <a:lstStyle/>
          <a:p>
            <a:r>
              <a:rPr lang="vi-VN" sz="4000" b="1" smtClean="0">
                <a:latin typeface="Constantia" panose="02030602050306030303" pitchFamily="18" charset="0"/>
              </a:rPr>
              <a:t>5. Câu lệnh chờ while</a:t>
            </a:r>
            <a:endParaRPr lang="en-US" sz="4000" b="1">
              <a:latin typeface="Constantia" panose="02030602050306030303" pitchFamily="18" charset="0"/>
            </a:endParaRPr>
          </a:p>
        </p:txBody>
      </p:sp>
      <p:cxnSp>
        <p:nvCxnSpPr>
          <p:cNvPr id="77" name="Straight Connector 76"/>
          <p:cNvCxnSpPr/>
          <p:nvPr/>
        </p:nvCxnSpPr>
        <p:spPr>
          <a:xfrm>
            <a:off x="8915400" y="2247900"/>
            <a:ext cx="0" cy="7162800"/>
          </a:xfrm>
          <a:prstGeom prst="line">
            <a:avLst/>
          </a:prstGeom>
          <a:ln w="41275">
            <a:solidFill>
              <a:srgbClr val="002060"/>
            </a:solidFill>
          </a:ln>
        </p:spPr>
        <p:style>
          <a:lnRef idx="1">
            <a:schemeClr val="accent1"/>
          </a:lnRef>
          <a:fillRef idx="0">
            <a:schemeClr val="accent1"/>
          </a:fillRef>
          <a:effectRef idx="0">
            <a:schemeClr val="accent1"/>
          </a:effectRef>
          <a:fontRef idx="minor">
            <a:schemeClr val="tx1"/>
          </a:fontRef>
        </p:style>
      </p:cxnSp>
      <p:sp>
        <p:nvSpPr>
          <p:cNvPr id="78" name="TextBox 77"/>
          <p:cNvSpPr txBox="1"/>
          <p:nvPr/>
        </p:nvSpPr>
        <p:spPr>
          <a:xfrm>
            <a:off x="10419444" y="1686902"/>
            <a:ext cx="4815595" cy="707886"/>
          </a:xfrm>
          <a:prstGeom prst="rect">
            <a:avLst/>
          </a:prstGeom>
          <a:noFill/>
        </p:spPr>
        <p:txBody>
          <a:bodyPr wrap="square" rtlCol="0">
            <a:spAutoFit/>
          </a:bodyPr>
          <a:lstStyle/>
          <a:p>
            <a:r>
              <a:rPr lang="vi-VN" sz="4000" b="1" smtClean="0">
                <a:latin typeface="Constantia" panose="02030602050306030303" pitchFamily="18" charset="0"/>
              </a:rPr>
              <a:t>6. Vòng lặp for</a:t>
            </a:r>
            <a:endParaRPr lang="en-US" sz="4000" b="1">
              <a:latin typeface="Constantia" panose="02030602050306030303" pitchFamily="18" charset="0"/>
            </a:endParaRPr>
          </a:p>
        </p:txBody>
      </p:sp>
      <p:sp>
        <p:nvSpPr>
          <p:cNvPr id="27" name="TextBox 26"/>
          <p:cNvSpPr txBox="1"/>
          <p:nvPr/>
        </p:nvSpPr>
        <p:spPr>
          <a:xfrm>
            <a:off x="190504" y="2560696"/>
            <a:ext cx="8763000" cy="1077218"/>
          </a:xfrm>
          <a:prstGeom prst="rect">
            <a:avLst/>
          </a:prstGeom>
          <a:noFill/>
        </p:spPr>
        <p:txBody>
          <a:bodyPr wrap="square" rtlCol="0">
            <a:spAutoFit/>
          </a:bodyPr>
          <a:lstStyle/>
          <a:p>
            <a:r>
              <a:rPr lang="vi-VN" sz="3200" b="1" smtClean="0">
                <a:latin typeface="Constantia" panose="02030602050306030303" pitchFamily="18" charset="0"/>
              </a:rPr>
              <a:t>+ </a:t>
            </a:r>
            <a:r>
              <a:rPr lang="vi-VN" sz="3200" smtClean="0">
                <a:latin typeface="Constantia" panose="02030602050306030303" pitchFamily="18" charset="0"/>
              </a:rPr>
              <a:t>Chờ cho đến khi có sự kiện mới diễn ra thì làm tiếp công việc.</a:t>
            </a:r>
            <a:endParaRPr lang="en-US" sz="2000" b="1">
              <a:latin typeface="Constantia" panose="02030602050306030303" pitchFamily="18" charset="0"/>
            </a:endParaRPr>
          </a:p>
        </p:txBody>
      </p:sp>
      <p:pic>
        <p:nvPicPr>
          <p:cNvPr id="8" name="Picture 7"/>
          <p:cNvPicPr>
            <a:picLocks noChangeAspect="1"/>
          </p:cNvPicPr>
          <p:nvPr/>
        </p:nvPicPr>
        <p:blipFill>
          <a:blip r:embed="rId2"/>
          <a:stretch>
            <a:fillRect/>
          </a:stretch>
        </p:blipFill>
        <p:spPr>
          <a:xfrm>
            <a:off x="1525136" y="3682413"/>
            <a:ext cx="6323463" cy="6270876"/>
          </a:xfrm>
          <a:prstGeom prst="rect">
            <a:avLst/>
          </a:prstGeom>
        </p:spPr>
      </p:pic>
      <p:pic>
        <p:nvPicPr>
          <p:cNvPr id="9" name="Picture 8"/>
          <p:cNvPicPr>
            <a:picLocks noChangeAspect="1"/>
          </p:cNvPicPr>
          <p:nvPr/>
        </p:nvPicPr>
        <p:blipFill>
          <a:blip r:embed="rId3"/>
          <a:stretch>
            <a:fillRect/>
          </a:stretch>
        </p:blipFill>
        <p:spPr>
          <a:xfrm>
            <a:off x="10368648" y="2748190"/>
            <a:ext cx="5950329" cy="7393506"/>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86" y="1028700"/>
            <a:ext cx="18285714" cy="10285714"/>
          </a:xfrm>
          <a:prstGeom prst="rect">
            <a:avLst/>
          </a:prstGeom>
        </p:spPr>
      </p:pic>
    </p:spTree>
    <p:extLst>
      <p:ext uri="{BB962C8B-B14F-4D97-AF65-F5344CB8AC3E}">
        <p14:creationId xmlns:p14="http://schemas.microsoft.com/office/powerpoint/2010/main" val="32214963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3"/>
          <p:cNvSpPr txBox="1"/>
          <p:nvPr/>
        </p:nvSpPr>
        <p:spPr>
          <a:xfrm>
            <a:off x="525346" y="3079492"/>
            <a:ext cx="2261444" cy="2420449"/>
          </a:xfrm>
          <a:prstGeom prst="rect">
            <a:avLst/>
          </a:prstGeom>
        </p:spPr>
        <p:txBody>
          <a:bodyPr lIns="50800" tIns="50800" rIns="50800" bIns="50800" rtlCol="0" anchor="ctr"/>
          <a:lstStyle/>
          <a:p>
            <a:pPr algn="ctr">
              <a:lnSpc>
                <a:spcPts val="3220"/>
              </a:lnSpc>
            </a:pPr>
            <a:endParaRPr/>
          </a:p>
        </p:txBody>
      </p:sp>
      <p:grpSp>
        <p:nvGrpSpPr>
          <p:cNvPr id="33" name="Group 33"/>
          <p:cNvGrpSpPr/>
          <p:nvPr/>
        </p:nvGrpSpPr>
        <p:grpSpPr>
          <a:xfrm>
            <a:off x="0" y="9983250"/>
            <a:ext cx="1028700" cy="303750"/>
            <a:chOff x="0" y="0"/>
            <a:chExt cx="270933" cy="80000"/>
          </a:xfrm>
        </p:grpSpPr>
        <p:sp>
          <p:nvSpPr>
            <p:cNvPr id="34" name="Freeform 34"/>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5" name="TextBox 35"/>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36" name="Group 36"/>
          <p:cNvGrpSpPr/>
          <p:nvPr/>
        </p:nvGrpSpPr>
        <p:grpSpPr>
          <a:xfrm>
            <a:off x="17259300" y="0"/>
            <a:ext cx="1028700" cy="303750"/>
            <a:chOff x="0" y="0"/>
            <a:chExt cx="270933" cy="80000"/>
          </a:xfrm>
        </p:grpSpPr>
        <p:sp>
          <p:nvSpPr>
            <p:cNvPr id="37" name="Freeform 37"/>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8" name="TextBox 38"/>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42" name="Group 42"/>
          <p:cNvGrpSpPr/>
          <p:nvPr/>
        </p:nvGrpSpPr>
        <p:grpSpPr>
          <a:xfrm>
            <a:off x="17259300" y="9983250"/>
            <a:ext cx="1028700" cy="303750"/>
            <a:chOff x="0" y="0"/>
            <a:chExt cx="270933" cy="80000"/>
          </a:xfrm>
        </p:grpSpPr>
        <p:sp>
          <p:nvSpPr>
            <p:cNvPr id="43" name="Freeform 43"/>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4" name="TextBox 44"/>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sp>
        <p:nvSpPr>
          <p:cNvPr id="59" name="TextBox 58"/>
          <p:cNvSpPr txBox="1"/>
          <p:nvPr/>
        </p:nvSpPr>
        <p:spPr>
          <a:xfrm>
            <a:off x="361952" y="1470719"/>
            <a:ext cx="13887448" cy="1323439"/>
          </a:xfrm>
          <a:prstGeom prst="rect">
            <a:avLst/>
          </a:prstGeom>
          <a:noFill/>
        </p:spPr>
        <p:txBody>
          <a:bodyPr wrap="square" rtlCol="0">
            <a:spAutoFit/>
          </a:bodyPr>
          <a:lstStyle/>
          <a:p>
            <a:r>
              <a:rPr lang="vi-VN" sz="4000" b="1" smtClean="0">
                <a:latin typeface="Constantia" panose="02030602050306030303" pitchFamily="18" charset="0"/>
              </a:rPr>
              <a:t>Ví dụ: </a:t>
            </a:r>
            <a:r>
              <a:rPr lang="vi-VN" sz="4000" smtClean="0">
                <a:latin typeface="Constantia" panose="02030602050306030303" pitchFamily="18" charset="0"/>
              </a:rPr>
              <a:t>Từ lưu đồ bên dưới viết lại dưới dạng các câu lệnh.</a:t>
            </a:r>
          </a:p>
          <a:p>
            <a:r>
              <a:rPr lang="vi-VN" sz="4000" b="1" smtClean="0">
                <a:latin typeface="Constantia" panose="02030602050306030303" pitchFamily="18" charset="0"/>
              </a:rPr>
              <a:t>a) </a:t>
            </a:r>
            <a:endParaRPr lang="en-US" sz="4000" b="1">
              <a:latin typeface="Constantia" panose="02030602050306030303" pitchFamily="18" charset="0"/>
            </a:endParaRPr>
          </a:p>
        </p:txBody>
      </p:sp>
      <p:pic>
        <p:nvPicPr>
          <p:cNvPr id="2" name="Picture 1"/>
          <p:cNvPicPr>
            <a:picLocks noChangeAspect="1"/>
          </p:cNvPicPr>
          <p:nvPr/>
        </p:nvPicPr>
        <p:blipFill>
          <a:blip r:embed="rId2"/>
          <a:stretch>
            <a:fillRect/>
          </a:stretch>
        </p:blipFill>
        <p:spPr>
          <a:xfrm>
            <a:off x="782839" y="3079492"/>
            <a:ext cx="8721330" cy="6290215"/>
          </a:xfrm>
          <a:prstGeom prst="rect">
            <a:avLst/>
          </a:prstGeom>
        </p:spPr>
      </p:pic>
      <p:sp>
        <p:nvSpPr>
          <p:cNvPr id="26" name="TextBox 25"/>
          <p:cNvSpPr txBox="1"/>
          <p:nvPr/>
        </p:nvSpPr>
        <p:spPr>
          <a:xfrm>
            <a:off x="7620000" y="2488673"/>
            <a:ext cx="9112203" cy="1754326"/>
          </a:xfrm>
          <a:prstGeom prst="rect">
            <a:avLst/>
          </a:prstGeom>
          <a:noFill/>
          <a:ln w="25400">
            <a:solidFill>
              <a:srgbClr val="FF0000"/>
            </a:solidFill>
          </a:ln>
        </p:spPr>
        <p:txBody>
          <a:bodyPr wrap="square" rtlCol="0">
            <a:spAutoFit/>
          </a:bodyPr>
          <a:lstStyle/>
          <a:p>
            <a:r>
              <a:rPr lang="en-US" sz="3600" smtClean="0">
                <a:latin typeface="Constantia" panose="02030602050306030303" pitchFamily="18" charset="0"/>
              </a:rPr>
              <a:t>	  if(!input(ON))	  output_high(led);</a:t>
            </a:r>
          </a:p>
          <a:p>
            <a:r>
              <a:rPr lang="en-US" sz="3600" smtClean="0">
                <a:latin typeface="Constantia" panose="02030602050306030303" pitchFamily="18" charset="0"/>
              </a:rPr>
              <a:t>else   if(!input(OFF))	   output_low(led);</a:t>
            </a:r>
          </a:p>
          <a:p>
            <a:r>
              <a:rPr lang="en-US" sz="3600" smtClean="0">
                <a:latin typeface="Constantia" panose="02030602050306030303" pitchFamily="18" charset="0"/>
              </a:rPr>
              <a:t>else;</a:t>
            </a:r>
            <a:endParaRPr lang="en-US" sz="3600">
              <a:latin typeface="Constantia" panose="02030602050306030303" pitchFamily="18"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129" y="0"/>
            <a:ext cx="18285714" cy="10285714"/>
          </a:xfrm>
          <a:prstGeom prst="rect">
            <a:avLst/>
          </a:prstGeom>
        </p:spPr>
      </p:pic>
      <p:sp>
        <p:nvSpPr>
          <p:cNvPr id="21" name="TextBox 20"/>
          <p:cNvSpPr txBox="1"/>
          <p:nvPr/>
        </p:nvSpPr>
        <p:spPr>
          <a:xfrm>
            <a:off x="599478" y="1790155"/>
            <a:ext cx="16371394" cy="6494085"/>
          </a:xfrm>
          <a:prstGeom prst="rect">
            <a:avLst/>
          </a:prstGeom>
          <a:noFill/>
          <a:ln w="25400">
            <a:noFill/>
          </a:ln>
        </p:spPr>
        <p:txBody>
          <a:bodyPr wrap="square" rtlCol="0">
            <a:spAutoFit/>
          </a:bodyPr>
          <a:lstStyle/>
          <a:p>
            <a:r>
              <a:rPr lang="vi-VN" sz="3200" b="1" i="1" smtClean="0">
                <a:solidFill>
                  <a:srgbClr val="FF0000"/>
                </a:solidFill>
                <a:latin typeface="Constantia" panose="02030602050306030303" pitchFamily="18" charset="0"/>
              </a:rPr>
              <a:t>1. #DEVICE ADC = 10</a:t>
            </a:r>
          </a:p>
          <a:p>
            <a:r>
              <a:rPr lang="vi-VN" sz="3200" b="1" i="1" smtClean="0">
                <a:solidFill>
                  <a:srgbClr val="FF0000"/>
                </a:solidFill>
                <a:latin typeface="Constantia" panose="02030602050306030303" pitchFamily="18" charset="0"/>
              </a:rPr>
              <a:t> </a:t>
            </a:r>
            <a:r>
              <a:rPr lang="vi-VN" sz="3200" i="1" smtClean="0">
                <a:solidFill>
                  <a:srgbClr val="002060"/>
                </a:solidFill>
                <a:latin typeface="Constantia" panose="02030602050306030303" pitchFamily="18" charset="0"/>
                <a:sym typeface="Wingdings" panose="05000000000000000000" pitchFamily="2" charset="2"/>
              </a:rPr>
              <a:t> Khai báo sử dụng ADC, được khai báo ngay sau khi khai báo thư viện #INCLUDE&lt;&gt;</a:t>
            </a:r>
          </a:p>
          <a:p>
            <a:endParaRPr lang="vi-VN" sz="3200" b="1" i="1">
              <a:solidFill>
                <a:srgbClr val="002060"/>
              </a:solidFill>
              <a:latin typeface="Constantia" panose="02030602050306030303" pitchFamily="18" charset="0"/>
            </a:endParaRPr>
          </a:p>
          <a:p>
            <a:r>
              <a:rPr lang="vi-VN" sz="3200" b="1" i="1" smtClean="0">
                <a:solidFill>
                  <a:srgbClr val="FF0000"/>
                </a:solidFill>
                <a:latin typeface="Constantia" panose="02030602050306030303" pitchFamily="18" charset="0"/>
              </a:rPr>
              <a:t>2. SETUP_ADC(MODE);</a:t>
            </a:r>
          </a:p>
          <a:p>
            <a:r>
              <a:rPr lang="vi-VN" sz="3200" b="1" i="1">
                <a:latin typeface="Constantia" panose="02030602050306030303" pitchFamily="18" charset="0"/>
              </a:rPr>
              <a:t> </a:t>
            </a:r>
            <a:r>
              <a:rPr lang="vi-VN" sz="3200" b="1" i="1" smtClean="0">
                <a:latin typeface="Constantia" panose="02030602050306030303" pitchFamily="18" charset="0"/>
              </a:rPr>
              <a:t>  </a:t>
            </a:r>
            <a:r>
              <a:rPr lang="vi-VN" sz="3200" i="1">
                <a:latin typeface="Constantia" panose="02030602050306030303" pitchFamily="18" charset="0"/>
              </a:rPr>
              <a:t>Trong đó mode có thể là:  </a:t>
            </a:r>
            <a:r>
              <a:rPr lang="vi-VN" sz="3200" i="1">
                <a:solidFill>
                  <a:srgbClr val="002060"/>
                </a:solidFill>
                <a:latin typeface="Constantia" panose="02030602050306030303" pitchFamily="18" charset="0"/>
              </a:rPr>
              <a:t>ADC_CLOCK_DIV_2, </a:t>
            </a:r>
            <a:r>
              <a:rPr lang="vi-VN" sz="3200" i="1" smtClean="0">
                <a:solidFill>
                  <a:srgbClr val="002060"/>
                </a:solidFill>
                <a:latin typeface="Constantia" panose="02030602050306030303" pitchFamily="18" charset="0"/>
              </a:rPr>
              <a:t>ADC_CLOCK_DIV_8, </a:t>
            </a:r>
            <a:r>
              <a:rPr lang="vi-VN" sz="3200" b="1" i="1">
                <a:solidFill>
                  <a:srgbClr val="002060"/>
                </a:solidFill>
                <a:latin typeface="Constantia" panose="02030602050306030303" pitchFamily="18" charset="0"/>
              </a:rPr>
              <a:t>ADC_CLOCK_DIV</a:t>
            </a:r>
            <a:r>
              <a:rPr lang="vi-VN" sz="3200" b="1" i="1" smtClean="0">
                <a:solidFill>
                  <a:srgbClr val="002060"/>
                </a:solidFill>
                <a:latin typeface="Constantia" panose="02030602050306030303" pitchFamily="18" charset="0"/>
              </a:rPr>
              <a:t>_</a:t>
            </a:r>
          </a:p>
          <a:p>
            <a:r>
              <a:rPr lang="vi-VN" sz="3200" b="1" i="1" smtClean="0">
                <a:solidFill>
                  <a:srgbClr val="002060"/>
                </a:solidFill>
                <a:latin typeface="Constantia" panose="02030602050306030303" pitchFamily="18" charset="0"/>
              </a:rPr>
              <a:t>32 </a:t>
            </a:r>
            <a:r>
              <a:rPr lang="vi-VN" sz="3200" i="1" smtClean="0">
                <a:solidFill>
                  <a:srgbClr val="002060"/>
                </a:solidFill>
                <a:latin typeface="Constantia" panose="02030602050306030303" pitchFamily="18" charset="0"/>
              </a:rPr>
              <a:t>hoặc </a:t>
            </a:r>
            <a:r>
              <a:rPr lang="vi-VN" sz="3200" b="1" i="1" smtClean="0">
                <a:solidFill>
                  <a:srgbClr val="002060"/>
                </a:solidFill>
                <a:latin typeface="Constantia" panose="02030602050306030303" pitchFamily="18" charset="0"/>
              </a:rPr>
              <a:t>ADC_CLOCK_INTERNAL. Ví dụ: SETUP_ADC(ADC_CLOCK_INTERNAL);</a:t>
            </a:r>
          </a:p>
          <a:p>
            <a:r>
              <a:rPr lang="vi-VN" sz="3200" b="1" i="1" smtClean="0">
                <a:solidFill>
                  <a:srgbClr val="002060"/>
                </a:solidFill>
                <a:latin typeface="Constantia" panose="02030602050306030303" pitchFamily="18" charset="0"/>
              </a:rPr>
              <a:t> </a:t>
            </a:r>
            <a:r>
              <a:rPr lang="vi-VN" sz="3200" i="1" smtClean="0">
                <a:solidFill>
                  <a:srgbClr val="002060"/>
                </a:solidFill>
                <a:latin typeface="Constantia" panose="02030602050306030303" pitchFamily="18" charset="0"/>
                <a:sym typeface="Wingdings" panose="05000000000000000000" pitchFamily="2" charset="2"/>
              </a:rPr>
              <a:t> </a:t>
            </a:r>
            <a:r>
              <a:rPr lang="vi-VN" sz="3200" smtClean="0">
                <a:solidFill>
                  <a:srgbClr val="002060"/>
                </a:solidFill>
                <a:latin typeface="Constantia" panose="02030602050306030303" pitchFamily="18" charset="0"/>
                <a:sym typeface="Wingdings" panose="05000000000000000000" pitchFamily="2" charset="2"/>
              </a:rPr>
              <a:t>Khai báo nguồn xung cung cấp cho ADC.</a:t>
            </a:r>
          </a:p>
          <a:p>
            <a:endParaRPr lang="vi-VN" sz="3200" b="1" i="1">
              <a:solidFill>
                <a:srgbClr val="002060"/>
              </a:solidFill>
              <a:latin typeface="Constantia" panose="02030602050306030303" pitchFamily="18" charset="0"/>
              <a:sym typeface="Wingdings" panose="05000000000000000000" pitchFamily="2" charset="2"/>
            </a:endParaRPr>
          </a:p>
          <a:p>
            <a:r>
              <a:rPr lang="vi-VN" sz="3200" b="1" i="1" smtClean="0">
                <a:solidFill>
                  <a:srgbClr val="FF0000"/>
                </a:solidFill>
                <a:latin typeface="Constantia" panose="02030602050306030303" pitchFamily="18" charset="0"/>
              </a:rPr>
              <a:t>3.  SETUP_ADC_PORT(VALUE);</a:t>
            </a:r>
          </a:p>
          <a:p>
            <a:r>
              <a:rPr lang="vi-VN" sz="3200" b="1" i="1" smtClean="0">
                <a:solidFill>
                  <a:srgbClr val="FF0000"/>
                </a:solidFill>
                <a:latin typeface="Constantia" panose="02030602050306030303" pitchFamily="18" charset="0"/>
              </a:rPr>
              <a:t>    </a:t>
            </a:r>
            <a:r>
              <a:rPr lang="vi-VN" sz="3200" i="1" smtClean="0">
                <a:solidFill>
                  <a:srgbClr val="002060"/>
                </a:solidFill>
                <a:latin typeface="Constantia" panose="02030602050306030303" pitchFamily="18" charset="0"/>
              </a:rPr>
              <a:t>Trong đó, value thường sử dụng theo định dạng TÊN KÊNH|ĐIỆN ÁP THAM CHIẾU.</a:t>
            </a:r>
          </a:p>
          <a:p>
            <a:r>
              <a:rPr lang="vi-VN" sz="3200" b="1" i="1" smtClean="0">
                <a:solidFill>
                  <a:srgbClr val="002060"/>
                </a:solidFill>
                <a:latin typeface="Constantia" panose="02030602050306030303" pitchFamily="18" charset="0"/>
              </a:rPr>
              <a:t>Ví dụ: SETUP_ADC_PORT(SAN4|SAN5|VSS_VDD); </a:t>
            </a:r>
            <a:r>
              <a:rPr lang="vi-VN" sz="3200" smtClean="0">
                <a:solidFill>
                  <a:srgbClr val="002060"/>
                </a:solidFill>
                <a:latin typeface="Constantia" panose="02030602050306030303" pitchFamily="18" charset="0"/>
                <a:sym typeface="Wingdings" panose="05000000000000000000" pitchFamily="2" charset="2"/>
              </a:rPr>
              <a:t> Khai báo kênh sử dụng và điện áp tham chiếu cho ADC.</a:t>
            </a:r>
            <a:endParaRPr lang="vi-VN" sz="3200" b="1" i="1">
              <a:solidFill>
                <a:srgbClr val="FF0000"/>
              </a:solidFill>
              <a:latin typeface="Constantia" panose="02030602050306030303" pitchFamily="18" charset="0"/>
            </a:endParaRPr>
          </a:p>
          <a:p>
            <a:endParaRPr lang="vi-VN" sz="3200" b="1" i="1" smtClean="0">
              <a:solidFill>
                <a:srgbClr val="002060"/>
              </a:solidFill>
              <a:latin typeface="Constantia" panose="02030602050306030303" pitchFamily="18" charset="0"/>
            </a:endParaRPr>
          </a:p>
        </p:txBody>
      </p:sp>
    </p:spTree>
    <p:extLst>
      <p:ext uri="{BB962C8B-B14F-4D97-AF65-F5344CB8AC3E}">
        <p14:creationId xmlns:p14="http://schemas.microsoft.com/office/powerpoint/2010/main" val="131532543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 calcmode="lin" valueType="num">
                                      <p:cBhvr additive="base">
                                        <p:cTn id="7" dur="500" fill="hold"/>
                                        <p:tgtEl>
                                          <p:spTgt spid="2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nodeType="clickEffect">
                                  <p:stCondLst>
                                    <p:cond delay="0"/>
                                  </p:stCondLst>
                                  <p:childTnLst>
                                    <p:set>
                                      <p:cBhvr>
                                        <p:cTn id="12" dur="1" fill="hold">
                                          <p:stCondLst>
                                            <p:cond delay="0"/>
                                          </p:stCondLst>
                                        </p:cTn>
                                        <p:tgtEl>
                                          <p:spTgt spid="21">
                                            <p:txEl>
                                              <p:pRg st="1" end="1"/>
                                            </p:txEl>
                                          </p:spTgt>
                                        </p:tgtEl>
                                        <p:attrNameLst>
                                          <p:attrName>style.visibility</p:attrName>
                                        </p:attrNameLst>
                                      </p:cBhvr>
                                      <p:to>
                                        <p:strVal val="visible"/>
                                      </p:to>
                                    </p:set>
                                    <p:animEffect transition="in" filter="randombar(horizontal)">
                                      <p:cBhvr>
                                        <p:cTn id="13" dur="500"/>
                                        <p:tgtEl>
                                          <p:spTgt spid="21">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21">
                                            <p:txEl>
                                              <p:pRg st="3" end="3"/>
                                            </p:txEl>
                                          </p:spTgt>
                                        </p:tgtEl>
                                        <p:attrNameLst>
                                          <p:attrName>style.visibility</p:attrName>
                                        </p:attrNameLst>
                                      </p:cBhvr>
                                      <p:to>
                                        <p:strVal val="visible"/>
                                      </p:to>
                                    </p:set>
                                    <p:animEffect transition="in" filter="barn(inVertical)">
                                      <p:cBhvr>
                                        <p:cTn id="18" dur="500"/>
                                        <p:tgtEl>
                                          <p:spTgt spid="21">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nodeType="clickEffect">
                                  <p:stCondLst>
                                    <p:cond delay="0"/>
                                  </p:stCondLst>
                                  <p:childTnLst>
                                    <p:set>
                                      <p:cBhvr>
                                        <p:cTn id="22" dur="1" fill="hold">
                                          <p:stCondLst>
                                            <p:cond delay="0"/>
                                          </p:stCondLst>
                                        </p:cTn>
                                        <p:tgtEl>
                                          <p:spTgt spid="21">
                                            <p:txEl>
                                              <p:pRg st="4" end="4"/>
                                            </p:txEl>
                                          </p:spTgt>
                                        </p:tgtEl>
                                        <p:attrNameLst>
                                          <p:attrName>style.visibility</p:attrName>
                                        </p:attrNameLst>
                                      </p:cBhvr>
                                      <p:to>
                                        <p:strVal val="visible"/>
                                      </p:to>
                                    </p:set>
                                    <p:animEffect transition="in" filter="circle(in)">
                                      <p:cBhvr>
                                        <p:cTn id="23" dur="2000"/>
                                        <p:tgtEl>
                                          <p:spTgt spid="21">
                                            <p:txEl>
                                              <p:pRg st="4" end="4"/>
                                            </p:txEl>
                                          </p:spTgt>
                                        </p:tgtEl>
                                      </p:cBhvr>
                                    </p:animEffect>
                                  </p:childTnLst>
                                </p:cTn>
                              </p:par>
                              <p:par>
                                <p:cTn id="24" presetID="6" presetClass="entr" presetSubtype="16" fill="hold" nodeType="withEffect">
                                  <p:stCondLst>
                                    <p:cond delay="0"/>
                                  </p:stCondLst>
                                  <p:childTnLst>
                                    <p:set>
                                      <p:cBhvr>
                                        <p:cTn id="25" dur="1" fill="hold">
                                          <p:stCondLst>
                                            <p:cond delay="0"/>
                                          </p:stCondLst>
                                        </p:cTn>
                                        <p:tgtEl>
                                          <p:spTgt spid="21">
                                            <p:txEl>
                                              <p:pRg st="5" end="5"/>
                                            </p:txEl>
                                          </p:spTgt>
                                        </p:tgtEl>
                                        <p:attrNameLst>
                                          <p:attrName>style.visibility</p:attrName>
                                        </p:attrNameLst>
                                      </p:cBhvr>
                                      <p:to>
                                        <p:strVal val="visible"/>
                                      </p:to>
                                    </p:set>
                                    <p:animEffect transition="in" filter="circle(in)">
                                      <p:cBhvr>
                                        <p:cTn id="26" dur="2000"/>
                                        <p:tgtEl>
                                          <p:spTgt spid="21">
                                            <p:txEl>
                                              <p:pRg st="5" end="5"/>
                                            </p:txEl>
                                          </p:spTgt>
                                        </p:tgtEl>
                                      </p:cBhvr>
                                    </p:animEffect>
                                  </p:childTnLst>
                                </p:cTn>
                              </p:par>
                              <p:par>
                                <p:cTn id="27" presetID="6" presetClass="entr" presetSubtype="16" fill="hold" nodeType="withEffect">
                                  <p:stCondLst>
                                    <p:cond delay="0"/>
                                  </p:stCondLst>
                                  <p:childTnLst>
                                    <p:set>
                                      <p:cBhvr>
                                        <p:cTn id="28" dur="1" fill="hold">
                                          <p:stCondLst>
                                            <p:cond delay="0"/>
                                          </p:stCondLst>
                                        </p:cTn>
                                        <p:tgtEl>
                                          <p:spTgt spid="21">
                                            <p:txEl>
                                              <p:pRg st="6" end="6"/>
                                            </p:txEl>
                                          </p:spTgt>
                                        </p:tgtEl>
                                        <p:attrNameLst>
                                          <p:attrName>style.visibility</p:attrName>
                                        </p:attrNameLst>
                                      </p:cBhvr>
                                      <p:to>
                                        <p:strVal val="visible"/>
                                      </p:to>
                                    </p:set>
                                    <p:animEffect transition="in" filter="circle(in)">
                                      <p:cBhvr>
                                        <p:cTn id="29" dur="2000"/>
                                        <p:tgtEl>
                                          <p:spTgt spid="21">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nodeType="clickEffect">
                                  <p:stCondLst>
                                    <p:cond delay="0"/>
                                  </p:stCondLst>
                                  <p:childTnLst>
                                    <p:set>
                                      <p:cBhvr>
                                        <p:cTn id="33" dur="1" fill="hold">
                                          <p:stCondLst>
                                            <p:cond delay="0"/>
                                          </p:stCondLst>
                                        </p:cTn>
                                        <p:tgtEl>
                                          <p:spTgt spid="21">
                                            <p:txEl>
                                              <p:pRg st="8" end="8"/>
                                            </p:txEl>
                                          </p:spTgt>
                                        </p:tgtEl>
                                        <p:attrNameLst>
                                          <p:attrName>style.visibility</p:attrName>
                                        </p:attrNameLst>
                                      </p:cBhvr>
                                      <p:to>
                                        <p:strVal val="visible"/>
                                      </p:to>
                                    </p:set>
                                    <p:animEffect transition="in" filter="randombar(horizontal)">
                                      <p:cBhvr>
                                        <p:cTn id="34" dur="500"/>
                                        <p:tgtEl>
                                          <p:spTgt spid="21">
                                            <p:txEl>
                                              <p:pRg st="8" end="8"/>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21">
                                            <p:txEl>
                                              <p:pRg st="9" end="9"/>
                                            </p:txEl>
                                          </p:spTgt>
                                        </p:tgtEl>
                                        <p:attrNameLst>
                                          <p:attrName>style.visibility</p:attrName>
                                        </p:attrNameLst>
                                      </p:cBhvr>
                                      <p:to>
                                        <p:strVal val="visible"/>
                                      </p:to>
                                    </p:set>
                                    <p:animEffect transition="in" filter="fade">
                                      <p:cBhvr>
                                        <p:cTn id="39" dur="1000"/>
                                        <p:tgtEl>
                                          <p:spTgt spid="21">
                                            <p:txEl>
                                              <p:pRg st="9" end="9"/>
                                            </p:txEl>
                                          </p:spTgt>
                                        </p:tgtEl>
                                      </p:cBhvr>
                                    </p:animEffect>
                                    <p:anim calcmode="lin" valueType="num">
                                      <p:cBhvr>
                                        <p:cTn id="40" dur="1000" fill="hold"/>
                                        <p:tgtEl>
                                          <p:spTgt spid="21">
                                            <p:txEl>
                                              <p:pRg st="9" end="9"/>
                                            </p:txEl>
                                          </p:spTgt>
                                        </p:tgtEl>
                                        <p:attrNameLst>
                                          <p:attrName>ppt_x</p:attrName>
                                        </p:attrNameLst>
                                      </p:cBhvr>
                                      <p:tavLst>
                                        <p:tav tm="0">
                                          <p:val>
                                            <p:strVal val="#ppt_x"/>
                                          </p:val>
                                        </p:tav>
                                        <p:tav tm="100000">
                                          <p:val>
                                            <p:strVal val="#ppt_x"/>
                                          </p:val>
                                        </p:tav>
                                      </p:tavLst>
                                    </p:anim>
                                    <p:anim calcmode="lin" valueType="num">
                                      <p:cBhvr>
                                        <p:cTn id="41" dur="1000" fill="hold"/>
                                        <p:tgtEl>
                                          <p:spTgt spid="21">
                                            <p:txEl>
                                              <p:pRg st="9" end="9"/>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21">
                                            <p:txEl>
                                              <p:pRg st="10" end="10"/>
                                            </p:txEl>
                                          </p:spTgt>
                                        </p:tgtEl>
                                        <p:attrNameLst>
                                          <p:attrName>style.visibility</p:attrName>
                                        </p:attrNameLst>
                                      </p:cBhvr>
                                      <p:to>
                                        <p:strVal val="visible"/>
                                      </p:to>
                                    </p:set>
                                    <p:animEffect transition="in" filter="fade">
                                      <p:cBhvr>
                                        <p:cTn id="44" dur="1000"/>
                                        <p:tgtEl>
                                          <p:spTgt spid="21">
                                            <p:txEl>
                                              <p:pRg st="10" end="10"/>
                                            </p:txEl>
                                          </p:spTgt>
                                        </p:tgtEl>
                                      </p:cBhvr>
                                    </p:animEffect>
                                    <p:anim calcmode="lin" valueType="num">
                                      <p:cBhvr>
                                        <p:cTn id="45" dur="1000" fill="hold"/>
                                        <p:tgtEl>
                                          <p:spTgt spid="21">
                                            <p:txEl>
                                              <p:pRg st="10" end="10"/>
                                            </p:txEl>
                                          </p:spTgt>
                                        </p:tgtEl>
                                        <p:attrNameLst>
                                          <p:attrName>ppt_x</p:attrName>
                                        </p:attrNameLst>
                                      </p:cBhvr>
                                      <p:tavLst>
                                        <p:tav tm="0">
                                          <p:val>
                                            <p:strVal val="#ppt_x"/>
                                          </p:val>
                                        </p:tav>
                                        <p:tav tm="100000">
                                          <p:val>
                                            <p:strVal val="#ppt_x"/>
                                          </p:val>
                                        </p:tav>
                                      </p:tavLst>
                                    </p:anim>
                                    <p:anim calcmode="lin" valueType="num">
                                      <p:cBhvr>
                                        <p:cTn id="46" dur="1000" fill="hold"/>
                                        <p:tgtEl>
                                          <p:spTgt spid="21">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3"/>
          <p:cNvSpPr txBox="1"/>
          <p:nvPr/>
        </p:nvSpPr>
        <p:spPr>
          <a:xfrm>
            <a:off x="525346" y="3079492"/>
            <a:ext cx="2261444" cy="2420449"/>
          </a:xfrm>
          <a:prstGeom prst="rect">
            <a:avLst/>
          </a:prstGeom>
        </p:spPr>
        <p:txBody>
          <a:bodyPr lIns="50800" tIns="50800" rIns="50800" bIns="50800" rtlCol="0" anchor="ctr"/>
          <a:lstStyle/>
          <a:p>
            <a:pPr algn="ctr">
              <a:lnSpc>
                <a:spcPts val="3220"/>
              </a:lnSpc>
            </a:pPr>
            <a:endParaRPr/>
          </a:p>
        </p:txBody>
      </p:sp>
      <p:grpSp>
        <p:nvGrpSpPr>
          <p:cNvPr id="33" name="Group 33"/>
          <p:cNvGrpSpPr/>
          <p:nvPr/>
        </p:nvGrpSpPr>
        <p:grpSpPr>
          <a:xfrm>
            <a:off x="0" y="9983250"/>
            <a:ext cx="1028700" cy="303750"/>
            <a:chOff x="0" y="0"/>
            <a:chExt cx="270933" cy="80000"/>
          </a:xfrm>
        </p:grpSpPr>
        <p:sp>
          <p:nvSpPr>
            <p:cNvPr id="34" name="Freeform 34"/>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5" name="TextBox 35"/>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36" name="Group 36"/>
          <p:cNvGrpSpPr/>
          <p:nvPr/>
        </p:nvGrpSpPr>
        <p:grpSpPr>
          <a:xfrm>
            <a:off x="17259300" y="0"/>
            <a:ext cx="1028700" cy="303750"/>
            <a:chOff x="0" y="0"/>
            <a:chExt cx="270933" cy="80000"/>
          </a:xfrm>
        </p:grpSpPr>
        <p:sp>
          <p:nvSpPr>
            <p:cNvPr id="37" name="Freeform 37"/>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8" name="TextBox 38"/>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39" name="Group 39"/>
          <p:cNvGrpSpPr/>
          <p:nvPr/>
        </p:nvGrpSpPr>
        <p:grpSpPr>
          <a:xfrm>
            <a:off x="0" y="0"/>
            <a:ext cx="1028700" cy="303750"/>
            <a:chOff x="0" y="0"/>
            <a:chExt cx="270933" cy="80000"/>
          </a:xfrm>
        </p:grpSpPr>
        <p:sp>
          <p:nvSpPr>
            <p:cNvPr id="40" name="Freeform 40"/>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1" name="TextBox 41"/>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42" name="Group 42"/>
          <p:cNvGrpSpPr/>
          <p:nvPr/>
        </p:nvGrpSpPr>
        <p:grpSpPr>
          <a:xfrm>
            <a:off x="17259300" y="9983250"/>
            <a:ext cx="1028700" cy="303750"/>
            <a:chOff x="0" y="0"/>
            <a:chExt cx="270933" cy="80000"/>
          </a:xfrm>
        </p:grpSpPr>
        <p:sp>
          <p:nvSpPr>
            <p:cNvPr id="43" name="Freeform 43"/>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4" name="TextBox 44"/>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sp>
        <p:nvSpPr>
          <p:cNvPr id="57" name="Rectangle 56"/>
          <p:cNvSpPr/>
          <p:nvPr/>
        </p:nvSpPr>
        <p:spPr>
          <a:xfrm>
            <a:off x="2057400" y="0"/>
            <a:ext cx="13716000" cy="1038700"/>
          </a:xfrm>
          <a:prstGeom prst="rect">
            <a:avLst/>
          </a:prstGeom>
          <a:solidFill>
            <a:schemeClr val="accent1">
              <a:lumMod val="60000"/>
              <a:lumOff val="4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p:cNvSpPr txBox="1"/>
          <p:nvPr/>
        </p:nvSpPr>
        <p:spPr>
          <a:xfrm>
            <a:off x="5143504" y="165407"/>
            <a:ext cx="8763000" cy="707886"/>
          </a:xfrm>
          <a:prstGeom prst="rect">
            <a:avLst/>
          </a:prstGeom>
          <a:noFill/>
        </p:spPr>
        <p:txBody>
          <a:bodyPr wrap="square" rtlCol="0">
            <a:spAutoFit/>
          </a:bodyPr>
          <a:lstStyle/>
          <a:p>
            <a:r>
              <a:rPr lang="vi-VN" sz="4000" b="1" smtClean="0">
                <a:latin typeface="Constantia" panose="02030602050306030303" pitchFamily="18" charset="0"/>
              </a:rPr>
              <a:t>II. LIÊN KẾT CÁC CẤU TRÚC</a:t>
            </a:r>
            <a:endParaRPr lang="en-US" sz="4000" b="1">
              <a:latin typeface="Constantia" panose="02030602050306030303" pitchFamily="18" charset="0"/>
            </a:endParaRPr>
          </a:p>
        </p:txBody>
      </p:sp>
      <p:sp>
        <p:nvSpPr>
          <p:cNvPr id="59" name="TextBox 58"/>
          <p:cNvSpPr txBox="1"/>
          <p:nvPr/>
        </p:nvSpPr>
        <p:spPr>
          <a:xfrm>
            <a:off x="361952" y="1470719"/>
            <a:ext cx="13887448" cy="1323439"/>
          </a:xfrm>
          <a:prstGeom prst="rect">
            <a:avLst/>
          </a:prstGeom>
          <a:noFill/>
        </p:spPr>
        <p:txBody>
          <a:bodyPr wrap="square" rtlCol="0">
            <a:spAutoFit/>
          </a:bodyPr>
          <a:lstStyle/>
          <a:p>
            <a:r>
              <a:rPr lang="vi-VN" sz="4000" b="1" smtClean="0">
                <a:latin typeface="Constantia" panose="02030602050306030303" pitchFamily="18" charset="0"/>
              </a:rPr>
              <a:t>Ví dụ: </a:t>
            </a:r>
            <a:r>
              <a:rPr lang="vi-VN" sz="4000" smtClean="0">
                <a:latin typeface="Constantia" panose="02030602050306030303" pitchFamily="18" charset="0"/>
              </a:rPr>
              <a:t>Từ lưu đồ bên dưới viết lại dưới dạng các câu lệnh.</a:t>
            </a:r>
          </a:p>
          <a:p>
            <a:r>
              <a:rPr lang="vi-VN" sz="4000" b="1" smtClean="0">
                <a:latin typeface="Constantia" panose="02030602050306030303" pitchFamily="18" charset="0"/>
              </a:rPr>
              <a:t>a) </a:t>
            </a:r>
            <a:endParaRPr lang="en-US" sz="4000" b="1">
              <a:latin typeface="Constantia" panose="02030602050306030303" pitchFamily="18" charset="0"/>
            </a:endParaRPr>
          </a:p>
        </p:txBody>
      </p:sp>
      <p:pic>
        <p:nvPicPr>
          <p:cNvPr id="2" name="Picture 1"/>
          <p:cNvPicPr>
            <a:picLocks noChangeAspect="1"/>
          </p:cNvPicPr>
          <p:nvPr/>
        </p:nvPicPr>
        <p:blipFill>
          <a:blip r:embed="rId2"/>
          <a:stretch>
            <a:fillRect/>
          </a:stretch>
        </p:blipFill>
        <p:spPr>
          <a:xfrm>
            <a:off x="782839" y="3079492"/>
            <a:ext cx="8721330" cy="6290215"/>
          </a:xfrm>
          <a:prstGeom prst="rect">
            <a:avLst/>
          </a:prstGeom>
        </p:spPr>
      </p:pic>
      <p:sp>
        <p:nvSpPr>
          <p:cNvPr id="26" name="TextBox 25"/>
          <p:cNvSpPr txBox="1"/>
          <p:nvPr/>
        </p:nvSpPr>
        <p:spPr>
          <a:xfrm>
            <a:off x="7620000" y="2488673"/>
            <a:ext cx="9112203" cy="1754326"/>
          </a:xfrm>
          <a:prstGeom prst="rect">
            <a:avLst/>
          </a:prstGeom>
          <a:noFill/>
          <a:ln w="25400">
            <a:solidFill>
              <a:srgbClr val="FF0000"/>
            </a:solidFill>
          </a:ln>
        </p:spPr>
        <p:txBody>
          <a:bodyPr wrap="square" rtlCol="0">
            <a:spAutoFit/>
          </a:bodyPr>
          <a:lstStyle/>
          <a:p>
            <a:r>
              <a:rPr lang="en-US" sz="3600" smtClean="0">
                <a:latin typeface="Constantia" panose="02030602050306030303" pitchFamily="18" charset="0"/>
              </a:rPr>
              <a:t>	  if(!input(ON))	  output_high(led);</a:t>
            </a:r>
          </a:p>
          <a:p>
            <a:r>
              <a:rPr lang="en-US" sz="3600" smtClean="0">
                <a:latin typeface="Constantia" panose="02030602050306030303" pitchFamily="18" charset="0"/>
              </a:rPr>
              <a:t>else   if(!input(OFF))	   output_low(led);</a:t>
            </a:r>
          </a:p>
          <a:p>
            <a:r>
              <a:rPr lang="en-US" sz="3600" smtClean="0">
                <a:latin typeface="Constantia" panose="02030602050306030303" pitchFamily="18" charset="0"/>
              </a:rPr>
              <a:t>else;</a:t>
            </a:r>
            <a:endParaRPr lang="en-US" sz="3600">
              <a:latin typeface="Constantia" panose="02030602050306030303" pitchFamily="18"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 y="1286"/>
            <a:ext cx="18285714" cy="10285714"/>
          </a:xfrm>
          <a:prstGeom prst="rect">
            <a:avLst/>
          </a:prstGeom>
        </p:spPr>
      </p:pic>
      <p:sp>
        <p:nvSpPr>
          <p:cNvPr id="21" name="TextBox 20"/>
          <p:cNvSpPr txBox="1"/>
          <p:nvPr/>
        </p:nvSpPr>
        <p:spPr>
          <a:xfrm>
            <a:off x="360809" y="2101405"/>
            <a:ext cx="16371394" cy="4524315"/>
          </a:xfrm>
          <a:prstGeom prst="rect">
            <a:avLst/>
          </a:prstGeom>
          <a:noFill/>
          <a:ln w="25400">
            <a:noFill/>
          </a:ln>
        </p:spPr>
        <p:txBody>
          <a:bodyPr wrap="square" rtlCol="0">
            <a:spAutoFit/>
          </a:bodyPr>
          <a:lstStyle/>
          <a:p>
            <a:r>
              <a:rPr lang="vi-VN" sz="3200" b="1" i="1" smtClean="0">
                <a:solidFill>
                  <a:srgbClr val="FF0000"/>
                </a:solidFill>
                <a:latin typeface="Constantia" panose="02030602050306030303" pitchFamily="18" charset="0"/>
              </a:rPr>
              <a:t>4. </a:t>
            </a:r>
            <a:r>
              <a:rPr lang="vi-VN" sz="3200" b="1" i="1">
                <a:solidFill>
                  <a:srgbClr val="FF0000"/>
                </a:solidFill>
                <a:latin typeface="Constantia" panose="02030602050306030303" pitchFamily="18" charset="0"/>
              </a:rPr>
              <a:t>SET_ADC_CHANNEL(X); </a:t>
            </a:r>
            <a:r>
              <a:rPr lang="vi-VN" sz="3200" i="1">
                <a:solidFill>
                  <a:srgbClr val="FF0000"/>
                </a:solidFill>
                <a:latin typeface="Constantia" panose="02030602050306030303" pitchFamily="18" charset="0"/>
              </a:rPr>
              <a:t> </a:t>
            </a:r>
          </a:p>
          <a:p>
            <a:r>
              <a:rPr lang="vi-VN" sz="3200" b="1" i="1">
                <a:solidFill>
                  <a:srgbClr val="002060"/>
                </a:solidFill>
                <a:latin typeface="Constantia" panose="02030602050306030303" pitchFamily="18" charset="0"/>
              </a:rPr>
              <a:t>     </a:t>
            </a:r>
            <a:r>
              <a:rPr lang="vi-VN" sz="3200" i="1">
                <a:solidFill>
                  <a:srgbClr val="002060"/>
                </a:solidFill>
                <a:latin typeface="Constantia" panose="02030602050306030303" pitchFamily="18" charset="0"/>
              </a:rPr>
              <a:t>Với X là số thứ tự của kênh cần đọc giá trị, từ 0 đến 15.</a:t>
            </a:r>
            <a:endParaRPr lang="en-US" sz="3200" b="1" i="1">
              <a:solidFill>
                <a:srgbClr val="002060"/>
              </a:solidFill>
              <a:latin typeface="Constantia" panose="02030602050306030303" pitchFamily="18" charset="0"/>
            </a:endParaRPr>
          </a:p>
          <a:p>
            <a:r>
              <a:rPr lang="vi-VN" sz="3200" b="1" i="1">
                <a:latin typeface="Constantia" panose="02030602050306030303" pitchFamily="18" charset="0"/>
              </a:rPr>
              <a:t>Ví dụ: SET_ADC_CHANNEL(5);</a:t>
            </a:r>
          </a:p>
          <a:p>
            <a:r>
              <a:rPr lang="vi-VN" sz="3200" b="1" i="1">
                <a:latin typeface="Constantia" panose="02030602050306030303" pitchFamily="18" charset="0"/>
                <a:sym typeface="Wingdings" panose="05000000000000000000" pitchFamily="2" charset="2"/>
              </a:rPr>
              <a:t> </a:t>
            </a:r>
            <a:r>
              <a:rPr lang="vi-VN" sz="3200" i="1">
                <a:latin typeface="Constantia" panose="02030602050306030303" pitchFamily="18" charset="0"/>
                <a:sym typeface="Wingdings" panose="05000000000000000000" pitchFamily="2" charset="2"/>
              </a:rPr>
              <a:t>Chức năng giống với lệnh LCD_GOTOXY();, có nhiệm vụ chọn kênh trước khi đọc giá trị về.</a:t>
            </a:r>
            <a:endParaRPr lang="en-US" sz="3200" b="1" i="1">
              <a:latin typeface="Constantia" panose="02030602050306030303" pitchFamily="18" charset="0"/>
            </a:endParaRPr>
          </a:p>
          <a:p>
            <a:endParaRPr lang="vi-VN" sz="3200" b="1" i="1">
              <a:solidFill>
                <a:srgbClr val="FF0000"/>
              </a:solidFill>
              <a:latin typeface="Constantia" panose="02030602050306030303" pitchFamily="18" charset="0"/>
            </a:endParaRPr>
          </a:p>
          <a:p>
            <a:r>
              <a:rPr lang="vi-VN" sz="3200" b="1" i="1" smtClean="0">
                <a:solidFill>
                  <a:srgbClr val="FF0000"/>
                </a:solidFill>
                <a:latin typeface="Constantia" panose="02030602050306030303" pitchFamily="18" charset="0"/>
              </a:rPr>
              <a:t>5. READ_ADC();</a:t>
            </a:r>
          </a:p>
          <a:p>
            <a:r>
              <a:rPr lang="vi-VN" sz="3200" i="1" smtClean="0">
                <a:solidFill>
                  <a:srgbClr val="002060"/>
                </a:solidFill>
                <a:latin typeface="Constantia" panose="02030602050306030303" pitchFamily="18" charset="0"/>
              </a:rPr>
              <a:t>      </a:t>
            </a:r>
            <a:r>
              <a:rPr lang="vi-VN" sz="3200" b="1" i="1" smtClean="0">
                <a:solidFill>
                  <a:srgbClr val="002060"/>
                </a:solidFill>
                <a:latin typeface="Constantia" panose="02030602050306030303" pitchFamily="18" charset="0"/>
              </a:rPr>
              <a:t>Ví dụ: TEMPT = READ_ADC()/2.046;</a:t>
            </a:r>
          </a:p>
          <a:p>
            <a:r>
              <a:rPr lang="vi-VN" sz="3200" b="1" i="1" smtClean="0">
                <a:solidFill>
                  <a:srgbClr val="002060"/>
                </a:solidFill>
                <a:latin typeface="Constantia" panose="02030602050306030303" pitchFamily="18" charset="0"/>
                <a:sym typeface="Wingdings" panose="05000000000000000000" pitchFamily="2" charset="2"/>
              </a:rPr>
              <a:t> </a:t>
            </a:r>
            <a:r>
              <a:rPr lang="vi-VN" sz="3200" smtClean="0">
                <a:solidFill>
                  <a:srgbClr val="002060"/>
                </a:solidFill>
                <a:latin typeface="Constantia" panose="02030602050306030303" pitchFamily="18" charset="0"/>
                <a:sym typeface="Wingdings" panose="05000000000000000000" pitchFamily="2" charset="2"/>
              </a:rPr>
              <a:t>Đọc giá trị từ ADC về PIC để xử lý giá trị, lệnh gần giống với GET_TIMERX();</a:t>
            </a:r>
            <a:endParaRPr lang="vi-VN" sz="3200" b="1" i="1">
              <a:solidFill>
                <a:srgbClr val="002060"/>
              </a:solidFill>
              <a:latin typeface="Constantia" panose="02030602050306030303" pitchFamily="18" charset="0"/>
            </a:endParaRPr>
          </a:p>
        </p:txBody>
      </p:sp>
    </p:spTree>
    <p:extLst>
      <p:ext uri="{BB962C8B-B14F-4D97-AF65-F5344CB8AC3E}">
        <p14:creationId xmlns:p14="http://schemas.microsoft.com/office/powerpoint/2010/main" val="44009341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1000"/>
                                        <p:tgtEl>
                                          <p:spTgt spid="21">
                                            <p:txEl>
                                              <p:pRg st="0" end="0"/>
                                            </p:txEl>
                                          </p:spTgt>
                                        </p:tgtEl>
                                      </p:cBhvr>
                                    </p:animEffect>
                                    <p:anim calcmode="lin" valueType="num">
                                      <p:cBhvr>
                                        <p:cTn id="8" dur="1000" fill="hold"/>
                                        <p:tgtEl>
                                          <p:spTgt spid="2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21">
                                            <p:txEl>
                                              <p:pRg st="1" end="1"/>
                                            </p:txEl>
                                          </p:spTgt>
                                        </p:tgtEl>
                                        <p:attrNameLst>
                                          <p:attrName>style.visibility</p:attrName>
                                        </p:attrNameLst>
                                      </p:cBhvr>
                                      <p:to>
                                        <p:strVal val="visible"/>
                                      </p:to>
                                    </p:set>
                                    <p:animEffect transition="in" filter="circle(in)">
                                      <p:cBhvr>
                                        <p:cTn id="14" dur="2000"/>
                                        <p:tgtEl>
                                          <p:spTgt spid="21">
                                            <p:txEl>
                                              <p:pRg st="1" end="1"/>
                                            </p:txEl>
                                          </p:spTgt>
                                        </p:tgtEl>
                                      </p:cBhvr>
                                    </p:animEffect>
                                  </p:childTnLst>
                                </p:cTn>
                              </p:par>
                              <p:par>
                                <p:cTn id="15" presetID="6" presetClass="entr" presetSubtype="16" fill="hold" nodeType="with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circle(in)">
                                      <p:cBhvr>
                                        <p:cTn id="17" dur="2000"/>
                                        <p:tgtEl>
                                          <p:spTgt spid="21">
                                            <p:txEl>
                                              <p:pRg st="2" end="2"/>
                                            </p:txEl>
                                          </p:spTgt>
                                        </p:tgtEl>
                                      </p:cBhvr>
                                    </p:animEffect>
                                  </p:childTnLst>
                                </p:cTn>
                              </p:par>
                              <p:par>
                                <p:cTn id="18" presetID="6" presetClass="entr" presetSubtype="16" fill="hold" nodeType="withEffect">
                                  <p:stCondLst>
                                    <p:cond delay="0"/>
                                  </p:stCondLst>
                                  <p:childTnLst>
                                    <p:set>
                                      <p:cBhvr>
                                        <p:cTn id="19" dur="1" fill="hold">
                                          <p:stCondLst>
                                            <p:cond delay="0"/>
                                          </p:stCondLst>
                                        </p:cTn>
                                        <p:tgtEl>
                                          <p:spTgt spid="21">
                                            <p:txEl>
                                              <p:pRg st="3" end="3"/>
                                            </p:txEl>
                                          </p:spTgt>
                                        </p:tgtEl>
                                        <p:attrNameLst>
                                          <p:attrName>style.visibility</p:attrName>
                                        </p:attrNameLst>
                                      </p:cBhvr>
                                      <p:to>
                                        <p:strVal val="visible"/>
                                      </p:to>
                                    </p:set>
                                    <p:animEffect transition="in" filter="circle(in)">
                                      <p:cBhvr>
                                        <p:cTn id="20" dur="2000"/>
                                        <p:tgtEl>
                                          <p:spTgt spid="21">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nodeType="clickEffect">
                                  <p:stCondLst>
                                    <p:cond delay="0"/>
                                  </p:stCondLst>
                                  <p:childTnLst>
                                    <p:set>
                                      <p:cBhvr>
                                        <p:cTn id="24" dur="1" fill="hold">
                                          <p:stCondLst>
                                            <p:cond delay="0"/>
                                          </p:stCondLst>
                                        </p:cTn>
                                        <p:tgtEl>
                                          <p:spTgt spid="21">
                                            <p:txEl>
                                              <p:pRg st="5" end="5"/>
                                            </p:txEl>
                                          </p:spTgt>
                                        </p:tgtEl>
                                        <p:attrNameLst>
                                          <p:attrName>style.visibility</p:attrName>
                                        </p:attrNameLst>
                                      </p:cBhvr>
                                      <p:to>
                                        <p:strVal val="visible"/>
                                      </p:to>
                                    </p:set>
                                    <p:animEffect transition="in" filter="wheel(1)">
                                      <p:cBhvr>
                                        <p:cTn id="25" dur="2000"/>
                                        <p:tgtEl>
                                          <p:spTgt spid="21">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nodeType="clickEffect">
                                  <p:stCondLst>
                                    <p:cond delay="0"/>
                                  </p:stCondLst>
                                  <p:childTnLst>
                                    <p:set>
                                      <p:cBhvr>
                                        <p:cTn id="29" dur="1" fill="hold">
                                          <p:stCondLst>
                                            <p:cond delay="0"/>
                                          </p:stCondLst>
                                        </p:cTn>
                                        <p:tgtEl>
                                          <p:spTgt spid="21">
                                            <p:txEl>
                                              <p:pRg st="6" end="6"/>
                                            </p:txEl>
                                          </p:spTgt>
                                        </p:tgtEl>
                                        <p:attrNameLst>
                                          <p:attrName>style.visibility</p:attrName>
                                        </p:attrNameLst>
                                      </p:cBhvr>
                                      <p:to>
                                        <p:strVal val="visible"/>
                                      </p:to>
                                    </p:set>
                                    <p:animEffect transition="in" filter="randombar(horizontal)">
                                      <p:cBhvr>
                                        <p:cTn id="30" dur="500"/>
                                        <p:tgtEl>
                                          <p:spTgt spid="21">
                                            <p:txEl>
                                              <p:pRg st="6" end="6"/>
                                            </p:txEl>
                                          </p:spTgt>
                                        </p:tgtEl>
                                      </p:cBhvr>
                                    </p:animEffect>
                                  </p:childTnLst>
                                </p:cTn>
                              </p:par>
                              <p:par>
                                <p:cTn id="31" presetID="14" presetClass="entr" presetSubtype="10" fill="hold" nodeType="withEffect">
                                  <p:stCondLst>
                                    <p:cond delay="0"/>
                                  </p:stCondLst>
                                  <p:childTnLst>
                                    <p:set>
                                      <p:cBhvr>
                                        <p:cTn id="32" dur="1" fill="hold">
                                          <p:stCondLst>
                                            <p:cond delay="0"/>
                                          </p:stCondLst>
                                        </p:cTn>
                                        <p:tgtEl>
                                          <p:spTgt spid="21">
                                            <p:txEl>
                                              <p:pRg st="7" end="7"/>
                                            </p:txEl>
                                          </p:spTgt>
                                        </p:tgtEl>
                                        <p:attrNameLst>
                                          <p:attrName>style.visibility</p:attrName>
                                        </p:attrNameLst>
                                      </p:cBhvr>
                                      <p:to>
                                        <p:strVal val="visible"/>
                                      </p:to>
                                    </p:set>
                                    <p:animEffect transition="in" filter="randombar(horizontal)">
                                      <p:cBhvr>
                                        <p:cTn id="33" dur="500"/>
                                        <p:tgtEl>
                                          <p:spTgt spid="2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3"/>
          <p:cNvSpPr txBox="1"/>
          <p:nvPr/>
        </p:nvSpPr>
        <p:spPr>
          <a:xfrm>
            <a:off x="525346" y="3079492"/>
            <a:ext cx="2261444" cy="2420449"/>
          </a:xfrm>
          <a:prstGeom prst="rect">
            <a:avLst/>
          </a:prstGeom>
        </p:spPr>
        <p:txBody>
          <a:bodyPr lIns="50800" tIns="50800" rIns="50800" bIns="50800" rtlCol="0" anchor="ctr"/>
          <a:lstStyle/>
          <a:p>
            <a:pPr algn="ctr">
              <a:lnSpc>
                <a:spcPts val="3220"/>
              </a:lnSpc>
            </a:pPr>
            <a:endParaRPr/>
          </a:p>
        </p:txBody>
      </p:sp>
      <p:grpSp>
        <p:nvGrpSpPr>
          <p:cNvPr id="33" name="Group 33"/>
          <p:cNvGrpSpPr/>
          <p:nvPr/>
        </p:nvGrpSpPr>
        <p:grpSpPr>
          <a:xfrm>
            <a:off x="0" y="9983250"/>
            <a:ext cx="1028700" cy="303750"/>
            <a:chOff x="0" y="0"/>
            <a:chExt cx="270933" cy="80000"/>
          </a:xfrm>
        </p:grpSpPr>
        <p:sp>
          <p:nvSpPr>
            <p:cNvPr id="34" name="Freeform 34"/>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5" name="TextBox 35"/>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36" name="Group 36"/>
          <p:cNvGrpSpPr/>
          <p:nvPr/>
        </p:nvGrpSpPr>
        <p:grpSpPr>
          <a:xfrm>
            <a:off x="17259300" y="0"/>
            <a:ext cx="1028700" cy="303750"/>
            <a:chOff x="0" y="0"/>
            <a:chExt cx="270933" cy="80000"/>
          </a:xfrm>
        </p:grpSpPr>
        <p:sp>
          <p:nvSpPr>
            <p:cNvPr id="37" name="Freeform 37"/>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8" name="TextBox 38"/>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39" name="Group 39"/>
          <p:cNvGrpSpPr/>
          <p:nvPr/>
        </p:nvGrpSpPr>
        <p:grpSpPr>
          <a:xfrm>
            <a:off x="0" y="0"/>
            <a:ext cx="1028700" cy="303750"/>
            <a:chOff x="0" y="0"/>
            <a:chExt cx="270933" cy="80000"/>
          </a:xfrm>
        </p:grpSpPr>
        <p:sp>
          <p:nvSpPr>
            <p:cNvPr id="40" name="Freeform 40"/>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1" name="TextBox 41"/>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42" name="Group 42"/>
          <p:cNvGrpSpPr/>
          <p:nvPr/>
        </p:nvGrpSpPr>
        <p:grpSpPr>
          <a:xfrm>
            <a:off x="17259300" y="9983250"/>
            <a:ext cx="1028700" cy="303750"/>
            <a:chOff x="0" y="0"/>
            <a:chExt cx="270933" cy="80000"/>
          </a:xfrm>
        </p:grpSpPr>
        <p:sp>
          <p:nvSpPr>
            <p:cNvPr id="43" name="Freeform 43"/>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4" name="TextBox 44"/>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sp>
        <p:nvSpPr>
          <p:cNvPr id="59" name="TextBox 58"/>
          <p:cNvSpPr txBox="1"/>
          <p:nvPr/>
        </p:nvSpPr>
        <p:spPr>
          <a:xfrm>
            <a:off x="1447800" y="263021"/>
            <a:ext cx="5659132" cy="707886"/>
          </a:xfrm>
          <a:prstGeom prst="rect">
            <a:avLst/>
          </a:prstGeom>
          <a:noFill/>
        </p:spPr>
        <p:txBody>
          <a:bodyPr wrap="square" rtlCol="0">
            <a:spAutoFit/>
          </a:bodyPr>
          <a:lstStyle/>
          <a:p>
            <a:r>
              <a:rPr lang="vi-VN" sz="4000" b="1" smtClean="0">
                <a:latin typeface="Constantia" panose="02030602050306030303" pitchFamily="18" charset="0"/>
              </a:rPr>
              <a:t>7. Chương trình con</a:t>
            </a:r>
            <a:endParaRPr lang="en-US" sz="4000" b="1">
              <a:latin typeface="Constantia" panose="02030602050306030303" pitchFamily="18" charset="0"/>
            </a:endParaRPr>
          </a:p>
        </p:txBody>
      </p:sp>
      <p:cxnSp>
        <p:nvCxnSpPr>
          <p:cNvPr id="77" name="Straight Connector 76"/>
          <p:cNvCxnSpPr/>
          <p:nvPr/>
        </p:nvCxnSpPr>
        <p:spPr>
          <a:xfrm>
            <a:off x="10287000" y="419100"/>
            <a:ext cx="0" cy="9716025"/>
          </a:xfrm>
          <a:prstGeom prst="line">
            <a:avLst/>
          </a:prstGeom>
          <a:ln w="41275">
            <a:solidFill>
              <a:srgbClr val="002060"/>
            </a:solidFill>
          </a:ln>
        </p:spPr>
        <p:style>
          <a:lnRef idx="1">
            <a:schemeClr val="accent1"/>
          </a:lnRef>
          <a:fillRef idx="0">
            <a:schemeClr val="accent1"/>
          </a:fillRef>
          <a:effectRef idx="0">
            <a:schemeClr val="accent1"/>
          </a:effectRef>
          <a:fontRef idx="minor">
            <a:schemeClr val="tx1"/>
          </a:fontRef>
        </p:style>
      </p:cxnSp>
      <p:sp>
        <p:nvSpPr>
          <p:cNvPr id="78" name="TextBox 77"/>
          <p:cNvSpPr txBox="1"/>
          <p:nvPr/>
        </p:nvSpPr>
        <p:spPr>
          <a:xfrm>
            <a:off x="10830674" y="303750"/>
            <a:ext cx="6428625" cy="707886"/>
          </a:xfrm>
          <a:prstGeom prst="rect">
            <a:avLst/>
          </a:prstGeom>
          <a:noFill/>
        </p:spPr>
        <p:txBody>
          <a:bodyPr wrap="square" rtlCol="0">
            <a:spAutoFit/>
          </a:bodyPr>
          <a:lstStyle/>
          <a:p>
            <a:r>
              <a:rPr lang="vi-VN" sz="4000" b="1" smtClean="0">
                <a:latin typeface="Constantia" panose="02030602050306030303" pitchFamily="18" charset="0"/>
              </a:rPr>
              <a:t>8. Vòng lặp while(true)</a:t>
            </a:r>
            <a:endParaRPr lang="en-US" sz="4000" b="1">
              <a:latin typeface="Constantia" panose="02030602050306030303" pitchFamily="18" charset="0"/>
            </a:endParaRPr>
          </a:p>
        </p:txBody>
      </p:sp>
      <p:sp>
        <p:nvSpPr>
          <p:cNvPr id="24" name="TextBox 23"/>
          <p:cNvSpPr txBox="1"/>
          <p:nvPr/>
        </p:nvSpPr>
        <p:spPr>
          <a:xfrm>
            <a:off x="101792" y="1109987"/>
            <a:ext cx="9938653" cy="2062103"/>
          </a:xfrm>
          <a:prstGeom prst="rect">
            <a:avLst/>
          </a:prstGeom>
          <a:noFill/>
        </p:spPr>
        <p:txBody>
          <a:bodyPr wrap="square" rtlCol="0">
            <a:spAutoFit/>
          </a:bodyPr>
          <a:lstStyle/>
          <a:p>
            <a:pPr algn="just"/>
            <a:r>
              <a:rPr lang="vi-VN" sz="3200" b="1" smtClean="0">
                <a:latin typeface="Constantia" panose="02030602050306030303" pitchFamily="18" charset="0"/>
              </a:rPr>
              <a:t>+ </a:t>
            </a:r>
            <a:r>
              <a:rPr lang="vi-VN" sz="3200" smtClean="0">
                <a:latin typeface="Constantia" panose="02030602050306030303" pitchFamily="18" charset="0"/>
              </a:rPr>
              <a:t>Một chương trình phức tạp nếu thêm vào chương trình chính sẽ làm cho nội dung trở lên chật chội, khó kiểm soát </a:t>
            </a:r>
            <a:r>
              <a:rPr lang="vi-VN" sz="3200" smtClean="0">
                <a:latin typeface="Constantia" panose="02030602050306030303" pitchFamily="18" charset="0"/>
                <a:sym typeface="Wingdings" panose="05000000000000000000" pitchFamily="2" charset="2"/>
              </a:rPr>
              <a:t> viết chương trình con bên ngoài và gọi tên sử dụng trong CTC.</a:t>
            </a:r>
            <a:endParaRPr lang="en-US" sz="2000" b="1">
              <a:latin typeface="Constantia" panose="02030602050306030303" pitchFamily="18" charset="0"/>
            </a:endParaRPr>
          </a:p>
        </p:txBody>
      </p:sp>
      <p:pic>
        <p:nvPicPr>
          <p:cNvPr id="3" name="Picture 2"/>
          <p:cNvPicPr>
            <a:picLocks noChangeAspect="1"/>
          </p:cNvPicPr>
          <p:nvPr/>
        </p:nvPicPr>
        <p:blipFill>
          <a:blip r:embed="rId2"/>
          <a:stretch>
            <a:fillRect/>
          </a:stretch>
        </p:blipFill>
        <p:spPr>
          <a:xfrm>
            <a:off x="525346" y="5141595"/>
            <a:ext cx="2976433" cy="1091359"/>
          </a:xfrm>
          <a:prstGeom prst="rect">
            <a:avLst/>
          </a:prstGeom>
        </p:spPr>
      </p:pic>
      <p:pic>
        <p:nvPicPr>
          <p:cNvPr id="4" name="Picture 3"/>
          <p:cNvPicPr>
            <a:picLocks noChangeAspect="1"/>
          </p:cNvPicPr>
          <p:nvPr/>
        </p:nvPicPr>
        <p:blipFill>
          <a:blip r:embed="rId3"/>
          <a:stretch>
            <a:fillRect/>
          </a:stretch>
        </p:blipFill>
        <p:spPr>
          <a:xfrm>
            <a:off x="4451686" y="2628900"/>
            <a:ext cx="4844713" cy="7644166"/>
          </a:xfrm>
          <a:prstGeom prst="rect">
            <a:avLst/>
          </a:prstGeom>
        </p:spPr>
      </p:pic>
      <p:sp>
        <p:nvSpPr>
          <p:cNvPr id="28" name="TextBox 27"/>
          <p:cNvSpPr txBox="1"/>
          <p:nvPr/>
        </p:nvSpPr>
        <p:spPr>
          <a:xfrm>
            <a:off x="10508156" y="1315386"/>
            <a:ext cx="9938653" cy="584775"/>
          </a:xfrm>
          <a:prstGeom prst="rect">
            <a:avLst/>
          </a:prstGeom>
          <a:noFill/>
        </p:spPr>
        <p:txBody>
          <a:bodyPr wrap="square" rtlCol="0">
            <a:spAutoFit/>
          </a:bodyPr>
          <a:lstStyle/>
          <a:p>
            <a:pPr algn="just"/>
            <a:r>
              <a:rPr lang="vi-VN" sz="3200" b="1" smtClean="0">
                <a:latin typeface="Constantia" panose="02030602050306030303" pitchFamily="18" charset="0"/>
              </a:rPr>
              <a:t>+ </a:t>
            </a:r>
            <a:r>
              <a:rPr lang="vi-VN" sz="3200" smtClean="0">
                <a:latin typeface="Constantia" panose="02030602050306030303" pitchFamily="18" charset="0"/>
              </a:rPr>
              <a:t>Cuối chương trình </a:t>
            </a:r>
            <a:r>
              <a:rPr lang="vi-VN" sz="3200" smtClean="0">
                <a:latin typeface="Constantia" panose="02030602050306030303" pitchFamily="18" charset="0"/>
                <a:sym typeface="Wingdings" panose="05000000000000000000" pitchFamily="2" charset="2"/>
              </a:rPr>
              <a:t> sau thiết lập</a:t>
            </a:r>
            <a:endParaRPr lang="en-US" sz="2000" b="1">
              <a:latin typeface="Constantia" panose="02030602050306030303" pitchFamily="18" charset="0"/>
            </a:endParaRPr>
          </a:p>
        </p:txBody>
      </p:sp>
      <p:pic>
        <p:nvPicPr>
          <p:cNvPr id="6" name="Picture 5"/>
          <p:cNvPicPr>
            <a:picLocks noChangeAspect="1"/>
          </p:cNvPicPr>
          <p:nvPr/>
        </p:nvPicPr>
        <p:blipFill>
          <a:blip r:embed="rId4"/>
          <a:stretch>
            <a:fillRect/>
          </a:stretch>
        </p:blipFill>
        <p:spPr>
          <a:xfrm>
            <a:off x="10961295" y="2324100"/>
            <a:ext cx="5794620" cy="7155362"/>
          </a:xfrm>
          <a:prstGeom prst="rect">
            <a:avLst/>
          </a:prstGeom>
        </p:spPr>
      </p:pic>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3" y="643"/>
            <a:ext cx="18285714" cy="10285714"/>
          </a:xfrm>
          <a:prstGeom prst="rect">
            <a:avLst/>
          </a:prstGeom>
        </p:spPr>
      </p:pic>
    </p:spTree>
    <p:extLst>
      <p:ext uri="{BB962C8B-B14F-4D97-AF65-F5344CB8AC3E}">
        <p14:creationId xmlns:p14="http://schemas.microsoft.com/office/powerpoint/2010/main" val="221887790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1000"/>
                                        <p:tgtEl>
                                          <p:spTgt spid="59"/>
                                        </p:tgtEl>
                                      </p:cBhvr>
                                    </p:animEffect>
                                    <p:anim calcmode="lin" valueType="num">
                                      <p:cBhvr>
                                        <p:cTn id="8" dur="1000" fill="hold"/>
                                        <p:tgtEl>
                                          <p:spTgt spid="59"/>
                                        </p:tgtEl>
                                        <p:attrNameLst>
                                          <p:attrName>ppt_x</p:attrName>
                                        </p:attrNameLst>
                                      </p:cBhvr>
                                      <p:tavLst>
                                        <p:tav tm="0">
                                          <p:val>
                                            <p:strVal val="#ppt_x"/>
                                          </p:val>
                                        </p:tav>
                                        <p:tav tm="100000">
                                          <p:val>
                                            <p:strVal val="#ppt_x"/>
                                          </p:val>
                                        </p:tav>
                                      </p:tavLst>
                                    </p:anim>
                                    <p:anim calcmode="lin" valueType="num">
                                      <p:cBhvr>
                                        <p:cTn id="9" dur="1000" fill="hold"/>
                                        <p:tgtEl>
                                          <p:spTgt spid="5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1000"/>
                                        <p:tgtEl>
                                          <p:spTgt spid="24"/>
                                        </p:tgtEl>
                                      </p:cBhvr>
                                    </p:animEffect>
                                    <p:anim calcmode="lin" valueType="num">
                                      <p:cBhvr>
                                        <p:cTn id="15" dur="1000" fill="hold"/>
                                        <p:tgtEl>
                                          <p:spTgt spid="24"/>
                                        </p:tgtEl>
                                        <p:attrNameLst>
                                          <p:attrName>ppt_x</p:attrName>
                                        </p:attrNameLst>
                                      </p:cBhvr>
                                      <p:tavLst>
                                        <p:tav tm="0">
                                          <p:val>
                                            <p:strVal val="#ppt_x"/>
                                          </p:val>
                                        </p:tav>
                                        <p:tav tm="100000">
                                          <p:val>
                                            <p:strVal val="#ppt_x"/>
                                          </p:val>
                                        </p:tav>
                                      </p:tavLst>
                                    </p:anim>
                                    <p:anim calcmode="lin" valueType="num">
                                      <p:cBhvr>
                                        <p:cTn id="16"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randombar(horizontal)">
                                      <p:cBhvr>
                                        <p:cTn id="28" dur="500"/>
                                        <p:tgtEl>
                                          <p:spTgt spid="4"/>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grpId="0" nodeType="clickEffect">
                                  <p:stCondLst>
                                    <p:cond delay="0"/>
                                  </p:stCondLst>
                                  <p:childTnLst>
                                    <p:set>
                                      <p:cBhvr>
                                        <p:cTn id="32" dur="1" fill="hold">
                                          <p:stCondLst>
                                            <p:cond delay="0"/>
                                          </p:stCondLst>
                                        </p:cTn>
                                        <p:tgtEl>
                                          <p:spTgt spid="78"/>
                                        </p:tgtEl>
                                        <p:attrNameLst>
                                          <p:attrName>style.visibility</p:attrName>
                                        </p:attrNameLst>
                                      </p:cBhvr>
                                      <p:to>
                                        <p:strVal val="visible"/>
                                      </p:to>
                                    </p:set>
                                    <p:animEffect transition="in" filter="randombar(horizontal)">
                                      <p:cBhvr>
                                        <p:cTn id="33" dur="500"/>
                                        <p:tgtEl>
                                          <p:spTgt spid="78"/>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28"/>
                                        </p:tgtEl>
                                        <p:attrNameLst>
                                          <p:attrName>style.visibility</p:attrName>
                                        </p:attrNameLst>
                                      </p:cBhvr>
                                      <p:to>
                                        <p:strVal val="visible"/>
                                      </p:to>
                                    </p:set>
                                    <p:anim calcmode="lin" valueType="num">
                                      <p:cBhvr additive="base">
                                        <p:cTn id="38" dur="500" fill="hold"/>
                                        <p:tgtEl>
                                          <p:spTgt spid="28"/>
                                        </p:tgtEl>
                                        <p:attrNameLst>
                                          <p:attrName>ppt_x</p:attrName>
                                        </p:attrNameLst>
                                      </p:cBhvr>
                                      <p:tavLst>
                                        <p:tav tm="0">
                                          <p:val>
                                            <p:strVal val="#ppt_x"/>
                                          </p:val>
                                        </p:tav>
                                        <p:tav tm="100000">
                                          <p:val>
                                            <p:strVal val="#ppt_x"/>
                                          </p:val>
                                        </p:tav>
                                      </p:tavLst>
                                    </p:anim>
                                    <p:anim calcmode="lin" valueType="num">
                                      <p:cBhvr additive="base">
                                        <p:cTn id="39"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6"/>
                                        </p:tgtEl>
                                        <p:attrNameLst>
                                          <p:attrName>style.visibility</p:attrName>
                                        </p:attrNameLst>
                                      </p:cBhvr>
                                      <p:to>
                                        <p:strVal val="visible"/>
                                      </p:to>
                                    </p:set>
                                    <p:anim calcmode="lin" valueType="num">
                                      <p:cBhvr additive="base">
                                        <p:cTn id="44" dur="500" fill="hold"/>
                                        <p:tgtEl>
                                          <p:spTgt spid="6"/>
                                        </p:tgtEl>
                                        <p:attrNameLst>
                                          <p:attrName>ppt_x</p:attrName>
                                        </p:attrNameLst>
                                      </p:cBhvr>
                                      <p:tavLst>
                                        <p:tav tm="0">
                                          <p:val>
                                            <p:strVal val="#ppt_x"/>
                                          </p:val>
                                        </p:tav>
                                        <p:tav tm="100000">
                                          <p:val>
                                            <p:strVal val="#ppt_x"/>
                                          </p:val>
                                        </p:tav>
                                      </p:tavLst>
                                    </p:anim>
                                    <p:anim calcmode="lin" valueType="num">
                                      <p:cBhvr additive="base">
                                        <p:cTn id="4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78" grpId="0"/>
      <p:bldP spid="24" grpId="0"/>
      <p:bldP spid="2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3"/>
          <p:cNvSpPr txBox="1"/>
          <p:nvPr/>
        </p:nvSpPr>
        <p:spPr>
          <a:xfrm>
            <a:off x="525346" y="3079492"/>
            <a:ext cx="2261444" cy="2420449"/>
          </a:xfrm>
          <a:prstGeom prst="rect">
            <a:avLst/>
          </a:prstGeom>
        </p:spPr>
        <p:txBody>
          <a:bodyPr lIns="50800" tIns="50800" rIns="50800" bIns="50800" rtlCol="0" anchor="ctr"/>
          <a:lstStyle/>
          <a:p>
            <a:pPr algn="ctr">
              <a:lnSpc>
                <a:spcPts val="3220"/>
              </a:lnSpc>
            </a:pPr>
            <a:endParaRPr/>
          </a:p>
        </p:txBody>
      </p:sp>
      <p:grpSp>
        <p:nvGrpSpPr>
          <p:cNvPr id="33" name="Group 33"/>
          <p:cNvGrpSpPr/>
          <p:nvPr/>
        </p:nvGrpSpPr>
        <p:grpSpPr>
          <a:xfrm>
            <a:off x="0" y="9983250"/>
            <a:ext cx="1028700" cy="303750"/>
            <a:chOff x="0" y="0"/>
            <a:chExt cx="270933" cy="80000"/>
          </a:xfrm>
        </p:grpSpPr>
        <p:sp>
          <p:nvSpPr>
            <p:cNvPr id="34" name="Freeform 34"/>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5" name="TextBox 35"/>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36" name="Group 36"/>
          <p:cNvGrpSpPr/>
          <p:nvPr/>
        </p:nvGrpSpPr>
        <p:grpSpPr>
          <a:xfrm>
            <a:off x="17259300" y="0"/>
            <a:ext cx="1028700" cy="303750"/>
            <a:chOff x="0" y="0"/>
            <a:chExt cx="270933" cy="80000"/>
          </a:xfrm>
        </p:grpSpPr>
        <p:sp>
          <p:nvSpPr>
            <p:cNvPr id="37" name="Freeform 37"/>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8" name="TextBox 38"/>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39" name="Group 39"/>
          <p:cNvGrpSpPr/>
          <p:nvPr/>
        </p:nvGrpSpPr>
        <p:grpSpPr>
          <a:xfrm>
            <a:off x="0" y="0"/>
            <a:ext cx="1028700" cy="303750"/>
            <a:chOff x="0" y="0"/>
            <a:chExt cx="270933" cy="80000"/>
          </a:xfrm>
        </p:grpSpPr>
        <p:sp>
          <p:nvSpPr>
            <p:cNvPr id="40" name="Freeform 40"/>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1" name="TextBox 41"/>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42" name="Group 42"/>
          <p:cNvGrpSpPr/>
          <p:nvPr/>
        </p:nvGrpSpPr>
        <p:grpSpPr>
          <a:xfrm>
            <a:off x="17259300" y="9983250"/>
            <a:ext cx="1028700" cy="303750"/>
            <a:chOff x="0" y="0"/>
            <a:chExt cx="270933" cy="80000"/>
          </a:xfrm>
        </p:grpSpPr>
        <p:sp>
          <p:nvSpPr>
            <p:cNvPr id="43" name="Freeform 43"/>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4" name="TextBox 44"/>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sp>
        <p:nvSpPr>
          <p:cNvPr id="59" name="TextBox 58"/>
          <p:cNvSpPr txBox="1"/>
          <p:nvPr/>
        </p:nvSpPr>
        <p:spPr>
          <a:xfrm>
            <a:off x="1133476" y="15725"/>
            <a:ext cx="13887448" cy="707886"/>
          </a:xfrm>
          <a:prstGeom prst="rect">
            <a:avLst/>
          </a:prstGeom>
          <a:noFill/>
        </p:spPr>
        <p:txBody>
          <a:bodyPr wrap="square" rtlCol="0">
            <a:spAutoFit/>
          </a:bodyPr>
          <a:lstStyle/>
          <a:p>
            <a:r>
              <a:rPr lang="vi-VN" sz="4000" b="1" smtClean="0">
                <a:latin typeface="Constantia" panose="02030602050306030303" pitchFamily="18" charset="0"/>
              </a:rPr>
              <a:t>Ví dụ: </a:t>
            </a:r>
            <a:r>
              <a:rPr lang="vi-VN" sz="4000" smtClean="0">
                <a:latin typeface="Constantia" panose="02030602050306030303" pitchFamily="18" charset="0"/>
              </a:rPr>
              <a:t>Từ lưu đồ bên dưới viết lại dưới dạng các câu lệnh.</a:t>
            </a:r>
          </a:p>
        </p:txBody>
      </p:sp>
      <p:sp>
        <p:nvSpPr>
          <p:cNvPr id="26" name="TextBox 25"/>
          <p:cNvSpPr txBox="1"/>
          <p:nvPr/>
        </p:nvSpPr>
        <p:spPr>
          <a:xfrm>
            <a:off x="8229600" y="2247900"/>
            <a:ext cx="9112203" cy="3970318"/>
          </a:xfrm>
          <a:prstGeom prst="rect">
            <a:avLst/>
          </a:prstGeom>
          <a:noFill/>
          <a:ln w="25400">
            <a:solidFill>
              <a:srgbClr val="FF0000"/>
            </a:solidFill>
          </a:ln>
        </p:spPr>
        <p:txBody>
          <a:bodyPr wrap="square" rtlCol="0">
            <a:spAutoFit/>
          </a:bodyPr>
          <a:lstStyle/>
          <a:p>
            <a:r>
              <a:rPr lang="en-US" sz="3600" smtClean="0">
                <a:latin typeface="Constantia" panose="02030602050306030303" pitchFamily="18" charset="0"/>
              </a:rPr>
              <a:t>	  if(!input(</a:t>
            </a:r>
            <a:r>
              <a:rPr lang="vi-VN" sz="3600" smtClean="0">
                <a:latin typeface="Constantia" panose="02030602050306030303" pitchFamily="18" charset="0"/>
              </a:rPr>
              <a:t>BT))</a:t>
            </a:r>
          </a:p>
          <a:p>
            <a:r>
              <a:rPr lang="vi-VN" sz="3600" smtClean="0">
                <a:latin typeface="Constantia" panose="02030602050306030303" pitchFamily="18" charset="0"/>
              </a:rPr>
              <a:t>{</a:t>
            </a:r>
          </a:p>
          <a:p>
            <a:r>
              <a:rPr lang="vi-VN" sz="3600">
                <a:latin typeface="Constantia" panose="02030602050306030303" pitchFamily="18" charset="0"/>
              </a:rPr>
              <a:t>	</a:t>
            </a:r>
            <a:r>
              <a:rPr lang="vi-VN" sz="3600" smtClean="0">
                <a:latin typeface="Constantia" panose="02030602050306030303" pitchFamily="18" charset="0"/>
              </a:rPr>
              <a:t>delay_ms(50);</a:t>
            </a:r>
          </a:p>
          <a:p>
            <a:r>
              <a:rPr lang="vi-VN" sz="3600">
                <a:latin typeface="Constantia" panose="02030602050306030303" pitchFamily="18" charset="0"/>
              </a:rPr>
              <a:t>	</a:t>
            </a:r>
            <a:r>
              <a:rPr lang="vi-VN" sz="3600" smtClean="0">
                <a:latin typeface="Constantia" panose="02030602050306030303" pitchFamily="18" charset="0"/>
              </a:rPr>
              <a:t>//cong viec</a:t>
            </a:r>
          </a:p>
          <a:p>
            <a:r>
              <a:rPr lang="vi-VN" sz="3600">
                <a:latin typeface="Constantia" panose="02030602050306030303" pitchFamily="18" charset="0"/>
              </a:rPr>
              <a:t>	</a:t>
            </a:r>
            <a:r>
              <a:rPr lang="vi-VN" sz="3600" smtClean="0">
                <a:latin typeface="Constantia" panose="02030602050306030303" pitchFamily="18" charset="0"/>
              </a:rPr>
              <a:t>while(!input(BT));</a:t>
            </a:r>
          </a:p>
          <a:p>
            <a:r>
              <a:rPr lang="vi-VN" sz="3600">
                <a:latin typeface="Constantia" panose="02030602050306030303" pitchFamily="18" charset="0"/>
              </a:rPr>
              <a:t>	</a:t>
            </a:r>
            <a:r>
              <a:rPr lang="vi-VN" sz="3600" smtClean="0">
                <a:latin typeface="Constantia" panose="02030602050306030303" pitchFamily="18" charset="0"/>
              </a:rPr>
              <a:t>delay_ms(50);</a:t>
            </a:r>
          </a:p>
          <a:p>
            <a:r>
              <a:rPr lang="vi-VN" sz="3600">
                <a:latin typeface="Constantia" panose="02030602050306030303" pitchFamily="18" charset="0"/>
              </a:rPr>
              <a:t>}</a:t>
            </a:r>
            <a:r>
              <a:rPr lang="en-US" sz="3600">
                <a:latin typeface="Constantia" panose="02030602050306030303" pitchFamily="18" charset="0"/>
              </a:rPr>
              <a:t>	</a:t>
            </a:r>
          </a:p>
        </p:txBody>
      </p:sp>
      <p:pic>
        <p:nvPicPr>
          <p:cNvPr id="2" name="Picture 1"/>
          <p:cNvPicPr>
            <a:picLocks noChangeAspect="1"/>
          </p:cNvPicPr>
          <p:nvPr/>
        </p:nvPicPr>
        <p:blipFill>
          <a:blip r:embed="rId3"/>
          <a:stretch>
            <a:fillRect/>
          </a:stretch>
        </p:blipFill>
        <p:spPr>
          <a:xfrm>
            <a:off x="304800" y="856783"/>
            <a:ext cx="6781800" cy="9337843"/>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6219"/>
            <a:ext cx="18285714" cy="10285714"/>
          </a:xfrm>
          <a:prstGeom prst="rect">
            <a:avLst/>
          </a:prstGeom>
        </p:spPr>
      </p:pic>
      <p:sp>
        <p:nvSpPr>
          <p:cNvPr id="19" name="TextBox 18"/>
          <p:cNvSpPr txBox="1"/>
          <p:nvPr/>
        </p:nvSpPr>
        <p:spPr>
          <a:xfrm>
            <a:off x="249950" y="1443563"/>
            <a:ext cx="16371394" cy="2554545"/>
          </a:xfrm>
          <a:prstGeom prst="rect">
            <a:avLst/>
          </a:prstGeom>
          <a:noFill/>
          <a:ln w="25400">
            <a:noFill/>
          </a:ln>
        </p:spPr>
        <p:txBody>
          <a:bodyPr wrap="square" rtlCol="0">
            <a:spAutoFit/>
          </a:bodyPr>
          <a:lstStyle/>
          <a:p>
            <a:pPr marL="514350" indent="-514350">
              <a:buAutoNum type="arabicPeriod"/>
            </a:pPr>
            <a:r>
              <a:rPr lang="vi-VN" sz="3200" b="1" i="1" smtClean="0">
                <a:solidFill>
                  <a:srgbClr val="FF0000"/>
                </a:solidFill>
                <a:latin typeface="Constantia" panose="02030602050306030303" pitchFamily="18" charset="0"/>
              </a:rPr>
              <a:t>Đo nhiệt độ dùng ADC -  chuyển đổi bậc thang</a:t>
            </a:r>
          </a:p>
          <a:p>
            <a:pPr marL="457200" indent="-457200">
              <a:buFont typeface="Wingdings" panose="05000000000000000000" pitchFamily="2" charset="2"/>
              <a:buChar char="à"/>
            </a:pPr>
            <a:r>
              <a:rPr lang="vi-VN" sz="3200" b="1" i="1" smtClean="0">
                <a:solidFill>
                  <a:srgbClr val="002060"/>
                </a:solidFill>
                <a:latin typeface="Constantia" panose="02030602050306030303" pitchFamily="18" charset="0"/>
                <a:sym typeface="Wingdings" panose="05000000000000000000" pitchFamily="2" charset="2"/>
              </a:rPr>
              <a:t>Chuyển đổi giá trị điện áp tương tự sang giá trị nhiệt độ.</a:t>
            </a:r>
          </a:p>
          <a:p>
            <a:pPr marL="457200" indent="-457200">
              <a:buFont typeface="Wingdings" panose="05000000000000000000" pitchFamily="2" charset="2"/>
              <a:buChar char="à"/>
            </a:pPr>
            <a:endParaRPr lang="vi-VN" sz="3200" b="1" i="1">
              <a:solidFill>
                <a:srgbClr val="002060"/>
              </a:solidFill>
              <a:latin typeface="Constantia" panose="02030602050306030303" pitchFamily="18" charset="0"/>
              <a:sym typeface="Wingdings" panose="05000000000000000000" pitchFamily="2" charset="2"/>
            </a:endParaRPr>
          </a:p>
          <a:p>
            <a:r>
              <a:rPr lang="vi-VN" sz="3200" b="1" i="1" smtClean="0">
                <a:solidFill>
                  <a:srgbClr val="002060"/>
                </a:solidFill>
                <a:latin typeface="Constantia" panose="02030602050306030303" pitchFamily="18" charset="0"/>
                <a:sym typeface="Wingdings" panose="05000000000000000000" pitchFamily="2" charset="2"/>
              </a:rPr>
              <a:t>Ta sử dụng cảm biến nhiệt độ LM35 với độ nhạy 10mV/1 độ C </a:t>
            </a:r>
          </a:p>
          <a:p>
            <a:endParaRPr lang="vi-VN" sz="3200" b="1" i="1">
              <a:solidFill>
                <a:srgbClr val="FF0000"/>
              </a:solidFill>
              <a:latin typeface="Constantia" panose="02030602050306030303" pitchFamily="18" charset="0"/>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343841537"/>
              </p:ext>
            </p:extLst>
          </p:nvPr>
        </p:nvGraphicFramePr>
        <p:xfrm>
          <a:off x="6194425" y="3508375"/>
          <a:ext cx="4078288" cy="1165225"/>
        </p:xfrm>
        <a:graphic>
          <a:graphicData uri="http://schemas.openxmlformats.org/presentationml/2006/ole">
            <mc:AlternateContent xmlns:mc="http://schemas.openxmlformats.org/markup-compatibility/2006">
              <mc:Choice xmlns:v="urn:schemas-microsoft-com:vml" Requires="v">
                <p:oleObj spid="_x0000_s2101" name="Equation" r:id="rId5" imgW="1511280" imgH="431640" progId="Equation.DSMT4">
                  <p:embed/>
                </p:oleObj>
              </mc:Choice>
              <mc:Fallback>
                <p:oleObj name="Equation" r:id="rId5" imgW="1511280" imgH="431640" progId="Equation.DSMT4">
                  <p:embed/>
                  <p:pic>
                    <p:nvPicPr>
                      <p:cNvPr id="0" name=""/>
                      <p:cNvPicPr/>
                      <p:nvPr/>
                    </p:nvPicPr>
                    <p:blipFill>
                      <a:blip r:embed="rId6"/>
                      <a:stretch>
                        <a:fillRect/>
                      </a:stretch>
                    </p:blipFill>
                    <p:spPr>
                      <a:xfrm>
                        <a:off x="6194425" y="3508375"/>
                        <a:ext cx="4078288" cy="1165225"/>
                      </a:xfrm>
                      <a:prstGeom prst="rect">
                        <a:avLst/>
                      </a:prstGeom>
                    </p:spPr>
                  </p:pic>
                </p:oleObj>
              </mc:Fallback>
            </mc:AlternateContent>
          </a:graphicData>
        </a:graphic>
      </p:graphicFrame>
      <p:sp>
        <p:nvSpPr>
          <p:cNvPr id="24" name="TextBox 23"/>
          <p:cNvSpPr txBox="1"/>
          <p:nvPr/>
        </p:nvSpPr>
        <p:spPr>
          <a:xfrm>
            <a:off x="311265" y="4857803"/>
            <a:ext cx="16371394" cy="584775"/>
          </a:xfrm>
          <a:prstGeom prst="rect">
            <a:avLst/>
          </a:prstGeom>
          <a:noFill/>
          <a:ln w="25400">
            <a:noFill/>
          </a:ln>
        </p:spPr>
        <p:txBody>
          <a:bodyPr wrap="square" rtlCol="0">
            <a:spAutoFit/>
          </a:bodyPr>
          <a:lstStyle/>
          <a:p>
            <a:r>
              <a:rPr lang="vi-VN" sz="3200" b="1" i="1" smtClean="0">
                <a:solidFill>
                  <a:srgbClr val="002060"/>
                </a:solidFill>
                <a:latin typeface="Constantia" panose="02030602050306030303" pitchFamily="18" charset="0"/>
              </a:rPr>
              <a:t>Đối với ADC</a:t>
            </a:r>
            <a:r>
              <a:rPr lang="en-US" sz="3200" b="1" i="1" smtClean="0">
                <a:solidFill>
                  <a:srgbClr val="002060"/>
                </a:solidFill>
                <a:latin typeface="Constantia" panose="02030602050306030303" pitchFamily="18" charset="0"/>
              </a:rPr>
              <a:t> 10 bit, </a:t>
            </a:r>
            <a:r>
              <a:rPr lang="vi-VN" sz="3200" b="1" i="1" smtClean="0">
                <a:solidFill>
                  <a:srgbClr val="002060"/>
                </a:solidFill>
                <a:latin typeface="Constantia" panose="02030602050306030303" pitchFamily="18" charset="0"/>
              </a:rPr>
              <a:t>dùng điện áp 5V và 0V tham chiếu, ta lại có: </a:t>
            </a:r>
            <a:endParaRPr lang="vi-VN" sz="3200" b="1" i="1">
              <a:solidFill>
                <a:srgbClr val="002060"/>
              </a:solidFill>
              <a:latin typeface="Constantia" panose="02030602050306030303" pitchFamily="18" charset="0"/>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65246736"/>
              </p:ext>
            </p:extLst>
          </p:nvPr>
        </p:nvGraphicFramePr>
        <p:xfrm>
          <a:off x="2505075" y="5554663"/>
          <a:ext cx="12595225" cy="1316037"/>
        </p:xfrm>
        <a:graphic>
          <a:graphicData uri="http://schemas.openxmlformats.org/presentationml/2006/ole">
            <mc:AlternateContent xmlns:mc="http://schemas.openxmlformats.org/markup-compatibility/2006">
              <mc:Choice xmlns:v="urn:schemas-microsoft-com:vml" Requires="v">
                <p:oleObj spid="_x0000_s2102" name="Equation" r:id="rId7" imgW="4495680" imgH="469800" progId="Equation.DSMT4">
                  <p:embed/>
                </p:oleObj>
              </mc:Choice>
              <mc:Fallback>
                <p:oleObj name="Equation" r:id="rId7" imgW="4495680" imgH="469800" progId="Equation.DSMT4">
                  <p:embed/>
                  <p:pic>
                    <p:nvPicPr>
                      <p:cNvPr id="0" name=""/>
                      <p:cNvPicPr/>
                      <p:nvPr/>
                    </p:nvPicPr>
                    <p:blipFill>
                      <a:blip r:embed="rId8"/>
                      <a:stretch>
                        <a:fillRect/>
                      </a:stretch>
                    </p:blipFill>
                    <p:spPr>
                      <a:xfrm>
                        <a:off x="2505075" y="5554663"/>
                        <a:ext cx="12595225" cy="1316037"/>
                      </a:xfrm>
                      <a:prstGeom prst="rect">
                        <a:avLst/>
                      </a:prstGeom>
                    </p:spPr>
                  </p:pic>
                </p:oleObj>
              </mc:Fallback>
            </mc:AlternateContent>
          </a:graphicData>
        </a:graphic>
      </p:graphicFrame>
      <p:sp>
        <p:nvSpPr>
          <p:cNvPr id="27" name="TextBox 26"/>
          <p:cNvSpPr txBox="1"/>
          <p:nvPr/>
        </p:nvSpPr>
        <p:spPr>
          <a:xfrm>
            <a:off x="311265" y="7147008"/>
            <a:ext cx="16371394" cy="584775"/>
          </a:xfrm>
          <a:prstGeom prst="rect">
            <a:avLst/>
          </a:prstGeom>
          <a:noFill/>
          <a:ln w="25400">
            <a:noFill/>
          </a:ln>
        </p:spPr>
        <p:txBody>
          <a:bodyPr wrap="square" rtlCol="0">
            <a:spAutoFit/>
          </a:bodyPr>
          <a:lstStyle/>
          <a:p>
            <a:r>
              <a:rPr lang="vi-VN" sz="3200" b="1" i="1" smtClean="0">
                <a:solidFill>
                  <a:srgbClr val="002060"/>
                </a:solidFill>
                <a:latin typeface="Constantia" panose="02030602050306030303" pitchFamily="18" charset="0"/>
              </a:rPr>
              <a:t>Từ (1) và (2) ta có công thức quan trọng:</a:t>
            </a:r>
            <a:endParaRPr lang="vi-VN" sz="3200" b="1" i="1">
              <a:solidFill>
                <a:srgbClr val="002060"/>
              </a:solidFill>
              <a:latin typeface="Constantia" panose="02030602050306030303" pitchFamily="18" charset="0"/>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15577389"/>
              </p:ext>
            </p:extLst>
          </p:nvPr>
        </p:nvGraphicFramePr>
        <p:xfrm>
          <a:off x="838200" y="8234065"/>
          <a:ext cx="10041498" cy="1165225"/>
        </p:xfrm>
        <a:graphic>
          <a:graphicData uri="http://schemas.openxmlformats.org/presentationml/2006/ole">
            <mc:AlternateContent xmlns:mc="http://schemas.openxmlformats.org/markup-compatibility/2006">
              <mc:Choice xmlns:v="urn:schemas-microsoft-com:vml" Requires="v">
                <p:oleObj spid="_x0000_s2103" name="Equation" r:id="rId9" imgW="3720960" imgH="431640" progId="Equation.DSMT4">
                  <p:embed/>
                </p:oleObj>
              </mc:Choice>
              <mc:Fallback>
                <p:oleObj name="Equation" r:id="rId9" imgW="3720960" imgH="431640" progId="Equation.DSMT4">
                  <p:embed/>
                  <p:pic>
                    <p:nvPicPr>
                      <p:cNvPr id="0" name=""/>
                      <p:cNvPicPr/>
                      <p:nvPr/>
                    </p:nvPicPr>
                    <p:blipFill>
                      <a:blip r:embed="rId10"/>
                      <a:stretch>
                        <a:fillRect/>
                      </a:stretch>
                    </p:blipFill>
                    <p:spPr>
                      <a:xfrm>
                        <a:off x="838200" y="8234065"/>
                        <a:ext cx="10041498" cy="1165225"/>
                      </a:xfrm>
                      <a:prstGeom prst="rect">
                        <a:avLst/>
                      </a:prstGeom>
                      <a:ln w="25400">
                        <a:solidFill>
                          <a:srgbClr val="002060"/>
                        </a:solidFill>
                      </a:ln>
                    </p:spPr>
                  </p:pic>
                </p:oleObj>
              </mc:Fallback>
            </mc:AlternateContent>
          </a:graphicData>
        </a:graphic>
      </p:graphicFrame>
      <p:sp>
        <p:nvSpPr>
          <p:cNvPr id="25" name="TextBox 24"/>
          <p:cNvSpPr txBox="1"/>
          <p:nvPr/>
        </p:nvSpPr>
        <p:spPr>
          <a:xfrm>
            <a:off x="705000" y="9494103"/>
            <a:ext cx="10496400" cy="830997"/>
          </a:xfrm>
          <a:prstGeom prst="rect">
            <a:avLst/>
          </a:prstGeom>
          <a:noFill/>
          <a:ln w="25400">
            <a:noFill/>
          </a:ln>
        </p:spPr>
        <p:txBody>
          <a:bodyPr wrap="square" rtlCol="0">
            <a:spAutoFit/>
          </a:bodyPr>
          <a:lstStyle/>
          <a:p>
            <a:pPr algn="just"/>
            <a:r>
              <a:rPr lang="vi-VN" sz="2400" b="1" i="1" smtClean="0">
                <a:solidFill>
                  <a:srgbClr val="FF0000"/>
                </a:solidFill>
                <a:latin typeface="Constantia" panose="02030602050306030303" pitchFamily="18" charset="0"/>
              </a:rPr>
              <a:t>Coi thêm file ADC trong folder Important để tính toán lại khi điện áp tham chiếu thay đổi.</a:t>
            </a:r>
            <a:endParaRPr lang="vi-VN" sz="2400" b="1" i="1" smtClean="0">
              <a:solidFill>
                <a:srgbClr val="FF0000"/>
              </a:solidFill>
              <a:latin typeface="Constantia" panose="02030602050306030303" pitchFamily="18" charset="0"/>
            </a:endParaRPr>
          </a:p>
        </p:txBody>
      </p:sp>
    </p:spTree>
    <p:extLst>
      <p:ext uri="{BB962C8B-B14F-4D97-AF65-F5344CB8AC3E}">
        <p14:creationId xmlns:p14="http://schemas.microsoft.com/office/powerpoint/2010/main" val="627356771"/>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 calcmode="lin" valueType="num">
                                      <p:cBhvr additive="base">
                                        <p:cTn id="7" dur="500" fill="hold"/>
                                        <p:tgtEl>
                                          <p:spTgt spid="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nodeType="clickEffect">
                                  <p:stCondLst>
                                    <p:cond delay="0"/>
                                  </p:stCondLst>
                                  <p:childTnLst>
                                    <p:set>
                                      <p:cBhvr>
                                        <p:cTn id="12" dur="1" fill="hold">
                                          <p:stCondLst>
                                            <p:cond delay="0"/>
                                          </p:stCondLst>
                                        </p:cTn>
                                        <p:tgtEl>
                                          <p:spTgt spid="19">
                                            <p:txEl>
                                              <p:pRg st="1" end="1"/>
                                            </p:txEl>
                                          </p:spTgt>
                                        </p:tgtEl>
                                        <p:attrNameLst>
                                          <p:attrName>style.visibility</p:attrName>
                                        </p:attrNameLst>
                                      </p:cBhvr>
                                      <p:to>
                                        <p:strVal val="visible"/>
                                      </p:to>
                                    </p:set>
                                    <p:animEffect transition="in" filter="circle(in)">
                                      <p:cBhvr>
                                        <p:cTn id="13" dur="2000"/>
                                        <p:tgtEl>
                                          <p:spTgt spid="1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19">
                                            <p:txEl>
                                              <p:pRg st="3" end="3"/>
                                            </p:txEl>
                                          </p:spTgt>
                                        </p:tgtEl>
                                        <p:attrNameLst>
                                          <p:attrName>style.visibility</p:attrName>
                                        </p:attrNameLst>
                                      </p:cBhvr>
                                      <p:to>
                                        <p:strVal val="visible"/>
                                      </p:to>
                                    </p:set>
                                    <p:animEffect transition="in" filter="randombar(horizontal)">
                                      <p:cBhvr>
                                        <p:cTn id="18" dur="500"/>
                                        <p:tgtEl>
                                          <p:spTgt spid="19">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randombar(horizontal)">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24">
                                            <p:txEl>
                                              <p:pRg st="0" end="0"/>
                                            </p:txEl>
                                          </p:spTgt>
                                        </p:tgtEl>
                                        <p:attrNameLst>
                                          <p:attrName>style.visibility</p:attrName>
                                        </p:attrNameLst>
                                      </p:cBhvr>
                                      <p:to>
                                        <p:strVal val="visible"/>
                                      </p:to>
                                    </p:set>
                                    <p:animEffect transition="in" filter="barn(inVertical)">
                                      <p:cBhvr>
                                        <p:cTn id="28" dur="500"/>
                                        <p:tgtEl>
                                          <p:spTgt spid="24">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randombar(horizontal)">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31" presetClass="entr" presetSubtype="0" fill="hold" nodeType="clickEffect">
                                  <p:stCondLst>
                                    <p:cond delay="0"/>
                                  </p:stCondLst>
                                  <p:childTnLst>
                                    <p:set>
                                      <p:cBhvr>
                                        <p:cTn id="37" dur="1" fill="hold">
                                          <p:stCondLst>
                                            <p:cond delay="0"/>
                                          </p:stCondLst>
                                        </p:cTn>
                                        <p:tgtEl>
                                          <p:spTgt spid="27">
                                            <p:txEl>
                                              <p:pRg st="0" end="0"/>
                                            </p:txEl>
                                          </p:spTgt>
                                        </p:tgtEl>
                                        <p:attrNameLst>
                                          <p:attrName>style.visibility</p:attrName>
                                        </p:attrNameLst>
                                      </p:cBhvr>
                                      <p:to>
                                        <p:strVal val="visible"/>
                                      </p:to>
                                    </p:set>
                                    <p:anim calcmode="lin" valueType="num">
                                      <p:cBhvr>
                                        <p:cTn id="38" dur="1000" fill="hold"/>
                                        <p:tgtEl>
                                          <p:spTgt spid="27">
                                            <p:txEl>
                                              <p:pRg st="0" end="0"/>
                                            </p:txEl>
                                          </p:spTgt>
                                        </p:tgtEl>
                                        <p:attrNameLst>
                                          <p:attrName>ppt_w</p:attrName>
                                        </p:attrNameLst>
                                      </p:cBhvr>
                                      <p:tavLst>
                                        <p:tav tm="0">
                                          <p:val>
                                            <p:fltVal val="0"/>
                                          </p:val>
                                        </p:tav>
                                        <p:tav tm="100000">
                                          <p:val>
                                            <p:strVal val="#ppt_w"/>
                                          </p:val>
                                        </p:tav>
                                      </p:tavLst>
                                    </p:anim>
                                    <p:anim calcmode="lin" valueType="num">
                                      <p:cBhvr>
                                        <p:cTn id="39" dur="1000" fill="hold"/>
                                        <p:tgtEl>
                                          <p:spTgt spid="27">
                                            <p:txEl>
                                              <p:pRg st="0" end="0"/>
                                            </p:txEl>
                                          </p:spTgt>
                                        </p:tgtEl>
                                        <p:attrNameLst>
                                          <p:attrName>ppt_h</p:attrName>
                                        </p:attrNameLst>
                                      </p:cBhvr>
                                      <p:tavLst>
                                        <p:tav tm="0">
                                          <p:val>
                                            <p:fltVal val="0"/>
                                          </p:val>
                                        </p:tav>
                                        <p:tav tm="100000">
                                          <p:val>
                                            <p:strVal val="#ppt_h"/>
                                          </p:val>
                                        </p:tav>
                                      </p:tavLst>
                                    </p:anim>
                                    <p:anim calcmode="lin" valueType="num">
                                      <p:cBhvr>
                                        <p:cTn id="40" dur="1000" fill="hold"/>
                                        <p:tgtEl>
                                          <p:spTgt spid="27">
                                            <p:txEl>
                                              <p:pRg st="0" end="0"/>
                                            </p:txEl>
                                          </p:spTgt>
                                        </p:tgtEl>
                                        <p:attrNameLst>
                                          <p:attrName>style.rotation</p:attrName>
                                        </p:attrNameLst>
                                      </p:cBhvr>
                                      <p:tavLst>
                                        <p:tav tm="0">
                                          <p:val>
                                            <p:fltVal val="90"/>
                                          </p:val>
                                        </p:tav>
                                        <p:tav tm="100000">
                                          <p:val>
                                            <p:fltVal val="0"/>
                                          </p:val>
                                        </p:tav>
                                      </p:tavLst>
                                    </p:anim>
                                    <p:animEffect transition="in" filter="fade">
                                      <p:cBhvr>
                                        <p:cTn id="41" dur="1000"/>
                                        <p:tgtEl>
                                          <p:spTgt spid="27">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21" fill="hold" nodeType="click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barn(inVertical)">
                                      <p:cBhvr>
                                        <p:cTn id="46" dur="500"/>
                                        <p:tgtEl>
                                          <p:spTgt spid="6"/>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25">
                                            <p:txEl>
                                              <p:pRg st="0" end="0"/>
                                            </p:txEl>
                                          </p:spTgt>
                                        </p:tgtEl>
                                        <p:attrNameLst>
                                          <p:attrName>style.visibility</p:attrName>
                                        </p:attrNameLst>
                                      </p:cBhvr>
                                      <p:to>
                                        <p:strVal val="visible"/>
                                      </p:to>
                                    </p:set>
                                    <p:anim calcmode="lin" valueType="num">
                                      <p:cBhvr additive="base">
                                        <p:cTn id="51" dur="500" fill="hold"/>
                                        <p:tgtEl>
                                          <p:spTgt spid="25">
                                            <p:txEl>
                                              <p:pRg st="0" end="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2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3"/>
          <p:cNvSpPr txBox="1"/>
          <p:nvPr/>
        </p:nvSpPr>
        <p:spPr>
          <a:xfrm>
            <a:off x="525346" y="3079492"/>
            <a:ext cx="2261444" cy="2420449"/>
          </a:xfrm>
          <a:prstGeom prst="rect">
            <a:avLst/>
          </a:prstGeom>
        </p:spPr>
        <p:txBody>
          <a:bodyPr lIns="50800" tIns="50800" rIns="50800" bIns="50800" rtlCol="0" anchor="ctr"/>
          <a:lstStyle/>
          <a:p>
            <a:pPr algn="ctr">
              <a:lnSpc>
                <a:spcPts val="3220"/>
              </a:lnSpc>
            </a:pPr>
            <a:endParaRPr/>
          </a:p>
        </p:txBody>
      </p:sp>
      <p:grpSp>
        <p:nvGrpSpPr>
          <p:cNvPr id="33" name="Group 33"/>
          <p:cNvGrpSpPr/>
          <p:nvPr/>
        </p:nvGrpSpPr>
        <p:grpSpPr>
          <a:xfrm>
            <a:off x="0" y="9983250"/>
            <a:ext cx="1028700" cy="303750"/>
            <a:chOff x="0" y="0"/>
            <a:chExt cx="270933" cy="80000"/>
          </a:xfrm>
        </p:grpSpPr>
        <p:sp>
          <p:nvSpPr>
            <p:cNvPr id="34" name="Freeform 34"/>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5" name="TextBox 35"/>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36" name="Group 36"/>
          <p:cNvGrpSpPr/>
          <p:nvPr/>
        </p:nvGrpSpPr>
        <p:grpSpPr>
          <a:xfrm>
            <a:off x="17259300" y="0"/>
            <a:ext cx="1028700" cy="303750"/>
            <a:chOff x="0" y="0"/>
            <a:chExt cx="270933" cy="80000"/>
          </a:xfrm>
        </p:grpSpPr>
        <p:sp>
          <p:nvSpPr>
            <p:cNvPr id="37" name="Freeform 37"/>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8" name="TextBox 38"/>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39" name="Group 39"/>
          <p:cNvGrpSpPr/>
          <p:nvPr/>
        </p:nvGrpSpPr>
        <p:grpSpPr>
          <a:xfrm>
            <a:off x="0" y="0"/>
            <a:ext cx="1028700" cy="303750"/>
            <a:chOff x="0" y="0"/>
            <a:chExt cx="270933" cy="80000"/>
          </a:xfrm>
        </p:grpSpPr>
        <p:sp>
          <p:nvSpPr>
            <p:cNvPr id="40" name="Freeform 40"/>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1" name="TextBox 41"/>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42" name="Group 42"/>
          <p:cNvGrpSpPr/>
          <p:nvPr/>
        </p:nvGrpSpPr>
        <p:grpSpPr>
          <a:xfrm>
            <a:off x="17259300" y="9983250"/>
            <a:ext cx="1028700" cy="303750"/>
            <a:chOff x="0" y="0"/>
            <a:chExt cx="270933" cy="80000"/>
          </a:xfrm>
        </p:grpSpPr>
        <p:sp>
          <p:nvSpPr>
            <p:cNvPr id="43" name="Freeform 43"/>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4" name="TextBox 44"/>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sp>
        <p:nvSpPr>
          <p:cNvPr id="59" name="TextBox 58"/>
          <p:cNvSpPr txBox="1"/>
          <p:nvPr/>
        </p:nvSpPr>
        <p:spPr>
          <a:xfrm>
            <a:off x="1133476" y="15725"/>
            <a:ext cx="13887448" cy="707886"/>
          </a:xfrm>
          <a:prstGeom prst="rect">
            <a:avLst/>
          </a:prstGeom>
          <a:noFill/>
        </p:spPr>
        <p:txBody>
          <a:bodyPr wrap="square" rtlCol="0">
            <a:spAutoFit/>
          </a:bodyPr>
          <a:lstStyle/>
          <a:p>
            <a:r>
              <a:rPr lang="vi-VN" sz="4000" b="1" smtClean="0">
                <a:latin typeface="Constantia" panose="02030602050306030303" pitchFamily="18" charset="0"/>
              </a:rPr>
              <a:t>Ví dụ: </a:t>
            </a:r>
            <a:r>
              <a:rPr lang="vi-VN" sz="4000" smtClean="0">
                <a:latin typeface="Constantia" panose="02030602050306030303" pitchFamily="18" charset="0"/>
              </a:rPr>
              <a:t>Từ lưu đồ bên dưới viết lại dưới dạng các câu lệnh.</a:t>
            </a:r>
          </a:p>
        </p:txBody>
      </p:sp>
      <p:sp>
        <p:nvSpPr>
          <p:cNvPr id="26" name="TextBox 25"/>
          <p:cNvSpPr txBox="1"/>
          <p:nvPr/>
        </p:nvSpPr>
        <p:spPr>
          <a:xfrm>
            <a:off x="8229600" y="2247900"/>
            <a:ext cx="9112203" cy="3970318"/>
          </a:xfrm>
          <a:prstGeom prst="rect">
            <a:avLst/>
          </a:prstGeom>
          <a:noFill/>
          <a:ln w="25400">
            <a:solidFill>
              <a:srgbClr val="FF0000"/>
            </a:solidFill>
          </a:ln>
        </p:spPr>
        <p:txBody>
          <a:bodyPr wrap="square" rtlCol="0">
            <a:spAutoFit/>
          </a:bodyPr>
          <a:lstStyle/>
          <a:p>
            <a:r>
              <a:rPr lang="en-US" sz="3600" smtClean="0">
                <a:latin typeface="Constantia" panose="02030602050306030303" pitchFamily="18" charset="0"/>
              </a:rPr>
              <a:t>	  if(!input(</a:t>
            </a:r>
            <a:r>
              <a:rPr lang="vi-VN" sz="3600" smtClean="0">
                <a:latin typeface="Constantia" panose="02030602050306030303" pitchFamily="18" charset="0"/>
              </a:rPr>
              <a:t>BT))</a:t>
            </a:r>
          </a:p>
          <a:p>
            <a:r>
              <a:rPr lang="vi-VN" sz="3600" smtClean="0">
                <a:latin typeface="Constantia" panose="02030602050306030303" pitchFamily="18" charset="0"/>
              </a:rPr>
              <a:t>{</a:t>
            </a:r>
          </a:p>
          <a:p>
            <a:r>
              <a:rPr lang="vi-VN" sz="3600">
                <a:latin typeface="Constantia" panose="02030602050306030303" pitchFamily="18" charset="0"/>
              </a:rPr>
              <a:t>	</a:t>
            </a:r>
            <a:r>
              <a:rPr lang="vi-VN" sz="3600" smtClean="0">
                <a:latin typeface="Constantia" panose="02030602050306030303" pitchFamily="18" charset="0"/>
              </a:rPr>
              <a:t>delay_ms(50);</a:t>
            </a:r>
          </a:p>
          <a:p>
            <a:r>
              <a:rPr lang="vi-VN" sz="3600">
                <a:latin typeface="Constantia" panose="02030602050306030303" pitchFamily="18" charset="0"/>
              </a:rPr>
              <a:t>	</a:t>
            </a:r>
            <a:r>
              <a:rPr lang="vi-VN" sz="3600" smtClean="0">
                <a:latin typeface="Constantia" panose="02030602050306030303" pitchFamily="18" charset="0"/>
              </a:rPr>
              <a:t>//cong viec</a:t>
            </a:r>
          </a:p>
          <a:p>
            <a:r>
              <a:rPr lang="vi-VN" sz="3600">
                <a:latin typeface="Constantia" panose="02030602050306030303" pitchFamily="18" charset="0"/>
              </a:rPr>
              <a:t>	</a:t>
            </a:r>
            <a:r>
              <a:rPr lang="vi-VN" sz="3600" smtClean="0">
                <a:latin typeface="Constantia" panose="02030602050306030303" pitchFamily="18" charset="0"/>
              </a:rPr>
              <a:t>while(!input(BT));</a:t>
            </a:r>
          </a:p>
          <a:p>
            <a:r>
              <a:rPr lang="vi-VN" sz="3600">
                <a:latin typeface="Constantia" panose="02030602050306030303" pitchFamily="18" charset="0"/>
              </a:rPr>
              <a:t>	</a:t>
            </a:r>
            <a:r>
              <a:rPr lang="vi-VN" sz="3600" smtClean="0">
                <a:latin typeface="Constantia" panose="02030602050306030303" pitchFamily="18" charset="0"/>
              </a:rPr>
              <a:t>delay_ms(50);</a:t>
            </a:r>
          </a:p>
          <a:p>
            <a:r>
              <a:rPr lang="vi-VN" sz="3600">
                <a:latin typeface="Constantia" panose="02030602050306030303" pitchFamily="18" charset="0"/>
              </a:rPr>
              <a:t>}</a:t>
            </a:r>
            <a:r>
              <a:rPr lang="en-US" sz="3600">
                <a:latin typeface="Constantia" panose="02030602050306030303" pitchFamily="18" charset="0"/>
              </a:rPr>
              <a:t>	</a:t>
            </a:r>
          </a:p>
        </p:txBody>
      </p:sp>
      <p:pic>
        <p:nvPicPr>
          <p:cNvPr id="2" name="Picture 1"/>
          <p:cNvPicPr>
            <a:picLocks noChangeAspect="1"/>
          </p:cNvPicPr>
          <p:nvPr/>
        </p:nvPicPr>
        <p:blipFill>
          <a:blip r:embed="rId2"/>
          <a:stretch>
            <a:fillRect/>
          </a:stretch>
        </p:blipFill>
        <p:spPr>
          <a:xfrm>
            <a:off x="304800" y="856783"/>
            <a:ext cx="6781800" cy="9337843"/>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5682"/>
            <a:ext cx="18285714" cy="10285714"/>
          </a:xfrm>
          <a:prstGeom prst="rect">
            <a:avLst/>
          </a:prstGeom>
        </p:spPr>
      </p:pic>
      <p:sp>
        <p:nvSpPr>
          <p:cNvPr id="19" name="TextBox 18"/>
          <p:cNvSpPr txBox="1"/>
          <p:nvPr/>
        </p:nvSpPr>
        <p:spPr>
          <a:xfrm>
            <a:off x="249950" y="1443563"/>
            <a:ext cx="16371394" cy="7725192"/>
          </a:xfrm>
          <a:prstGeom prst="rect">
            <a:avLst/>
          </a:prstGeom>
          <a:noFill/>
          <a:ln w="25400">
            <a:noFill/>
          </a:ln>
        </p:spPr>
        <p:txBody>
          <a:bodyPr wrap="square" rtlCol="0">
            <a:spAutoFit/>
          </a:bodyPr>
          <a:lstStyle/>
          <a:p>
            <a:r>
              <a:rPr lang="vi-VN" sz="3200" b="1" i="1" smtClean="0">
                <a:solidFill>
                  <a:srgbClr val="FF0000"/>
                </a:solidFill>
                <a:latin typeface="Constantia" panose="02030602050306030303" pitchFamily="18" charset="0"/>
                <a:sym typeface="Wingdings" panose="05000000000000000000" pitchFamily="2" charset="2"/>
              </a:rPr>
              <a:t>2. Đo nhiệt độ trung bình</a:t>
            </a:r>
          </a:p>
          <a:p>
            <a:pPr marL="457200" indent="-457200">
              <a:buFont typeface="Wingdings" panose="05000000000000000000" pitchFamily="2" charset="2"/>
              <a:buChar char="à"/>
            </a:pPr>
            <a:r>
              <a:rPr lang="vi-VN" sz="3200" i="1" smtClean="0">
                <a:solidFill>
                  <a:srgbClr val="002060"/>
                </a:solidFill>
                <a:latin typeface="Constantia" panose="02030602050306030303" pitchFamily="18" charset="0"/>
                <a:sym typeface="Wingdings" panose="05000000000000000000" pitchFamily="2" charset="2"/>
              </a:rPr>
              <a:t>Thông thường trước khi hiển thị giá trị nhiệt độ, thì nên lấy nhiệt độ trung bình của nó.</a:t>
            </a:r>
          </a:p>
          <a:p>
            <a:r>
              <a:rPr lang="vi-VN" sz="3200" b="1" i="1" smtClean="0">
                <a:solidFill>
                  <a:srgbClr val="002060"/>
                </a:solidFill>
                <a:latin typeface="Constantia" panose="02030602050306030303" pitchFamily="18" charset="0"/>
                <a:sym typeface="Wingdings" panose="05000000000000000000" pitchFamily="2" charset="2"/>
              </a:rPr>
              <a:t>Ví dụ: </a:t>
            </a:r>
            <a:r>
              <a:rPr lang="vi-VN" sz="3200" i="1" smtClean="0">
                <a:solidFill>
                  <a:srgbClr val="002060"/>
                </a:solidFill>
                <a:latin typeface="Constantia" panose="02030602050306030303" pitchFamily="18" charset="0"/>
                <a:sym typeface="Wingdings" panose="05000000000000000000" pitchFamily="2" charset="2"/>
              </a:rPr>
              <a:t>Đo nhiệt độ 200 lần và lấy trung bình. Sau đó xuất ra LED 7 đoạn.</a:t>
            </a:r>
          </a:p>
          <a:p>
            <a:endParaRPr lang="vi-VN" sz="3200" b="1" i="1">
              <a:solidFill>
                <a:srgbClr val="002060"/>
              </a:solidFill>
              <a:latin typeface="Constantia" panose="02030602050306030303" pitchFamily="18" charset="0"/>
              <a:sym typeface="Wingdings" panose="05000000000000000000" pitchFamily="2" charset="2"/>
            </a:endParaRPr>
          </a:p>
          <a:p>
            <a:pPr lvl="4"/>
            <a:r>
              <a:rPr lang="vi-VN" sz="3200" b="1" i="1" smtClean="0">
                <a:solidFill>
                  <a:srgbClr val="002060"/>
                </a:solidFill>
                <a:latin typeface="Constantia" panose="02030602050306030303" pitchFamily="18" charset="0"/>
                <a:sym typeface="Wingdings" panose="05000000000000000000" pitchFamily="2" charset="2"/>
              </a:rPr>
              <a:t> 	</a:t>
            </a:r>
            <a:r>
              <a:rPr lang="en-US" sz="2800" b="1" i="1" smtClean="0">
                <a:solidFill>
                  <a:srgbClr val="C00000"/>
                </a:solidFill>
                <a:latin typeface="Constantia" panose="02030602050306030303" pitchFamily="18" charset="0"/>
                <a:sym typeface="Wingdings" panose="05000000000000000000" pitchFamily="2" charset="2"/>
              </a:rPr>
              <a:t>SETUP_ADC(ADC_CLOCK_DIV_32);</a:t>
            </a:r>
          </a:p>
          <a:p>
            <a:pPr lvl="4"/>
            <a:r>
              <a:rPr lang="en-US" sz="2800" b="1" i="1" smtClean="0">
                <a:solidFill>
                  <a:srgbClr val="C00000"/>
                </a:solidFill>
                <a:latin typeface="Constantia" panose="02030602050306030303" pitchFamily="18" charset="0"/>
                <a:sym typeface="Wingdings" panose="05000000000000000000" pitchFamily="2" charset="2"/>
              </a:rPr>
              <a:t>	SETUP_ADC_PORT(SAN6|VSS_VDD);</a:t>
            </a:r>
            <a:endParaRPr lang="vi-VN" sz="2800" b="1" i="1" smtClean="0">
              <a:solidFill>
                <a:srgbClr val="C00000"/>
              </a:solidFill>
              <a:latin typeface="Constantia" panose="02030602050306030303" pitchFamily="18" charset="0"/>
              <a:sym typeface="Wingdings" panose="05000000000000000000" pitchFamily="2" charset="2"/>
            </a:endParaRPr>
          </a:p>
          <a:p>
            <a:pPr lvl="4"/>
            <a:r>
              <a:rPr lang="vi-VN" sz="2800" b="1" i="1">
                <a:solidFill>
                  <a:srgbClr val="C00000"/>
                </a:solidFill>
                <a:latin typeface="Constantia" panose="02030602050306030303" pitchFamily="18" charset="0"/>
                <a:sym typeface="Wingdings" panose="05000000000000000000" pitchFamily="2" charset="2"/>
              </a:rPr>
              <a:t>	</a:t>
            </a:r>
            <a:r>
              <a:rPr lang="vi-VN" sz="2800" b="1" i="1" smtClean="0">
                <a:solidFill>
                  <a:srgbClr val="C00000"/>
                </a:solidFill>
                <a:latin typeface="Constantia" panose="02030602050306030303" pitchFamily="18" charset="0"/>
                <a:sym typeface="Wingdings" panose="05000000000000000000" pitchFamily="2" charset="2"/>
              </a:rPr>
              <a:t>SET_ADC_CHANNEL(6);</a:t>
            </a:r>
            <a:endParaRPr lang="en-US" sz="2800" b="1" i="1" smtClean="0">
              <a:solidFill>
                <a:srgbClr val="C00000"/>
              </a:solidFill>
              <a:latin typeface="Constantia" panose="02030602050306030303" pitchFamily="18" charset="0"/>
              <a:sym typeface="Wingdings" panose="05000000000000000000" pitchFamily="2" charset="2"/>
            </a:endParaRPr>
          </a:p>
          <a:p>
            <a:pPr lvl="4"/>
            <a:r>
              <a:rPr lang="en-US" sz="2800" b="1" i="1" smtClean="0">
                <a:solidFill>
                  <a:srgbClr val="C00000"/>
                </a:solidFill>
                <a:latin typeface="Constantia" panose="02030602050306030303" pitchFamily="18" charset="0"/>
                <a:sym typeface="Wingdings" panose="05000000000000000000" pitchFamily="2" charset="2"/>
              </a:rPr>
              <a:t>WHILE(TRUE)</a:t>
            </a:r>
          </a:p>
          <a:p>
            <a:pPr lvl="4"/>
            <a:r>
              <a:rPr lang="en-US" sz="2800" b="1" i="1" smtClean="0">
                <a:solidFill>
                  <a:srgbClr val="C00000"/>
                </a:solidFill>
                <a:latin typeface="Constantia" panose="02030602050306030303" pitchFamily="18" charset="0"/>
                <a:sym typeface="Wingdings" panose="05000000000000000000" pitchFamily="2" charset="2"/>
              </a:rPr>
              <a:t>{</a:t>
            </a:r>
          </a:p>
          <a:p>
            <a:pPr lvl="4"/>
            <a:r>
              <a:rPr lang="en-US" sz="2800" b="1" i="1">
                <a:solidFill>
                  <a:srgbClr val="C00000"/>
                </a:solidFill>
                <a:latin typeface="Constantia" panose="02030602050306030303" pitchFamily="18" charset="0"/>
                <a:sym typeface="Wingdings" panose="05000000000000000000" pitchFamily="2" charset="2"/>
              </a:rPr>
              <a:t>	</a:t>
            </a:r>
            <a:r>
              <a:rPr lang="vi-VN" sz="2800" b="1" i="1" smtClean="0">
                <a:solidFill>
                  <a:srgbClr val="C00000"/>
                </a:solidFill>
                <a:latin typeface="Constantia" panose="02030602050306030303" pitchFamily="18" charset="0"/>
                <a:sym typeface="Wingdings" panose="05000000000000000000" pitchFamily="2" charset="2"/>
              </a:rPr>
              <a:t>ND = 0;</a:t>
            </a:r>
          </a:p>
          <a:p>
            <a:pPr lvl="4"/>
            <a:r>
              <a:rPr lang="vi-VN" sz="2800" b="1" i="1" smtClean="0">
                <a:solidFill>
                  <a:srgbClr val="C00000"/>
                </a:solidFill>
                <a:latin typeface="Constantia" panose="02030602050306030303" pitchFamily="18" charset="0"/>
                <a:sym typeface="Wingdings" panose="05000000000000000000" pitchFamily="2" charset="2"/>
              </a:rPr>
              <a:t>	</a:t>
            </a:r>
            <a:r>
              <a:rPr lang="en-US" sz="2800" b="1" i="1" smtClean="0">
                <a:solidFill>
                  <a:srgbClr val="C00000"/>
                </a:solidFill>
                <a:latin typeface="Constantia" panose="02030602050306030303" pitchFamily="18" charset="0"/>
                <a:sym typeface="Wingdings" panose="05000000000000000000" pitchFamily="2" charset="2"/>
              </a:rPr>
              <a:t>FOR(I = 0; I</a:t>
            </a:r>
            <a:r>
              <a:rPr lang="vi-VN" sz="2800" b="1" i="1" smtClean="0">
                <a:solidFill>
                  <a:srgbClr val="C00000"/>
                </a:solidFill>
                <a:latin typeface="Constantia" panose="02030602050306030303" pitchFamily="18" charset="0"/>
                <a:sym typeface="Wingdings" panose="05000000000000000000" pitchFamily="2" charset="2"/>
              </a:rPr>
              <a:t> &lt; 200; i++)</a:t>
            </a:r>
          </a:p>
          <a:p>
            <a:pPr lvl="6"/>
            <a:r>
              <a:rPr lang="vi-VN" sz="2800" b="1" i="1" smtClean="0">
                <a:solidFill>
                  <a:srgbClr val="C00000"/>
                </a:solidFill>
                <a:latin typeface="Constantia" panose="02030602050306030303" pitchFamily="18" charset="0"/>
                <a:sym typeface="Wingdings" panose="05000000000000000000" pitchFamily="2" charset="2"/>
              </a:rPr>
              <a:t>{</a:t>
            </a:r>
          </a:p>
          <a:p>
            <a:pPr lvl="6"/>
            <a:r>
              <a:rPr lang="vi-VN" sz="2800" b="1" i="1">
                <a:solidFill>
                  <a:srgbClr val="C00000"/>
                </a:solidFill>
                <a:latin typeface="Constantia" panose="02030602050306030303" pitchFamily="18" charset="0"/>
                <a:sym typeface="Wingdings" panose="05000000000000000000" pitchFamily="2" charset="2"/>
              </a:rPr>
              <a:t>	</a:t>
            </a:r>
            <a:r>
              <a:rPr lang="vi-VN" sz="2800" b="1" i="1" smtClean="0">
                <a:solidFill>
                  <a:srgbClr val="C00000"/>
                </a:solidFill>
                <a:latin typeface="Constantia" panose="02030602050306030303" pitchFamily="18" charset="0"/>
                <a:sym typeface="Wingdings" panose="05000000000000000000" pitchFamily="2" charset="2"/>
              </a:rPr>
              <a:t>ND = ND + READ_ADC();</a:t>
            </a:r>
          </a:p>
          <a:p>
            <a:pPr lvl="6"/>
            <a:r>
              <a:rPr lang="vi-VN" sz="2800" b="1" i="1" smtClean="0">
                <a:solidFill>
                  <a:srgbClr val="C00000"/>
                </a:solidFill>
                <a:latin typeface="Constantia" panose="02030602050306030303" pitchFamily="18" charset="0"/>
                <a:sym typeface="Wingdings" panose="05000000000000000000" pitchFamily="2" charset="2"/>
              </a:rPr>
              <a:t>	DELAY_MS(1)</a:t>
            </a:r>
          </a:p>
          <a:p>
            <a:pPr lvl="6"/>
            <a:r>
              <a:rPr lang="vi-VN" sz="2800" b="1" i="1" smtClean="0">
                <a:solidFill>
                  <a:srgbClr val="C00000"/>
                </a:solidFill>
                <a:latin typeface="Constantia" panose="02030602050306030303" pitchFamily="18" charset="0"/>
                <a:sym typeface="Wingdings" panose="05000000000000000000" pitchFamily="2" charset="2"/>
              </a:rPr>
              <a:t>}</a:t>
            </a:r>
          </a:p>
          <a:p>
            <a:pPr lvl="6"/>
            <a:r>
              <a:rPr lang="vi-VN" sz="2800" b="1" i="1" smtClean="0">
                <a:solidFill>
                  <a:srgbClr val="C00000"/>
                </a:solidFill>
                <a:latin typeface="Constantia" panose="02030602050306030303" pitchFamily="18" charset="0"/>
                <a:sym typeface="Wingdings" panose="05000000000000000000" pitchFamily="2" charset="2"/>
              </a:rPr>
              <a:t>ND = ND/2.046;</a:t>
            </a:r>
          </a:p>
          <a:p>
            <a:pPr lvl="6"/>
            <a:r>
              <a:rPr lang="vi-VN" sz="2800" b="1" i="1" smtClean="0">
                <a:solidFill>
                  <a:srgbClr val="C00000"/>
                </a:solidFill>
                <a:latin typeface="Constantia" panose="02030602050306030303" pitchFamily="18" charset="0"/>
                <a:sym typeface="Wingdings" panose="05000000000000000000" pitchFamily="2" charset="2"/>
              </a:rPr>
              <a:t>ND = ND/200;</a:t>
            </a:r>
          </a:p>
        </p:txBody>
      </p:sp>
    </p:spTree>
    <p:extLst>
      <p:ext uri="{BB962C8B-B14F-4D97-AF65-F5344CB8AC3E}">
        <p14:creationId xmlns:p14="http://schemas.microsoft.com/office/powerpoint/2010/main" val="295443776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wipe(down)">
                                      <p:cBhvr>
                                        <p:cTn id="7" dur="500"/>
                                        <p:tgtEl>
                                          <p:spTgt spid="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19">
                                            <p:txEl>
                                              <p:pRg st="1" end="1"/>
                                            </p:txEl>
                                          </p:spTgt>
                                        </p:tgtEl>
                                        <p:attrNameLst>
                                          <p:attrName>style.visibility</p:attrName>
                                        </p:attrNameLst>
                                      </p:cBhvr>
                                      <p:to>
                                        <p:strVal val="visible"/>
                                      </p:to>
                                    </p:set>
                                    <p:anim calcmode="lin" valueType="num">
                                      <p:cBhvr>
                                        <p:cTn id="12" dur="1000" fill="hold"/>
                                        <p:tgtEl>
                                          <p:spTgt spid="19">
                                            <p:txEl>
                                              <p:pRg st="1" end="1"/>
                                            </p:txEl>
                                          </p:spTgt>
                                        </p:tgtEl>
                                        <p:attrNameLst>
                                          <p:attrName>ppt_w</p:attrName>
                                        </p:attrNameLst>
                                      </p:cBhvr>
                                      <p:tavLst>
                                        <p:tav tm="0">
                                          <p:val>
                                            <p:fltVal val="0"/>
                                          </p:val>
                                        </p:tav>
                                        <p:tav tm="100000">
                                          <p:val>
                                            <p:strVal val="#ppt_w"/>
                                          </p:val>
                                        </p:tav>
                                      </p:tavLst>
                                    </p:anim>
                                    <p:anim calcmode="lin" valueType="num">
                                      <p:cBhvr>
                                        <p:cTn id="13" dur="1000" fill="hold"/>
                                        <p:tgtEl>
                                          <p:spTgt spid="19">
                                            <p:txEl>
                                              <p:pRg st="1" end="1"/>
                                            </p:txEl>
                                          </p:spTgt>
                                        </p:tgtEl>
                                        <p:attrNameLst>
                                          <p:attrName>ppt_h</p:attrName>
                                        </p:attrNameLst>
                                      </p:cBhvr>
                                      <p:tavLst>
                                        <p:tav tm="0">
                                          <p:val>
                                            <p:fltVal val="0"/>
                                          </p:val>
                                        </p:tav>
                                        <p:tav tm="100000">
                                          <p:val>
                                            <p:strVal val="#ppt_h"/>
                                          </p:val>
                                        </p:tav>
                                      </p:tavLst>
                                    </p:anim>
                                    <p:anim calcmode="lin" valueType="num">
                                      <p:cBhvr>
                                        <p:cTn id="14" dur="1000" fill="hold"/>
                                        <p:tgtEl>
                                          <p:spTgt spid="19">
                                            <p:txEl>
                                              <p:pRg st="1" end="1"/>
                                            </p:txEl>
                                          </p:spTgt>
                                        </p:tgtEl>
                                        <p:attrNameLst>
                                          <p:attrName>style.rotation</p:attrName>
                                        </p:attrNameLst>
                                      </p:cBhvr>
                                      <p:tavLst>
                                        <p:tav tm="0">
                                          <p:val>
                                            <p:fltVal val="90"/>
                                          </p:val>
                                        </p:tav>
                                        <p:tav tm="100000">
                                          <p:val>
                                            <p:fltVal val="0"/>
                                          </p:val>
                                        </p:tav>
                                      </p:tavLst>
                                    </p:anim>
                                    <p:animEffect transition="in" filter="fade">
                                      <p:cBhvr>
                                        <p:cTn id="15" dur="1000"/>
                                        <p:tgtEl>
                                          <p:spTgt spid="19">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1" presetClass="entr" presetSubtype="1" fill="hold" nodeType="clickEffect">
                                  <p:stCondLst>
                                    <p:cond delay="0"/>
                                  </p:stCondLst>
                                  <p:childTnLst>
                                    <p:set>
                                      <p:cBhvr>
                                        <p:cTn id="19" dur="1" fill="hold">
                                          <p:stCondLst>
                                            <p:cond delay="0"/>
                                          </p:stCondLst>
                                        </p:cTn>
                                        <p:tgtEl>
                                          <p:spTgt spid="19">
                                            <p:txEl>
                                              <p:pRg st="2" end="2"/>
                                            </p:txEl>
                                          </p:spTgt>
                                        </p:tgtEl>
                                        <p:attrNameLst>
                                          <p:attrName>style.visibility</p:attrName>
                                        </p:attrNameLst>
                                      </p:cBhvr>
                                      <p:to>
                                        <p:strVal val="visible"/>
                                      </p:to>
                                    </p:set>
                                    <p:animEffect transition="in" filter="wheel(1)">
                                      <p:cBhvr>
                                        <p:cTn id="20" dur="2000"/>
                                        <p:tgtEl>
                                          <p:spTgt spid="19">
                                            <p:txEl>
                                              <p:pRg st="2" end="2"/>
                                            </p:txEl>
                                          </p:spTgt>
                                        </p:tgtEl>
                                      </p:cBhvr>
                                    </p:animEffect>
                                  </p:childTnLst>
                                </p:cTn>
                              </p:par>
                              <p:par>
                                <p:cTn id="21" presetID="21" presetClass="entr" presetSubtype="1" fill="hold" nodeType="withEffect">
                                  <p:stCondLst>
                                    <p:cond delay="0"/>
                                  </p:stCondLst>
                                  <p:childTnLst>
                                    <p:set>
                                      <p:cBhvr>
                                        <p:cTn id="22" dur="1" fill="hold">
                                          <p:stCondLst>
                                            <p:cond delay="0"/>
                                          </p:stCondLst>
                                        </p:cTn>
                                        <p:tgtEl>
                                          <p:spTgt spid="19">
                                            <p:txEl>
                                              <p:pRg st="4" end="4"/>
                                            </p:txEl>
                                          </p:spTgt>
                                        </p:tgtEl>
                                        <p:attrNameLst>
                                          <p:attrName>style.visibility</p:attrName>
                                        </p:attrNameLst>
                                      </p:cBhvr>
                                      <p:to>
                                        <p:strVal val="visible"/>
                                      </p:to>
                                    </p:set>
                                    <p:animEffect transition="in" filter="wheel(1)">
                                      <p:cBhvr>
                                        <p:cTn id="23" dur="2000"/>
                                        <p:tgtEl>
                                          <p:spTgt spid="19">
                                            <p:txEl>
                                              <p:pRg st="4" end="4"/>
                                            </p:txEl>
                                          </p:spTgt>
                                        </p:tgtEl>
                                      </p:cBhvr>
                                    </p:animEffect>
                                  </p:childTnLst>
                                </p:cTn>
                              </p:par>
                              <p:par>
                                <p:cTn id="24" presetID="21" presetClass="entr" presetSubtype="1" fill="hold" nodeType="withEffect">
                                  <p:stCondLst>
                                    <p:cond delay="0"/>
                                  </p:stCondLst>
                                  <p:childTnLst>
                                    <p:set>
                                      <p:cBhvr>
                                        <p:cTn id="25" dur="1" fill="hold">
                                          <p:stCondLst>
                                            <p:cond delay="0"/>
                                          </p:stCondLst>
                                        </p:cTn>
                                        <p:tgtEl>
                                          <p:spTgt spid="19">
                                            <p:txEl>
                                              <p:pRg st="5" end="5"/>
                                            </p:txEl>
                                          </p:spTgt>
                                        </p:tgtEl>
                                        <p:attrNameLst>
                                          <p:attrName>style.visibility</p:attrName>
                                        </p:attrNameLst>
                                      </p:cBhvr>
                                      <p:to>
                                        <p:strVal val="visible"/>
                                      </p:to>
                                    </p:set>
                                    <p:animEffect transition="in" filter="wheel(1)">
                                      <p:cBhvr>
                                        <p:cTn id="26" dur="2000"/>
                                        <p:tgtEl>
                                          <p:spTgt spid="19">
                                            <p:txEl>
                                              <p:pRg st="5" end="5"/>
                                            </p:txEl>
                                          </p:spTgt>
                                        </p:tgtEl>
                                      </p:cBhvr>
                                    </p:animEffect>
                                  </p:childTnLst>
                                </p:cTn>
                              </p:par>
                              <p:par>
                                <p:cTn id="27" presetID="21" presetClass="entr" presetSubtype="1" fill="hold" nodeType="withEffect">
                                  <p:stCondLst>
                                    <p:cond delay="0"/>
                                  </p:stCondLst>
                                  <p:childTnLst>
                                    <p:set>
                                      <p:cBhvr>
                                        <p:cTn id="28" dur="1" fill="hold">
                                          <p:stCondLst>
                                            <p:cond delay="0"/>
                                          </p:stCondLst>
                                        </p:cTn>
                                        <p:tgtEl>
                                          <p:spTgt spid="19">
                                            <p:txEl>
                                              <p:pRg st="6" end="6"/>
                                            </p:txEl>
                                          </p:spTgt>
                                        </p:tgtEl>
                                        <p:attrNameLst>
                                          <p:attrName>style.visibility</p:attrName>
                                        </p:attrNameLst>
                                      </p:cBhvr>
                                      <p:to>
                                        <p:strVal val="visible"/>
                                      </p:to>
                                    </p:set>
                                    <p:animEffect transition="in" filter="wheel(1)">
                                      <p:cBhvr>
                                        <p:cTn id="29" dur="2000"/>
                                        <p:tgtEl>
                                          <p:spTgt spid="19">
                                            <p:txEl>
                                              <p:pRg st="6" end="6"/>
                                            </p:txEl>
                                          </p:spTgt>
                                        </p:tgtEl>
                                      </p:cBhvr>
                                    </p:animEffect>
                                  </p:childTnLst>
                                </p:cTn>
                              </p:par>
                              <p:par>
                                <p:cTn id="30" presetID="21" presetClass="entr" presetSubtype="1" fill="hold" nodeType="withEffect">
                                  <p:stCondLst>
                                    <p:cond delay="0"/>
                                  </p:stCondLst>
                                  <p:childTnLst>
                                    <p:set>
                                      <p:cBhvr>
                                        <p:cTn id="31" dur="1" fill="hold">
                                          <p:stCondLst>
                                            <p:cond delay="0"/>
                                          </p:stCondLst>
                                        </p:cTn>
                                        <p:tgtEl>
                                          <p:spTgt spid="19">
                                            <p:txEl>
                                              <p:pRg st="7" end="7"/>
                                            </p:txEl>
                                          </p:spTgt>
                                        </p:tgtEl>
                                        <p:attrNameLst>
                                          <p:attrName>style.visibility</p:attrName>
                                        </p:attrNameLst>
                                      </p:cBhvr>
                                      <p:to>
                                        <p:strVal val="visible"/>
                                      </p:to>
                                    </p:set>
                                    <p:animEffect transition="in" filter="wheel(1)">
                                      <p:cBhvr>
                                        <p:cTn id="32" dur="2000"/>
                                        <p:tgtEl>
                                          <p:spTgt spid="19">
                                            <p:txEl>
                                              <p:pRg st="7" end="7"/>
                                            </p:txEl>
                                          </p:spTgt>
                                        </p:tgtEl>
                                      </p:cBhvr>
                                    </p:animEffect>
                                  </p:childTnLst>
                                </p:cTn>
                              </p:par>
                              <p:par>
                                <p:cTn id="33" presetID="21" presetClass="entr" presetSubtype="1" fill="hold" nodeType="withEffect">
                                  <p:stCondLst>
                                    <p:cond delay="0"/>
                                  </p:stCondLst>
                                  <p:childTnLst>
                                    <p:set>
                                      <p:cBhvr>
                                        <p:cTn id="34" dur="1" fill="hold">
                                          <p:stCondLst>
                                            <p:cond delay="0"/>
                                          </p:stCondLst>
                                        </p:cTn>
                                        <p:tgtEl>
                                          <p:spTgt spid="19">
                                            <p:txEl>
                                              <p:pRg st="8" end="8"/>
                                            </p:txEl>
                                          </p:spTgt>
                                        </p:tgtEl>
                                        <p:attrNameLst>
                                          <p:attrName>style.visibility</p:attrName>
                                        </p:attrNameLst>
                                      </p:cBhvr>
                                      <p:to>
                                        <p:strVal val="visible"/>
                                      </p:to>
                                    </p:set>
                                    <p:animEffect transition="in" filter="wheel(1)">
                                      <p:cBhvr>
                                        <p:cTn id="35" dur="2000"/>
                                        <p:tgtEl>
                                          <p:spTgt spid="19">
                                            <p:txEl>
                                              <p:pRg st="8" end="8"/>
                                            </p:txEl>
                                          </p:spTgt>
                                        </p:tgtEl>
                                      </p:cBhvr>
                                    </p:animEffect>
                                  </p:childTnLst>
                                </p:cTn>
                              </p:par>
                              <p:par>
                                <p:cTn id="36" presetID="21" presetClass="entr" presetSubtype="1" fill="hold" nodeType="withEffect">
                                  <p:stCondLst>
                                    <p:cond delay="0"/>
                                  </p:stCondLst>
                                  <p:childTnLst>
                                    <p:set>
                                      <p:cBhvr>
                                        <p:cTn id="37" dur="1" fill="hold">
                                          <p:stCondLst>
                                            <p:cond delay="0"/>
                                          </p:stCondLst>
                                        </p:cTn>
                                        <p:tgtEl>
                                          <p:spTgt spid="19">
                                            <p:txEl>
                                              <p:pRg st="9" end="9"/>
                                            </p:txEl>
                                          </p:spTgt>
                                        </p:tgtEl>
                                        <p:attrNameLst>
                                          <p:attrName>style.visibility</p:attrName>
                                        </p:attrNameLst>
                                      </p:cBhvr>
                                      <p:to>
                                        <p:strVal val="visible"/>
                                      </p:to>
                                    </p:set>
                                    <p:animEffect transition="in" filter="wheel(1)">
                                      <p:cBhvr>
                                        <p:cTn id="38" dur="2000"/>
                                        <p:tgtEl>
                                          <p:spTgt spid="19">
                                            <p:txEl>
                                              <p:pRg st="9" end="9"/>
                                            </p:txEl>
                                          </p:spTgt>
                                        </p:tgtEl>
                                      </p:cBhvr>
                                    </p:animEffect>
                                  </p:childTnLst>
                                </p:cTn>
                              </p:par>
                              <p:par>
                                <p:cTn id="39" presetID="21" presetClass="entr" presetSubtype="1" fill="hold" nodeType="withEffect">
                                  <p:stCondLst>
                                    <p:cond delay="0"/>
                                  </p:stCondLst>
                                  <p:childTnLst>
                                    <p:set>
                                      <p:cBhvr>
                                        <p:cTn id="40" dur="1" fill="hold">
                                          <p:stCondLst>
                                            <p:cond delay="0"/>
                                          </p:stCondLst>
                                        </p:cTn>
                                        <p:tgtEl>
                                          <p:spTgt spid="19">
                                            <p:txEl>
                                              <p:pRg st="10" end="10"/>
                                            </p:txEl>
                                          </p:spTgt>
                                        </p:tgtEl>
                                        <p:attrNameLst>
                                          <p:attrName>style.visibility</p:attrName>
                                        </p:attrNameLst>
                                      </p:cBhvr>
                                      <p:to>
                                        <p:strVal val="visible"/>
                                      </p:to>
                                    </p:set>
                                    <p:animEffect transition="in" filter="wheel(1)">
                                      <p:cBhvr>
                                        <p:cTn id="41" dur="2000"/>
                                        <p:tgtEl>
                                          <p:spTgt spid="19">
                                            <p:txEl>
                                              <p:pRg st="10" end="10"/>
                                            </p:txEl>
                                          </p:spTgt>
                                        </p:tgtEl>
                                      </p:cBhvr>
                                    </p:animEffect>
                                  </p:childTnLst>
                                </p:cTn>
                              </p:par>
                              <p:par>
                                <p:cTn id="42" presetID="21" presetClass="entr" presetSubtype="1" fill="hold" nodeType="withEffect">
                                  <p:stCondLst>
                                    <p:cond delay="0"/>
                                  </p:stCondLst>
                                  <p:childTnLst>
                                    <p:set>
                                      <p:cBhvr>
                                        <p:cTn id="43" dur="1" fill="hold">
                                          <p:stCondLst>
                                            <p:cond delay="0"/>
                                          </p:stCondLst>
                                        </p:cTn>
                                        <p:tgtEl>
                                          <p:spTgt spid="19">
                                            <p:txEl>
                                              <p:pRg st="11" end="11"/>
                                            </p:txEl>
                                          </p:spTgt>
                                        </p:tgtEl>
                                        <p:attrNameLst>
                                          <p:attrName>style.visibility</p:attrName>
                                        </p:attrNameLst>
                                      </p:cBhvr>
                                      <p:to>
                                        <p:strVal val="visible"/>
                                      </p:to>
                                    </p:set>
                                    <p:animEffect transition="in" filter="wheel(1)">
                                      <p:cBhvr>
                                        <p:cTn id="44" dur="2000"/>
                                        <p:tgtEl>
                                          <p:spTgt spid="19">
                                            <p:txEl>
                                              <p:pRg st="11" end="11"/>
                                            </p:txEl>
                                          </p:spTgt>
                                        </p:tgtEl>
                                      </p:cBhvr>
                                    </p:animEffect>
                                  </p:childTnLst>
                                </p:cTn>
                              </p:par>
                              <p:par>
                                <p:cTn id="45" presetID="21" presetClass="entr" presetSubtype="1" fill="hold" nodeType="withEffect">
                                  <p:stCondLst>
                                    <p:cond delay="0"/>
                                  </p:stCondLst>
                                  <p:childTnLst>
                                    <p:set>
                                      <p:cBhvr>
                                        <p:cTn id="46" dur="1" fill="hold">
                                          <p:stCondLst>
                                            <p:cond delay="0"/>
                                          </p:stCondLst>
                                        </p:cTn>
                                        <p:tgtEl>
                                          <p:spTgt spid="19">
                                            <p:txEl>
                                              <p:pRg st="12" end="12"/>
                                            </p:txEl>
                                          </p:spTgt>
                                        </p:tgtEl>
                                        <p:attrNameLst>
                                          <p:attrName>style.visibility</p:attrName>
                                        </p:attrNameLst>
                                      </p:cBhvr>
                                      <p:to>
                                        <p:strVal val="visible"/>
                                      </p:to>
                                    </p:set>
                                    <p:animEffect transition="in" filter="wheel(1)">
                                      <p:cBhvr>
                                        <p:cTn id="47" dur="2000"/>
                                        <p:tgtEl>
                                          <p:spTgt spid="19">
                                            <p:txEl>
                                              <p:pRg st="12" end="12"/>
                                            </p:txEl>
                                          </p:spTgt>
                                        </p:tgtEl>
                                      </p:cBhvr>
                                    </p:animEffect>
                                  </p:childTnLst>
                                </p:cTn>
                              </p:par>
                              <p:par>
                                <p:cTn id="48" presetID="21" presetClass="entr" presetSubtype="1" fill="hold" nodeType="withEffect">
                                  <p:stCondLst>
                                    <p:cond delay="0"/>
                                  </p:stCondLst>
                                  <p:childTnLst>
                                    <p:set>
                                      <p:cBhvr>
                                        <p:cTn id="49" dur="1" fill="hold">
                                          <p:stCondLst>
                                            <p:cond delay="0"/>
                                          </p:stCondLst>
                                        </p:cTn>
                                        <p:tgtEl>
                                          <p:spTgt spid="19">
                                            <p:txEl>
                                              <p:pRg st="13" end="13"/>
                                            </p:txEl>
                                          </p:spTgt>
                                        </p:tgtEl>
                                        <p:attrNameLst>
                                          <p:attrName>style.visibility</p:attrName>
                                        </p:attrNameLst>
                                      </p:cBhvr>
                                      <p:to>
                                        <p:strVal val="visible"/>
                                      </p:to>
                                    </p:set>
                                    <p:animEffect transition="in" filter="wheel(1)">
                                      <p:cBhvr>
                                        <p:cTn id="50" dur="2000"/>
                                        <p:tgtEl>
                                          <p:spTgt spid="19">
                                            <p:txEl>
                                              <p:pRg st="13" end="13"/>
                                            </p:txEl>
                                          </p:spTgt>
                                        </p:tgtEl>
                                      </p:cBhvr>
                                    </p:animEffect>
                                  </p:childTnLst>
                                </p:cTn>
                              </p:par>
                              <p:par>
                                <p:cTn id="51" presetID="21" presetClass="entr" presetSubtype="1" fill="hold" nodeType="withEffect">
                                  <p:stCondLst>
                                    <p:cond delay="0"/>
                                  </p:stCondLst>
                                  <p:childTnLst>
                                    <p:set>
                                      <p:cBhvr>
                                        <p:cTn id="52" dur="1" fill="hold">
                                          <p:stCondLst>
                                            <p:cond delay="0"/>
                                          </p:stCondLst>
                                        </p:cTn>
                                        <p:tgtEl>
                                          <p:spTgt spid="19">
                                            <p:txEl>
                                              <p:pRg st="14" end="14"/>
                                            </p:txEl>
                                          </p:spTgt>
                                        </p:tgtEl>
                                        <p:attrNameLst>
                                          <p:attrName>style.visibility</p:attrName>
                                        </p:attrNameLst>
                                      </p:cBhvr>
                                      <p:to>
                                        <p:strVal val="visible"/>
                                      </p:to>
                                    </p:set>
                                    <p:animEffect transition="in" filter="wheel(1)">
                                      <p:cBhvr>
                                        <p:cTn id="53" dur="2000"/>
                                        <p:tgtEl>
                                          <p:spTgt spid="19">
                                            <p:txEl>
                                              <p:pRg st="14" end="14"/>
                                            </p:txEl>
                                          </p:spTgt>
                                        </p:tgtEl>
                                      </p:cBhvr>
                                    </p:animEffect>
                                  </p:childTnLst>
                                </p:cTn>
                              </p:par>
                              <p:par>
                                <p:cTn id="54" presetID="21" presetClass="entr" presetSubtype="1" fill="hold" nodeType="withEffect">
                                  <p:stCondLst>
                                    <p:cond delay="0"/>
                                  </p:stCondLst>
                                  <p:childTnLst>
                                    <p:set>
                                      <p:cBhvr>
                                        <p:cTn id="55" dur="1" fill="hold">
                                          <p:stCondLst>
                                            <p:cond delay="0"/>
                                          </p:stCondLst>
                                        </p:cTn>
                                        <p:tgtEl>
                                          <p:spTgt spid="19">
                                            <p:txEl>
                                              <p:pRg st="15" end="15"/>
                                            </p:txEl>
                                          </p:spTgt>
                                        </p:tgtEl>
                                        <p:attrNameLst>
                                          <p:attrName>style.visibility</p:attrName>
                                        </p:attrNameLst>
                                      </p:cBhvr>
                                      <p:to>
                                        <p:strVal val="visible"/>
                                      </p:to>
                                    </p:set>
                                    <p:animEffect transition="in" filter="wheel(1)">
                                      <p:cBhvr>
                                        <p:cTn id="56" dur="2000"/>
                                        <p:tgtEl>
                                          <p:spTgt spid="19">
                                            <p:txEl>
                                              <p:pRg st="15" end="15"/>
                                            </p:txEl>
                                          </p:spTgt>
                                        </p:tgtEl>
                                      </p:cBhvr>
                                    </p:animEffect>
                                  </p:childTnLst>
                                </p:cTn>
                              </p:par>
                              <p:par>
                                <p:cTn id="57" presetID="21" presetClass="entr" presetSubtype="1" fill="hold" nodeType="withEffect">
                                  <p:stCondLst>
                                    <p:cond delay="0"/>
                                  </p:stCondLst>
                                  <p:childTnLst>
                                    <p:set>
                                      <p:cBhvr>
                                        <p:cTn id="58" dur="1" fill="hold">
                                          <p:stCondLst>
                                            <p:cond delay="0"/>
                                          </p:stCondLst>
                                        </p:cTn>
                                        <p:tgtEl>
                                          <p:spTgt spid="19">
                                            <p:txEl>
                                              <p:pRg st="16" end="16"/>
                                            </p:txEl>
                                          </p:spTgt>
                                        </p:tgtEl>
                                        <p:attrNameLst>
                                          <p:attrName>style.visibility</p:attrName>
                                        </p:attrNameLst>
                                      </p:cBhvr>
                                      <p:to>
                                        <p:strVal val="visible"/>
                                      </p:to>
                                    </p:set>
                                    <p:animEffect transition="in" filter="wheel(1)">
                                      <p:cBhvr>
                                        <p:cTn id="59" dur="2000"/>
                                        <p:tgtEl>
                                          <p:spTgt spid="19">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3"/>
          <p:cNvSpPr txBox="1"/>
          <p:nvPr/>
        </p:nvSpPr>
        <p:spPr>
          <a:xfrm>
            <a:off x="525346" y="3079492"/>
            <a:ext cx="2261444" cy="2420449"/>
          </a:xfrm>
          <a:prstGeom prst="rect">
            <a:avLst/>
          </a:prstGeom>
        </p:spPr>
        <p:txBody>
          <a:bodyPr lIns="50800" tIns="50800" rIns="50800" bIns="50800" rtlCol="0" anchor="ctr"/>
          <a:lstStyle/>
          <a:p>
            <a:pPr algn="ctr">
              <a:lnSpc>
                <a:spcPts val="3220"/>
              </a:lnSpc>
            </a:pPr>
            <a:endParaRPr/>
          </a:p>
        </p:txBody>
      </p:sp>
      <p:grpSp>
        <p:nvGrpSpPr>
          <p:cNvPr id="33" name="Group 33"/>
          <p:cNvGrpSpPr/>
          <p:nvPr/>
        </p:nvGrpSpPr>
        <p:grpSpPr>
          <a:xfrm>
            <a:off x="0" y="9983250"/>
            <a:ext cx="1028700" cy="303750"/>
            <a:chOff x="0" y="0"/>
            <a:chExt cx="270933" cy="80000"/>
          </a:xfrm>
        </p:grpSpPr>
        <p:sp>
          <p:nvSpPr>
            <p:cNvPr id="34" name="Freeform 34"/>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5" name="TextBox 35"/>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36" name="Group 36"/>
          <p:cNvGrpSpPr/>
          <p:nvPr/>
        </p:nvGrpSpPr>
        <p:grpSpPr>
          <a:xfrm>
            <a:off x="17259300" y="0"/>
            <a:ext cx="1028700" cy="303750"/>
            <a:chOff x="0" y="0"/>
            <a:chExt cx="270933" cy="80000"/>
          </a:xfrm>
        </p:grpSpPr>
        <p:sp>
          <p:nvSpPr>
            <p:cNvPr id="37" name="Freeform 37"/>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8" name="TextBox 38"/>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39" name="Group 39"/>
          <p:cNvGrpSpPr/>
          <p:nvPr/>
        </p:nvGrpSpPr>
        <p:grpSpPr>
          <a:xfrm>
            <a:off x="0" y="0"/>
            <a:ext cx="1028700" cy="303750"/>
            <a:chOff x="0" y="0"/>
            <a:chExt cx="270933" cy="80000"/>
          </a:xfrm>
        </p:grpSpPr>
        <p:sp>
          <p:nvSpPr>
            <p:cNvPr id="40" name="Freeform 40"/>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1" name="TextBox 41"/>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42" name="Group 42"/>
          <p:cNvGrpSpPr/>
          <p:nvPr/>
        </p:nvGrpSpPr>
        <p:grpSpPr>
          <a:xfrm>
            <a:off x="17259300" y="9983250"/>
            <a:ext cx="1028700" cy="303750"/>
            <a:chOff x="0" y="0"/>
            <a:chExt cx="270933" cy="80000"/>
          </a:xfrm>
        </p:grpSpPr>
        <p:sp>
          <p:nvSpPr>
            <p:cNvPr id="43" name="Freeform 43"/>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4" name="TextBox 44"/>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sp>
        <p:nvSpPr>
          <p:cNvPr id="59" name="TextBox 58"/>
          <p:cNvSpPr txBox="1"/>
          <p:nvPr/>
        </p:nvSpPr>
        <p:spPr>
          <a:xfrm>
            <a:off x="1133476" y="15725"/>
            <a:ext cx="13887448" cy="707886"/>
          </a:xfrm>
          <a:prstGeom prst="rect">
            <a:avLst/>
          </a:prstGeom>
          <a:noFill/>
        </p:spPr>
        <p:txBody>
          <a:bodyPr wrap="square" rtlCol="0">
            <a:spAutoFit/>
          </a:bodyPr>
          <a:lstStyle/>
          <a:p>
            <a:r>
              <a:rPr lang="vi-VN" sz="4000" b="1" smtClean="0">
                <a:latin typeface="Constantia" panose="02030602050306030303" pitchFamily="18" charset="0"/>
              </a:rPr>
              <a:t>Ví dụ: </a:t>
            </a:r>
            <a:r>
              <a:rPr lang="vi-VN" sz="4000" smtClean="0">
                <a:latin typeface="Constantia" panose="02030602050306030303" pitchFamily="18" charset="0"/>
              </a:rPr>
              <a:t>Từ lưu đồ bên dưới viết lại dưới dạng các câu lệnh.</a:t>
            </a:r>
          </a:p>
        </p:txBody>
      </p:sp>
      <p:sp>
        <p:nvSpPr>
          <p:cNvPr id="26" name="TextBox 25"/>
          <p:cNvSpPr txBox="1"/>
          <p:nvPr/>
        </p:nvSpPr>
        <p:spPr>
          <a:xfrm>
            <a:off x="8229600" y="2247900"/>
            <a:ext cx="9112203" cy="3970318"/>
          </a:xfrm>
          <a:prstGeom prst="rect">
            <a:avLst/>
          </a:prstGeom>
          <a:noFill/>
          <a:ln w="25400">
            <a:solidFill>
              <a:srgbClr val="FF0000"/>
            </a:solidFill>
          </a:ln>
        </p:spPr>
        <p:txBody>
          <a:bodyPr wrap="square" rtlCol="0">
            <a:spAutoFit/>
          </a:bodyPr>
          <a:lstStyle/>
          <a:p>
            <a:r>
              <a:rPr lang="en-US" sz="3600" smtClean="0">
                <a:latin typeface="Constantia" panose="02030602050306030303" pitchFamily="18" charset="0"/>
              </a:rPr>
              <a:t>	  if(!input(</a:t>
            </a:r>
            <a:r>
              <a:rPr lang="vi-VN" sz="3600" smtClean="0">
                <a:latin typeface="Constantia" panose="02030602050306030303" pitchFamily="18" charset="0"/>
              </a:rPr>
              <a:t>BT))</a:t>
            </a:r>
          </a:p>
          <a:p>
            <a:r>
              <a:rPr lang="vi-VN" sz="3600" smtClean="0">
                <a:latin typeface="Constantia" panose="02030602050306030303" pitchFamily="18" charset="0"/>
              </a:rPr>
              <a:t>{</a:t>
            </a:r>
          </a:p>
          <a:p>
            <a:r>
              <a:rPr lang="vi-VN" sz="3600">
                <a:latin typeface="Constantia" panose="02030602050306030303" pitchFamily="18" charset="0"/>
              </a:rPr>
              <a:t>	</a:t>
            </a:r>
            <a:r>
              <a:rPr lang="vi-VN" sz="3600" smtClean="0">
                <a:latin typeface="Constantia" panose="02030602050306030303" pitchFamily="18" charset="0"/>
              </a:rPr>
              <a:t>delay_ms(50);</a:t>
            </a:r>
          </a:p>
          <a:p>
            <a:r>
              <a:rPr lang="vi-VN" sz="3600">
                <a:latin typeface="Constantia" panose="02030602050306030303" pitchFamily="18" charset="0"/>
              </a:rPr>
              <a:t>	</a:t>
            </a:r>
            <a:r>
              <a:rPr lang="vi-VN" sz="3600" smtClean="0">
                <a:latin typeface="Constantia" panose="02030602050306030303" pitchFamily="18" charset="0"/>
              </a:rPr>
              <a:t>//cong viec</a:t>
            </a:r>
          </a:p>
          <a:p>
            <a:r>
              <a:rPr lang="vi-VN" sz="3600">
                <a:latin typeface="Constantia" panose="02030602050306030303" pitchFamily="18" charset="0"/>
              </a:rPr>
              <a:t>	</a:t>
            </a:r>
            <a:r>
              <a:rPr lang="vi-VN" sz="3600" smtClean="0">
                <a:latin typeface="Constantia" panose="02030602050306030303" pitchFamily="18" charset="0"/>
              </a:rPr>
              <a:t>while(!input(BT));</a:t>
            </a:r>
          </a:p>
          <a:p>
            <a:r>
              <a:rPr lang="vi-VN" sz="3600">
                <a:latin typeface="Constantia" panose="02030602050306030303" pitchFamily="18" charset="0"/>
              </a:rPr>
              <a:t>	</a:t>
            </a:r>
            <a:r>
              <a:rPr lang="vi-VN" sz="3600" smtClean="0">
                <a:latin typeface="Constantia" panose="02030602050306030303" pitchFamily="18" charset="0"/>
              </a:rPr>
              <a:t>delay_ms(50);</a:t>
            </a:r>
          </a:p>
          <a:p>
            <a:r>
              <a:rPr lang="vi-VN" sz="3600">
                <a:latin typeface="Constantia" panose="02030602050306030303" pitchFamily="18" charset="0"/>
              </a:rPr>
              <a:t>}</a:t>
            </a:r>
            <a:r>
              <a:rPr lang="en-US" sz="3600">
                <a:latin typeface="Constantia" panose="02030602050306030303" pitchFamily="18" charset="0"/>
              </a:rPr>
              <a:t>	</a:t>
            </a:r>
          </a:p>
        </p:txBody>
      </p:sp>
      <p:pic>
        <p:nvPicPr>
          <p:cNvPr id="2" name="Picture 1"/>
          <p:cNvPicPr>
            <a:picLocks noChangeAspect="1"/>
          </p:cNvPicPr>
          <p:nvPr/>
        </p:nvPicPr>
        <p:blipFill>
          <a:blip r:embed="rId3"/>
          <a:stretch>
            <a:fillRect/>
          </a:stretch>
        </p:blipFill>
        <p:spPr>
          <a:xfrm>
            <a:off x="304800" y="856783"/>
            <a:ext cx="6781800" cy="9337843"/>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5682"/>
            <a:ext cx="18285714" cy="10285714"/>
          </a:xfrm>
          <a:prstGeom prst="rect">
            <a:avLst/>
          </a:prstGeom>
        </p:spPr>
      </p:pic>
      <p:sp>
        <p:nvSpPr>
          <p:cNvPr id="19" name="TextBox 18"/>
          <p:cNvSpPr txBox="1"/>
          <p:nvPr/>
        </p:nvSpPr>
        <p:spPr>
          <a:xfrm>
            <a:off x="265582" y="1011502"/>
            <a:ext cx="17428450" cy="2554545"/>
          </a:xfrm>
          <a:prstGeom prst="rect">
            <a:avLst/>
          </a:prstGeom>
          <a:noFill/>
          <a:ln w="25400">
            <a:noFill/>
          </a:ln>
        </p:spPr>
        <p:txBody>
          <a:bodyPr wrap="square" rtlCol="0">
            <a:spAutoFit/>
          </a:bodyPr>
          <a:lstStyle/>
          <a:p>
            <a:r>
              <a:rPr lang="vi-VN" sz="3200" b="1" i="1" smtClean="0">
                <a:solidFill>
                  <a:srgbClr val="FF0000"/>
                </a:solidFill>
                <a:latin typeface="Constantia" panose="02030602050306030303" pitchFamily="18" charset="0"/>
                <a:sym typeface="Wingdings" panose="05000000000000000000" pitchFamily="2" charset="2"/>
              </a:rPr>
              <a:t>3. Đọc giá trị chiết áp</a:t>
            </a:r>
          </a:p>
          <a:p>
            <a:pPr marL="457200" indent="-457200">
              <a:buFont typeface="Wingdings" panose="05000000000000000000" pitchFamily="2" charset="2"/>
              <a:buChar char="à"/>
            </a:pPr>
            <a:r>
              <a:rPr lang="vi-VN" sz="3200" i="1" smtClean="0">
                <a:solidFill>
                  <a:srgbClr val="002060"/>
                </a:solidFill>
                <a:latin typeface="Constantia" panose="02030602050306030303" pitchFamily="18" charset="0"/>
                <a:sym typeface="Wingdings" panose="05000000000000000000" pitchFamily="2" charset="2"/>
              </a:rPr>
              <a:t>Chiết áp cũng tương tự như cảm biến LM35, thường được dùng để cài trước nhiệt độ cho hệ thống bằng cách thay đổi điện áp trên chiết áp. </a:t>
            </a:r>
          </a:p>
          <a:p>
            <a:r>
              <a:rPr lang="vi-VN" sz="3200" b="1" i="1" smtClean="0">
                <a:solidFill>
                  <a:srgbClr val="002060"/>
                </a:solidFill>
                <a:latin typeface="Constantia" panose="02030602050306030303" pitchFamily="18" charset="0"/>
                <a:sym typeface="Wingdings" panose="05000000000000000000" pitchFamily="2" charset="2"/>
              </a:rPr>
              <a:t>Ví dụ: </a:t>
            </a:r>
            <a:r>
              <a:rPr lang="vi-VN" sz="3200" i="1" smtClean="0">
                <a:solidFill>
                  <a:srgbClr val="002060"/>
                </a:solidFill>
                <a:latin typeface="Constantia" panose="02030602050306030303" pitchFamily="18" charset="0"/>
                <a:sym typeface="Wingdings" panose="05000000000000000000" pitchFamily="2" charset="2"/>
              </a:rPr>
              <a:t>Điều chỉnh nhiệt độ bằng chiết áp, biết chiết áp POT(10K, 50mV/1 %), giới hạn nhiệt độ môi trường từ 00 đến 99.</a:t>
            </a:r>
            <a:endParaRPr lang="vi-VN" sz="3200" b="1" i="1">
              <a:solidFill>
                <a:srgbClr val="002060"/>
              </a:solidFill>
              <a:latin typeface="Constantia" panose="02030602050306030303" pitchFamily="18" charset="0"/>
              <a:sym typeface="Wingdings" panose="05000000000000000000" pitchFamily="2" charset="2"/>
            </a:endParaRPr>
          </a:p>
        </p:txBody>
      </p:sp>
      <p:graphicFrame>
        <p:nvGraphicFramePr>
          <p:cNvPr id="20" name="Object 19"/>
          <p:cNvGraphicFramePr>
            <a:graphicFrameLocks noChangeAspect="1"/>
          </p:cNvGraphicFramePr>
          <p:nvPr>
            <p:extLst>
              <p:ext uri="{D42A27DB-BD31-4B8C-83A1-F6EECF244321}">
                <p14:modId xmlns:p14="http://schemas.microsoft.com/office/powerpoint/2010/main" val="2123956739"/>
              </p:ext>
            </p:extLst>
          </p:nvPr>
        </p:nvGraphicFramePr>
        <p:xfrm>
          <a:off x="5222875" y="3286125"/>
          <a:ext cx="7516813" cy="1176338"/>
        </p:xfrm>
        <a:graphic>
          <a:graphicData uri="http://schemas.openxmlformats.org/presentationml/2006/ole">
            <mc:AlternateContent xmlns:mc="http://schemas.openxmlformats.org/markup-compatibility/2006">
              <mc:Choice xmlns:v="urn:schemas-microsoft-com:vml" Requires="v">
                <p:oleObj spid="_x0000_s3104" name="Equation" r:id="rId5" imgW="2755800" imgH="431640" progId="Equation.DSMT4">
                  <p:embed/>
                </p:oleObj>
              </mc:Choice>
              <mc:Fallback>
                <p:oleObj name="Equation" r:id="rId5" imgW="2755800" imgH="431640" progId="Equation.DSMT4">
                  <p:embed/>
                  <p:pic>
                    <p:nvPicPr>
                      <p:cNvPr id="4" name="Object 3"/>
                      <p:cNvPicPr/>
                      <p:nvPr/>
                    </p:nvPicPr>
                    <p:blipFill>
                      <a:blip r:embed="rId6"/>
                      <a:stretch>
                        <a:fillRect/>
                      </a:stretch>
                    </p:blipFill>
                    <p:spPr>
                      <a:xfrm>
                        <a:off x="5222875" y="3286125"/>
                        <a:ext cx="7516813" cy="1176338"/>
                      </a:xfrm>
                      <a:prstGeom prst="rect">
                        <a:avLst/>
                      </a:prstGeom>
                    </p:spPr>
                  </p:pic>
                </p:oleObj>
              </mc:Fallback>
            </mc:AlternateContent>
          </a:graphicData>
        </a:graphic>
      </p:graphicFrame>
      <p:sp>
        <p:nvSpPr>
          <p:cNvPr id="21" name="TextBox 20"/>
          <p:cNvSpPr txBox="1"/>
          <p:nvPr/>
        </p:nvSpPr>
        <p:spPr>
          <a:xfrm>
            <a:off x="304800" y="4610454"/>
            <a:ext cx="16371394" cy="584775"/>
          </a:xfrm>
          <a:prstGeom prst="rect">
            <a:avLst/>
          </a:prstGeom>
          <a:noFill/>
          <a:ln w="25400">
            <a:noFill/>
          </a:ln>
        </p:spPr>
        <p:txBody>
          <a:bodyPr wrap="square" rtlCol="0">
            <a:spAutoFit/>
          </a:bodyPr>
          <a:lstStyle/>
          <a:p>
            <a:r>
              <a:rPr lang="vi-VN" sz="3200" b="1" i="1" smtClean="0">
                <a:solidFill>
                  <a:srgbClr val="002060"/>
                </a:solidFill>
                <a:latin typeface="Constantia" panose="02030602050306030303" pitchFamily="18" charset="0"/>
              </a:rPr>
              <a:t>Đối với ADC</a:t>
            </a:r>
            <a:r>
              <a:rPr lang="en-US" sz="3200" b="1" i="1" smtClean="0">
                <a:solidFill>
                  <a:srgbClr val="002060"/>
                </a:solidFill>
                <a:latin typeface="Constantia" panose="02030602050306030303" pitchFamily="18" charset="0"/>
              </a:rPr>
              <a:t> 10 bit, </a:t>
            </a:r>
            <a:r>
              <a:rPr lang="vi-VN" sz="3200" b="1" i="1" smtClean="0">
                <a:solidFill>
                  <a:srgbClr val="002060"/>
                </a:solidFill>
                <a:latin typeface="Constantia" panose="02030602050306030303" pitchFamily="18" charset="0"/>
              </a:rPr>
              <a:t>dùng điện áp 5V và 0V tham chiếu, ta lại có: </a:t>
            </a:r>
            <a:endParaRPr lang="vi-VN" sz="3200" b="1" i="1">
              <a:solidFill>
                <a:srgbClr val="002060"/>
              </a:solidFill>
              <a:latin typeface="Constantia" panose="02030602050306030303" pitchFamily="18" charset="0"/>
            </a:endParaRPr>
          </a:p>
        </p:txBody>
      </p:sp>
      <p:graphicFrame>
        <p:nvGraphicFramePr>
          <p:cNvPr id="22" name="Object 21"/>
          <p:cNvGraphicFramePr>
            <a:graphicFrameLocks noChangeAspect="1"/>
          </p:cNvGraphicFramePr>
          <p:nvPr>
            <p:extLst>
              <p:ext uri="{D42A27DB-BD31-4B8C-83A1-F6EECF244321}">
                <p14:modId xmlns:p14="http://schemas.microsoft.com/office/powerpoint/2010/main" val="4048195598"/>
              </p:ext>
            </p:extLst>
          </p:nvPr>
        </p:nvGraphicFramePr>
        <p:xfrm>
          <a:off x="2117510" y="5193472"/>
          <a:ext cx="12595225" cy="1316037"/>
        </p:xfrm>
        <a:graphic>
          <a:graphicData uri="http://schemas.openxmlformats.org/presentationml/2006/ole">
            <mc:AlternateContent xmlns:mc="http://schemas.openxmlformats.org/markup-compatibility/2006">
              <mc:Choice xmlns:v="urn:schemas-microsoft-com:vml" Requires="v">
                <p:oleObj spid="_x0000_s3105" name="Equation" r:id="rId7" imgW="4495680" imgH="469800" progId="Equation.DSMT4">
                  <p:embed/>
                </p:oleObj>
              </mc:Choice>
              <mc:Fallback>
                <p:oleObj name="Equation" r:id="rId7" imgW="4495680" imgH="469800" progId="Equation.DSMT4">
                  <p:embed/>
                  <p:pic>
                    <p:nvPicPr>
                      <p:cNvPr id="5" name="Object 4"/>
                      <p:cNvPicPr/>
                      <p:nvPr/>
                    </p:nvPicPr>
                    <p:blipFill>
                      <a:blip r:embed="rId8"/>
                      <a:stretch>
                        <a:fillRect/>
                      </a:stretch>
                    </p:blipFill>
                    <p:spPr>
                      <a:xfrm>
                        <a:off x="2117510" y="5193472"/>
                        <a:ext cx="12595225" cy="1316037"/>
                      </a:xfrm>
                      <a:prstGeom prst="rect">
                        <a:avLst/>
                      </a:prstGeom>
                    </p:spPr>
                  </p:pic>
                </p:oleObj>
              </mc:Fallback>
            </mc:AlternateContent>
          </a:graphicData>
        </a:graphic>
      </p:graphicFrame>
      <p:sp>
        <p:nvSpPr>
          <p:cNvPr id="23" name="TextBox 22"/>
          <p:cNvSpPr txBox="1"/>
          <p:nvPr/>
        </p:nvSpPr>
        <p:spPr>
          <a:xfrm>
            <a:off x="330200" y="6666870"/>
            <a:ext cx="16371394" cy="584775"/>
          </a:xfrm>
          <a:prstGeom prst="rect">
            <a:avLst/>
          </a:prstGeom>
          <a:noFill/>
          <a:ln w="25400">
            <a:noFill/>
          </a:ln>
        </p:spPr>
        <p:txBody>
          <a:bodyPr wrap="square" rtlCol="0">
            <a:spAutoFit/>
          </a:bodyPr>
          <a:lstStyle/>
          <a:p>
            <a:r>
              <a:rPr lang="vi-VN" sz="3200" b="1" i="1" smtClean="0">
                <a:solidFill>
                  <a:srgbClr val="002060"/>
                </a:solidFill>
                <a:latin typeface="Constantia" panose="02030602050306030303" pitchFamily="18" charset="0"/>
              </a:rPr>
              <a:t>Từ (1) và (2) ta có công thức quan trọng:</a:t>
            </a:r>
            <a:endParaRPr lang="vi-VN" sz="3200" b="1" i="1">
              <a:solidFill>
                <a:srgbClr val="002060"/>
              </a:solidFill>
              <a:latin typeface="Constantia" panose="02030602050306030303" pitchFamily="18" charset="0"/>
            </a:endParaRPr>
          </a:p>
        </p:txBody>
      </p:sp>
      <p:graphicFrame>
        <p:nvGraphicFramePr>
          <p:cNvPr id="24" name="Object 23"/>
          <p:cNvGraphicFramePr>
            <a:graphicFrameLocks noChangeAspect="1"/>
          </p:cNvGraphicFramePr>
          <p:nvPr>
            <p:extLst>
              <p:ext uri="{D42A27DB-BD31-4B8C-83A1-F6EECF244321}">
                <p14:modId xmlns:p14="http://schemas.microsoft.com/office/powerpoint/2010/main" val="488321850"/>
              </p:ext>
            </p:extLst>
          </p:nvPr>
        </p:nvGraphicFramePr>
        <p:xfrm>
          <a:off x="762000" y="7558061"/>
          <a:ext cx="13466763" cy="1165225"/>
        </p:xfrm>
        <a:graphic>
          <a:graphicData uri="http://schemas.openxmlformats.org/presentationml/2006/ole">
            <mc:AlternateContent xmlns:mc="http://schemas.openxmlformats.org/markup-compatibility/2006">
              <mc:Choice xmlns:v="urn:schemas-microsoft-com:vml" Requires="v">
                <p:oleObj spid="_x0000_s3106" name="Equation" r:id="rId9" imgW="4991040" imgH="431640" progId="Equation.DSMT4">
                  <p:embed/>
                </p:oleObj>
              </mc:Choice>
              <mc:Fallback>
                <p:oleObj name="Equation" r:id="rId9" imgW="4991040" imgH="431640" progId="Equation.DSMT4">
                  <p:embed/>
                  <p:pic>
                    <p:nvPicPr>
                      <p:cNvPr id="6" name="Object 5"/>
                      <p:cNvPicPr/>
                      <p:nvPr/>
                    </p:nvPicPr>
                    <p:blipFill>
                      <a:blip r:embed="rId10"/>
                      <a:stretch>
                        <a:fillRect/>
                      </a:stretch>
                    </p:blipFill>
                    <p:spPr>
                      <a:xfrm>
                        <a:off x="762000" y="7558061"/>
                        <a:ext cx="13466763" cy="1165225"/>
                      </a:xfrm>
                      <a:prstGeom prst="rect">
                        <a:avLst/>
                      </a:prstGeom>
                      <a:ln w="25400">
                        <a:solidFill>
                          <a:srgbClr val="002060"/>
                        </a:solidFill>
                      </a:ln>
                    </p:spPr>
                  </p:pic>
                </p:oleObj>
              </mc:Fallback>
            </mc:AlternateContent>
          </a:graphicData>
        </a:graphic>
      </p:graphicFrame>
    </p:spTree>
    <p:extLst>
      <p:ext uri="{BB962C8B-B14F-4D97-AF65-F5344CB8AC3E}">
        <p14:creationId xmlns:p14="http://schemas.microsoft.com/office/powerpoint/2010/main" val="2121241691"/>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fade">
                                      <p:cBhvr>
                                        <p:cTn id="7" dur="1000"/>
                                        <p:tgtEl>
                                          <p:spTgt spid="19">
                                            <p:txEl>
                                              <p:pRg st="0" end="0"/>
                                            </p:txEl>
                                          </p:spTgt>
                                        </p:tgtEl>
                                      </p:cBhvr>
                                    </p:animEffect>
                                    <p:anim calcmode="lin" valueType="num">
                                      <p:cBhvr>
                                        <p:cTn id="8" dur="10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19">
                                            <p:txEl>
                                              <p:pRg st="1" end="1"/>
                                            </p:txEl>
                                          </p:spTgt>
                                        </p:tgtEl>
                                        <p:attrNameLst>
                                          <p:attrName>style.visibility</p:attrName>
                                        </p:attrNameLst>
                                      </p:cBhvr>
                                      <p:to>
                                        <p:strVal val="visible"/>
                                      </p:to>
                                    </p:set>
                                    <p:animEffect transition="in" filter="randombar(horizontal)">
                                      <p:cBhvr>
                                        <p:cTn id="14" dur="500"/>
                                        <p:tgtEl>
                                          <p:spTgt spid="19">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19">
                                            <p:txEl>
                                              <p:pRg st="2" end="2"/>
                                            </p:txEl>
                                          </p:spTgt>
                                        </p:tgtEl>
                                        <p:attrNameLst>
                                          <p:attrName>style.visibility</p:attrName>
                                        </p:attrNameLst>
                                      </p:cBhvr>
                                      <p:to>
                                        <p:strVal val="visible"/>
                                      </p:to>
                                    </p:set>
                                    <p:animEffect transition="in" filter="randombar(horizontal)">
                                      <p:cBhvr>
                                        <p:cTn id="19" dur="500"/>
                                        <p:tgtEl>
                                          <p:spTgt spid="19">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1" presetClass="entr" presetSubtype="0" fill="hold" nodeType="clickEffect">
                                  <p:stCondLst>
                                    <p:cond delay="0"/>
                                  </p:stCondLst>
                                  <p:childTnLst>
                                    <p:set>
                                      <p:cBhvr>
                                        <p:cTn id="23" dur="1" fill="hold">
                                          <p:stCondLst>
                                            <p:cond delay="0"/>
                                          </p:stCondLst>
                                        </p:cTn>
                                        <p:tgtEl>
                                          <p:spTgt spid="20"/>
                                        </p:tgtEl>
                                        <p:attrNameLst>
                                          <p:attrName>style.visibility</p:attrName>
                                        </p:attrNameLst>
                                      </p:cBhvr>
                                      <p:to>
                                        <p:strVal val="visible"/>
                                      </p:to>
                                    </p:set>
                                    <p:anim calcmode="lin" valueType="num">
                                      <p:cBhvr>
                                        <p:cTn id="24" dur="1000" fill="hold"/>
                                        <p:tgtEl>
                                          <p:spTgt spid="20"/>
                                        </p:tgtEl>
                                        <p:attrNameLst>
                                          <p:attrName>ppt_w</p:attrName>
                                        </p:attrNameLst>
                                      </p:cBhvr>
                                      <p:tavLst>
                                        <p:tav tm="0">
                                          <p:val>
                                            <p:fltVal val="0"/>
                                          </p:val>
                                        </p:tav>
                                        <p:tav tm="100000">
                                          <p:val>
                                            <p:strVal val="#ppt_w"/>
                                          </p:val>
                                        </p:tav>
                                      </p:tavLst>
                                    </p:anim>
                                    <p:anim calcmode="lin" valueType="num">
                                      <p:cBhvr>
                                        <p:cTn id="25" dur="1000" fill="hold"/>
                                        <p:tgtEl>
                                          <p:spTgt spid="20"/>
                                        </p:tgtEl>
                                        <p:attrNameLst>
                                          <p:attrName>ppt_h</p:attrName>
                                        </p:attrNameLst>
                                      </p:cBhvr>
                                      <p:tavLst>
                                        <p:tav tm="0">
                                          <p:val>
                                            <p:fltVal val="0"/>
                                          </p:val>
                                        </p:tav>
                                        <p:tav tm="100000">
                                          <p:val>
                                            <p:strVal val="#ppt_h"/>
                                          </p:val>
                                        </p:tav>
                                      </p:tavLst>
                                    </p:anim>
                                    <p:anim calcmode="lin" valueType="num">
                                      <p:cBhvr>
                                        <p:cTn id="26" dur="1000" fill="hold"/>
                                        <p:tgtEl>
                                          <p:spTgt spid="20"/>
                                        </p:tgtEl>
                                        <p:attrNameLst>
                                          <p:attrName>style.rotation</p:attrName>
                                        </p:attrNameLst>
                                      </p:cBhvr>
                                      <p:tavLst>
                                        <p:tav tm="0">
                                          <p:val>
                                            <p:fltVal val="90"/>
                                          </p:val>
                                        </p:tav>
                                        <p:tav tm="100000">
                                          <p:val>
                                            <p:fltVal val="0"/>
                                          </p:val>
                                        </p:tav>
                                      </p:tavLst>
                                    </p:anim>
                                    <p:animEffect transition="in" filter="fade">
                                      <p:cBhvr>
                                        <p:cTn id="27" dur="10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21">
                                            <p:txEl>
                                              <p:pRg st="0" end="0"/>
                                            </p:txEl>
                                          </p:spTgt>
                                        </p:tgtEl>
                                        <p:attrNameLst>
                                          <p:attrName>style.visibility</p:attrName>
                                        </p:attrNameLst>
                                      </p:cBhvr>
                                      <p:to>
                                        <p:strVal val="visible"/>
                                      </p:to>
                                    </p:set>
                                    <p:animEffect transition="in" filter="barn(inVertical)">
                                      <p:cBhvr>
                                        <p:cTn id="32" dur="500"/>
                                        <p:tgtEl>
                                          <p:spTgt spid="21">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wheel(1)">
                                      <p:cBhvr>
                                        <p:cTn id="37" dur="20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21" presetClass="entr" presetSubtype="1" fill="hold" nodeType="clickEffect">
                                  <p:stCondLst>
                                    <p:cond delay="0"/>
                                  </p:stCondLst>
                                  <p:childTnLst>
                                    <p:set>
                                      <p:cBhvr>
                                        <p:cTn id="41" dur="1" fill="hold">
                                          <p:stCondLst>
                                            <p:cond delay="0"/>
                                          </p:stCondLst>
                                        </p:cTn>
                                        <p:tgtEl>
                                          <p:spTgt spid="23">
                                            <p:txEl>
                                              <p:pRg st="0" end="0"/>
                                            </p:txEl>
                                          </p:spTgt>
                                        </p:tgtEl>
                                        <p:attrNameLst>
                                          <p:attrName>style.visibility</p:attrName>
                                        </p:attrNameLst>
                                      </p:cBhvr>
                                      <p:to>
                                        <p:strVal val="visible"/>
                                      </p:to>
                                    </p:set>
                                    <p:animEffect transition="in" filter="wheel(1)">
                                      <p:cBhvr>
                                        <p:cTn id="42" dur="2000"/>
                                        <p:tgtEl>
                                          <p:spTgt spid="23">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wipe(down)">
                                      <p:cBhvr>
                                        <p:cTn id="4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3"/>
          <p:cNvSpPr txBox="1"/>
          <p:nvPr/>
        </p:nvSpPr>
        <p:spPr>
          <a:xfrm>
            <a:off x="525346" y="3079492"/>
            <a:ext cx="2261444" cy="2420449"/>
          </a:xfrm>
          <a:prstGeom prst="rect">
            <a:avLst/>
          </a:prstGeom>
        </p:spPr>
        <p:txBody>
          <a:bodyPr lIns="50800" tIns="50800" rIns="50800" bIns="50800" rtlCol="0" anchor="ctr"/>
          <a:lstStyle/>
          <a:p>
            <a:pPr algn="ctr">
              <a:lnSpc>
                <a:spcPts val="3220"/>
              </a:lnSpc>
            </a:pPr>
            <a:endParaRPr/>
          </a:p>
        </p:txBody>
      </p:sp>
      <p:grpSp>
        <p:nvGrpSpPr>
          <p:cNvPr id="33" name="Group 33"/>
          <p:cNvGrpSpPr/>
          <p:nvPr/>
        </p:nvGrpSpPr>
        <p:grpSpPr>
          <a:xfrm>
            <a:off x="0" y="9983250"/>
            <a:ext cx="1028700" cy="303750"/>
            <a:chOff x="0" y="0"/>
            <a:chExt cx="270933" cy="80000"/>
          </a:xfrm>
        </p:grpSpPr>
        <p:sp>
          <p:nvSpPr>
            <p:cNvPr id="34" name="Freeform 34"/>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5" name="TextBox 35"/>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36" name="Group 36"/>
          <p:cNvGrpSpPr/>
          <p:nvPr/>
        </p:nvGrpSpPr>
        <p:grpSpPr>
          <a:xfrm>
            <a:off x="17259300" y="0"/>
            <a:ext cx="1028700" cy="303750"/>
            <a:chOff x="0" y="0"/>
            <a:chExt cx="270933" cy="80000"/>
          </a:xfrm>
        </p:grpSpPr>
        <p:sp>
          <p:nvSpPr>
            <p:cNvPr id="37" name="Freeform 37"/>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8" name="TextBox 38"/>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39" name="Group 39"/>
          <p:cNvGrpSpPr/>
          <p:nvPr/>
        </p:nvGrpSpPr>
        <p:grpSpPr>
          <a:xfrm>
            <a:off x="0" y="0"/>
            <a:ext cx="1028700" cy="303750"/>
            <a:chOff x="0" y="0"/>
            <a:chExt cx="270933" cy="80000"/>
          </a:xfrm>
        </p:grpSpPr>
        <p:sp>
          <p:nvSpPr>
            <p:cNvPr id="40" name="Freeform 40"/>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1" name="TextBox 41"/>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42" name="Group 42"/>
          <p:cNvGrpSpPr/>
          <p:nvPr/>
        </p:nvGrpSpPr>
        <p:grpSpPr>
          <a:xfrm>
            <a:off x="17259300" y="9983250"/>
            <a:ext cx="1028700" cy="303750"/>
            <a:chOff x="0" y="0"/>
            <a:chExt cx="270933" cy="80000"/>
          </a:xfrm>
        </p:grpSpPr>
        <p:sp>
          <p:nvSpPr>
            <p:cNvPr id="43" name="Freeform 43"/>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4" name="TextBox 44"/>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sp>
        <p:nvSpPr>
          <p:cNvPr id="18" name="TextBox 17"/>
          <p:cNvSpPr txBox="1"/>
          <p:nvPr/>
        </p:nvSpPr>
        <p:spPr>
          <a:xfrm>
            <a:off x="514350" y="395932"/>
            <a:ext cx="16371394" cy="1446550"/>
          </a:xfrm>
          <a:prstGeom prst="rect">
            <a:avLst/>
          </a:prstGeom>
          <a:noFill/>
          <a:ln w="25400">
            <a:solidFill>
              <a:srgbClr val="002060"/>
            </a:solidFill>
          </a:ln>
        </p:spPr>
        <p:txBody>
          <a:bodyPr wrap="square" rtlCol="0">
            <a:spAutoFit/>
          </a:bodyPr>
          <a:lstStyle/>
          <a:p>
            <a:pPr algn="just"/>
            <a:r>
              <a:rPr lang="vi-VN" sz="3200" b="1" i="1" smtClean="0">
                <a:solidFill>
                  <a:srgbClr val="002060"/>
                </a:solidFill>
                <a:latin typeface="Constantia" panose="02030602050306030303" pitchFamily="18" charset="0"/>
                <a:sym typeface="Wingdings" panose="05000000000000000000" pitchFamily="2" charset="2"/>
              </a:rPr>
              <a:t>Ví dụ 1: </a:t>
            </a:r>
            <a:r>
              <a:rPr lang="vi-VN" sz="2800">
                <a:latin typeface="Constantia" panose="02030602050306030303" pitchFamily="18" charset="0"/>
              </a:rPr>
              <a:t>Dùng ADC của vi điều khiển PIC 16F887 và cảm biến LM35 để đo nhiệt độ hiển thị trên 3 led 7 đoạn anode chung dùng 3 port, chỉ hiển thị đơn vị, chục và trăm. Sử dụng điện áp tham chiếu VSS_VDD, đo lấy trung bình 200 lần. </a:t>
            </a:r>
            <a:endParaRPr lang="vi-VN" sz="2800" i="1" smtClean="0">
              <a:solidFill>
                <a:srgbClr val="002060"/>
              </a:solidFill>
              <a:latin typeface="Constantia" panose="02030602050306030303" pitchFamily="18" charset="0"/>
              <a:sym typeface="Wingdings" panose="05000000000000000000" pitchFamily="2" charset="2"/>
            </a:endParaRPr>
          </a:p>
        </p:txBody>
      </p:sp>
      <p:pic>
        <p:nvPicPr>
          <p:cNvPr id="19" name="Picture 18"/>
          <p:cNvPicPr/>
          <p:nvPr/>
        </p:nvPicPr>
        <p:blipFill>
          <a:blip r:embed="rId2">
            <a:extLst>
              <a:ext uri="{28A0092B-C50C-407E-A947-70E740481C1C}">
                <a14:useLocalDpi xmlns:a14="http://schemas.microsoft.com/office/drawing/2010/main" val="0"/>
              </a:ext>
            </a:extLst>
          </a:blip>
          <a:stretch>
            <a:fillRect/>
          </a:stretch>
        </p:blipFill>
        <p:spPr>
          <a:xfrm>
            <a:off x="1164863" y="2068323"/>
            <a:ext cx="13563600" cy="8066802"/>
          </a:xfrm>
          <a:prstGeom prst="rect">
            <a:avLst/>
          </a:prstGeom>
        </p:spPr>
      </p:pic>
    </p:spTree>
    <p:extLst>
      <p:ext uri="{BB962C8B-B14F-4D97-AF65-F5344CB8AC3E}">
        <p14:creationId xmlns:p14="http://schemas.microsoft.com/office/powerpoint/2010/main" val="239795606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barn(inVertical)">
                                      <p:cBhvr>
                                        <p:cTn id="1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3"/>
          <p:cNvSpPr txBox="1"/>
          <p:nvPr/>
        </p:nvSpPr>
        <p:spPr>
          <a:xfrm>
            <a:off x="525346" y="3079492"/>
            <a:ext cx="2261444" cy="2420449"/>
          </a:xfrm>
          <a:prstGeom prst="rect">
            <a:avLst/>
          </a:prstGeom>
        </p:spPr>
        <p:txBody>
          <a:bodyPr lIns="50800" tIns="50800" rIns="50800" bIns="50800" rtlCol="0" anchor="ctr"/>
          <a:lstStyle/>
          <a:p>
            <a:pPr algn="ctr">
              <a:lnSpc>
                <a:spcPts val="3220"/>
              </a:lnSpc>
            </a:pPr>
            <a:endParaRPr/>
          </a:p>
        </p:txBody>
      </p:sp>
      <p:grpSp>
        <p:nvGrpSpPr>
          <p:cNvPr id="33" name="Group 33"/>
          <p:cNvGrpSpPr/>
          <p:nvPr/>
        </p:nvGrpSpPr>
        <p:grpSpPr>
          <a:xfrm>
            <a:off x="0" y="9983250"/>
            <a:ext cx="1028700" cy="303750"/>
            <a:chOff x="0" y="0"/>
            <a:chExt cx="270933" cy="80000"/>
          </a:xfrm>
        </p:grpSpPr>
        <p:sp>
          <p:nvSpPr>
            <p:cNvPr id="34" name="Freeform 34"/>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5" name="TextBox 35"/>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36" name="Group 36"/>
          <p:cNvGrpSpPr/>
          <p:nvPr/>
        </p:nvGrpSpPr>
        <p:grpSpPr>
          <a:xfrm>
            <a:off x="17259300" y="0"/>
            <a:ext cx="1028700" cy="303750"/>
            <a:chOff x="0" y="0"/>
            <a:chExt cx="270933" cy="80000"/>
          </a:xfrm>
        </p:grpSpPr>
        <p:sp>
          <p:nvSpPr>
            <p:cNvPr id="37" name="Freeform 37"/>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8" name="TextBox 38"/>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39" name="Group 39"/>
          <p:cNvGrpSpPr/>
          <p:nvPr/>
        </p:nvGrpSpPr>
        <p:grpSpPr>
          <a:xfrm>
            <a:off x="0" y="0"/>
            <a:ext cx="1028700" cy="303750"/>
            <a:chOff x="0" y="0"/>
            <a:chExt cx="270933" cy="80000"/>
          </a:xfrm>
        </p:grpSpPr>
        <p:sp>
          <p:nvSpPr>
            <p:cNvPr id="40" name="Freeform 40"/>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1" name="TextBox 41"/>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42" name="Group 42"/>
          <p:cNvGrpSpPr/>
          <p:nvPr/>
        </p:nvGrpSpPr>
        <p:grpSpPr>
          <a:xfrm>
            <a:off x="17259300" y="9983250"/>
            <a:ext cx="1028700" cy="303750"/>
            <a:chOff x="0" y="0"/>
            <a:chExt cx="270933" cy="80000"/>
          </a:xfrm>
        </p:grpSpPr>
        <p:sp>
          <p:nvSpPr>
            <p:cNvPr id="43" name="Freeform 43"/>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4" name="TextBox 44"/>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sp>
        <p:nvSpPr>
          <p:cNvPr id="18" name="TextBox 17"/>
          <p:cNvSpPr txBox="1"/>
          <p:nvPr/>
        </p:nvSpPr>
        <p:spPr>
          <a:xfrm>
            <a:off x="152400" y="107282"/>
            <a:ext cx="17907000" cy="2308324"/>
          </a:xfrm>
          <a:prstGeom prst="rect">
            <a:avLst/>
          </a:prstGeom>
          <a:noFill/>
          <a:ln w="25400">
            <a:solidFill>
              <a:srgbClr val="002060"/>
            </a:solidFill>
          </a:ln>
        </p:spPr>
        <p:txBody>
          <a:bodyPr wrap="square" rtlCol="0">
            <a:spAutoFit/>
          </a:bodyPr>
          <a:lstStyle/>
          <a:p>
            <a:pPr algn="just"/>
            <a:r>
              <a:rPr lang="vi-VN" sz="3200" b="1" i="1" smtClean="0">
                <a:solidFill>
                  <a:srgbClr val="002060"/>
                </a:solidFill>
                <a:latin typeface="Constantia" panose="02030602050306030303" pitchFamily="18" charset="0"/>
                <a:sym typeface="Wingdings" panose="05000000000000000000" pitchFamily="2" charset="2"/>
              </a:rPr>
              <a:t>Ví dụ 2: </a:t>
            </a:r>
            <a:r>
              <a:rPr lang="vi-VN" sz="2800" smtClean="0">
                <a:latin typeface="Constantia" panose="02030602050306030303" pitchFamily="18" charset="0"/>
              </a:rPr>
              <a:t> </a:t>
            </a:r>
            <a:r>
              <a:rPr lang="vi-VN" sz="2800">
                <a:latin typeface="Constantia" panose="02030602050306030303" pitchFamily="18" charset="0"/>
              </a:rPr>
              <a:t>Một ứng dụng đo nhiệt độ 2 kênh, sử dụng cảm biến LM35, nhiệt độ cần đo phạm vi 0 đến 95. Nhiệt độ được hiển thị luân phiên trên 2 LED 7 đoạn (port C và port D). Một LED 7 đoạn khác (port B) hiển thị số thứ tự kênh nhiệt độ: Kênh 1 (AN5) hoặc Kênh 2 (AN6). Một nút nhấn CHANNEL (RE2) được sử dụng để chọn kênh nhiệt độ cần đo. Mặc định lúc mới bật điện là kênh 1. Yêu cầu nhiệt độ phải được đọc và lấy trung bình trong 100 lần trước khi hiển thị ra LED.</a:t>
            </a:r>
            <a:endParaRPr lang="vi-VN" sz="2800" i="1" smtClean="0">
              <a:solidFill>
                <a:srgbClr val="002060"/>
              </a:solidFill>
              <a:latin typeface="Constantia" panose="02030602050306030303" pitchFamily="18" charset="0"/>
              <a:sym typeface="Wingdings" panose="05000000000000000000" pitchFamily="2" charset="2"/>
            </a:endParaRPr>
          </a:p>
        </p:txBody>
      </p:sp>
      <p:pic>
        <p:nvPicPr>
          <p:cNvPr id="17" name="Picture 16"/>
          <p:cNvPicPr/>
          <p:nvPr/>
        </p:nvPicPr>
        <p:blipFill>
          <a:blip r:embed="rId2">
            <a:extLst>
              <a:ext uri="{28A0092B-C50C-407E-A947-70E740481C1C}">
                <a14:useLocalDpi xmlns:a14="http://schemas.microsoft.com/office/drawing/2010/main" val="0"/>
              </a:ext>
            </a:extLst>
          </a:blip>
          <a:stretch>
            <a:fillRect/>
          </a:stretch>
        </p:blipFill>
        <p:spPr>
          <a:xfrm>
            <a:off x="29029" y="2463996"/>
            <a:ext cx="14525171" cy="7632504"/>
          </a:xfrm>
          <a:prstGeom prst="rect">
            <a:avLst/>
          </a:prstGeom>
        </p:spPr>
      </p:pic>
      <p:pic>
        <p:nvPicPr>
          <p:cNvPr id="20" name="Picture 19"/>
          <p:cNvPicPr/>
          <p:nvPr/>
        </p:nvPicPr>
        <p:blipFill rotWithShape="1">
          <a:blip r:embed="rId3">
            <a:extLst>
              <a:ext uri="{28A0092B-C50C-407E-A947-70E740481C1C}">
                <a14:useLocalDpi xmlns:a14="http://schemas.microsoft.com/office/drawing/2010/main" val="0"/>
              </a:ext>
            </a:extLst>
          </a:blip>
          <a:srcRect t="42058" r="8816"/>
          <a:stretch/>
        </p:blipFill>
        <p:spPr>
          <a:xfrm>
            <a:off x="8492446" y="5676899"/>
            <a:ext cx="9795554" cy="4113339"/>
          </a:xfrm>
          <a:prstGeom prst="rect">
            <a:avLst/>
          </a:prstGeom>
        </p:spPr>
      </p:pic>
      <p:pic>
        <p:nvPicPr>
          <p:cNvPr id="2" name="Picture 1"/>
          <p:cNvPicPr>
            <a:picLocks noChangeAspect="1"/>
          </p:cNvPicPr>
          <p:nvPr/>
        </p:nvPicPr>
        <p:blipFill>
          <a:blip r:embed="rId4"/>
          <a:stretch>
            <a:fillRect/>
          </a:stretch>
        </p:blipFill>
        <p:spPr>
          <a:xfrm>
            <a:off x="9369467" y="2616732"/>
            <a:ext cx="5334390" cy="3060167"/>
          </a:xfrm>
          <a:prstGeom prst="rect">
            <a:avLst/>
          </a:prstGeom>
        </p:spPr>
      </p:pic>
    </p:spTree>
    <p:extLst>
      <p:ext uri="{BB962C8B-B14F-4D97-AF65-F5344CB8AC3E}">
        <p14:creationId xmlns:p14="http://schemas.microsoft.com/office/powerpoint/2010/main" val="242808589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down)">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1000" fill="hold"/>
                                        <p:tgtEl>
                                          <p:spTgt spid="2"/>
                                        </p:tgtEl>
                                        <p:attrNameLst>
                                          <p:attrName>ppt_w</p:attrName>
                                        </p:attrNameLst>
                                      </p:cBhvr>
                                      <p:tavLst>
                                        <p:tav tm="0">
                                          <p:val>
                                            <p:fltVal val="0"/>
                                          </p:val>
                                        </p:tav>
                                        <p:tav tm="100000">
                                          <p:val>
                                            <p:strVal val="#ppt_w"/>
                                          </p:val>
                                        </p:tav>
                                      </p:tavLst>
                                    </p:anim>
                                    <p:anim calcmode="lin" valueType="num">
                                      <p:cBhvr>
                                        <p:cTn id="18" dur="1000" fill="hold"/>
                                        <p:tgtEl>
                                          <p:spTgt spid="2"/>
                                        </p:tgtEl>
                                        <p:attrNameLst>
                                          <p:attrName>ppt_h</p:attrName>
                                        </p:attrNameLst>
                                      </p:cBhvr>
                                      <p:tavLst>
                                        <p:tav tm="0">
                                          <p:val>
                                            <p:fltVal val="0"/>
                                          </p:val>
                                        </p:tav>
                                        <p:tav tm="100000">
                                          <p:val>
                                            <p:strVal val="#ppt_h"/>
                                          </p:val>
                                        </p:tav>
                                      </p:tavLst>
                                    </p:anim>
                                    <p:anim calcmode="lin" valueType="num">
                                      <p:cBhvr>
                                        <p:cTn id="19" dur="1000" fill="hold"/>
                                        <p:tgtEl>
                                          <p:spTgt spid="2"/>
                                        </p:tgtEl>
                                        <p:attrNameLst>
                                          <p:attrName>style.rotation</p:attrName>
                                        </p:attrNameLst>
                                      </p:cBhvr>
                                      <p:tavLst>
                                        <p:tav tm="0">
                                          <p:val>
                                            <p:fltVal val="90"/>
                                          </p:val>
                                        </p:tav>
                                        <p:tav tm="100000">
                                          <p:val>
                                            <p:fltVal val="0"/>
                                          </p:val>
                                        </p:tav>
                                      </p:tavLst>
                                    </p:anim>
                                    <p:animEffect transition="in" filter="fade">
                                      <p:cBhvr>
                                        <p:cTn id="20" dur="10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wheel(1)">
                                      <p:cBhvr>
                                        <p:cTn id="25"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3"/>
          <p:cNvSpPr txBox="1"/>
          <p:nvPr/>
        </p:nvSpPr>
        <p:spPr>
          <a:xfrm>
            <a:off x="525346" y="3079492"/>
            <a:ext cx="2261444" cy="2420449"/>
          </a:xfrm>
          <a:prstGeom prst="rect">
            <a:avLst/>
          </a:prstGeom>
        </p:spPr>
        <p:txBody>
          <a:bodyPr lIns="50800" tIns="50800" rIns="50800" bIns="50800" rtlCol="0" anchor="ctr"/>
          <a:lstStyle/>
          <a:p>
            <a:pPr algn="ctr">
              <a:lnSpc>
                <a:spcPts val="3220"/>
              </a:lnSpc>
            </a:pPr>
            <a:endParaRPr/>
          </a:p>
        </p:txBody>
      </p:sp>
      <p:grpSp>
        <p:nvGrpSpPr>
          <p:cNvPr id="33" name="Group 33"/>
          <p:cNvGrpSpPr/>
          <p:nvPr/>
        </p:nvGrpSpPr>
        <p:grpSpPr>
          <a:xfrm>
            <a:off x="0" y="9983250"/>
            <a:ext cx="1028700" cy="303750"/>
            <a:chOff x="0" y="0"/>
            <a:chExt cx="270933" cy="80000"/>
          </a:xfrm>
        </p:grpSpPr>
        <p:sp>
          <p:nvSpPr>
            <p:cNvPr id="34" name="Freeform 34"/>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5" name="TextBox 35"/>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36" name="Group 36"/>
          <p:cNvGrpSpPr/>
          <p:nvPr/>
        </p:nvGrpSpPr>
        <p:grpSpPr>
          <a:xfrm>
            <a:off x="17259300" y="0"/>
            <a:ext cx="1028700" cy="303750"/>
            <a:chOff x="0" y="0"/>
            <a:chExt cx="270933" cy="80000"/>
          </a:xfrm>
        </p:grpSpPr>
        <p:sp>
          <p:nvSpPr>
            <p:cNvPr id="37" name="Freeform 37"/>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8" name="TextBox 38"/>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39" name="Group 39"/>
          <p:cNvGrpSpPr/>
          <p:nvPr/>
        </p:nvGrpSpPr>
        <p:grpSpPr>
          <a:xfrm>
            <a:off x="0" y="0"/>
            <a:ext cx="1028700" cy="303750"/>
            <a:chOff x="0" y="0"/>
            <a:chExt cx="270933" cy="80000"/>
          </a:xfrm>
        </p:grpSpPr>
        <p:sp>
          <p:nvSpPr>
            <p:cNvPr id="40" name="Freeform 40"/>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1" name="TextBox 41"/>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42" name="Group 42"/>
          <p:cNvGrpSpPr/>
          <p:nvPr/>
        </p:nvGrpSpPr>
        <p:grpSpPr>
          <a:xfrm>
            <a:off x="17259300" y="9983250"/>
            <a:ext cx="1028700" cy="303750"/>
            <a:chOff x="0" y="0"/>
            <a:chExt cx="270933" cy="80000"/>
          </a:xfrm>
        </p:grpSpPr>
        <p:sp>
          <p:nvSpPr>
            <p:cNvPr id="43" name="Freeform 43"/>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4" name="TextBox 44"/>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sp>
        <p:nvSpPr>
          <p:cNvPr id="18" name="TextBox 17"/>
          <p:cNvSpPr txBox="1"/>
          <p:nvPr/>
        </p:nvSpPr>
        <p:spPr>
          <a:xfrm>
            <a:off x="338897" y="151875"/>
            <a:ext cx="17491903" cy="3600986"/>
          </a:xfrm>
          <a:prstGeom prst="rect">
            <a:avLst/>
          </a:prstGeom>
          <a:noFill/>
          <a:ln w="25400">
            <a:solidFill>
              <a:srgbClr val="002060"/>
            </a:solidFill>
          </a:ln>
        </p:spPr>
        <p:txBody>
          <a:bodyPr wrap="square" rtlCol="0">
            <a:spAutoFit/>
          </a:bodyPr>
          <a:lstStyle/>
          <a:p>
            <a:pPr algn="just"/>
            <a:r>
              <a:rPr lang="vi-VN" sz="3200" b="1" i="1">
                <a:solidFill>
                  <a:srgbClr val="002060"/>
                </a:solidFill>
                <a:latin typeface="Constantia" panose="02030602050306030303" pitchFamily="18" charset="0"/>
                <a:sym typeface="Wingdings" panose="05000000000000000000" pitchFamily="2" charset="2"/>
              </a:rPr>
              <a:t>Ví dụ </a:t>
            </a:r>
            <a:r>
              <a:rPr lang="vi-VN" sz="2800" b="1" i="1">
                <a:solidFill>
                  <a:srgbClr val="002060"/>
                </a:solidFill>
                <a:latin typeface="Constantia" panose="02030602050306030303" pitchFamily="18" charset="0"/>
                <a:sym typeface="Wingdings" panose="05000000000000000000" pitchFamily="2" charset="2"/>
              </a:rPr>
              <a:t>3</a:t>
            </a:r>
            <a:r>
              <a:rPr lang="vi-VN" sz="2800" b="1" i="1" smtClean="0">
                <a:solidFill>
                  <a:srgbClr val="002060"/>
                </a:solidFill>
                <a:latin typeface="Constantia" panose="02030602050306030303" pitchFamily="18" charset="0"/>
                <a:sym typeface="Wingdings" panose="05000000000000000000" pitchFamily="2" charset="2"/>
              </a:rPr>
              <a:t>:</a:t>
            </a:r>
            <a:r>
              <a:rPr lang="vi-VN" sz="2800" i="1" smtClean="0">
                <a:solidFill>
                  <a:srgbClr val="002060"/>
                </a:solidFill>
                <a:latin typeface="Constantia" panose="02030602050306030303" pitchFamily="18" charset="0"/>
                <a:sym typeface="Wingdings" panose="05000000000000000000" pitchFamily="2" charset="2"/>
              </a:rPr>
              <a:t> Dùng </a:t>
            </a:r>
            <a:r>
              <a:rPr lang="vi-VN" sz="2800" i="1">
                <a:solidFill>
                  <a:srgbClr val="002060"/>
                </a:solidFill>
                <a:latin typeface="Constantia" panose="02030602050306030303" pitchFamily="18" charset="0"/>
                <a:sym typeface="Wingdings" panose="05000000000000000000" pitchFamily="2" charset="2"/>
              </a:rPr>
              <a:t>PIC 16F887 giao tiếp với một LCD 16x2, một nút nhấn thường hở CHANNEL, cảm biến LM35 đo nhiệt độ 2 kênh AN5 và AN6, một LED 7 đoạn hiển thị kênh đang đo. Trạng thái hiển thị trên LCD như sau (khi đo kênh 1) tương tự khi đo kênh 2. Trạng thái ban đầu đo kênh AN5.</a:t>
            </a:r>
          </a:p>
          <a:p>
            <a:pPr algn="just"/>
            <a:endParaRPr lang="vi-VN" sz="2800" i="1">
              <a:solidFill>
                <a:srgbClr val="002060"/>
              </a:solidFill>
              <a:latin typeface="Constantia" panose="02030602050306030303" pitchFamily="18" charset="0"/>
              <a:sym typeface="Wingdings" panose="05000000000000000000" pitchFamily="2" charset="2"/>
            </a:endParaRPr>
          </a:p>
          <a:p>
            <a:pPr algn="just"/>
            <a:endParaRPr lang="vi-VN" sz="2800" i="1" smtClean="0">
              <a:solidFill>
                <a:srgbClr val="002060"/>
              </a:solidFill>
              <a:latin typeface="Constantia" panose="02030602050306030303" pitchFamily="18" charset="0"/>
              <a:sym typeface="Wingdings" panose="05000000000000000000" pitchFamily="2" charset="2"/>
            </a:endParaRPr>
          </a:p>
          <a:p>
            <a:pPr algn="just"/>
            <a:endParaRPr lang="vi-VN" sz="2800" i="1">
              <a:solidFill>
                <a:srgbClr val="002060"/>
              </a:solidFill>
              <a:latin typeface="Constantia" panose="02030602050306030303" pitchFamily="18" charset="0"/>
              <a:sym typeface="Wingdings" panose="05000000000000000000" pitchFamily="2" charset="2"/>
            </a:endParaRPr>
          </a:p>
          <a:p>
            <a:pPr algn="just"/>
            <a:r>
              <a:rPr lang="vi-VN" sz="2800" i="1">
                <a:solidFill>
                  <a:srgbClr val="002060"/>
                </a:solidFill>
                <a:latin typeface="Constantia" panose="02030602050306030303" pitchFamily="18" charset="0"/>
                <a:sym typeface="Wingdings" panose="05000000000000000000" pitchFamily="2" charset="2"/>
              </a:rPr>
              <a:t>Nếu nhiệt độ lớn hơn 50 thì xuất ra chữ “H” ngược lại xuất ra chữ “L”.</a:t>
            </a:r>
          </a:p>
          <a:p>
            <a:pPr algn="just"/>
            <a:r>
              <a:rPr lang="vi-VN" sz="2800" i="1" smtClean="0">
                <a:solidFill>
                  <a:srgbClr val="002060"/>
                </a:solidFill>
                <a:latin typeface="Constantia" panose="02030602050306030303" pitchFamily="18" charset="0"/>
                <a:sym typeface="Wingdings" panose="05000000000000000000" pitchFamily="2" charset="2"/>
              </a:rPr>
              <a:t> </a:t>
            </a:r>
            <a:endParaRPr lang="vi-VN" sz="2400" i="1" smtClean="0">
              <a:solidFill>
                <a:srgbClr val="002060"/>
              </a:solidFill>
              <a:latin typeface="Constantia" panose="02030602050306030303" pitchFamily="18" charset="0"/>
              <a:sym typeface="Wingdings" panose="05000000000000000000" pitchFamily="2" charset="2"/>
            </a:endParaRPr>
          </a:p>
        </p:txBody>
      </p:sp>
      <p:sp>
        <p:nvSpPr>
          <p:cNvPr id="2" name="Rectangle 1"/>
          <p:cNvSpPr/>
          <p:nvPr/>
        </p:nvSpPr>
        <p:spPr>
          <a:xfrm>
            <a:off x="5943600" y="1638300"/>
            <a:ext cx="4953000" cy="1066800"/>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Object 3"/>
          <p:cNvGraphicFramePr>
            <a:graphicFrameLocks noChangeAspect="1"/>
          </p:cNvGraphicFramePr>
          <p:nvPr>
            <p:extLst>
              <p:ext uri="{D42A27DB-BD31-4B8C-83A1-F6EECF244321}">
                <p14:modId xmlns:p14="http://schemas.microsoft.com/office/powerpoint/2010/main" val="2460159256"/>
              </p:ext>
            </p:extLst>
          </p:nvPr>
        </p:nvGraphicFramePr>
        <p:xfrm>
          <a:off x="6268640" y="1638300"/>
          <a:ext cx="4302919" cy="619125"/>
        </p:xfrm>
        <a:graphic>
          <a:graphicData uri="http://schemas.openxmlformats.org/presentationml/2006/ole">
            <mc:AlternateContent xmlns:mc="http://schemas.openxmlformats.org/markup-compatibility/2006">
              <mc:Choice xmlns:v="urn:schemas-microsoft-com:vml" Requires="v">
                <p:oleObj spid="_x0000_s4118" name="Equation" r:id="rId3" imgW="1765080" imgH="253800" progId="Equation.DSMT4">
                  <p:embed/>
                </p:oleObj>
              </mc:Choice>
              <mc:Fallback>
                <p:oleObj name="Equation" r:id="rId3" imgW="1765080" imgH="253800" progId="Equation.DSMT4">
                  <p:embed/>
                  <p:pic>
                    <p:nvPicPr>
                      <p:cNvPr id="0" name=""/>
                      <p:cNvPicPr/>
                      <p:nvPr/>
                    </p:nvPicPr>
                    <p:blipFill>
                      <a:blip r:embed="rId4"/>
                      <a:stretch>
                        <a:fillRect/>
                      </a:stretch>
                    </p:blipFill>
                    <p:spPr>
                      <a:xfrm>
                        <a:off x="6268640" y="1638300"/>
                        <a:ext cx="4302919" cy="619125"/>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3227841602"/>
              </p:ext>
            </p:extLst>
          </p:nvPr>
        </p:nvGraphicFramePr>
        <p:xfrm>
          <a:off x="7855322" y="2171700"/>
          <a:ext cx="1004045" cy="533399"/>
        </p:xfrm>
        <a:graphic>
          <a:graphicData uri="http://schemas.openxmlformats.org/presentationml/2006/ole">
            <mc:AlternateContent xmlns:mc="http://schemas.openxmlformats.org/markup-compatibility/2006">
              <mc:Choice xmlns:v="urn:schemas-microsoft-com:vml" Requires="v">
                <p:oleObj spid="_x0000_s4119" name="Equation" r:id="rId5" imgW="406080" imgH="215640" progId="Equation.DSMT4">
                  <p:embed/>
                </p:oleObj>
              </mc:Choice>
              <mc:Fallback>
                <p:oleObj name="Equation" r:id="rId5" imgW="406080" imgH="215640" progId="Equation.DSMT4">
                  <p:embed/>
                  <p:pic>
                    <p:nvPicPr>
                      <p:cNvPr id="0" name=""/>
                      <p:cNvPicPr/>
                      <p:nvPr/>
                    </p:nvPicPr>
                    <p:blipFill>
                      <a:blip r:embed="rId6"/>
                      <a:stretch>
                        <a:fillRect/>
                      </a:stretch>
                    </p:blipFill>
                    <p:spPr>
                      <a:xfrm>
                        <a:off x="7855322" y="2171700"/>
                        <a:ext cx="1004045" cy="533399"/>
                      </a:xfrm>
                      <a:prstGeom prst="rect">
                        <a:avLst/>
                      </a:prstGeom>
                    </p:spPr>
                  </p:pic>
                </p:oleObj>
              </mc:Fallback>
            </mc:AlternateContent>
          </a:graphicData>
        </a:graphic>
      </p:graphicFrame>
      <p:pic>
        <p:nvPicPr>
          <p:cNvPr id="22" name="Picture 21"/>
          <p:cNvPicPr/>
          <p:nvPr/>
        </p:nvPicPr>
        <p:blipFill rotWithShape="1">
          <a:blip r:embed="rId7">
            <a:extLst>
              <a:ext uri="{28A0092B-C50C-407E-A947-70E740481C1C}">
                <a14:useLocalDpi xmlns:a14="http://schemas.microsoft.com/office/drawing/2010/main" val="0"/>
              </a:ext>
            </a:extLst>
          </a:blip>
          <a:srcRect t="48259"/>
          <a:stretch/>
        </p:blipFill>
        <p:spPr>
          <a:xfrm>
            <a:off x="1656068" y="3904736"/>
            <a:ext cx="12517132" cy="6078514"/>
          </a:xfrm>
          <a:prstGeom prst="rect">
            <a:avLst/>
          </a:prstGeom>
        </p:spPr>
      </p:pic>
    </p:spTree>
    <p:extLst>
      <p:ext uri="{BB962C8B-B14F-4D97-AF65-F5344CB8AC3E}">
        <p14:creationId xmlns:p14="http://schemas.microsoft.com/office/powerpoint/2010/main" val="1080761966"/>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1000"/>
                                        <p:tgtEl>
                                          <p:spTgt spid="22"/>
                                        </p:tgtEl>
                                      </p:cBhvr>
                                    </p:animEffect>
                                    <p:anim calcmode="lin" valueType="num">
                                      <p:cBhvr>
                                        <p:cTn id="14" dur="1000" fill="hold"/>
                                        <p:tgtEl>
                                          <p:spTgt spid="22"/>
                                        </p:tgtEl>
                                        <p:attrNameLst>
                                          <p:attrName>ppt_x</p:attrName>
                                        </p:attrNameLst>
                                      </p:cBhvr>
                                      <p:tavLst>
                                        <p:tav tm="0">
                                          <p:val>
                                            <p:strVal val="#ppt_x"/>
                                          </p:val>
                                        </p:tav>
                                        <p:tav tm="100000">
                                          <p:val>
                                            <p:strVal val="#ppt_x"/>
                                          </p:val>
                                        </p:tav>
                                      </p:tavLst>
                                    </p:anim>
                                    <p:anim calcmode="lin" valueType="num">
                                      <p:cBhvr>
                                        <p:cTn id="15"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3"/>
          <p:cNvSpPr txBox="1"/>
          <p:nvPr/>
        </p:nvSpPr>
        <p:spPr>
          <a:xfrm>
            <a:off x="525346" y="3079492"/>
            <a:ext cx="2261444" cy="2420449"/>
          </a:xfrm>
          <a:prstGeom prst="rect">
            <a:avLst/>
          </a:prstGeom>
        </p:spPr>
        <p:txBody>
          <a:bodyPr lIns="50800" tIns="50800" rIns="50800" bIns="50800" rtlCol="0" anchor="ctr"/>
          <a:lstStyle/>
          <a:p>
            <a:pPr algn="ctr">
              <a:lnSpc>
                <a:spcPts val="3220"/>
              </a:lnSpc>
            </a:pPr>
            <a:endParaRPr/>
          </a:p>
        </p:txBody>
      </p:sp>
      <p:grpSp>
        <p:nvGrpSpPr>
          <p:cNvPr id="33" name="Group 33"/>
          <p:cNvGrpSpPr/>
          <p:nvPr/>
        </p:nvGrpSpPr>
        <p:grpSpPr>
          <a:xfrm>
            <a:off x="0" y="9983250"/>
            <a:ext cx="1028700" cy="303750"/>
            <a:chOff x="0" y="0"/>
            <a:chExt cx="270933" cy="80000"/>
          </a:xfrm>
        </p:grpSpPr>
        <p:sp>
          <p:nvSpPr>
            <p:cNvPr id="34" name="Freeform 34"/>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5" name="TextBox 35"/>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36" name="Group 36"/>
          <p:cNvGrpSpPr/>
          <p:nvPr/>
        </p:nvGrpSpPr>
        <p:grpSpPr>
          <a:xfrm>
            <a:off x="17259300" y="0"/>
            <a:ext cx="1028700" cy="303750"/>
            <a:chOff x="0" y="0"/>
            <a:chExt cx="270933" cy="80000"/>
          </a:xfrm>
        </p:grpSpPr>
        <p:sp>
          <p:nvSpPr>
            <p:cNvPr id="37" name="Freeform 37"/>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8" name="TextBox 38"/>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39" name="Group 39"/>
          <p:cNvGrpSpPr/>
          <p:nvPr/>
        </p:nvGrpSpPr>
        <p:grpSpPr>
          <a:xfrm>
            <a:off x="0" y="0"/>
            <a:ext cx="1028700" cy="303750"/>
            <a:chOff x="0" y="0"/>
            <a:chExt cx="270933" cy="80000"/>
          </a:xfrm>
        </p:grpSpPr>
        <p:sp>
          <p:nvSpPr>
            <p:cNvPr id="40" name="Freeform 40"/>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1" name="TextBox 41"/>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42" name="Group 42"/>
          <p:cNvGrpSpPr/>
          <p:nvPr/>
        </p:nvGrpSpPr>
        <p:grpSpPr>
          <a:xfrm>
            <a:off x="17259300" y="9983250"/>
            <a:ext cx="1028700" cy="303750"/>
            <a:chOff x="0" y="0"/>
            <a:chExt cx="270933" cy="80000"/>
          </a:xfrm>
        </p:grpSpPr>
        <p:sp>
          <p:nvSpPr>
            <p:cNvPr id="43" name="Freeform 43"/>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4" name="TextBox 44"/>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pic>
        <p:nvPicPr>
          <p:cNvPr id="21" name="Picture 20"/>
          <p:cNvPicPr/>
          <p:nvPr/>
        </p:nvPicPr>
        <p:blipFill>
          <a:blip r:embed="rId2">
            <a:extLst>
              <a:ext uri="{28A0092B-C50C-407E-A947-70E740481C1C}">
                <a14:useLocalDpi xmlns:a14="http://schemas.microsoft.com/office/drawing/2010/main" val="0"/>
              </a:ext>
            </a:extLst>
          </a:blip>
          <a:stretch>
            <a:fillRect/>
          </a:stretch>
        </p:blipFill>
        <p:spPr>
          <a:xfrm>
            <a:off x="11274879" y="268384"/>
            <a:ext cx="6477000" cy="3643630"/>
          </a:xfrm>
          <a:prstGeom prst="rect">
            <a:avLst/>
          </a:prstGeom>
        </p:spPr>
      </p:pic>
      <p:pic>
        <p:nvPicPr>
          <p:cNvPr id="24" name="Picture 23"/>
          <p:cNvPicPr/>
          <p:nvPr/>
        </p:nvPicPr>
        <p:blipFill rotWithShape="1">
          <a:blip r:embed="rId3">
            <a:extLst>
              <a:ext uri="{28A0092B-C50C-407E-A947-70E740481C1C}">
                <a14:useLocalDpi xmlns:a14="http://schemas.microsoft.com/office/drawing/2010/main" val="0"/>
              </a:ext>
            </a:extLst>
          </a:blip>
          <a:srcRect l="3969" r="29365"/>
          <a:stretch/>
        </p:blipFill>
        <p:spPr>
          <a:xfrm>
            <a:off x="11312979" y="4601029"/>
            <a:ext cx="6400800" cy="5676900"/>
          </a:xfrm>
          <a:prstGeom prst="rect">
            <a:avLst/>
          </a:prstGeom>
        </p:spPr>
      </p:pic>
      <p:pic>
        <p:nvPicPr>
          <p:cNvPr id="25" name="Picture 24"/>
          <p:cNvPicPr/>
          <p:nvPr/>
        </p:nvPicPr>
        <p:blipFill rotWithShape="1">
          <a:blip r:embed="rId4">
            <a:extLst>
              <a:ext uri="{28A0092B-C50C-407E-A947-70E740481C1C}">
                <a14:useLocalDpi xmlns:a14="http://schemas.microsoft.com/office/drawing/2010/main" val="0"/>
              </a:ext>
            </a:extLst>
          </a:blip>
          <a:srcRect t="49566"/>
          <a:stretch/>
        </p:blipFill>
        <p:spPr>
          <a:xfrm>
            <a:off x="1046843" y="4914900"/>
            <a:ext cx="9306572" cy="4342000"/>
          </a:xfrm>
          <a:prstGeom prst="rect">
            <a:avLst/>
          </a:prstGeom>
        </p:spPr>
      </p:pic>
      <p:pic>
        <p:nvPicPr>
          <p:cNvPr id="2" name="Picture 1"/>
          <p:cNvPicPr>
            <a:picLocks noChangeAspect="1"/>
          </p:cNvPicPr>
          <p:nvPr/>
        </p:nvPicPr>
        <p:blipFill>
          <a:blip r:embed="rId5"/>
          <a:stretch>
            <a:fillRect/>
          </a:stretch>
        </p:blipFill>
        <p:spPr>
          <a:xfrm>
            <a:off x="611883" y="431963"/>
            <a:ext cx="6017517" cy="4179831"/>
          </a:xfrm>
          <a:prstGeom prst="rect">
            <a:avLst/>
          </a:prstGeom>
        </p:spPr>
      </p:pic>
    </p:spTree>
    <p:extLst>
      <p:ext uri="{BB962C8B-B14F-4D97-AF65-F5344CB8AC3E}">
        <p14:creationId xmlns:p14="http://schemas.microsoft.com/office/powerpoint/2010/main" val="583952608"/>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barn(inVertical)">
                                      <p:cBhvr>
                                        <p:cTn id="14" dur="500"/>
                                        <p:tgtEl>
                                          <p:spTgt spid="25"/>
                                        </p:tgtEl>
                                      </p:cBhvr>
                                    </p:animEffect>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p:cTn id="19" dur="1000" fill="hold"/>
                                        <p:tgtEl>
                                          <p:spTgt spid="21"/>
                                        </p:tgtEl>
                                        <p:attrNameLst>
                                          <p:attrName>ppt_w</p:attrName>
                                        </p:attrNameLst>
                                      </p:cBhvr>
                                      <p:tavLst>
                                        <p:tav tm="0">
                                          <p:val>
                                            <p:fltVal val="0"/>
                                          </p:val>
                                        </p:tav>
                                        <p:tav tm="100000">
                                          <p:val>
                                            <p:strVal val="#ppt_w"/>
                                          </p:val>
                                        </p:tav>
                                      </p:tavLst>
                                    </p:anim>
                                    <p:anim calcmode="lin" valueType="num">
                                      <p:cBhvr>
                                        <p:cTn id="20" dur="1000" fill="hold"/>
                                        <p:tgtEl>
                                          <p:spTgt spid="21"/>
                                        </p:tgtEl>
                                        <p:attrNameLst>
                                          <p:attrName>ppt_h</p:attrName>
                                        </p:attrNameLst>
                                      </p:cBhvr>
                                      <p:tavLst>
                                        <p:tav tm="0">
                                          <p:val>
                                            <p:fltVal val="0"/>
                                          </p:val>
                                        </p:tav>
                                        <p:tav tm="100000">
                                          <p:val>
                                            <p:strVal val="#ppt_h"/>
                                          </p:val>
                                        </p:tav>
                                      </p:tavLst>
                                    </p:anim>
                                    <p:anim calcmode="lin" valueType="num">
                                      <p:cBhvr>
                                        <p:cTn id="21" dur="1000" fill="hold"/>
                                        <p:tgtEl>
                                          <p:spTgt spid="21"/>
                                        </p:tgtEl>
                                        <p:attrNameLst>
                                          <p:attrName>style.rotation</p:attrName>
                                        </p:attrNameLst>
                                      </p:cBhvr>
                                      <p:tavLst>
                                        <p:tav tm="0">
                                          <p:val>
                                            <p:fltVal val="90"/>
                                          </p:val>
                                        </p:tav>
                                        <p:tav tm="100000">
                                          <p:val>
                                            <p:fltVal val="0"/>
                                          </p:val>
                                        </p:tav>
                                      </p:tavLst>
                                    </p:anim>
                                    <p:animEffect transition="in" filter="fade">
                                      <p:cBhvr>
                                        <p:cTn id="22" dur="10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wipe(down)">
                                      <p:cBhvr>
                                        <p:cTn id="2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3"/>
          <p:cNvSpPr txBox="1"/>
          <p:nvPr/>
        </p:nvSpPr>
        <p:spPr>
          <a:xfrm>
            <a:off x="525346" y="3079492"/>
            <a:ext cx="2261444" cy="2420449"/>
          </a:xfrm>
          <a:prstGeom prst="rect">
            <a:avLst/>
          </a:prstGeom>
        </p:spPr>
        <p:txBody>
          <a:bodyPr lIns="50800" tIns="50800" rIns="50800" bIns="50800" rtlCol="0" anchor="ctr"/>
          <a:lstStyle/>
          <a:p>
            <a:pPr algn="ctr">
              <a:lnSpc>
                <a:spcPts val="3220"/>
              </a:lnSpc>
            </a:pPr>
            <a:endParaRPr/>
          </a:p>
        </p:txBody>
      </p:sp>
      <p:grpSp>
        <p:nvGrpSpPr>
          <p:cNvPr id="33" name="Group 33"/>
          <p:cNvGrpSpPr/>
          <p:nvPr/>
        </p:nvGrpSpPr>
        <p:grpSpPr>
          <a:xfrm>
            <a:off x="0" y="9983250"/>
            <a:ext cx="1028700" cy="303750"/>
            <a:chOff x="0" y="0"/>
            <a:chExt cx="270933" cy="80000"/>
          </a:xfrm>
        </p:grpSpPr>
        <p:sp>
          <p:nvSpPr>
            <p:cNvPr id="34" name="Freeform 34"/>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5" name="TextBox 35"/>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36" name="Group 36"/>
          <p:cNvGrpSpPr/>
          <p:nvPr/>
        </p:nvGrpSpPr>
        <p:grpSpPr>
          <a:xfrm>
            <a:off x="17259300" y="0"/>
            <a:ext cx="1028700" cy="303750"/>
            <a:chOff x="0" y="0"/>
            <a:chExt cx="270933" cy="80000"/>
          </a:xfrm>
        </p:grpSpPr>
        <p:sp>
          <p:nvSpPr>
            <p:cNvPr id="37" name="Freeform 37"/>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8" name="TextBox 38"/>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39" name="Group 39"/>
          <p:cNvGrpSpPr/>
          <p:nvPr/>
        </p:nvGrpSpPr>
        <p:grpSpPr>
          <a:xfrm>
            <a:off x="0" y="0"/>
            <a:ext cx="1028700" cy="303750"/>
            <a:chOff x="0" y="0"/>
            <a:chExt cx="270933" cy="80000"/>
          </a:xfrm>
        </p:grpSpPr>
        <p:sp>
          <p:nvSpPr>
            <p:cNvPr id="40" name="Freeform 40"/>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1" name="TextBox 41"/>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42" name="Group 42"/>
          <p:cNvGrpSpPr/>
          <p:nvPr/>
        </p:nvGrpSpPr>
        <p:grpSpPr>
          <a:xfrm>
            <a:off x="17259300" y="9983250"/>
            <a:ext cx="1028700" cy="303750"/>
            <a:chOff x="0" y="0"/>
            <a:chExt cx="270933" cy="80000"/>
          </a:xfrm>
        </p:grpSpPr>
        <p:sp>
          <p:nvSpPr>
            <p:cNvPr id="43" name="Freeform 43"/>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4" name="TextBox 44"/>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sp>
        <p:nvSpPr>
          <p:cNvPr id="18" name="TextBox 17"/>
          <p:cNvSpPr txBox="1"/>
          <p:nvPr/>
        </p:nvSpPr>
        <p:spPr>
          <a:xfrm>
            <a:off x="152400" y="107282"/>
            <a:ext cx="17907000" cy="4031873"/>
          </a:xfrm>
          <a:prstGeom prst="rect">
            <a:avLst/>
          </a:prstGeom>
          <a:noFill/>
          <a:ln w="25400">
            <a:solidFill>
              <a:srgbClr val="002060"/>
            </a:solidFill>
          </a:ln>
        </p:spPr>
        <p:txBody>
          <a:bodyPr wrap="square" rtlCol="0">
            <a:spAutoFit/>
          </a:bodyPr>
          <a:lstStyle/>
          <a:p>
            <a:pPr algn="just"/>
            <a:r>
              <a:rPr lang="vi-VN" sz="3200" b="1" i="1" smtClean="0">
                <a:solidFill>
                  <a:srgbClr val="002060"/>
                </a:solidFill>
                <a:latin typeface="Constantia" panose="02030602050306030303" pitchFamily="18" charset="0"/>
                <a:sym typeface="Wingdings" panose="05000000000000000000" pitchFamily="2" charset="2"/>
              </a:rPr>
              <a:t>Ví dụ 4: </a:t>
            </a:r>
            <a:r>
              <a:rPr lang="vi-VN" sz="3200" i="1" smtClean="0">
                <a:solidFill>
                  <a:srgbClr val="002060"/>
                </a:solidFill>
                <a:latin typeface="Constantia" panose="02030602050306030303" pitchFamily="18" charset="0"/>
                <a:sym typeface="Wingdings" panose="05000000000000000000" pitchFamily="2" charset="2"/>
              </a:rPr>
              <a:t>MPU 16F887, dao động nội 8M.</a:t>
            </a:r>
          </a:p>
          <a:p>
            <a:pPr algn="just"/>
            <a:r>
              <a:rPr lang="vi-VN" sz="3200" i="1">
                <a:solidFill>
                  <a:srgbClr val="002060"/>
                </a:solidFill>
                <a:latin typeface="Constantia" panose="02030602050306030303" pitchFamily="18" charset="0"/>
                <a:sym typeface="Wingdings" panose="05000000000000000000" pitchFamily="2" charset="2"/>
              </a:rPr>
              <a:t>	</a:t>
            </a:r>
            <a:r>
              <a:rPr lang="vi-VN" sz="3200" b="1" i="1" smtClean="0">
                <a:solidFill>
                  <a:srgbClr val="002060"/>
                </a:solidFill>
                <a:latin typeface="Constantia" panose="02030602050306030303" pitchFamily="18" charset="0"/>
                <a:sym typeface="Wingdings" panose="05000000000000000000" pitchFamily="2" charset="2"/>
              </a:rPr>
              <a:t>+ </a:t>
            </a:r>
            <a:r>
              <a:rPr lang="vi-VN" sz="3200" i="1" smtClean="0">
                <a:solidFill>
                  <a:srgbClr val="002060"/>
                </a:solidFill>
                <a:latin typeface="Constantia" panose="02030602050306030303" pitchFamily="18" charset="0"/>
                <a:sym typeface="Wingdings" panose="05000000000000000000" pitchFamily="2" charset="2"/>
              </a:rPr>
              <a:t>Đo nhiệt độ 2 kênh T1(AN1), T2(AN2) dùng cảm biến LM35, nhiệt độ từ 00 – 99.</a:t>
            </a:r>
          </a:p>
          <a:p>
            <a:pPr algn="just"/>
            <a:r>
              <a:rPr lang="vi-VN" sz="3200" i="1">
                <a:solidFill>
                  <a:srgbClr val="002060"/>
                </a:solidFill>
                <a:latin typeface="Constantia" panose="02030602050306030303" pitchFamily="18" charset="0"/>
                <a:sym typeface="Wingdings" panose="05000000000000000000" pitchFamily="2" charset="2"/>
              </a:rPr>
              <a:t>	</a:t>
            </a:r>
            <a:r>
              <a:rPr lang="vi-VN" sz="3200" b="1" i="1" smtClean="0">
                <a:solidFill>
                  <a:srgbClr val="002060"/>
                </a:solidFill>
                <a:latin typeface="Constantia" panose="02030602050306030303" pitchFamily="18" charset="0"/>
                <a:sym typeface="Wingdings" panose="05000000000000000000" pitchFamily="2" charset="2"/>
              </a:rPr>
              <a:t>+ </a:t>
            </a:r>
            <a:r>
              <a:rPr lang="vi-VN" sz="3200" i="1" smtClean="0">
                <a:solidFill>
                  <a:srgbClr val="002060"/>
                </a:solidFill>
                <a:latin typeface="Constantia" panose="02030602050306030303" pitchFamily="18" charset="0"/>
                <a:sym typeface="Wingdings" panose="05000000000000000000" pitchFamily="2" charset="2"/>
              </a:rPr>
              <a:t>Nhiệt độ cảnh báo quá nhiệt được cài trước thông qua chiết áp WN(10K, 50mV/1%). Khi nhiệt độ T &gt; WN thì LED (RB0) sáng, ngược lại tắt.</a:t>
            </a:r>
          </a:p>
          <a:p>
            <a:pPr algn="just"/>
            <a:r>
              <a:rPr lang="vi-VN" sz="3200" i="1">
                <a:solidFill>
                  <a:srgbClr val="002060"/>
                </a:solidFill>
                <a:latin typeface="Constantia" panose="02030602050306030303" pitchFamily="18" charset="0"/>
                <a:sym typeface="Wingdings" panose="05000000000000000000" pitchFamily="2" charset="2"/>
              </a:rPr>
              <a:t>	</a:t>
            </a:r>
            <a:r>
              <a:rPr lang="vi-VN" sz="3200" b="1" i="1" smtClean="0">
                <a:solidFill>
                  <a:srgbClr val="002060"/>
                </a:solidFill>
                <a:latin typeface="Constantia" panose="02030602050306030303" pitchFamily="18" charset="0"/>
                <a:sym typeface="Wingdings" panose="05000000000000000000" pitchFamily="2" charset="2"/>
              </a:rPr>
              <a:t>+ </a:t>
            </a:r>
            <a:r>
              <a:rPr lang="vi-VN" sz="3200" i="1" smtClean="0">
                <a:solidFill>
                  <a:srgbClr val="002060"/>
                </a:solidFill>
                <a:latin typeface="Constantia" panose="02030602050306030303" pitchFamily="18" charset="0"/>
                <a:sym typeface="Wingdings" panose="05000000000000000000" pitchFamily="2" charset="2"/>
              </a:rPr>
              <a:t>Một nút nhấn CHANNEL (RB1) dùng để lựa chọn kênh hiển thị 0, 1, 2 trên LED 7 đoạn. Với 1 tương ứng chọn Kênh 1, 2 tương ứng kênh 2 và 0 là không cảnh báo quá nhiệt nữa bất chấp nhiệt độ.</a:t>
            </a:r>
          </a:p>
          <a:p>
            <a:pPr algn="just"/>
            <a:r>
              <a:rPr lang="vi-VN" sz="3200" i="1">
                <a:solidFill>
                  <a:srgbClr val="002060"/>
                </a:solidFill>
                <a:latin typeface="Constantia" panose="02030602050306030303" pitchFamily="18" charset="0"/>
                <a:sym typeface="Wingdings" panose="05000000000000000000" pitchFamily="2" charset="2"/>
              </a:rPr>
              <a:t>	</a:t>
            </a:r>
            <a:r>
              <a:rPr lang="vi-VN" sz="3200" b="1" i="1" smtClean="0">
                <a:solidFill>
                  <a:srgbClr val="002060"/>
                </a:solidFill>
                <a:latin typeface="Constantia" panose="02030602050306030303" pitchFamily="18" charset="0"/>
                <a:sym typeface="Wingdings" panose="05000000000000000000" pitchFamily="2" charset="2"/>
              </a:rPr>
              <a:t>+ </a:t>
            </a:r>
            <a:r>
              <a:rPr lang="vi-VN" sz="3200" i="1" smtClean="0">
                <a:solidFill>
                  <a:srgbClr val="002060"/>
                </a:solidFill>
                <a:latin typeface="Constantia" panose="02030602050306030303" pitchFamily="18" charset="0"/>
                <a:sym typeface="Wingdings" panose="05000000000000000000" pitchFamily="2" charset="2"/>
              </a:rPr>
              <a:t>Một nút ON/OFF (RB2) điều khiển bật tắt hiển thị, khi OFF LED 7 đoạn tắt, LCD hiển thị chữ OFF giữa dòng 1.</a:t>
            </a:r>
            <a:endParaRPr lang="vi-VN" sz="2800" i="1" smtClean="0">
              <a:solidFill>
                <a:srgbClr val="002060"/>
              </a:solidFill>
              <a:latin typeface="Constantia" panose="02030602050306030303" pitchFamily="18" charset="0"/>
              <a:sym typeface="Wingdings" panose="05000000000000000000" pitchFamily="2" charset="2"/>
            </a:endParaRPr>
          </a:p>
        </p:txBody>
      </p:sp>
      <p:pic>
        <p:nvPicPr>
          <p:cNvPr id="2" name="Picture 1"/>
          <p:cNvPicPr>
            <a:picLocks noChangeAspect="1"/>
          </p:cNvPicPr>
          <p:nvPr/>
        </p:nvPicPr>
        <p:blipFill>
          <a:blip r:embed="rId2"/>
          <a:stretch>
            <a:fillRect/>
          </a:stretch>
        </p:blipFill>
        <p:spPr>
          <a:xfrm>
            <a:off x="1543052" y="4391098"/>
            <a:ext cx="8305800" cy="4768145"/>
          </a:xfrm>
          <a:prstGeom prst="rect">
            <a:avLst/>
          </a:prstGeom>
        </p:spPr>
      </p:pic>
      <p:sp>
        <p:nvSpPr>
          <p:cNvPr id="17" name="TextBox 16"/>
          <p:cNvSpPr txBox="1"/>
          <p:nvPr/>
        </p:nvSpPr>
        <p:spPr>
          <a:xfrm>
            <a:off x="8915400" y="6204042"/>
            <a:ext cx="4558141" cy="707886"/>
          </a:xfrm>
          <a:prstGeom prst="rect">
            <a:avLst/>
          </a:prstGeom>
          <a:noFill/>
          <a:ln w="25400">
            <a:noFill/>
          </a:ln>
        </p:spPr>
        <p:txBody>
          <a:bodyPr wrap="square" rtlCol="0">
            <a:spAutoFit/>
          </a:bodyPr>
          <a:lstStyle/>
          <a:p>
            <a:pPr algn="just"/>
            <a:r>
              <a:rPr lang="vi-VN" sz="4000" b="1" i="1" smtClean="0">
                <a:solidFill>
                  <a:srgbClr val="FF0000"/>
                </a:solidFill>
                <a:effectLst>
                  <a:outerShdw blurRad="38100" dist="38100" dir="2700000" algn="tl">
                    <a:srgbClr val="000000">
                      <a:alpha val="43137"/>
                    </a:srgbClr>
                  </a:outerShdw>
                </a:effectLst>
                <a:latin typeface="Constantia" panose="02030602050306030303" pitchFamily="18" charset="0"/>
                <a:sym typeface="Wingdings" panose="05000000000000000000" pitchFamily="2" charset="2"/>
              </a:rPr>
              <a:t>BÀI TẬP VỀ NHÀ</a:t>
            </a:r>
          </a:p>
        </p:txBody>
      </p:sp>
    </p:spTree>
    <p:extLst>
      <p:ext uri="{BB962C8B-B14F-4D97-AF65-F5344CB8AC3E}">
        <p14:creationId xmlns:p14="http://schemas.microsoft.com/office/powerpoint/2010/main" val="34975933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 calcmode="lin" valueType="num">
                                      <p:cBhvr additive="base">
                                        <p:cTn id="20" dur="500" fill="hold"/>
                                        <p:tgtEl>
                                          <p:spTgt spid="17"/>
                                        </p:tgtEl>
                                        <p:attrNameLst>
                                          <p:attrName>ppt_x</p:attrName>
                                        </p:attrNameLst>
                                      </p:cBhvr>
                                      <p:tavLst>
                                        <p:tav tm="0">
                                          <p:val>
                                            <p:strVal val="#ppt_x"/>
                                          </p:val>
                                        </p:tav>
                                        <p:tav tm="100000">
                                          <p:val>
                                            <p:strVal val="#ppt_x"/>
                                          </p:val>
                                        </p:tav>
                                      </p:tavLst>
                                    </p:anim>
                                    <p:anim calcmode="lin" valueType="num">
                                      <p:cBhvr additive="base">
                                        <p:cTn id="21"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3"/>
          <p:cNvSpPr txBox="1"/>
          <p:nvPr/>
        </p:nvSpPr>
        <p:spPr>
          <a:xfrm>
            <a:off x="525346" y="3079492"/>
            <a:ext cx="2261444" cy="2420449"/>
          </a:xfrm>
          <a:prstGeom prst="rect">
            <a:avLst/>
          </a:prstGeom>
        </p:spPr>
        <p:txBody>
          <a:bodyPr lIns="50800" tIns="50800" rIns="50800" bIns="50800" rtlCol="0" anchor="ctr"/>
          <a:lstStyle/>
          <a:p>
            <a:pPr algn="ctr">
              <a:lnSpc>
                <a:spcPts val="3220"/>
              </a:lnSpc>
            </a:pPr>
            <a:endParaRPr/>
          </a:p>
        </p:txBody>
      </p:sp>
      <p:grpSp>
        <p:nvGrpSpPr>
          <p:cNvPr id="33" name="Group 33"/>
          <p:cNvGrpSpPr/>
          <p:nvPr/>
        </p:nvGrpSpPr>
        <p:grpSpPr>
          <a:xfrm>
            <a:off x="0" y="9983250"/>
            <a:ext cx="1028700" cy="303750"/>
            <a:chOff x="0" y="0"/>
            <a:chExt cx="270933" cy="80000"/>
          </a:xfrm>
        </p:grpSpPr>
        <p:sp>
          <p:nvSpPr>
            <p:cNvPr id="34" name="Freeform 34"/>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5" name="TextBox 35"/>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36" name="Group 36"/>
          <p:cNvGrpSpPr/>
          <p:nvPr/>
        </p:nvGrpSpPr>
        <p:grpSpPr>
          <a:xfrm>
            <a:off x="17259300" y="0"/>
            <a:ext cx="1028700" cy="303750"/>
            <a:chOff x="0" y="0"/>
            <a:chExt cx="270933" cy="80000"/>
          </a:xfrm>
        </p:grpSpPr>
        <p:sp>
          <p:nvSpPr>
            <p:cNvPr id="37" name="Freeform 37"/>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8" name="TextBox 38"/>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39" name="Group 39"/>
          <p:cNvGrpSpPr/>
          <p:nvPr/>
        </p:nvGrpSpPr>
        <p:grpSpPr>
          <a:xfrm>
            <a:off x="0" y="0"/>
            <a:ext cx="1028700" cy="303750"/>
            <a:chOff x="0" y="0"/>
            <a:chExt cx="270933" cy="80000"/>
          </a:xfrm>
        </p:grpSpPr>
        <p:sp>
          <p:nvSpPr>
            <p:cNvPr id="40" name="Freeform 40"/>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1" name="TextBox 41"/>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42" name="Group 42"/>
          <p:cNvGrpSpPr/>
          <p:nvPr/>
        </p:nvGrpSpPr>
        <p:grpSpPr>
          <a:xfrm>
            <a:off x="17259300" y="9983250"/>
            <a:ext cx="1028700" cy="303750"/>
            <a:chOff x="0" y="0"/>
            <a:chExt cx="270933" cy="80000"/>
          </a:xfrm>
        </p:grpSpPr>
        <p:sp>
          <p:nvSpPr>
            <p:cNvPr id="43" name="Freeform 43"/>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4" name="TextBox 44"/>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sp>
        <p:nvSpPr>
          <p:cNvPr id="3" name="Rectangle 2"/>
          <p:cNvSpPr/>
          <p:nvPr/>
        </p:nvSpPr>
        <p:spPr>
          <a:xfrm>
            <a:off x="525346" y="647700"/>
            <a:ext cx="17297400" cy="8494633"/>
          </a:xfrm>
          <a:prstGeom prst="rect">
            <a:avLst/>
          </a:prstGeom>
          <a:ln w="25400">
            <a:solidFill>
              <a:srgbClr val="002060"/>
            </a:solidFill>
          </a:ln>
        </p:spPr>
        <p:txBody>
          <a:bodyPr wrap="square">
            <a:spAutoFit/>
          </a:bodyPr>
          <a:lstStyle/>
          <a:p>
            <a:pPr>
              <a:lnSpc>
                <a:spcPct val="107000"/>
              </a:lnSpc>
              <a:spcAft>
                <a:spcPts val="800"/>
              </a:spcAft>
            </a:pPr>
            <a:r>
              <a:rPr lang="vi-VN" sz="2800" b="1">
                <a:solidFill>
                  <a:srgbClr val="000000"/>
                </a:solidFill>
                <a:latin typeface="Times New Roman" panose="02020603050405020304" pitchFamily="18" charset="0"/>
                <a:ea typeface="Calibri" panose="020F0502020204030204" pitchFamily="34" charset="0"/>
                <a:cs typeface="Times New Roman" panose="02020603050405020304" pitchFamily="18" charset="0"/>
              </a:rPr>
              <a:t>Ví dụ </a:t>
            </a:r>
            <a:r>
              <a:rPr lang="vi-VN" sz="2800" b="1"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5: </a:t>
            </a:r>
            <a:r>
              <a:rPr lang="vi-VN" sz="280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Cho hệ thống đo nhiệt độ gồm PIC 16F887 và cảm biến nhiệt độ LM35 ( giá trị ngõ ra 10mV/1 độ C, 0 – 150 độ C), tương ứng kênh 4 (AN4), hiển thị LCD 16x2, nút nhấn C_DOI nối RC0, một loa DC nối RC1( mức 1 loa kêu, mức 0 loa tắt). Viết chương trình thực hiện các yêu cầu sau:</a:t>
            </a:r>
            <a:endParaRPr lang="en-US" sz="20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sz="280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Hiển thị LCD như sau:</a:t>
            </a:r>
            <a:endParaRPr lang="en-US" sz="20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sz="280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vi-VN" sz="2800" b="1">
                <a:solidFill>
                  <a:srgbClr val="000000"/>
                </a:solidFill>
                <a:latin typeface="Times New Roman" panose="02020603050405020304" pitchFamily="18" charset="0"/>
                <a:ea typeface="Calibri" panose="020F0502020204030204" pitchFamily="34" charset="0"/>
                <a:cs typeface="Times New Roman" panose="02020603050405020304" pitchFamily="18" charset="0"/>
              </a:rPr>
              <a:t>Hàng 1: </a:t>
            </a:r>
            <a:r>
              <a:rPr lang="vi-VN" sz="280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vi-VN" sz="2800" b="1">
                <a:solidFill>
                  <a:srgbClr val="000000"/>
                </a:solidFill>
                <a:latin typeface="Times New Roman" panose="02020603050405020304" pitchFamily="18" charset="0"/>
                <a:ea typeface="Calibri" panose="020F0502020204030204" pitchFamily="34" charset="0"/>
                <a:cs typeface="Times New Roman" panose="02020603050405020304" pitchFamily="18" charset="0"/>
              </a:rPr>
              <a:t>N.Do=				XX do C</a:t>
            </a:r>
            <a:endParaRPr lang="en-US" sz="20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sz="2800" b="1">
                <a:solidFill>
                  <a:srgbClr val="000000"/>
                </a:solidFill>
                <a:latin typeface="Times New Roman" panose="02020603050405020304" pitchFamily="18" charset="0"/>
                <a:ea typeface="Calibri" panose="020F0502020204030204" pitchFamily="34" charset="0"/>
                <a:cs typeface="Times New Roman" panose="02020603050405020304" pitchFamily="18" charset="0"/>
              </a:rPr>
              <a:t>		  Hàng 2: </a:t>
            </a:r>
            <a:r>
              <a:rPr lang="vi-VN" sz="280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vi-VN" sz="2800" b="1">
                <a:solidFill>
                  <a:srgbClr val="000000"/>
                </a:solidFill>
                <a:latin typeface="Times New Roman" panose="02020603050405020304" pitchFamily="18" charset="0"/>
                <a:ea typeface="Calibri" panose="020F0502020204030204" pitchFamily="34" charset="0"/>
                <a:cs typeface="Times New Roman" panose="02020603050405020304" pitchFamily="18" charset="0"/>
              </a:rPr>
              <a:t>GT Cai=			YY do C</a:t>
            </a:r>
            <a:endParaRPr lang="en-US" sz="20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sz="2800" b="1">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vi-VN" sz="280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Trong đó XX là giá trị nhiệt độ đo, YY là giá trị cài đặt. Nội dung XX do C và YY do C hiển thị cuối hàng 1 và 2. Mặc định giá trị cài YY = 35. Nhấn nút C_DOI thì sẽ chuyển độ C sang độ K, màn hình LCD sẽ hiển thị ngược lại khi nhấn lại nút C_DOI.</a:t>
            </a:r>
            <a:endParaRPr lang="en-US" sz="2000">
              <a:latin typeface="Calibri" panose="020F0502020204030204" pitchFamily="34" charset="0"/>
              <a:ea typeface="Calibri" panose="020F0502020204030204" pitchFamily="34" charset="0"/>
              <a:cs typeface="Times New Roman" panose="02020603050405020304" pitchFamily="18" charset="0"/>
            </a:endParaRPr>
          </a:p>
          <a:p>
            <a:pPr indent="457200">
              <a:lnSpc>
                <a:spcPct val="107000"/>
              </a:lnSpc>
              <a:spcAft>
                <a:spcPts val="800"/>
              </a:spcAft>
            </a:pPr>
            <a:r>
              <a:rPr lang="vi-VN" sz="2800">
                <a:solidFill>
                  <a:srgbClr val="000000"/>
                </a:solidFill>
                <a:latin typeface="Times New Roman" panose="02020603050405020304" pitchFamily="18" charset="0"/>
                <a:ea typeface="Calibri" panose="020F0502020204030204" pitchFamily="34" charset="0"/>
                <a:cs typeface="Times New Roman" panose="02020603050405020304" pitchFamily="18" charset="0"/>
              </a:rPr>
              <a:t>Hiển thị LCD như sau:</a:t>
            </a:r>
            <a:endParaRPr lang="en-US" sz="20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sz="280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vi-VN" sz="2800" b="1">
                <a:solidFill>
                  <a:srgbClr val="000000"/>
                </a:solidFill>
                <a:latin typeface="Times New Roman" panose="02020603050405020304" pitchFamily="18" charset="0"/>
                <a:ea typeface="Calibri" panose="020F0502020204030204" pitchFamily="34" charset="0"/>
                <a:cs typeface="Times New Roman" panose="02020603050405020304" pitchFamily="18" charset="0"/>
              </a:rPr>
              <a:t>Hàng 1: </a:t>
            </a:r>
            <a:r>
              <a:rPr lang="vi-VN" sz="280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vi-VN" sz="2800" b="1">
                <a:solidFill>
                  <a:srgbClr val="000000"/>
                </a:solidFill>
                <a:latin typeface="Times New Roman" panose="02020603050405020304" pitchFamily="18" charset="0"/>
                <a:ea typeface="Calibri" panose="020F0502020204030204" pitchFamily="34" charset="0"/>
                <a:cs typeface="Times New Roman" panose="02020603050405020304" pitchFamily="18" charset="0"/>
              </a:rPr>
              <a:t>N.Do=				ZZZ do K</a:t>
            </a:r>
            <a:endParaRPr lang="en-US" sz="20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sz="2800" b="1">
                <a:solidFill>
                  <a:srgbClr val="000000"/>
                </a:solidFill>
                <a:latin typeface="Times New Roman" panose="02020603050405020304" pitchFamily="18" charset="0"/>
                <a:ea typeface="Calibri" panose="020F0502020204030204" pitchFamily="34" charset="0"/>
                <a:cs typeface="Times New Roman" panose="02020603050405020304" pitchFamily="18" charset="0"/>
              </a:rPr>
              <a:t>		  Hàng 2: </a:t>
            </a:r>
            <a:r>
              <a:rPr lang="vi-VN" sz="280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vi-VN" sz="2800" b="1">
                <a:solidFill>
                  <a:srgbClr val="000000"/>
                </a:solidFill>
                <a:latin typeface="Times New Roman" panose="02020603050405020304" pitchFamily="18" charset="0"/>
                <a:ea typeface="Calibri" panose="020F0502020204030204" pitchFamily="34" charset="0"/>
                <a:cs typeface="Times New Roman" panose="02020603050405020304" pitchFamily="18" charset="0"/>
              </a:rPr>
              <a:t>GT Cai=			QQQ do K</a:t>
            </a:r>
            <a:endParaRPr lang="en-US" sz="20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sz="2800">
                <a:solidFill>
                  <a:srgbClr val="000000"/>
                </a:solidFill>
                <a:latin typeface="Times New Roman" panose="02020603050405020304" pitchFamily="18" charset="0"/>
                <a:ea typeface="Calibri" panose="020F0502020204030204" pitchFamily="34" charset="0"/>
                <a:cs typeface="Times New Roman" panose="02020603050405020304" pitchFamily="18" charset="0"/>
              </a:rPr>
              <a:t>Biết rằng </a:t>
            </a:r>
            <a:r>
              <a:rPr lang="vi-VN" sz="2800" b="1">
                <a:solidFill>
                  <a:srgbClr val="000000"/>
                </a:solidFill>
                <a:latin typeface="Times New Roman" panose="02020603050405020304" pitchFamily="18" charset="0"/>
                <a:ea typeface="Calibri" panose="020F0502020204030204" pitchFamily="34" charset="0"/>
                <a:cs typeface="Times New Roman" panose="02020603050405020304" pitchFamily="18" charset="0"/>
              </a:rPr>
              <a:t>giá trị độ K = Giá trị độ C + 273 </a:t>
            </a:r>
            <a:r>
              <a:rPr lang="vi-VN" sz="2800">
                <a:solidFill>
                  <a:srgbClr val="000000"/>
                </a:solidFill>
                <a:latin typeface="Times New Roman" panose="02020603050405020304" pitchFamily="18" charset="0"/>
                <a:ea typeface="Calibri" panose="020F0502020204030204" pitchFamily="34" charset="0"/>
                <a:cs typeface="Times New Roman" panose="02020603050405020304" pitchFamily="18" charset="0"/>
              </a:rPr>
              <a:t>và </a:t>
            </a:r>
            <a:r>
              <a:rPr lang="vi-VN" sz="2800" b="1">
                <a:solidFill>
                  <a:srgbClr val="000000"/>
                </a:solidFill>
                <a:latin typeface="Times New Roman" panose="02020603050405020304" pitchFamily="18" charset="0"/>
                <a:ea typeface="Calibri" panose="020F0502020204030204" pitchFamily="34" charset="0"/>
                <a:cs typeface="Times New Roman" panose="02020603050405020304" pitchFamily="18" charset="0"/>
              </a:rPr>
              <a:t>ZZZ</a:t>
            </a:r>
            <a:r>
              <a:rPr lang="vi-VN" sz="280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và </a:t>
            </a:r>
            <a:r>
              <a:rPr lang="vi-VN" sz="2800" b="1">
                <a:solidFill>
                  <a:srgbClr val="000000"/>
                </a:solidFill>
                <a:latin typeface="Times New Roman" panose="02020603050405020304" pitchFamily="18" charset="0"/>
                <a:ea typeface="Calibri" panose="020F0502020204030204" pitchFamily="34" charset="0"/>
                <a:cs typeface="Times New Roman" panose="02020603050405020304" pitchFamily="18" charset="0"/>
              </a:rPr>
              <a:t>QQQ</a:t>
            </a:r>
            <a:r>
              <a:rPr lang="vi-VN" sz="280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là giá trị độ K.</a:t>
            </a:r>
            <a:endParaRPr lang="en-US" sz="20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sz="2800">
                <a:solidFill>
                  <a:srgbClr val="000000"/>
                </a:solidFill>
                <a:latin typeface="Times New Roman" panose="02020603050405020304" pitchFamily="18" charset="0"/>
                <a:ea typeface="Calibri" panose="020F0502020204030204" pitchFamily="34" charset="0"/>
                <a:cs typeface="Times New Roman" panose="02020603050405020304" pitchFamily="18" charset="0"/>
              </a:rPr>
              <a:t>Khi giá trị nhiệt độ đo (độ C hay độ K) lớn hơn hoặc bằng giá trị cài đặt thì nhấp nháy XX hay ZZZ theo chu kì </a:t>
            </a:r>
            <a:r>
              <a:rPr lang="en-US" sz="2800">
                <a:solidFill>
                  <a:srgbClr val="000000"/>
                </a:solidFill>
                <a:latin typeface="Times New Roman" panose="02020603050405020304" pitchFamily="18" charset="0"/>
                <a:ea typeface="Calibri" panose="020F0502020204030204" pitchFamily="34" charset="0"/>
                <a:cs typeface="Times New Roman" panose="02020603050405020304" pitchFamily="18" charset="0"/>
              </a:rPr>
              <a:t>0.</a:t>
            </a:r>
            <a:r>
              <a:rPr lang="vi-VN" sz="2800">
                <a:solidFill>
                  <a:srgbClr val="000000"/>
                </a:solidFill>
                <a:latin typeface="Times New Roman" panose="02020603050405020304" pitchFamily="18" charset="0"/>
                <a:ea typeface="Calibri" panose="020F0502020204030204" pitchFamily="34" charset="0"/>
                <a:cs typeface="Times New Roman" panose="02020603050405020304" pitchFamily="18" charset="0"/>
              </a:rPr>
              <a:t>5s sáng, </a:t>
            </a:r>
            <a:r>
              <a:rPr lang="en-US" sz="2800">
                <a:solidFill>
                  <a:srgbClr val="000000"/>
                </a:solidFill>
                <a:latin typeface="Times New Roman" panose="02020603050405020304" pitchFamily="18" charset="0"/>
                <a:ea typeface="Calibri" panose="020F0502020204030204" pitchFamily="34" charset="0"/>
                <a:cs typeface="Times New Roman" panose="02020603050405020304" pitchFamily="18" charset="0"/>
              </a:rPr>
              <a:t>0.</a:t>
            </a:r>
            <a:r>
              <a:rPr lang="vi-VN" sz="2800">
                <a:solidFill>
                  <a:srgbClr val="000000"/>
                </a:solidFill>
                <a:latin typeface="Times New Roman" panose="02020603050405020304" pitchFamily="18" charset="0"/>
                <a:ea typeface="Calibri" panose="020F0502020204030204" pitchFamily="34" charset="0"/>
                <a:cs typeface="Times New Roman" panose="02020603050405020304" pitchFamily="18" charset="0"/>
              </a:rPr>
              <a:t>5s tắt và loa kêu và ngược lại thì LCD hiển thị bình thường và loa tắt. </a:t>
            </a:r>
            <a:endParaRPr lang="en-US" sz="20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sz="280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24003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 calcmode="lin" valueType="num">
                                      <p:cBhvr additive="base">
                                        <p:cTn id="16"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 calcmode="lin" valueType="num">
                                      <p:cBhvr additive="base">
                                        <p:cTn id="2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6" dur="500"/>
                                        <p:tgtEl>
                                          <p:spTgt spid="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p:cTn id="31" dur="1000" fill="hold"/>
                                        <p:tgtEl>
                                          <p:spTgt spid="3">
                                            <p:txEl>
                                              <p:pRg st="5" end="5"/>
                                            </p:txEl>
                                          </p:spTgt>
                                        </p:tgtEl>
                                        <p:attrNameLst>
                                          <p:attrName>ppt_w</p:attrName>
                                        </p:attrNameLst>
                                      </p:cBhvr>
                                      <p:tavLst>
                                        <p:tav tm="0">
                                          <p:val>
                                            <p:fltVal val="0"/>
                                          </p:val>
                                        </p:tav>
                                        <p:tav tm="100000">
                                          <p:val>
                                            <p:strVal val="#ppt_w"/>
                                          </p:val>
                                        </p:tav>
                                      </p:tavLst>
                                    </p:anim>
                                    <p:anim calcmode="lin" valueType="num">
                                      <p:cBhvr>
                                        <p:cTn id="32" dur="1000" fill="hold"/>
                                        <p:tgtEl>
                                          <p:spTgt spid="3">
                                            <p:txEl>
                                              <p:pRg st="5" end="5"/>
                                            </p:txEl>
                                          </p:spTgt>
                                        </p:tgtEl>
                                        <p:attrNameLst>
                                          <p:attrName>ppt_h</p:attrName>
                                        </p:attrNameLst>
                                      </p:cBhvr>
                                      <p:tavLst>
                                        <p:tav tm="0">
                                          <p:val>
                                            <p:fltVal val="0"/>
                                          </p:val>
                                        </p:tav>
                                        <p:tav tm="100000">
                                          <p:val>
                                            <p:strVal val="#ppt_h"/>
                                          </p:val>
                                        </p:tav>
                                      </p:tavLst>
                                    </p:anim>
                                    <p:anim calcmode="lin" valueType="num">
                                      <p:cBhvr>
                                        <p:cTn id="33" dur="1000" fill="hold"/>
                                        <p:tgtEl>
                                          <p:spTgt spid="3">
                                            <p:txEl>
                                              <p:pRg st="5" end="5"/>
                                            </p:txEl>
                                          </p:spTgt>
                                        </p:tgtEl>
                                        <p:attrNameLst>
                                          <p:attrName>style.rotation</p:attrName>
                                        </p:attrNameLst>
                                      </p:cBhvr>
                                      <p:tavLst>
                                        <p:tav tm="0">
                                          <p:val>
                                            <p:fltVal val="90"/>
                                          </p:val>
                                        </p:tav>
                                        <p:tav tm="100000">
                                          <p:val>
                                            <p:fltVal val="0"/>
                                          </p:val>
                                        </p:tav>
                                      </p:tavLst>
                                    </p:anim>
                                    <p:animEffect transition="in" filter="fade">
                                      <p:cBhvr>
                                        <p:cTn id="34" dur="1000"/>
                                        <p:tgtEl>
                                          <p:spTgt spid="3">
                                            <p:txEl>
                                              <p:pRg st="5" end="5"/>
                                            </p:txEl>
                                          </p:spTgt>
                                        </p:tgtEl>
                                      </p:cBhvr>
                                    </p:animEffect>
                                  </p:childTnLst>
                                </p:cTn>
                              </p:par>
                              <p:par>
                                <p:cTn id="35" presetID="31" presetClass="entr" presetSubtype="0"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p:cTn id="37" dur="1000" fill="hold"/>
                                        <p:tgtEl>
                                          <p:spTgt spid="3">
                                            <p:txEl>
                                              <p:pRg st="6" end="6"/>
                                            </p:txEl>
                                          </p:spTgt>
                                        </p:tgtEl>
                                        <p:attrNameLst>
                                          <p:attrName>ppt_w</p:attrName>
                                        </p:attrNameLst>
                                      </p:cBhvr>
                                      <p:tavLst>
                                        <p:tav tm="0">
                                          <p:val>
                                            <p:fltVal val="0"/>
                                          </p:val>
                                        </p:tav>
                                        <p:tav tm="100000">
                                          <p:val>
                                            <p:strVal val="#ppt_w"/>
                                          </p:val>
                                        </p:tav>
                                      </p:tavLst>
                                    </p:anim>
                                    <p:anim calcmode="lin" valueType="num">
                                      <p:cBhvr>
                                        <p:cTn id="38" dur="1000" fill="hold"/>
                                        <p:tgtEl>
                                          <p:spTgt spid="3">
                                            <p:txEl>
                                              <p:pRg st="6" end="6"/>
                                            </p:txEl>
                                          </p:spTgt>
                                        </p:tgtEl>
                                        <p:attrNameLst>
                                          <p:attrName>ppt_h</p:attrName>
                                        </p:attrNameLst>
                                      </p:cBhvr>
                                      <p:tavLst>
                                        <p:tav tm="0">
                                          <p:val>
                                            <p:fltVal val="0"/>
                                          </p:val>
                                        </p:tav>
                                        <p:tav tm="100000">
                                          <p:val>
                                            <p:strVal val="#ppt_h"/>
                                          </p:val>
                                        </p:tav>
                                      </p:tavLst>
                                    </p:anim>
                                    <p:anim calcmode="lin" valueType="num">
                                      <p:cBhvr>
                                        <p:cTn id="39" dur="1000" fill="hold"/>
                                        <p:tgtEl>
                                          <p:spTgt spid="3">
                                            <p:txEl>
                                              <p:pRg st="6" end="6"/>
                                            </p:txEl>
                                          </p:spTgt>
                                        </p:tgtEl>
                                        <p:attrNameLst>
                                          <p:attrName>style.rotation</p:attrName>
                                        </p:attrNameLst>
                                      </p:cBhvr>
                                      <p:tavLst>
                                        <p:tav tm="0">
                                          <p:val>
                                            <p:fltVal val="90"/>
                                          </p:val>
                                        </p:tav>
                                        <p:tav tm="100000">
                                          <p:val>
                                            <p:fltVal val="0"/>
                                          </p:val>
                                        </p:tav>
                                      </p:tavLst>
                                    </p:anim>
                                    <p:animEffect transition="in" filter="fade">
                                      <p:cBhvr>
                                        <p:cTn id="40" dur="1000"/>
                                        <p:tgtEl>
                                          <p:spTgt spid="3">
                                            <p:txEl>
                                              <p:pRg st="6" end="6"/>
                                            </p:txEl>
                                          </p:spTgt>
                                        </p:tgtEl>
                                      </p:cBhvr>
                                    </p:animEffect>
                                  </p:childTnLst>
                                </p:cTn>
                              </p:par>
                              <p:par>
                                <p:cTn id="41" presetID="31" presetClass="entr" presetSubtype="0" fill="hold" nodeType="with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p:cTn id="43" dur="1000" fill="hold"/>
                                        <p:tgtEl>
                                          <p:spTgt spid="3">
                                            <p:txEl>
                                              <p:pRg st="7" end="7"/>
                                            </p:txEl>
                                          </p:spTgt>
                                        </p:tgtEl>
                                        <p:attrNameLst>
                                          <p:attrName>ppt_w</p:attrName>
                                        </p:attrNameLst>
                                      </p:cBhvr>
                                      <p:tavLst>
                                        <p:tav tm="0">
                                          <p:val>
                                            <p:fltVal val="0"/>
                                          </p:val>
                                        </p:tav>
                                        <p:tav tm="100000">
                                          <p:val>
                                            <p:strVal val="#ppt_w"/>
                                          </p:val>
                                        </p:tav>
                                      </p:tavLst>
                                    </p:anim>
                                    <p:anim calcmode="lin" valueType="num">
                                      <p:cBhvr>
                                        <p:cTn id="44" dur="1000" fill="hold"/>
                                        <p:tgtEl>
                                          <p:spTgt spid="3">
                                            <p:txEl>
                                              <p:pRg st="7" end="7"/>
                                            </p:txEl>
                                          </p:spTgt>
                                        </p:tgtEl>
                                        <p:attrNameLst>
                                          <p:attrName>ppt_h</p:attrName>
                                        </p:attrNameLst>
                                      </p:cBhvr>
                                      <p:tavLst>
                                        <p:tav tm="0">
                                          <p:val>
                                            <p:fltVal val="0"/>
                                          </p:val>
                                        </p:tav>
                                        <p:tav tm="100000">
                                          <p:val>
                                            <p:strVal val="#ppt_h"/>
                                          </p:val>
                                        </p:tav>
                                      </p:tavLst>
                                    </p:anim>
                                    <p:anim calcmode="lin" valueType="num">
                                      <p:cBhvr>
                                        <p:cTn id="45" dur="1000" fill="hold"/>
                                        <p:tgtEl>
                                          <p:spTgt spid="3">
                                            <p:txEl>
                                              <p:pRg st="7" end="7"/>
                                            </p:txEl>
                                          </p:spTgt>
                                        </p:tgtEl>
                                        <p:attrNameLst>
                                          <p:attrName>style.rotation</p:attrName>
                                        </p:attrNameLst>
                                      </p:cBhvr>
                                      <p:tavLst>
                                        <p:tav tm="0">
                                          <p:val>
                                            <p:fltVal val="90"/>
                                          </p:val>
                                        </p:tav>
                                        <p:tav tm="100000">
                                          <p:val>
                                            <p:fltVal val="0"/>
                                          </p:val>
                                        </p:tav>
                                      </p:tavLst>
                                    </p:anim>
                                    <p:animEffect transition="in" filter="fade">
                                      <p:cBhvr>
                                        <p:cTn id="46" dur="1000"/>
                                        <p:tgtEl>
                                          <p:spTgt spid="3">
                                            <p:txEl>
                                              <p:pRg st="7" end="7"/>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animEffect transition="in" filter="fade">
                                      <p:cBhvr>
                                        <p:cTn id="51" dur="1000"/>
                                        <p:tgtEl>
                                          <p:spTgt spid="3">
                                            <p:txEl>
                                              <p:pRg st="8" end="8"/>
                                            </p:txEl>
                                          </p:spTgt>
                                        </p:tgtEl>
                                      </p:cBhvr>
                                    </p:animEffect>
                                    <p:anim calcmode="lin" valueType="num">
                                      <p:cBhvr>
                                        <p:cTn id="52"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3"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nodeType="clickEffect">
                                  <p:stCondLst>
                                    <p:cond delay="0"/>
                                  </p:stCondLst>
                                  <p:childTnLst>
                                    <p:set>
                                      <p:cBhvr>
                                        <p:cTn id="57" dur="1" fill="hold">
                                          <p:stCondLst>
                                            <p:cond delay="0"/>
                                          </p:stCondLst>
                                        </p:cTn>
                                        <p:tgtEl>
                                          <p:spTgt spid="3">
                                            <p:txEl>
                                              <p:pRg st="9" end="9"/>
                                            </p:txEl>
                                          </p:spTgt>
                                        </p:tgtEl>
                                        <p:attrNameLst>
                                          <p:attrName>style.visibility</p:attrName>
                                        </p:attrNameLst>
                                      </p:cBhvr>
                                      <p:to>
                                        <p:strVal val="visible"/>
                                      </p:to>
                                    </p:set>
                                    <p:animEffect transition="in" filter="fade">
                                      <p:cBhvr>
                                        <p:cTn id="58" dur="1000"/>
                                        <p:tgtEl>
                                          <p:spTgt spid="3">
                                            <p:txEl>
                                              <p:pRg st="9" end="9"/>
                                            </p:txEl>
                                          </p:spTgt>
                                        </p:tgtEl>
                                      </p:cBhvr>
                                    </p:animEffect>
                                    <p:anim calcmode="lin" valueType="num">
                                      <p:cBhvr>
                                        <p:cTn id="59"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60"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3"/>
          <p:cNvSpPr txBox="1"/>
          <p:nvPr/>
        </p:nvSpPr>
        <p:spPr>
          <a:xfrm>
            <a:off x="525346" y="3079492"/>
            <a:ext cx="2261444" cy="2420449"/>
          </a:xfrm>
          <a:prstGeom prst="rect">
            <a:avLst/>
          </a:prstGeom>
        </p:spPr>
        <p:txBody>
          <a:bodyPr lIns="50800" tIns="50800" rIns="50800" bIns="50800" rtlCol="0" anchor="ctr"/>
          <a:lstStyle/>
          <a:p>
            <a:pPr algn="ctr">
              <a:lnSpc>
                <a:spcPts val="3220"/>
              </a:lnSpc>
            </a:pPr>
            <a:endParaRPr/>
          </a:p>
        </p:txBody>
      </p:sp>
      <p:grpSp>
        <p:nvGrpSpPr>
          <p:cNvPr id="33" name="Group 33"/>
          <p:cNvGrpSpPr/>
          <p:nvPr/>
        </p:nvGrpSpPr>
        <p:grpSpPr>
          <a:xfrm>
            <a:off x="0" y="9983250"/>
            <a:ext cx="1028700" cy="303750"/>
            <a:chOff x="0" y="0"/>
            <a:chExt cx="270933" cy="80000"/>
          </a:xfrm>
        </p:grpSpPr>
        <p:sp>
          <p:nvSpPr>
            <p:cNvPr id="34" name="Freeform 34"/>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5" name="TextBox 35"/>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36" name="Group 36"/>
          <p:cNvGrpSpPr/>
          <p:nvPr/>
        </p:nvGrpSpPr>
        <p:grpSpPr>
          <a:xfrm>
            <a:off x="17259300" y="0"/>
            <a:ext cx="1028700" cy="303750"/>
            <a:chOff x="0" y="0"/>
            <a:chExt cx="270933" cy="80000"/>
          </a:xfrm>
        </p:grpSpPr>
        <p:sp>
          <p:nvSpPr>
            <p:cNvPr id="37" name="Freeform 37"/>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8" name="TextBox 38"/>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39" name="Group 39"/>
          <p:cNvGrpSpPr/>
          <p:nvPr/>
        </p:nvGrpSpPr>
        <p:grpSpPr>
          <a:xfrm>
            <a:off x="0" y="0"/>
            <a:ext cx="1028700" cy="303750"/>
            <a:chOff x="0" y="0"/>
            <a:chExt cx="270933" cy="80000"/>
          </a:xfrm>
        </p:grpSpPr>
        <p:sp>
          <p:nvSpPr>
            <p:cNvPr id="40" name="Freeform 40"/>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1" name="TextBox 41"/>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42" name="Group 42"/>
          <p:cNvGrpSpPr/>
          <p:nvPr/>
        </p:nvGrpSpPr>
        <p:grpSpPr>
          <a:xfrm>
            <a:off x="17259300" y="9983250"/>
            <a:ext cx="1028700" cy="303750"/>
            <a:chOff x="0" y="0"/>
            <a:chExt cx="270933" cy="80000"/>
          </a:xfrm>
        </p:grpSpPr>
        <p:sp>
          <p:nvSpPr>
            <p:cNvPr id="43" name="Freeform 43"/>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4" name="TextBox 44"/>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pic>
        <p:nvPicPr>
          <p:cNvPr id="16" name="Picture 15"/>
          <p:cNvPicPr/>
          <p:nvPr/>
        </p:nvPicPr>
        <p:blipFill rotWithShape="1">
          <a:blip r:embed="rId2">
            <a:extLst>
              <a:ext uri="{28A0092B-C50C-407E-A947-70E740481C1C}">
                <a14:useLocalDpi xmlns:a14="http://schemas.microsoft.com/office/drawing/2010/main" val="0"/>
              </a:ext>
            </a:extLst>
          </a:blip>
          <a:srcRect r="26873"/>
          <a:stretch/>
        </p:blipFill>
        <p:spPr>
          <a:xfrm>
            <a:off x="435431" y="436718"/>
            <a:ext cx="6477000" cy="5410200"/>
          </a:xfrm>
          <a:prstGeom prst="rect">
            <a:avLst/>
          </a:prstGeom>
        </p:spPr>
      </p:pic>
      <p:pic>
        <p:nvPicPr>
          <p:cNvPr id="17" name="Picture 16"/>
          <p:cNvPicPr/>
          <p:nvPr/>
        </p:nvPicPr>
        <p:blipFill>
          <a:blip r:embed="rId3">
            <a:extLst>
              <a:ext uri="{28A0092B-C50C-407E-A947-70E740481C1C}">
                <a14:useLocalDpi xmlns:a14="http://schemas.microsoft.com/office/drawing/2010/main" val="0"/>
              </a:ext>
            </a:extLst>
          </a:blip>
          <a:stretch>
            <a:fillRect/>
          </a:stretch>
        </p:blipFill>
        <p:spPr>
          <a:xfrm>
            <a:off x="7467600" y="303750"/>
            <a:ext cx="6563223" cy="5679764"/>
          </a:xfrm>
          <a:prstGeom prst="rect">
            <a:avLst/>
          </a:prstGeom>
        </p:spPr>
      </p:pic>
    </p:spTree>
    <p:extLst>
      <p:ext uri="{BB962C8B-B14F-4D97-AF65-F5344CB8AC3E}">
        <p14:creationId xmlns:p14="http://schemas.microsoft.com/office/powerpoint/2010/main" val="288624808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heel(1)">
                                      <p:cBhvr>
                                        <p:cTn id="13"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3"/>
          <p:cNvSpPr txBox="1"/>
          <p:nvPr/>
        </p:nvSpPr>
        <p:spPr>
          <a:xfrm>
            <a:off x="525346" y="3079492"/>
            <a:ext cx="2261444" cy="2420449"/>
          </a:xfrm>
          <a:prstGeom prst="rect">
            <a:avLst/>
          </a:prstGeom>
        </p:spPr>
        <p:txBody>
          <a:bodyPr lIns="50800" tIns="50800" rIns="50800" bIns="50800" rtlCol="0" anchor="ctr"/>
          <a:lstStyle/>
          <a:p>
            <a:pPr algn="ctr">
              <a:lnSpc>
                <a:spcPts val="3220"/>
              </a:lnSpc>
            </a:pPr>
            <a:endParaRPr/>
          </a:p>
        </p:txBody>
      </p:sp>
      <p:grpSp>
        <p:nvGrpSpPr>
          <p:cNvPr id="33" name="Group 33"/>
          <p:cNvGrpSpPr/>
          <p:nvPr/>
        </p:nvGrpSpPr>
        <p:grpSpPr>
          <a:xfrm>
            <a:off x="0" y="9983250"/>
            <a:ext cx="1028700" cy="303750"/>
            <a:chOff x="0" y="0"/>
            <a:chExt cx="270933" cy="80000"/>
          </a:xfrm>
        </p:grpSpPr>
        <p:sp>
          <p:nvSpPr>
            <p:cNvPr id="34" name="Freeform 34"/>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5" name="TextBox 35"/>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36" name="Group 36"/>
          <p:cNvGrpSpPr/>
          <p:nvPr/>
        </p:nvGrpSpPr>
        <p:grpSpPr>
          <a:xfrm>
            <a:off x="17259300" y="0"/>
            <a:ext cx="1028700" cy="303750"/>
            <a:chOff x="0" y="0"/>
            <a:chExt cx="270933" cy="80000"/>
          </a:xfrm>
        </p:grpSpPr>
        <p:sp>
          <p:nvSpPr>
            <p:cNvPr id="37" name="Freeform 37"/>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8" name="TextBox 38"/>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39" name="Group 39"/>
          <p:cNvGrpSpPr/>
          <p:nvPr/>
        </p:nvGrpSpPr>
        <p:grpSpPr>
          <a:xfrm>
            <a:off x="0" y="0"/>
            <a:ext cx="1028700" cy="303750"/>
            <a:chOff x="0" y="0"/>
            <a:chExt cx="270933" cy="80000"/>
          </a:xfrm>
        </p:grpSpPr>
        <p:sp>
          <p:nvSpPr>
            <p:cNvPr id="40" name="Freeform 40"/>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1" name="TextBox 41"/>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grpSp>
        <p:nvGrpSpPr>
          <p:cNvPr id="42" name="Group 42"/>
          <p:cNvGrpSpPr/>
          <p:nvPr/>
        </p:nvGrpSpPr>
        <p:grpSpPr>
          <a:xfrm>
            <a:off x="17259300" y="9983250"/>
            <a:ext cx="1028700" cy="303750"/>
            <a:chOff x="0" y="0"/>
            <a:chExt cx="270933" cy="80000"/>
          </a:xfrm>
        </p:grpSpPr>
        <p:sp>
          <p:nvSpPr>
            <p:cNvPr id="43" name="Freeform 43"/>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4" name="TextBox 44"/>
            <p:cNvSpPr txBox="1"/>
            <p:nvPr/>
          </p:nvSpPr>
          <p:spPr>
            <a:xfrm>
              <a:off x="0" y="-38100"/>
              <a:ext cx="812800" cy="850900"/>
            </a:xfrm>
            <a:prstGeom prst="rect">
              <a:avLst/>
            </a:prstGeom>
          </p:spPr>
          <p:txBody>
            <a:bodyPr lIns="50800" tIns="50800" rIns="50800" bIns="50800" rtlCol="0" anchor="ctr"/>
            <a:lstStyle/>
            <a:p>
              <a:pPr>
                <a:lnSpc>
                  <a:spcPts val="2940"/>
                </a:lnSpc>
              </a:pPr>
              <a:endParaRPr/>
            </a:p>
          </p:txBody>
        </p:sp>
      </p:grpSp>
      <p:pic>
        <p:nvPicPr>
          <p:cNvPr id="18" name="Picture 17"/>
          <p:cNvPicPr/>
          <p:nvPr/>
        </p:nvPicPr>
        <p:blipFill rotWithShape="1">
          <a:blip r:embed="rId2">
            <a:extLst>
              <a:ext uri="{28A0092B-C50C-407E-A947-70E740481C1C}">
                <a14:useLocalDpi xmlns:a14="http://schemas.microsoft.com/office/drawing/2010/main" val="0"/>
              </a:ext>
            </a:extLst>
          </a:blip>
          <a:srcRect t="46840"/>
          <a:stretch/>
        </p:blipFill>
        <p:spPr>
          <a:xfrm>
            <a:off x="7257" y="2933699"/>
            <a:ext cx="6705600" cy="2900373"/>
          </a:xfrm>
          <a:prstGeom prst="rect">
            <a:avLst/>
          </a:prstGeom>
        </p:spPr>
      </p:pic>
      <p:pic>
        <p:nvPicPr>
          <p:cNvPr id="19" name="Picture 18"/>
          <p:cNvPicPr/>
          <p:nvPr/>
        </p:nvPicPr>
        <p:blipFill>
          <a:blip r:embed="rId3">
            <a:extLst>
              <a:ext uri="{28A0092B-C50C-407E-A947-70E740481C1C}">
                <a14:useLocalDpi xmlns:a14="http://schemas.microsoft.com/office/drawing/2010/main" val="0"/>
              </a:ext>
            </a:extLst>
          </a:blip>
          <a:stretch>
            <a:fillRect/>
          </a:stretch>
        </p:blipFill>
        <p:spPr>
          <a:xfrm>
            <a:off x="-25400" y="5948352"/>
            <a:ext cx="6502396" cy="4338648"/>
          </a:xfrm>
          <a:prstGeom prst="rect">
            <a:avLst/>
          </a:prstGeom>
        </p:spPr>
      </p:pic>
      <p:pic>
        <p:nvPicPr>
          <p:cNvPr id="20" name="Picture 19"/>
          <p:cNvPicPr/>
          <p:nvPr/>
        </p:nvPicPr>
        <p:blipFill>
          <a:blip r:embed="rId4">
            <a:extLst>
              <a:ext uri="{28A0092B-C50C-407E-A947-70E740481C1C}">
                <a14:useLocalDpi xmlns:a14="http://schemas.microsoft.com/office/drawing/2010/main" val="0"/>
              </a:ext>
            </a:extLst>
          </a:blip>
          <a:stretch>
            <a:fillRect/>
          </a:stretch>
        </p:blipFill>
        <p:spPr>
          <a:xfrm>
            <a:off x="6402208" y="164575"/>
            <a:ext cx="6931025" cy="6174105"/>
          </a:xfrm>
          <a:prstGeom prst="rect">
            <a:avLst/>
          </a:prstGeom>
        </p:spPr>
      </p:pic>
      <p:pic>
        <p:nvPicPr>
          <p:cNvPr id="21" name="Picture 20"/>
          <p:cNvPicPr/>
          <p:nvPr/>
        </p:nvPicPr>
        <p:blipFill>
          <a:blip r:embed="rId5">
            <a:extLst>
              <a:ext uri="{28A0092B-C50C-407E-A947-70E740481C1C}">
                <a14:useLocalDpi xmlns:a14="http://schemas.microsoft.com/office/drawing/2010/main" val="0"/>
              </a:ext>
            </a:extLst>
          </a:blip>
          <a:stretch>
            <a:fillRect/>
          </a:stretch>
        </p:blipFill>
        <p:spPr>
          <a:xfrm>
            <a:off x="6712857" y="6411650"/>
            <a:ext cx="5831205" cy="3802380"/>
          </a:xfrm>
          <a:prstGeom prst="rect">
            <a:avLst/>
          </a:prstGeom>
        </p:spPr>
      </p:pic>
      <p:pic>
        <p:nvPicPr>
          <p:cNvPr id="22" name="Picture 21"/>
          <p:cNvPicPr/>
          <p:nvPr/>
        </p:nvPicPr>
        <p:blipFill>
          <a:blip r:embed="rId6">
            <a:extLst>
              <a:ext uri="{28A0092B-C50C-407E-A947-70E740481C1C}">
                <a14:useLocalDpi xmlns:a14="http://schemas.microsoft.com/office/drawing/2010/main" val="0"/>
              </a:ext>
            </a:extLst>
          </a:blip>
          <a:stretch>
            <a:fillRect/>
          </a:stretch>
        </p:blipFill>
        <p:spPr>
          <a:xfrm>
            <a:off x="12192000" y="8771835"/>
            <a:ext cx="4930140" cy="1478280"/>
          </a:xfrm>
          <a:prstGeom prst="rect">
            <a:avLst/>
          </a:prstGeom>
        </p:spPr>
      </p:pic>
      <p:pic>
        <p:nvPicPr>
          <p:cNvPr id="2" name="Picture 1"/>
          <p:cNvPicPr>
            <a:picLocks noChangeAspect="1"/>
          </p:cNvPicPr>
          <p:nvPr/>
        </p:nvPicPr>
        <p:blipFill>
          <a:blip r:embed="rId7"/>
          <a:stretch>
            <a:fillRect/>
          </a:stretch>
        </p:blipFill>
        <p:spPr>
          <a:xfrm>
            <a:off x="141687" y="54636"/>
            <a:ext cx="4809620" cy="2936967"/>
          </a:xfrm>
          <a:prstGeom prst="rect">
            <a:avLst/>
          </a:prstGeom>
        </p:spPr>
      </p:pic>
    </p:spTree>
    <p:extLst>
      <p:ext uri="{BB962C8B-B14F-4D97-AF65-F5344CB8AC3E}">
        <p14:creationId xmlns:p14="http://schemas.microsoft.com/office/powerpoint/2010/main" val="2973571407"/>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1000"/>
                                        <p:tgtEl>
                                          <p:spTgt spid="18"/>
                                        </p:tgtEl>
                                      </p:cBhvr>
                                    </p:animEffect>
                                    <p:anim calcmode="lin" valueType="num">
                                      <p:cBhvr>
                                        <p:cTn id="15" dur="1000" fill="hold"/>
                                        <p:tgtEl>
                                          <p:spTgt spid="18"/>
                                        </p:tgtEl>
                                        <p:attrNameLst>
                                          <p:attrName>ppt_x</p:attrName>
                                        </p:attrNameLst>
                                      </p:cBhvr>
                                      <p:tavLst>
                                        <p:tav tm="0">
                                          <p:val>
                                            <p:strVal val="#ppt_x"/>
                                          </p:val>
                                        </p:tav>
                                        <p:tav tm="100000">
                                          <p:val>
                                            <p:strVal val="#ppt_x"/>
                                          </p:val>
                                        </p:tav>
                                      </p:tavLst>
                                    </p:anim>
                                    <p:anim calcmode="lin" valueType="num">
                                      <p:cBhvr>
                                        <p:cTn id="16"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1000"/>
                                        <p:tgtEl>
                                          <p:spTgt spid="19"/>
                                        </p:tgtEl>
                                      </p:cBhvr>
                                    </p:animEffect>
                                    <p:anim calcmode="lin" valueType="num">
                                      <p:cBhvr>
                                        <p:cTn id="22" dur="1000" fill="hold"/>
                                        <p:tgtEl>
                                          <p:spTgt spid="19"/>
                                        </p:tgtEl>
                                        <p:attrNameLst>
                                          <p:attrName>ppt_x</p:attrName>
                                        </p:attrNameLst>
                                      </p:cBhvr>
                                      <p:tavLst>
                                        <p:tav tm="0">
                                          <p:val>
                                            <p:strVal val="#ppt_x"/>
                                          </p:val>
                                        </p:tav>
                                        <p:tav tm="100000">
                                          <p:val>
                                            <p:strVal val="#ppt_x"/>
                                          </p:val>
                                        </p:tav>
                                      </p:tavLst>
                                    </p:anim>
                                    <p:anim calcmode="lin" valueType="num">
                                      <p:cBhvr>
                                        <p:cTn id="23"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circle(in)">
                                      <p:cBhvr>
                                        <p:cTn id="28" dur="20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ipe(down)">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wipe(down)">
                                      <p:cBhvr>
                                        <p:cTn id="3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1110</TotalTime>
  <Words>1263</Words>
  <Application>Microsoft Office PowerPoint</Application>
  <PresentationFormat>Custom</PresentationFormat>
  <Paragraphs>132</Paragraphs>
  <Slides>19</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19</vt:i4>
      </vt:variant>
    </vt:vector>
  </HeadingPairs>
  <TitlesOfParts>
    <vt:vector size="26" baseType="lpstr">
      <vt:lpstr>Calibri</vt:lpstr>
      <vt:lpstr>Times New Roman</vt:lpstr>
      <vt:lpstr>Constantia</vt:lpstr>
      <vt:lpstr>Arial</vt:lpstr>
      <vt:lpstr>Wingdings</vt:lpstr>
      <vt:lpstr>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Green Business infographic</dc:title>
  <dc:creator>Korisnik</dc:creator>
  <cp:lastModifiedBy>PC MY</cp:lastModifiedBy>
  <cp:revision>63</cp:revision>
  <dcterms:created xsi:type="dcterms:W3CDTF">2006-08-16T00:00:00Z</dcterms:created>
  <dcterms:modified xsi:type="dcterms:W3CDTF">2025-06-23T10:52:18Z</dcterms:modified>
  <dc:identifier>DAFHJBCCLSI</dc:identifier>
</cp:coreProperties>
</file>