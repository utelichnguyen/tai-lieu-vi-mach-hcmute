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  <p:sldMasterId id="2147483659" r:id="rId2"/>
  </p:sldMasterIdLst>
  <p:notesMasterIdLst>
    <p:notesMasterId r:id="rId25"/>
  </p:notesMasterIdLst>
  <p:sldIdLst>
    <p:sldId id="256" r:id="rId3"/>
    <p:sldId id="295" r:id="rId4"/>
    <p:sldId id="297" r:id="rId5"/>
    <p:sldId id="296" r:id="rId6"/>
    <p:sldId id="299" r:id="rId7"/>
    <p:sldId id="300" r:id="rId8"/>
    <p:sldId id="298" r:id="rId9"/>
    <p:sldId id="302" r:id="rId10"/>
    <p:sldId id="303" r:id="rId11"/>
    <p:sldId id="304" r:id="rId12"/>
    <p:sldId id="305" r:id="rId13"/>
    <p:sldId id="306" r:id="rId14"/>
    <p:sldId id="307" r:id="rId15"/>
    <p:sldId id="310" r:id="rId16"/>
    <p:sldId id="311" r:id="rId17"/>
    <p:sldId id="308" r:id="rId18"/>
    <p:sldId id="309" r:id="rId19"/>
    <p:sldId id="312" r:id="rId20"/>
    <p:sldId id="313" r:id="rId21"/>
    <p:sldId id="314" r:id="rId22"/>
    <p:sldId id="316" r:id="rId23"/>
    <p:sldId id="315" r:id="rId2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PT Serif" panose="020B0604020202020204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44D327-C8C6-4163-A623-057FE4961991}">
  <a:tblStyle styleId="{A644D327-C8C6-4163-A623-057FE49619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F84729-DA0B-49D1-B9D5-606E54AD43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8142711" y="3918330"/>
            <a:ext cx="943913" cy="133739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2" name="Google Shape;22;p2"/>
          <p:cNvSpPr/>
          <p:nvPr/>
        </p:nvSpPr>
        <p:spPr>
          <a:xfrm>
            <a:off x="8246778" y="1061814"/>
            <a:ext cx="565397" cy="79463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3" name="Google Shape;23;p2"/>
          <p:cNvSpPr/>
          <p:nvPr/>
        </p:nvSpPr>
        <p:spPr>
          <a:xfrm>
            <a:off x="7302238" y="4554392"/>
            <a:ext cx="623239" cy="66856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4" name="Google Shape;24;p2"/>
          <p:cNvSpPr/>
          <p:nvPr/>
        </p:nvSpPr>
        <p:spPr>
          <a:xfrm>
            <a:off x="8812176" y="313545"/>
            <a:ext cx="505297" cy="64940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5" name="Google Shape;25;p2"/>
          <p:cNvSpPr/>
          <p:nvPr/>
        </p:nvSpPr>
        <p:spPr>
          <a:xfrm>
            <a:off x="7486177" y="4101249"/>
            <a:ext cx="218857" cy="33853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6" name="Google Shape;26;p2"/>
          <p:cNvSpPr/>
          <p:nvPr/>
        </p:nvSpPr>
        <p:spPr>
          <a:xfrm>
            <a:off x="6980299" y="-88163"/>
            <a:ext cx="707299" cy="105647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7" name="Google Shape;27;p2"/>
          <p:cNvSpPr/>
          <p:nvPr/>
        </p:nvSpPr>
        <p:spPr>
          <a:xfrm>
            <a:off x="8353588" y="325842"/>
            <a:ext cx="315620" cy="43634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8" name="Google Shape;28;p2"/>
          <p:cNvSpPr/>
          <p:nvPr/>
        </p:nvSpPr>
        <p:spPr>
          <a:xfrm>
            <a:off x="7687616" y="916471"/>
            <a:ext cx="245359" cy="45311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9" name="Google Shape;29;p2"/>
          <p:cNvSpPr/>
          <p:nvPr/>
        </p:nvSpPr>
        <p:spPr>
          <a:xfrm>
            <a:off x="8637153" y="2924174"/>
            <a:ext cx="816948" cy="11061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30" name="Google Shape;30;p2"/>
          <p:cNvSpPr/>
          <p:nvPr/>
        </p:nvSpPr>
        <p:spPr>
          <a:xfrm rot="-5400000">
            <a:off x="6840000" y="4568068"/>
            <a:ext cx="417000" cy="3285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 rot="5400000">
            <a:off x="6496124" y="-12475"/>
            <a:ext cx="589800" cy="4071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208235" y="3375182"/>
            <a:ext cx="218854" cy="30986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33" name="Google Shape;33;p2"/>
          <p:cNvSpPr/>
          <p:nvPr/>
        </p:nvSpPr>
        <p:spPr>
          <a:xfrm>
            <a:off x="8013853" y="659316"/>
            <a:ext cx="258850" cy="30899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34" name="Google Shape;34;p2"/>
          <p:cNvSpPr/>
          <p:nvPr/>
        </p:nvSpPr>
        <p:spPr>
          <a:xfrm>
            <a:off x="7828438" y="4163755"/>
            <a:ext cx="206506" cy="21354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35" name="Google Shape;35;p2"/>
          <p:cNvSpPr/>
          <p:nvPr/>
        </p:nvSpPr>
        <p:spPr>
          <a:xfrm>
            <a:off x="8003439" y="1292797"/>
            <a:ext cx="172864" cy="21116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36" name="Google Shape;36;p2"/>
          <p:cNvSpPr/>
          <p:nvPr/>
        </p:nvSpPr>
        <p:spPr>
          <a:xfrm>
            <a:off x="7939495" y="-95340"/>
            <a:ext cx="476421" cy="66114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37" name="Google Shape;37;p2"/>
          <p:cNvSpPr/>
          <p:nvPr/>
        </p:nvSpPr>
        <p:spPr>
          <a:xfrm>
            <a:off x="7709340" y="156126"/>
            <a:ext cx="64053" cy="15820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9017902" y="4284544"/>
            <a:ext cx="121390" cy="1663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39" name="Google Shape;39;p2"/>
          <p:cNvSpPr/>
          <p:nvPr/>
        </p:nvSpPr>
        <p:spPr>
          <a:xfrm>
            <a:off x="8736528" y="68644"/>
            <a:ext cx="172852" cy="25157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40" name="Google Shape;40;p2"/>
          <p:cNvSpPr/>
          <p:nvPr/>
        </p:nvSpPr>
        <p:spPr>
          <a:xfrm>
            <a:off x="9053841" y="1122374"/>
            <a:ext cx="172853" cy="22214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1661700" y="1991825"/>
            <a:ext cx="5820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40789" y="-249878"/>
            <a:ext cx="1325150" cy="183895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43" name="Google Shape;43;p2"/>
          <p:cNvSpPr/>
          <p:nvPr/>
        </p:nvSpPr>
        <p:spPr>
          <a:xfrm>
            <a:off x="1462669" y="359548"/>
            <a:ext cx="684178" cy="83580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-145673" y="1499255"/>
            <a:ext cx="545851" cy="8153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45" name="Google Shape;45;p2"/>
          <p:cNvSpPr/>
          <p:nvPr/>
        </p:nvSpPr>
        <p:spPr>
          <a:xfrm>
            <a:off x="468639" y="3330899"/>
            <a:ext cx="596301" cy="71180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0</a:t>
            </a:r>
          </a:p>
        </p:txBody>
      </p:sp>
      <p:sp>
        <p:nvSpPr>
          <p:cNvPr id="46" name="Google Shape;46;p2"/>
          <p:cNvSpPr/>
          <p:nvPr/>
        </p:nvSpPr>
        <p:spPr>
          <a:xfrm>
            <a:off x="2715924" y="4728432"/>
            <a:ext cx="422823" cy="54341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8</a:t>
            </a:r>
          </a:p>
        </p:txBody>
      </p:sp>
      <p:sp>
        <p:nvSpPr>
          <p:cNvPr id="47" name="Google Shape;47;p2"/>
          <p:cNvSpPr/>
          <p:nvPr/>
        </p:nvSpPr>
        <p:spPr>
          <a:xfrm>
            <a:off x="857004" y="4218046"/>
            <a:ext cx="948321" cy="101728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48" name="Google Shape;48;p2"/>
          <p:cNvSpPr/>
          <p:nvPr/>
        </p:nvSpPr>
        <p:spPr>
          <a:xfrm>
            <a:off x="6477124" y="659323"/>
            <a:ext cx="375994" cy="41841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¥</a:t>
            </a:r>
          </a:p>
        </p:txBody>
      </p:sp>
      <p:sp>
        <p:nvSpPr>
          <p:cNvPr id="49" name="Google Shape;49;p2"/>
          <p:cNvSpPr/>
          <p:nvPr/>
        </p:nvSpPr>
        <p:spPr>
          <a:xfrm>
            <a:off x="2001208" y="4048123"/>
            <a:ext cx="340184" cy="49665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2</a:t>
            </a:r>
          </a:p>
        </p:txBody>
      </p:sp>
      <p:sp>
        <p:nvSpPr>
          <p:cNvPr id="50" name="Google Shape;50;p2"/>
          <p:cNvSpPr/>
          <p:nvPr/>
        </p:nvSpPr>
        <p:spPr>
          <a:xfrm>
            <a:off x="-202825" y="3641301"/>
            <a:ext cx="863938" cy="11989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9</a:t>
            </a:r>
          </a:p>
        </p:txBody>
      </p:sp>
      <p:sp>
        <p:nvSpPr>
          <p:cNvPr id="51" name="Google Shape;51;p2"/>
          <p:cNvSpPr/>
          <p:nvPr/>
        </p:nvSpPr>
        <p:spPr>
          <a:xfrm rot="-5400000">
            <a:off x="1953573" y="-64893"/>
            <a:ext cx="756300" cy="595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 rot="5400000">
            <a:off x="2309286" y="4286696"/>
            <a:ext cx="746700" cy="5151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09496" y="3809336"/>
            <a:ext cx="234870" cy="33210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3</a:t>
            </a:r>
          </a:p>
        </p:txBody>
      </p:sp>
      <p:sp>
        <p:nvSpPr>
          <p:cNvPr id="54" name="Google Shape;54;p2"/>
          <p:cNvSpPr/>
          <p:nvPr/>
        </p:nvSpPr>
        <p:spPr>
          <a:xfrm>
            <a:off x="180514" y="977226"/>
            <a:ext cx="178753" cy="3301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1</a:t>
            </a:r>
          </a:p>
        </p:txBody>
      </p:sp>
      <p:sp>
        <p:nvSpPr>
          <p:cNvPr id="55" name="Google Shape;55;p2"/>
          <p:cNvSpPr/>
          <p:nvPr/>
        </p:nvSpPr>
        <p:spPr>
          <a:xfrm>
            <a:off x="2001208" y="4738570"/>
            <a:ext cx="172436" cy="24505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£</a:t>
            </a:r>
          </a:p>
        </p:txBody>
      </p:sp>
      <p:sp>
        <p:nvSpPr>
          <p:cNvPr id="56" name="Google Shape;56;p2"/>
          <p:cNvSpPr/>
          <p:nvPr/>
        </p:nvSpPr>
        <p:spPr>
          <a:xfrm>
            <a:off x="3322800" y="4742227"/>
            <a:ext cx="163350" cy="23774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5</a:t>
            </a:r>
          </a:p>
        </p:txBody>
      </p:sp>
      <p:sp>
        <p:nvSpPr>
          <p:cNvPr id="57" name="Google Shape;57;p2"/>
          <p:cNvSpPr/>
          <p:nvPr/>
        </p:nvSpPr>
        <p:spPr>
          <a:xfrm>
            <a:off x="2629623" y="359546"/>
            <a:ext cx="461790" cy="6391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7</a:t>
            </a:r>
          </a:p>
        </p:txBody>
      </p:sp>
      <p:sp>
        <p:nvSpPr>
          <p:cNvPr id="58" name="Google Shape;58;p2"/>
          <p:cNvSpPr/>
          <p:nvPr/>
        </p:nvSpPr>
        <p:spPr>
          <a:xfrm>
            <a:off x="65335" y="101130"/>
            <a:ext cx="123829" cy="17531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59" name="Google Shape;59;p2"/>
          <p:cNvSpPr/>
          <p:nvPr/>
        </p:nvSpPr>
        <p:spPr>
          <a:xfrm>
            <a:off x="575656" y="4769892"/>
            <a:ext cx="128737" cy="1824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5</a:t>
            </a:r>
          </a:p>
        </p:txBody>
      </p:sp>
      <p:sp>
        <p:nvSpPr>
          <p:cNvPr id="60" name="Google Shape;60;p2"/>
          <p:cNvSpPr/>
          <p:nvPr/>
        </p:nvSpPr>
        <p:spPr>
          <a:xfrm>
            <a:off x="735785" y="1757713"/>
            <a:ext cx="212661" cy="27330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6</a:t>
            </a:r>
          </a:p>
        </p:txBody>
      </p:sp>
      <p:sp>
        <p:nvSpPr>
          <p:cNvPr id="61" name="Google Shape;61;p2"/>
          <p:cNvSpPr/>
          <p:nvPr/>
        </p:nvSpPr>
        <p:spPr>
          <a:xfrm>
            <a:off x="1617563" y="68452"/>
            <a:ext cx="187263" cy="24066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000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58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92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55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91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2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9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25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541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7223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21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825798" y="-750"/>
            <a:ext cx="7486405" cy="5145000"/>
            <a:chOff x="825798" y="-750"/>
            <a:chExt cx="7486405" cy="5145000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825798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8;p1"/>
            <p:cNvCxnSpPr/>
            <p:nvPr/>
          </p:nvCxnSpPr>
          <p:spPr>
            <a:xfrm>
              <a:off x="1657621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2489443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8312202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7480380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6648557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5816734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4984911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4153089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3321266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735875" y="1513574"/>
            <a:ext cx="5917200" cy="3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T Serif"/>
              <a:buChar char="⊸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▫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⋅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76200" y="39925"/>
            <a:ext cx="5487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6/23/2025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39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png"/><Relationship Id="rId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>
            <a:spLocks noGrp="1"/>
          </p:cNvSpPr>
          <p:nvPr>
            <p:ph type="ctrTitle"/>
          </p:nvPr>
        </p:nvSpPr>
        <p:spPr>
          <a:xfrm>
            <a:off x="99237" y="460744"/>
            <a:ext cx="9044763" cy="38064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mtClean="0">
                <a:latin typeface="+mj-lt"/>
              </a:rPr>
              <a:t>CHƯƠNG 6:</a:t>
            </a:r>
            <a:br>
              <a:rPr lang="vi-VN" smtClean="0">
                <a:latin typeface="+mj-lt"/>
              </a:rPr>
            </a:br>
            <a:r>
              <a:rPr lang="vi-VN" smtClean="0">
                <a:latin typeface="+mj-lt"/>
              </a:rPr>
              <a:t>TIMER &amp; COUNTER</a:t>
            </a:r>
            <a:endParaRPr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382669" y="308190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680506" y="526518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0" name="TextBox 19"/>
          <p:cNvSpPr txBox="1"/>
          <p:nvPr/>
        </p:nvSpPr>
        <p:spPr>
          <a:xfrm>
            <a:off x="3301937" y="107791"/>
            <a:ext cx="341247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NỘI DUNG CHÍNH</a:t>
            </a:r>
            <a:endParaRPr lang="en-US" sz="2200" b="1" kern="1200" dirty="0">
              <a:solidFill>
                <a:srgbClr val="00206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66075" y="1806296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II: CÁC LOẠI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66075" y="2401031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66075" y="3062899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IV: DÙNG TIMER ĐỂ ĐẾM XUNG - COUNTER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66075" y="1207353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lang="vi-VN" sz="2200" b="1" kern="120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: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TỔNG QUAN VỀ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31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382669" y="308190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680506" y="526518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1" name="TextBox 20"/>
          <p:cNvSpPr txBox="1"/>
          <p:nvPr/>
        </p:nvSpPr>
        <p:spPr>
          <a:xfrm>
            <a:off x="2499229" y="114816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lang="vi-VN" sz="2200" b="1" kern="120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: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TỔNG QUAN VỀ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098" name="Picture 2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45" y="877817"/>
            <a:ext cx="3220000" cy="211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594" y="692831"/>
            <a:ext cx="3929704" cy="195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34" y="3031055"/>
            <a:ext cx="4359101" cy="206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895435" y="2731625"/>
            <a:ext cx="4160225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Chức năng:</a:t>
            </a: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Đếm xung nội: Định thời.</a:t>
            </a: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Đếm xung ngoại: Đếm sản phẩm, đếm tiền</a:t>
            </a:r>
            <a:endParaRPr lang="vi-VN" b="1" smtClean="0">
              <a:solidFill>
                <a:srgbClr val="002060"/>
              </a:solidFill>
              <a:latin typeface="+mj-lt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Vi </a:t>
            </a:r>
            <a:r>
              <a:rPr lang="vi-VN" b="1">
                <a:solidFill>
                  <a:srgbClr val="002060"/>
                </a:solidFill>
                <a:latin typeface="+mj-lt"/>
              </a:rPr>
              <a:t>điều khiển PIC họ 16F887 có 3 timer T0, T1 </a:t>
            </a:r>
            <a:r>
              <a:rPr lang="vi-VN" b="1" smtClean="0">
                <a:solidFill>
                  <a:srgbClr val="002060"/>
                </a:solidFill>
                <a:latin typeface="+mj-lt"/>
              </a:rPr>
              <a:t>và T2</a:t>
            </a:r>
            <a:r>
              <a:rPr lang="vi-VN" b="1">
                <a:solidFill>
                  <a:srgbClr val="002060"/>
                </a:solidFill>
                <a:latin typeface="+mj-lt"/>
              </a:rPr>
              <a:t>. </a:t>
            </a:r>
            <a:endParaRPr lang="vi-VN" b="1" smtClean="0">
              <a:solidFill>
                <a:srgbClr val="002060"/>
              </a:solidFill>
              <a:latin typeface="+mj-lt"/>
            </a:endParaRP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T0 </a:t>
            </a:r>
            <a:r>
              <a:rPr lang="vi-VN">
                <a:solidFill>
                  <a:srgbClr val="002060"/>
                </a:solidFill>
                <a:latin typeface="+mj-lt"/>
              </a:rPr>
              <a:t>là timer/counter 8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bit</a:t>
            </a: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T1 </a:t>
            </a:r>
            <a:r>
              <a:rPr lang="vi-VN">
                <a:solidFill>
                  <a:srgbClr val="002060"/>
                </a:solidFill>
                <a:latin typeface="+mj-lt"/>
              </a:rPr>
              <a:t>là timer/counter 16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bit cả </a:t>
            </a:r>
            <a:r>
              <a:rPr lang="vi-VN">
                <a:solidFill>
                  <a:srgbClr val="002060"/>
                </a:solidFill>
                <a:latin typeface="+mj-lt"/>
              </a:rPr>
              <a:t>2 đều có bộ chia trước. </a:t>
            </a: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T2 </a:t>
            </a:r>
            <a:r>
              <a:rPr lang="vi-VN">
                <a:solidFill>
                  <a:srgbClr val="002060"/>
                </a:solidFill>
                <a:latin typeface="+mj-lt"/>
              </a:rPr>
              <a:t>là timer 8 bit có bộ chia trước và chia sau phục vụ cho các ứng dụng đặc biệt</a:t>
            </a:r>
            <a:endParaRPr lang="en-US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460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/>
          <p:cNvSpPr/>
          <p:nvPr/>
        </p:nvSpPr>
        <p:spPr>
          <a:xfrm>
            <a:off x="1408682" y="545703"/>
            <a:ext cx="4786555" cy="45719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76844" y="22113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71192" y="438996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1" name="TextBox 20"/>
          <p:cNvSpPr txBox="1"/>
          <p:nvPr/>
        </p:nvSpPr>
        <p:spPr>
          <a:xfrm>
            <a:off x="2499229" y="114816"/>
            <a:ext cx="4929385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II: CÁC LOẠI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9831" y="831213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0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Timer/Counter 0</a:t>
            </a:r>
            <a:endParaRPr lang="en-US" sz="20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23" name="Picture 2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29" y="137508"/>
            <a:ext cx="2556577" cy="167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684254" y="1547610"/>
            <a:ext cx="7737850" cy="2585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Là bộ timer/counter 8 bit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đếm từ 0 đến 255.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thể ghi và đọc giá trị của timer/counter.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Cho phép lựa chọn xung clock tác động cạnh lên hay xuống.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hai nguồn xung đếm bên trong và bên ngoài.</a:t>
            </a:r>
            <a:endParaRPr lang="vi-VN" sz="1800" b="1" kern="1200" smtClean="0">
              <a:solidFill>
                <a:srgbClr val="C0000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bộ chia trước 8 bit có thể lập trình hệ số chia.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Phát sinh ngắt khi bị tràn từ FFH về 00H, cờ báo ngắt khi tràn TRM0IF lên 1.</a:t>
            </a:r>
            <a:endParaRPr lang="en-US" sz="18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3352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/>
          <p:cNvSpPr/>
          <p:nvPr/>
        </p:nvSpPr>
        <p:spPr>
          <a:xfrm>
            <a:off x="1408682" y="545703"/>
            <a:ext cx="4786555" cy="45719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76844" y="22113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71192" y="438996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1" name="TextBox 20"/>
          <p:cNvSpPr txBox="1"/>
          <p:nvPr/>
        </p:nvSpPr>
        <p:spPr>
          <a:xfrm>
            <a:off x="2499229" y="114816"/>
            <a:ext cx="4929385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II: CÁC LOẠI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4254" y="842502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0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lang="vi-VN" sz="20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. Timer/Counter 1</a:t>
            </a:r>
            <a:endParaRPr lang="en-US" sz="20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4254" y="1668009"/>
            <a:ext cx="7737850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Là bộ timer/counter 16 bit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đếm từ 0 đến 65535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thể ghi và đọc giá trị của timer/counter.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bộ chia trước 1, 2, 4, 8.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Phát sinh ngắt khi bị tràn từ FFH về 00H, cờ báo ngắt khi tràn TMR1IF lên 1.</a:t>
            </a:r>
            <a:endParaRPr lang="en-US" sz="18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20" name="Picture 4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093" y="330259"/>
            <a:ext cx="3123042" cy="155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01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2" name="TextBox 21"/>
          <p:cNvSpPr txBox="1"/>
          <p:nvPr/>
        </p:nvSpPr>
        <p:spPr>
          <a:xfrm>
            <a:off x="748049" y="0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0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3. Timer 2</a:t>
            </a:r>
            <a:endParaRPr lang="en-US" sz="20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2024" y="327721"/>
            <a:ext cx="773785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Là bộ timer 8 bit, có bộ chia trước và bộ chia sau.</a:t>
            </a:r>
            <a:endParaRPr lang="vi-VN" sz="1800" kern="1200" smtClean="0">
              <a:solidFill>
                <a:srgbClr val="C0000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thể được sử dụng để điều chế xung.</a:t>
            </a: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Thanh ghi PR2 là thanh ghi chu kỳ 8 bit, dùng dể so sánh, tăng từ 00H đến giá trị được lưu trong thanh ghi PR2 thì reset về 00H và lặp lại. </a:t>
            </a:r>
            <a:endParaRPr lang="vi-VN" sz="1800" b="1" kern="1200" smtClean="0">
              <a:solidFill>
                <a:srgbClr val="C0000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buClrTx/>
            </a:pPr>
            <a:endParaRPr lang="en-US" sz="18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23" name="Picture 6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24" y="1524038"/>
            <a:ext cx="7975910" cy="361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15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801118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Tính toán định thời với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5564" y="2377098"/>
            <a:ext cx="8227517" cy="6771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Với T(ms) là thời gian cần định thời,      là tần số thạch anh (Hz) , CT là bộ chia trước, n là số lần tràn của Timer.</a:t>
            </a:r>
            <a:r>
              <a:rPr lang="vi-VN" sz="20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vi-VN" sz="1800" b="1" i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254" y="1170450"/>
            <a:ext cx="7672937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6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a) Định thời với Timer 0</a:t>
            </a:r>
            <a:endParaRPr lang="vi-VN" sz="16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258927"/>
              </p:ext>
            </p:extLst>
          </p:nvPr>
        </p:nvGraphicFramePr>
        <p:xfrm>
          <a:off x="2882623" y="1524947"/>
          <a:ext cx="2307955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3" imgW="1866600" imgH="507960" progId="Equation.DSMT4">
                  <p:embed/>
                </p:oleObj>
              </mc:Choice>
              <mc:Fallback>
                <p:oleObj name="Equation" r:id="rId3" imgW="18666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2623" y="1524947"/>
                        <a:ext cx="2307955" cy="628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40883" y="1654288"/>
            <a:ext cx="2716308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CT: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1, 2, 4, 8, ....128, 256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939917"/>
              </p:ext>
            </p:extLst>
          </p:nvPr>
        </p:nvGraphicFramePr>
        <p:xfrm>
          <a:off x="4168589" y="2424121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Equation" r:id="rId5" imgW="266400" imgH="279360" progId="Equation.DSMT4">
                  <p:embed/>
                </p:oleObj>
              </mc:Choice>
              <mc:Fallback>
                <p:oleObj name="Equation" r:id="rId5" imgW="266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8589" y="2424121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19713" y="3101229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Tìm giá trị nạp cho timer 0 để định thời được 1ms, tần số thạch anh là 8MHz.</a:t>
            </a:r>
          </a:p>
          <a:p>
            <a:pPr defTabSz="457200">
              <a:buClrTx/>
            </a:pP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bộ chia trước là CT = 8, chọn số lần tràn là n = 10  ST = 231.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6882" y="4100324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800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Khi timer đếm đến giá trị cao nhất thì cờ tràn </a:t>
            </a:r>
            <a:r>
              <a:rPr lang="vi-VN" sz="1800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TMR0IF </a:t>
            </a:r>
            <a:r>
              <a:rPr lang="vi-VN" sz="1800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sẽ lên 1.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Khai báo cờ tràn: #BIT		</a:t>
            </a: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TMR0IF </a:t>
            </a: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= </a:t>
            </a: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0X0B</a:t>
            </a:r>
            <a:r>
              <a:rPr lang="en-US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2;</a:t>
            </a:r>
            <a:endParaRPr lang="vi-VN" sz="1800" b="1" i="1" kern="1200" dirty="0">
              <a:solidFill>
                <a:srgbClr val="FF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22882" y="2679142"/>
            <a:ext cx="4836002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ST cố gắng chọn cho chẳn, nếu lẻ thì làm tròn.</a:t>
            </a:r>
            <a:endParaRPr lang="vi-VN" sz="1800" b="1" i="1" kern="1200" dirty="0">
              <a:solidFill>
                <a:srgbClr val="FF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41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4" grpId="0"/>
      <p:bldP spid="25" grpId="0"/>
      <p:bldP spid="21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745416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Tính toán định thời với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4254" y="2376942"/>
            <a:ext cx="8227517" cy="6771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Với T(ms) là thời gian cần định thời,      là tần số thạch anh (Hz) , CT là bộ chia trước, n là số lần tràn của Timer.</a:t>
            </a:r>
            <a:r>
              <a:rPr lang="vi-VN" sz="20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vi-VN" sz="1800" b="1" i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254" y="1170450"/>
            <a:ext cx="7672937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600" b="1" kern="120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b</a:t>
            </a:r>
            <a:r>
              <a:rPr lang="vi-VN" sz="16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) Định thời với Timer 1</a:t>
            </a:r>
            <a:endParaRPr lang="vi-VN" sz="16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449381"/>
              </p:ext>
            </p:extLst>
          </p:nvPr>
        </p:nvGraphicFramePr>
        <p:xfrm>
          <a:off x="2757488" y="1525588"/>
          <a:ext cx="25590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3" imgW="2070000" imgH="507960" progId="Equation.DSMT4">
                  <p:embed/>
                </p:oleObj>
              </mc:Choice>
              <mc:Fallback>
                <p:oleObj name="Equation" r:id="rId3" imgW="2070000" imgH="5079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7488" y="1525588"/>
                        <a:ext cx="2559050" cy="627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40883" y="1654288"/>
            <a:ext cx="1797689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CT: 1, 2, 4, 8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764175"/>
              </p:ext>
            </p:extLst>
          </p:nvPr>
        </p:nvGraphicFramePr>
        <p:xfrm>
          <a:off x="4190360" y="2432918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5" imgW="266400" imgH="279360" progId="Equation.DSMT4">
                  <p:embed/>
                </p:oleObj>
              </mc:Choice>
              <mc:Fallback>
                <p:oleObj name="Equation" r:id="rId5" imgW="266400" imgH="27936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0360" y="2432918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2703" y="3028453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Tìm giá trị nạp cho timer 1 để định thời được 1ms, tần số thạch anh là </a:t>
            </a:r>
            <a:r>
              <a:rPr lang="vi-VN" sz="1800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8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MHz.</a:t>
            </a:r>
          </a:p>
          <a:p>
            <a:pPr defTabSz="457200">
              <a:buClrTx/>
            </a:pP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7124" y="3866468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800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Khi timer đếm đến giá trị cao nhất thì cờ tràn TMR1IF sẽ lên 1.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Khai báo cờ tràn: #BIT		TMR1IF = 0X</a:t>
            </a:r>
            <a:r>
              <a:rPr lang="en-US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0C.0</a:t>
            </a: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;</a:t>
            </a:r>
            <a:endParaRPr lang="vi-VN" sz="1800" b="1" i="1" kern="1200" dirty="0">
              <a:solidFill>
                <a:srgbClr val="FF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81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2" grpId="0"/>
      <p:bldP spid="23" grpId="0"/>
      <p:bldP spid="24" grpId="0"/>
      <p:bldP spid="25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745416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Tính toán định thời với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4254" y="2520790"/>
            <a:ext cx="8227517" cy="6771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Với T(ms) là thời gian cần định thời,      là tần số thạch anh (Hz) , CT là bộ chia trước, n là số lần tràn của Timer.</a:t>
            </a:r>
            <a:r>
              <a:rPr lang="vi-VN" sz="20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vi-VN" sz="1800" b="1" i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254" y="1170450"/>
            <a:ext cx="7672937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6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c) Định thời với Timer 2</a:t>
            </a:r>
            <a:endParaRPr lang="vi-VN" sz="16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439467"/>
              </p:ext>
            </p:extLst>
          </p:nvPr>
        </p:nvGraphicFramePr>
        <p:xfrm>
          <a:off x="3008313" y="1525588"/>
          <a:ext cx="20574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3" imgW="1663560" imgH="507960" progId="Equation.DSMT4">
                  <p:embed/>
                </p:oleObj>
              </mc:Choice>
              <mc:Fallback>
                <p:oleObj name="Equation" r:id="rId3" imgW="1663560" imgH="5079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8313" y="1525588"/>
                        <a:ext cx="2057400" cy="627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40883" y="1515953"/>
            <a:ext cx="1797689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CT: 1, 4, 8, 16</a:t>
            </a: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CS: 1 đến 16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601508"/>
              </p:ext>
            </p:extLst>
          </p:nvPr>
        </p:nvGraphicFramePr>
        <p:xfrm>
          <a:off x="4190360" y="2549030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5" imgW="266400" imgH="279360" progId="Equation.DSMT4">
                  <p:embed/>
                </p:oleObj>
              </mc:Choice>
              <mc:Fallback>
                <p:oleObj name="Equation" r:id="rId5" imgW="266400" imgH="27936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0360" y="2549030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2024" y="3278343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Tìm giá trị nạp cho timer 2 để định thời được 1s, tần số thạch anh là 20MHz.</a:t>
            </a:r>
          </a:p>
          <a:p>
            <a:pPr defTabSz="457200">
              <a:buClrTx/>
            </a:pP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00998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2" grpId="0"/>
      <p:bldP spid="23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745416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2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. Các câu lệnh cho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6323" y="1091994"/>
            <a:ext cx="8606971" cy="2585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marL="342900" indent="-342900" defTabSz="457200">
              <a:buClrTx/>
              <a:buAutoNum type="alphaLcParenR"/>
            </a:pPr>
            <a:r>
              <a:rPr lang="vi-VN" sz="1800" b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Timer 0 </a:t>
            </a:r>
            <a:r>
              <a:rPr lang="vi-VN" sz="1800" b="1" i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(Thường ít dùng để Timer)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+ SETUP_TIMER_0(T0_INTERNAL|BC);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Khởi tạo Timer 0 ở chế độ định thời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i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BC là bộ chia có thể là 	T0_DIV_1, T0_DIV_2, T0_DIV_4,....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SETUP_TIMER_0(T0_INTERNAL; T0_DIV_16);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SET_TIMER0(ST); 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Trước và trong while(true)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Đưa giá trị nạp ban đầu vào Timer</a:t>
            </a:r>
          </a:p>
          <a:p>
            <a:pPr defTabSz="457200">
              <a:lnSpc>
                <a:spcPct val="150000"/>
              </a:lnSpc>
              <a:buClrTx/>
            </a:pPr>
            <a:endParaRPr lang="vi-VN" sz="1600" b="1" kern="1200" dirty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4254" y="3322209"/>
            <a:ext cx="8227517" cy="161582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Viết lệnh nạp cho timer 0 để định thời được 1ms, tần số thạch anh là 8MHz.</a:t>
            </a: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bộ chia trước là CT = 8, chọn số lần tràn là n = 10  ST = 231.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SETUP_TIMER_0(T0_INTERNAL|T0_DIV_8);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SET_TIMER0(231);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42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494526" y="242909"/>
            <a:ext cx="8606971" cy="29546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u="sng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b)  Timer 1 </a:t>
            </a:r>
            <a:r>
              <a:rPr lang="vi-VN" sz="1800" b="1" i="1" u="sng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(Ưu tiên dùng để Timer)</a:t>
            </a:r>
            <a:endParaRPr lang="vi-VN" sz="1800" b="1" i="1" u="sng" kern="1200">
              <a:solidFill>
                <a:srgbClr val="C00000"/>
              </a:solidFill>
              <a:latin typeface="+mj-lt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+ SETUP_TIMER_1(T1_INTERNAL|BC);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Khởi tạo Timer 1 ở chế độ định thời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i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BC là bộ chia có thể là 	T1_DIV_BY_1,   T1_DIV_BY_4,   T1_DIV_BY_8,....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SETUP_TIMER_1(T1_INTERNAL; T1_DIV_18);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SET_TIMER0(ST); 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Trước và trong while(true)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Đưa giá trị nạp ban đầu vào Timer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+ SETUP_TIMER_1(T1_DISABLED); </a:t>
            </a:r>
            <a:r>
              <a:rPr lang="vi-VN" sz="1600" b="1" i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Tạm ngưng Timer1, nếu tạm ngưng rồi thì khi hoạt động nhớ SETUP lại cho người ta.</a:t>
            </a:r>
            <a:endParaRPr lang="vi-VN" sz="1600" b="1" i="1" kern="1200" dirty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4254" y="3322209"/>
            <a:ext cx="8227517" cy="161582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Viết lệnh nạp cho timer 1 để định thời được 1ms, tần số thạch anh là 20MHz.</a:t>
            </a: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bộ chia trước là CT = 8, chọn số lần tràn là n = 10  ST = 3036.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SETUP_TIMER_1(T1_INTERNAL|T1_DIV_BY_8);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SET_TIMER1(3036);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497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536334" y="1387857"/>
            <a:ext cx="8606971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u="sng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c</a:t>
            </a:r>
            <a:r>
              <a:rPr lang="vi-VN" sz="1800" b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)  Timer 2 </a:t>
            </a:r>
            <a:r>
              <a:rPr lang="vi-VN" sz="1800" b="1" i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(Đọc thêm)</a:t>
            </a:r>
            <a:endParaRPr lang="vi-VN" sz="1800" b="1" i="1" u="sng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+ SETUP_TIMER_2(CT, PR2, CS); 			</a:t>
            </a:r>
            <a:r>
              <a:rPr lang="vi-VN" sz="1600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600" i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Trước while(true)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i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CT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là bộ chia có thể là 	T1_DIV_BY_1,   T1_DIV_BY_4,   T1_DIV_BY_8,....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i="1" kern="1200" smtClean="0">
                <a:solidFill>
                  <a:srgbClr val="002060"/>
                </a:solidFill>
              </a:rPr>
              <a:t>	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</a:rPr>
              <a:t>CS là </a:t>
            </a:r>
            <a:r>
              <a:rPr lang="vi-VN" sz="1600" i="1" kern="1200">
                <a:solidFill>
                  <a:srgbClr val="002060"/>
                </a:solidFill>
                <a:latin typeface="+mj-lt"/>
              </a:rPr>
              <a:t>bộ chia có thể là 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</a:rPr>
              <a:t>T1_DIV_BY_7,   T1_DIV_BY_3,   T1_DIV_BY_21,....</a:t>
            </a:r>
            <a:endParaRPr lang="vi-VN" sz="1600" i="1" kern="1200" smtClean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54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123371" y="-56315"/>
            <a:ext cx="9020629" cy="2585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1: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định thời 1s, sử dụng Timer 1.</a:t>
            </a: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Tần số thạch anh là 20MHz.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Giải: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Ta chọn bộ chia 8, số lần tràn là n = 10 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ST = 3036.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Như vậy, sau mỗi lần Timer tràn ta được 1/10 giây = 0,1 s, tràn đủ 10 lần sẽ được 1 s. Mà nếu Timer tràn thì cờ TMR1IF sẽ lên mức 1  Đếm số lần cờ tràn lên mức 1, nếu lên mức 1 thì gán cờ tràn lại về 0 và đặt lại giá trị cho timer.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 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</a:t>
            </a:r>
            <a:endParaRPr lang="vi-VN" sz="1800" b="1" kern="1200" smtClean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924387"/>
              </p:ext>
            </p:extLst>
          </p:nvPr>
        </p:nvGraphicFramePr>
        <p:xfrm>
          <a:off x="6523945" y="4456963"/>
          <a:ext cx="25590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3" imgW="2070000" imgH="507960" progId="Equation.DSMT4">
                  <p:embed/>
                </p:oleObj>
              </mc:Choice>
              <mc:Fallback>
                <p:oleObj name="Equation" r:id="rId3" imgW="2070000" imgH="5079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3945" y="4456963"/>
                        <a:ext cx="2559050" cy="627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20" y="1824061"/>
            <a:ext cx="3177815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42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123371" y="-56315"/>
            <a:ext cx="9020629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</a:t>
            </a: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2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điều khiển 1 LED đơn, 1s sáng, 1 giây tắt. Tần số thạch anh là 20MHz.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Giải: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Ta chọn bộ chia 8, số lần tràn là n = 10 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ST = 3036.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774682"/>
            <a:ext cx="6571614" cy="431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5" name="Rectangle 4"/>
          <p:cNvSpPr/>
          <p:nvPr/>
        </p:nvSpPr>
        <p:spPr>
          <a:xfrm>
            <a:off x="64224" y="-17867"/>
            <a:ext cx="877497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en-US" b="1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Ví dụ </a:t>
            </a:r>
            <a:r>
              <a:rPr lang="vi-VN" altLang="en-US" b="1" smtClean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3: </a:t>
            </a:r>
            <a:r>
              <a:rPr lang="vi-VN" altLang="en-US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Dùng PIC 16F887 tạo xung tại chân RC1, có chu kỳ bằng 100ms, DUTY = 30%.</a:t>
            </a:r>
            <a:endParaRPr lang="en-US" altLang="en-US">
              <a:solidFill>
                <a:srgbClr val="002060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en-US" b="1" smtClean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vi-VN" altLang="en-US" b="1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Hướng giải quyết: </a:t>
            </a:r>
            <a:r>
              <a:rPr lang="vi-VN" altLang="en-US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DUTY = 30% hay 30ms mức H và 70ms mức L.</a:t>
            </a:r>
            <a:endParaRPr lang="en-US" altLang="en-US">
              <a:solidFill>
                <a:srgbClr val="002060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>
              <a:solidFill>
                <a:srgbClr val="002060"/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439" y="648185"/>
            <a:ext cx="764177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4850">
              <a:lnSpc>
                <a:spcPct val="107000"/>
              </a:lnSpc>
              <a:spcAft>
                <a:spcPts val="800"/>
              </a:spcAft>
            </a:pPr>
            <a:r>
              <a:rPr lang="vi-VN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vi-VN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 </a:t>
            </a:r>
            <a:r>
              <a:rPr lang="vi-VN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 100ms và tràn 10 lần. Trong 3 lần tràn đầu xuất mức H và còn lại xuất mức L.</a:t>
            </a:r>
            <a:endParaRPr lang="en-US" sz="120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1"/>
          <a:stretch/>
        </p:blipFill>
        <p:spPr>
          <a:xfrm>
            <a:off x="1037771" y="966288"/>
            <a:ext cx="6357259" cy="417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497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30453" y="566284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ĐẾM XUNG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6334" y="745416"/>
            <a:ext cx="8313886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Câu lệnh cho Counter 0 (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Ít dùng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) 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Ngõ vào RA4</a:t>
            </a:r>
            <a:endParaRPr lang="vi-VN" sz="1800" b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SETUP_TIMER_0(T0_EXT_L_TO_H|T0_DIV_1);		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Khai báo Timer 0 ở chế độ đếm xung ngoại, tỉ lệ 1:1</a:t>
            </a:r>
            <a:r>
              <a:rPr lang="en-US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thường ở trước while(true) và trong xử lý nút nhấn.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SET_TIMER0(BD);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	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giá trị đếm bắt đầu cho 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GET_TIMER0();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        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Đọc giá trị đếm hiện tại của Counter</a:t>
            </a:r>
            <a:r>
              <a:rPr lang="vi-VN" sz="1600" i="1" kern="1200" smtClean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  </a:t>
            </a:r>
            <a:endParaRPr lang="vi-VN" sz="1800" i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55866" y="3320000"/>
            <a:ext cx="8606971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SETUP_TIMER_0(T0_EXT_H_TO_L|T0_DIV_1);</a:t>
            </a:r>
          </a:p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 </a:t>
            </a: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 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SET_TIMER0(0);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WHILE(TRUE)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{</a:t>
            </a:r>
          </a:p>
          <a:p>
            <a:pPr defTabSz="457200">
              <a:buClrTx/>
            </a:pPr>
            <a:r>
              <a:rPr lang="vi-VN" sz="1800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SP = GET_TIMER0();</a:t>
            </a:r>
          </a:p>
          <a:p>
            <a:pPr defTabSz="457200">
              <a:buClrTx/>
            </a:pPr>
            <a:r>
              <a:rPr lang="vi-VN" sz="1800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82824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ĐẾM XUNG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6334" y="745416"/>
            <a:ext cx="8313886" cy="24468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2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. Câu lệnh cho Counter 1 (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Ưu tiên dùng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lang="en-US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Ngõ vào RC0.</a:t>
            </a:r>
            <a:endParaRPr lang="vi-VN" sz="1800" b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SETUP_TIMER_1(T1_EXTERNAL|T1_DIV_BY_1);     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Khai báo Timer1  ở chế độ đếm xung ngoại, tỉ lệ 1:1.</a:t>
            </a:r>
            <a:r>
              <a:rPr lang="vi-VN" sz="1800" i="1" kern="120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thường ở trước while(true) và trong xử lý nút nhấn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vi-VN" sz="1800" i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SET_TIMER1(BD);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	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giá trị đếm bắt đầu cho 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GET_TIMER1();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        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Đọc giá trị đếm hiện tại của Counter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SETUP_TIMER_1(T1_DISABLED)      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Ngưng Timer để tạm ngưng đếm.</a:t>
            </a:r>
            <a:r>
              <a:rPr lang="vi-VN" sz="1600" i="1" kern="1200" smtClean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  </a:t>
            </a:r>
            <a:endParaRPr lang="vi-VN" sz="1800" i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723" y="3192240"/>
            <a:ext cx="8606971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SETUP_TIMER_1(T1</a:t>
            </a:r>
            <a:r>
              <a:rPr lang="en-US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_EXTERNAL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|T</a:t>
            </a:r>
            <a:r>
              <a:rPr lang="en-US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_DIV_</a:t>
            </a:r>
            <a:r>
              <a:rPr lang="en-US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BY_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1);</a:t>
            </a:r>
          </a:p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 </a:t>
            </a: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 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SET_TIMER</a:t>
            </a:r>
            <a:r>
              <a:rPr lang="en-US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1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(0);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WHILE(TRUE)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IF(!INPUT(START)) 	{</a:t>
            </a:r>
            <a:r>
              <a:rPr lang="vi-VN" sz="1800" kern="1200">
                <a:solidFill>
                  <a:srgbClr val="002060"/>
                </a:solidFill>
                <a:latin typeface="+mj-lt"/>
              </a:rPr>
              <a:t>SETUP_TIMER_1(T1</a:t>
            </a:r>
            <a:r>
              <a:rPr lang="en-US" sz="1800" kern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_EXTERNAL</a:t>
            </a:r>
            <a:r>
              <a:rPr lang="vi-VN" sz="1800" kern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|T</a:t>
            </a:r>
            <a:r>
              <a:rPr lang="en-US" sz="1800" kern="1200">
                <a:solidFill>
                  <a:srgbClr val="002060"/>
                </a:solidFill>
                <a:latin typeface="+mj-lt"/>
              </a:rPr>
              <a:t>1</a:t>
            </a:r>
            <a:r>
              <a:rPr lang="vi-VN" sz="1800" kern="1200">
                <a:solidFill>
                  <a:srgbClr val="002060"/>
                </a:solidFill>
                <a:latin typeface="+mj-lt"/>
              </a:rPr>
              <a:t>_DIV_</a:t>
            </a:r>
            <a:r>
              <a:rPr lang="en-US" sz="1800" kern="1200">
                <a:solidFill>
                  <a:srgbClr val="002060"/>
                </a:solidFill>
                <a:latin typeface="+mj-lt"/>
              </a:rPr>
              <a:t>BY_</a:t>
            </a:r>
            <a:r>
              <a:rPr lang="vi-VN" sz="1800" kern="1200">
                <a:solidFill>
                  <a:srgbClr val="002060"/>
                </a:solidFill>
                <a:latin typeface="+mj-lt"/>
              </a:rPr>
              <a:t>1);</a:t>
            </a:r>
          </a:p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+mj-lt"/>
              </a:rPr>
              <a:t>	     </a:t>
            </a:r>
            <a:r>
              <a:rPr lang="vi-VN" sz="1800" b="1" kern="1200" smtClean="0">
                <a:solidFill>
                  <a:srgbClr val="002060"/>
                </a:solidFill>
                <a:latin typeface="+mj-lt"/>
              </a:rPr>
              <a:t>				</a:t>
            </a:r>
            <a:endParaRPr lang="vi-VN" sz="1800" kern="1200" smtClean="0">
              <a:solidFill>
                <a:srgbClr val="002060"/>
              </a:solidFill>
              <a:latin typeface="+mj-lt"/>
            </a:endParaRP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</a:rPr>
              <a:t>IF(!INPUT(STOP))       SETUP_TIMER_1(T1_DISABLED);</a:t>
            </a:r>
            <a:endParaRPr lang="vi-VN" sz="1800" kern="1200">
              <a:solidFill>
                <a:srgbClr val="002060"/>
              </a:solidFill>
              <a:latin typeface="+mj-lt"/>
            </a:endParaRP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7227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123371" y="-56315"/>
            <a:ext cx="9020629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4: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 0, bình thường cảm biến phát hiện sản phẩm ở mức 0, khi có sản phẩm thì lên mức 1,  số sản phẩm hiển thị trên 2 LED 7 đoạn nối port B và port D.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00" y="846904"/>
            <a:ext cx="5997460" cy="3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6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123371" y="-56315"/>
            <a:ext cx="9020629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5: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 </a:t>
            </a:r>
            <a:r>
              <a:rPr lang="vi-VN" sz="1600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1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, sản phẩm đi qua băng chuyền liên tục 00 đến 99. Một nút nhấn START nối RE1, một nút nhấn STOP nối RE2, 2 LED 7 đoạn port B và port D. Khi vừa cấp điện, hệ thống bắt đầu đếm số sản phẩm đi qua hiển thị trên LED 7 đoạn, khi nhấn STOP thì mạch tạm dừng đếm. Nhấn START mạch đếm trở lại. 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9" y="1513345"/>
            <a:ext cx="4426239" cy="35398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598" y="1340008"/>
            <a:ext cx="3071126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9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123371" y="-56315"/>
            <a:ext cx="9020629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6: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Counter1, sản phẩm đi qua băng chuyền liên tục, hệ thống cứ đếm đủ 5 sản phẩm sẽ là 1 thùng . Một nút nhấn STARTnối RB1, STOP nối RB2.  2 LED 7 đoạn port B và port D. Khi vừa cấp điện,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hệ thống chưa đếm,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khi nhấn nút START hệ thống bắt đầu đếm số sản phẩm đi qua (LED_C) và số thùng tương ứng (LED_D), khi nhấn STOP thì mạch tạm dừng đếm. Nhấn START mạch đếm trở lại. 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2099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1" y="130175"/>
            <a:ext cx="8389204" cy="394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1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0" y="59800"/>
            <a:ext cx="9020629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7: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 0, bình thường cảm biến phát hiện sản phẩm ở mức 0, khi có sản phẩm thì lên mức 1,  sản phẩm đi qua băng chuyền liên tục, hệ thống cứ đếm đủ 5 sản phẩm sẽ là 1 thùng . Một nút nhấn START/STOP nối RB1, 2 LED 7 đoạn port C và port D. Khi vừa cấp điện, hệ thống chưa đếm, khi nhấn nút START hệ thống bắt đầu đếm số sản phẩm đi qua (LED_C) và số thùng tương ứng (LED_D), khi nhấn STOP thì mạch tạm dừng đếm. Nhấn START mạch đếm trở lại. 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1232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Balthasar template">
  <a:themeElements>
    <a:clrScheme name="Custom 347">
      <a:dk1>
        <a:srgbClr val="EFEFEF"/>
      </a:dk1>
      <a:lt1>
        <a:srgbClr val="004046"/>
      </a:lt1>
      <a:dk2>
        <a:srgbClr val="6AA84F"/>
      </a:dk2>
      <a:lt2>
        <a:srgbClr val="007074"/>
      </a:lt2>
      <a:accent1>
        <a:srgbClr val="00BFC9"/>
      </a:accent1>
      <a:accent2>
        <a:srgbClr val="00FFFF"/>
      </a:accent2>
      <a:accent3>
        <a:srgbClr val="DDFFFF"/>
      </a:accent3>
      <a:accent4>
        <a:srgbClr val="B6D7A8"/>
      </a:accent4>
      <a:accent5>
        <a:srgbClr val="D9D9D9"/>
      </a:accent5>
      <a:accent6>
        <a:srgbClr val="004046"/>
      </a:accent6>
      <a:hlink>
        <a:srgbClr val="00BFC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1566</Words>
  <Application>Microsoft Office PowerPoint</Application>
  <PresentationFormat>On-screen Show (16:9)</PresentationFormat>
  <Paragraphs>126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Montserrat</vt:lpstr>
      <vt:lpstr>PT Serif</vt:lpstr>
      <vt:lpstr>Arial</vt:lpstr>
      <vt:lpstr>Wingdings</vt:lpstr>
      <vt:lpstr>Times New Roman</vt:lpstr>
      <vt:lpstr>Abril Fatface</vt:lpstr>
      <vt:lpstr>Calibri</vt:lpstr>
      <vt:lpstr>Balthasar template</vt:lpstr>
      <vt:lpstr>Office Theme</vt:lpstr>
      <vt:lpstr>Equation</vt:lpstr>
      <vt:lpstr>CHƯƠNG 6: TIMER &amp; COUNTER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5: GIAO TIẾP LED ĐƠN, LED 7 ĐOẠN, NÚT NHẤN, LCD.</dc:title>
  <cp:lastModifiedBy>PC MY</cp:lastModifiedBy>
  <cp:revision>122</cp:revision>
  <dcterms:modified xsi:type="dcterms:W3CDTF">2025-06-23T10:50:17Z</dcterms:modified>
</cp:coreProperties>
</file>